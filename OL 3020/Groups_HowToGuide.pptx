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HOW-TO GUIDE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34747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Tuckman's Five Stages of Group Development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326880" y="731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 |  Introduction to Leadership  |  OL 3020</a:t>
            </a:r>
            <a:endParaRPr lang="en-US" sz="8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274320"/>
            <a:ext cx="548640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3703320"/>
            <a:ext cx="1097280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0040" y="1207008"/>
            <a:ext cx="2176272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1207008"/>
            <a:ext cx="2176272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1234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024128" y="1481328"/>
            <a:ext cx="768096" cy="7680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" y="1609344"/>
            <a:ext cx="512064" cy="5120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3192" y="2331720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Forming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502920" y="2816352"/>
            <a:ext cx="1810512" cy="292608"/>
          </a:xfrm>
          <a:prstGeom prst="rect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02920" y="282549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48056" y="3218688"/>
            <a:ext cx="1920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 come together for the first time. They are polite, uncertain, and getting to know each other. Members look to the leader for guidance and direction.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1243584" y="3593592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2624328" y="1207008"/>
            <a:ext cx="2176272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624328" y="1207008"/>
            <a:ext cx="2176272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715768" y="1234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3328416" y="1481328"/>
            <a:ext cx="768096" cy="7680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432" y="1609344"/>
            <a:ext cx="512064" cy="51206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697480" y="2331720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Storming</a:t>
            </a:r>
            <a:endParaRPr lang="en-US" sz="1700" dirty="0"/>
          </a:p>
        </p:txBody>
      </p:sp>
      <p:sp>
        <p:nvSpPr>
          <p:cNvPr id="25" name="Shape 20"/>
          <p:cNvSpPr/>
          <p:nvPr/>
        </p:nvSpPr>
        <p:spPr>
          <a:xfrm>
            <a:off x="2807208" y="2816352"/>
            <a:ext cx="1810512" cy="292608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2807208" y="282549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Navigating Conflict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2752344" y="3218688"/>
            <a:ext cx="1920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and tension arise as members compete for roles and challenge the leader. Disagreements are common but necessary for growth. This is the most difficult stage.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3547872" y="3593592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928616" y="1207008"/>
            <a:ext cx="2176272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928616" y="1207008"/>
            <a:ext cx="2176272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020056" y="1234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32" name="Shape 27"/>
          <p:cNvSpPr/>
          <p:nvPr/>
        </p:nvSpPr>
        <p:spPr>
          <a:xfrm>
            <a:off x="5632704" y="1481328"/>
            <a:ext cx="768096" cy="7680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1609344"/>
            <a:ext cx="512064" cy="51206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001768" y="2331720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Norming</a:t>
            </a:r>
            <a:endParaRPr lang="en-US" sz="1700" dirty="0"/>
          </a:p>
        </p:txBody>
      </p:sp>
      <p:sp>
        <p:nvSpPr>
          <p:cNvPr id="35" name="Shape 29"/>
          <p:cNvSpPr/>
          <p:nvPr/>
        </p:nvSpPr>
        <p:spPr>
          <a:xfrm>
            <a:off x="5111496" y="2816352"/>
            <a:ext cx="1810512" cy="292608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5111496" y="282549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Trust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5056632" y="3218688"/>
            <a:ext cx="1920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 begins to resolve conflicts and establish shared norms and values. Members develop trust, cooperation grows, and roles become clearer.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5852160" y="3593592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7232904" y="1207008"/>
            <a:ext cx="2176272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7232904" y="1207008"/>
            <a:ext cx="2176272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7324344" y="1234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42" name="Shape 36"/>
          <p:cNvSpPr/>
          <p:nvPr/>
        </p:nvSpPr>
        <p:spPr>
          <a:xfrm>
            <a:off x="7936992" y="1481328"/>
            <a:ext cx="768096" cy="7680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008" y="1609344"/>
            <a:ext cx="512064" cy="512064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7306056" y="2331720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Performing</a:t>
            </a:r>
            <a:endParaRPr lang="en-US" sz="1700" dirty="0"/>
          </a:p>
        </p:txBody>
      </p:sp>
      <p:sp>
        <p:nvSpPr>
          <p:cNvPr id="45" name="Shape 38"/>
          <p:cNvSpPr/>
          <p:nvPr/>
        </p:nvSpPr>
        <p:spPr>
          <a:xfrm>
            <a:off x="7415784" y="2816352"/>
            <a:ext cx="1810512" cy="292608"/>
          </a:xfrm>
          <a:prstGeom prst="rect">
            <a:avLst/>
          </a:prstGeom>
          <a:solidFill>
            <a:srgbClr val="16A34A">
              <a:alpha val="1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7415784" y="282549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Performance</a:t>
            </a:r>
            <a:endParaRPr lang="en-US" sz="900" dirty="0"/>
          </a:p>
        </p:txBody>
      </p:sp>
      <p:sp>
        <p:nvSpPr>
          <p:cNvPr id="47" name="Text 40"/>
          <p:cNvSpPr/>
          <p:nvPr/>
        </p:nvSpPr>
        <p:spPr>
          <a:xfrm>
            <a:off x="7360920" y="3218688"/>
            <a:ext cx="1920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 functions effectively as a team. Members are motivated, productive, and focused on achieving goals. Little supervision is needed at this stage.</a:t>
            </a:r>
            <a:endParaRPr lang="en-US" sz="1050" dirty="0"/>
          </a:p>
        </p:txBody>
      </p:sp>
      <p:sp>
        <p:nvSpPr>
          <p:cNvPr id="48" name="Shape 41"/>
          <p:cNvSpPr/>
          <p:nvPr/>
        </p:nvSpPr>
        <p:spPr>
          <a:xfrm>
            <a:off x="8156448" y="3593592"/>
            <a:ext cx="329184" cy="3291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9537192" y="1207008"/>
            <a:ext cx="2176272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0" name="Shape 43"/>
          <p:cNvSpPr/>
          <p:nvPr/>
        </p:nvSpPr>
        <p:spPr>
          <a:xfrm>
            <a:off x="9537192" y="1207008"/>
            <a:ext cx="2176272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9628632" y="1234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52" name="Shape 45"/>
          <p:cNvSpPr/>
          <p:nvPr/>
        </p:nvSpPr>
        <p:spPr>
          <a:xfrm>
            <a:off x="10241280" y="1481328"/>
            <a:ext cx="768096" cy="7680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9296" y="1609344"/>
            <a:ext cx="512064" cy="512064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9610344" y="2331720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Adjourning</a:t>
            </a:r>
            <a:endParaRPr lang="en-US" sz="1700" dirty="0"/>
          </a:p>
        </p:txBody>
      </p:sp>
      <p:sp>
        <p:nvSpPr>
          <p:cNvPr id="55" name="Shape 47"/>
          <p:cNvSpPr/>
          <p:nvPr/>
        </p:nvSpPr>
        <p:spPr>
          <a:xfrm>
            <a:off x="9720072" y="2816352"/>
            <a:ext cx="1810512" cy="292608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6" name="Text 48"/>
          <p:cNvSpPr/>
          <p:nvPr/>
        </p:nvSpPr>
        <p:spPr>
          <a:xfrm>
            <a:off x="9720072" y="282549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Celebrating &amp; Closing</a:t>
            </a:r>
            <a:endParaRPr lang="en-US" sz="900" dirty="0"/>
          </a:p>
        </p:txBody>
      </p:sp>
      <p:sp>
        <p:nvSpPr>
          <p:cNvPr id="57" name="Text 49"/>
          <p:cNvSpPr/>
          <p:nvPr/>
        </p:nvSpPr>
        <p:spPr>
          <a:xfrm>
            <a:off x="9665208" y="3218688"/>
            <a:ext cx="1920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 completes its task and disbands. Members may feel a sense of loss or pride. It is important to celebrate achievements and reflect on the journey.</a:t>
            </a:r>
            <a:endParaRPr lang="en-US" sz="1050" dirty="0"/>
          </a:p>
        </p:txBody>
      </p:sp>
      <p:sp>
        <p:nvSpPr>
          <p:cNvPr id="58" name="Shape 50"/>
          <p:cNvSpPr/>
          <p:nvPr/>
        </p:nvSpPr>
        <p:spPr>
          <a:xfrm>
            <a:off x="10460736" y="3593592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9" name="Shape 51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60" name="Text 52"/>
          <p:cNvSpPr/>
          <p:nvPr/>
        </p:nvSpPr>
        <p:spPr>
          <a:xfrm>
            <a:off x="274320" y="6665976"/>
            <a:ext cx="1170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Northouse, P. G. (2025). Introduction to Leadership: Concepts and Practice (6th ed.). Sage Publications.  |  Slide 1 of 2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HOW-TO GUIDE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34747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Fundamentals of Working in Groups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326880" y="731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 |  Introduction to Leadership  |  OL 3020</a:t>
            </a:r>
            <a:endParaRPr lang="en-US" sz="8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274320"/>
            <a:ext cx="548640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1188720"/>
            <a:ext cx="35661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1188720"/>
            <a:ext cx="502920" cy="2331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011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978408" y="1316736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1380744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129844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Clear Goals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914400" y="175564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group needs a clear, shared goal to stay focused.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914400" y="2304288"/>
            <a:ext cx="2834640" cy="1078992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78408" y="2350008"/>
            <a:ext cx="2697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study group sets a goal to finish the chapter review before Friday's quiz, keeping everyone on the same page.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251960" y="1188720"/>
            <a:ext cx="35661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251960" y="1188720"/>
            <a:ext cx="502920" cy="2331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251960" y="2011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4910328" y="1316736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336" y="1380744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532120" y="129844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Structure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4846320" y="175564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roles and responsibilities so everyone knows their job.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846320" y="2304288"/>
            <a:ext cx="2834640" cy="1078992"/>
          </a:xfrm>
          <a:prstGeom prst="rect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910328" y="2350008"/>
            <a:ext cx="2697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In a class project, one person leads, one takes notes, and one manages deadlines — clear structure prevents confusion.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8183880" y="1188720"/>
            <a:ext cx="35661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8183880" y="1188720"/>
            <a:ext cx="502920" cy="2331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183880" y="2011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9" name="Shape 24"/>
          <p:cNvSpPr/>
          <p:nvPr/>
        </p:nvSpPr>
        <p:spPr>
          <a:xfrm>
            <a:off x="8842248" y="1316736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6256" y="1380744"/>
            <a:ext cx="365760" cy="36576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464040" y="129844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Establish Norms</a:t>
            </a:r>
            <a:endParaRPr lang="en-US" sz="1350" dirty="0"/>
          </a:p>
        </p:txBody>
      </p:sp>
      <p:sp>
        <p:nvSpPr>
          <p:cNvPr id="32" name="Text 26"/>
          <p:cNvSpPr/>
          <p:nvPr/>
        </p:nvSpPr>
        <p:spPr>
          <a:xfrm>
            <a:off x="8778240" y="175564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agreed-upon rules for how the group will work together.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8778240" y="2304288"/>
            <a:ext cx="2834640" cy="1078992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8842248" y="2350008"/>
            <a:ext cx="2697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The group agrees to start meetings on time, respect different opinions, and respond to messages within 24 hours.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2148840" y="3703320"/>
            <a:ext cx="35661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2148840" y="3703320"/>
            <a:ext cx="502920" cy="2331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2148840" y="45262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38" name="Shape 32"/>
          <p:cNvSpPr/>
          <p:nvPr/>
        </p:nvSpPr>
        <p:spPr>
          <a:xfrm>
            <a:off x="2807208" y="3831336"/>
            <a:ext cx="548640" cy="5486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1216" y="3895344"/>
            <a:ext cx="365760" cy="36576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3429000" y="381304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Cohesiveness</a:t>
            </a:r>
            <a:endParaRPr lang="en-US" sz="1350" dirty="0"/>
          </a:p>
        </p:txBody>
      </p:sp>
      <p:sp>
        <p:nvSpPr>
          <p:cNvPr id="41" name="Text 34"/>
          <p:cNvSpPr/>
          <p:nvPr/>
        </p:nvSpPr>
        <p:spPr>
          <a:xfrm>
            <a:off x="2743200" y="427024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trust and a sense of belonging among group members.</a:t>
            </a:r>
            <a:endParaRPr lang="en-US" sz="1050" dirty="0"/>
          </a:p>
        </p:txBody>
      </p:sp>
      <p:sp>
        <p:nvSpPr>
          <p:cNvPr id="42" name="Shape 35"/>
          <p:cNvSpPr/>
          <p:nvPr/>
        </p:nvSpPr>
        <p:spPr>
          <a:xfrm>
            <a:off x="2743200" y="4818888"/>
            <a:ext cx="2834640" cy="1078992"/>
          </a:xfrm>
          <a:prstGeom prst="rect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2807208" y="4864608"/>
            <a:ext cx="2697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team that takes time to celebrate small wins together builds stronger bonds and performs better under pressure.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6309360" y="3703320"/>
            <a:ext cx="35661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6309360" y="3703320"/>
            <a:ext cx="502920" cy="2331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6309360" y="45262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47" name="Shape 40"/>
          <p:cNvSpPr/>
          <p:nvPr/>
        </p:nvSpPr>
        <p:spPr>
          <a:xfrm>
            <a:off x="6967728" y="3831336"/>
            <a:ext cx="548640" cy="5486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1736" y="3895344"/>
            <a:ext cx="365760" cy="365760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7589520" y="381304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 &amp; Take Feedback</a:t>
            </a:r>
            <a:endParaRPr lang="en-US" sz="1350" dirty="0"/>
          </a:p>
        </p:txBody>
      </p:sp>
      <p:sp>
        <p:nvSpPr>
          <p:cNvPr id="50" name="Text 42"/>
          <p:cNvSpPr/>
          <p:nvPr/>
        </p:nvSpPr>
        <p:spPr>
          <a:xfrm>
            <a:off x="6903720" y="427024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honest, constructive feedback to help the group grow.</a:t>
            </a:r>
            <a:endParaRPr lang="en-US" sz="1050" dirty="0"/>
          </a:p>
        </p:txBody>
      </p:sp>
      <p:sp>
        <p:nvSpPr>
          <p:cNvPr id="51" name="Shape 43"/>
          <p:cNvSpPr/>
          <p:nvPr/>
        </p:nvSpPr>
        <p:spPr>
          <a:xfrm>
            <a:off x="6903720" y="4818888"/>
            <a:ext cx="2834640" cy="1078992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44"/>
          <p:cNvSpPr/>
          <p:nvPr/>
        </p:nvSpPr>
        <p:spPr>
          <a:xfrm>
            <a:off x="6967728" y="4864608"/>
            <a:ext cx="2697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After a presentation, group members share what went well and what could improve — this makes the next one stronger.</a:t>
            </a:r>
            <a:endParaRPr lang="en-US" sz="1000" dirty="0"/>
          </a:p>
        </p:txBody>
      </p:sp>
      <p:sp>
        <p:nvSpPr>
          <p:cNvPr id="53" name="Shape 45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46"/>
          <p:cNvSpPr/>
          <p:nvPr/>
        </p:nvSpPr>
        <p:spPr>
          <a:xfrm>
            <a:off x="274320" y="6665976"/>
            <a:ext cx="1170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Northouse, P. G. (2025). Introduction to Leadership: Concepts and Practice (6th ed.). Sage Publications.  |  Slide 2 of 2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2026-03-19T03:09:27Z</dcterms:created>
  <dcterms:modified xsi:type="dcterms:W3CDTF">2026-03-19T03:09:27Z</dcterms:modified>
</cp:coreProperties>
</file>