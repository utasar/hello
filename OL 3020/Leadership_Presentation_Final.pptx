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0" y="0"/>
            <a:ext cx="47548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143D22">
              <a:alpha val="45000"/>
            </a:srgbClr>
          </a:solidFill>
          <a:ln w="12700">
            <a:solidFill>
              <a:srgbClr val="143D22">
                <a:alpha val="4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37160" y="0"/>
            <a:ext cx="4251960" cy="91440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137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 3020  –  Leadership Foundations  |  Wright State University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274320" y="50292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Influential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</a:t>
            </a:r>
            <a:endParaRPr lang="en-US" sz="4600" dirty="0"/>
          </a:p>
        </p:txBody>
      </p:sp>
      <p:sp>
        <p:nvSpPr>
          <p:cNvPr id="8" name="Shape 5"/>
          <p:cNvSpPr/>
          <p:nvPr/>
        </p:nvSpPr>
        <p:spPr>
          <a:xfrm>
            <a:off x="274320" y="1965960"/>
            <a:ext cx="2560320" cy="54864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20756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Emanuel O. Clayton, Ph.D.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74320" y="257860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Director – Academic Success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Success Center, Wright State University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Learning Center – Tutor Supervisor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74320" y="3520440"/>
            <a:ext cx="1874520" cy="502920"/>
          </a:xfrm>
          <a:prstGeom prst="rect">
            <a:avLst/>
          </a:prstGeom>
          <a:solidFill>
            <a:srgbClr val="0D3B1E"/>
          </a:solidFill>
          <a:ln w="12700">
            <a:solidFill>
              <a:srgbClr val="B8962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02736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03504" y="353872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Met: Summer 2024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286000" y="3520440"/>
            <a:ext cx="1874520" cy="502920"/>
          </a:xfrm>
          <a:prstGeom prst="rect">
            <a:avLst/>
          </a:prstGeom>
          <a:solidFill>
            <a:srgbClr val="0D3B1E"/>
          </a:solidFill>
          <a:ln w="12700">
            <a:solidFill>
              <a:srgbClr val="B8962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3602736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615184" y="353872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Working: Spring 2025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274320" y="4663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DB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Utsav Acharya  |  March 12, 2026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8503920" y="48463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25880"/>
            <a:ext cx="9144000" cy="64008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STRENGTH  –  GALLUP CLIFTONSTRENGTHS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384048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Developer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7360920" y="91440"/>
            <a:ext cx="1051560" cy="1051560"/>
          </a:xfrm>
          <a:prstGeom prst="ellipse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228600"/>
            <a:ext cx="621792" cy="6217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4447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Rath, T. (2007). StrengthsFinder 2.0. Gallup Press.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120640" y="1508760"/>
            <a:ext cx="3657600" cy="3154680"/>
          </a:xfrm>
          <a:prstGeom prst="rect">
            <a:avLst/>
          </a:prstGeom>
          <a:solidFill>
            <a:srgbClr val="EEEBE4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66360" y="1554480"/>
            <a:ext cx="3566160" cy="3063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20640" y="4617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Clayton receiving the Wright Leader Academy Award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65760" y="1719072"/>
            <a:ext cx="4572000" cy="91440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02920" y="176479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02920" y="199339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recognize and cultivate the potential in others. They notice small signs of growth and find genuine satisfaction in helping people improve (Rath, 2007).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2816352"/>
            <a:ext cx="14447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9536" y="2889504"/>
            <a:ext cx="475488" cy="475488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94436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11480" y="3401568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 Strategically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38912" y="3822192"/>
            <a:ext cx="1298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tutors who are knowledgeable, patient, and supportive.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1920240" y="2816352"/>
            <a:ext cx="14447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414016" y="2889504"/>
            <a:ext cx="475488" cy="475488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8024" y="2944368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965960" y="3401568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for Growth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1993392" y="3822192"/>
            <a:ext cx="1298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tutors for in-person and online sessions to build professional skills.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474720" y="2816352"/>
            <a:ext cx="14447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968496" y="2889504"/>
            <a:ext cx="475488" cy="475488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2504" y="2944368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520440" y="3401568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Encouragement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3547872" y="3822192"/>
            <a:ext cx="1298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to student mistakes with a smile and motivation, not discouragement.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365760" y="492861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B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Utsav Acharya  |  OL 3020  |  Wright State University</a:t>
            </a:r>
            <a:endParaRPr lang="en-US" sz="850" dirty="0"/>
          </a:p>
        </p:txBody>
      </p:sp>
      <p:sp>
        <p:nvSpPr>
          <p:cNvPr id="32" name="Text 25"/>
          <p:cNvSpPr/>
          <p:nvPr/>
        </p:nvSpPr>
        <p:spPr>
          <a:xfrm>
            <a:off x="8412480" y="49286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DB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25880"/>
            <a:ext cx="9144000" cy="64008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IN PRACTICE  –  CHAPTER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384048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Implements a Vision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360920" y="91440"/>
            <a:ext cx="1051560" cy="1051560"/>
          </a:xfrm>
          <a:prstGeom prst="ellipse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4" y="228600"/>
            <a:ext cx="621792" cy="6217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444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Northouse, P. G. (2025). Ch. 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120640" y="1508760"/>
            <a:ext cx="3657600" cy="3154680"/>
          </a:xfrm>
          <a:prstGeom prst="rect">
            <a:avLst/>
          </a:prstGeom>
          <a:solidFill>
            <a:srgbClr val="EEEBE4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66360" y="1554480"/>
            <a:ext cx="3566160" cy="3063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20640" y="4617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Tutoring session at the Math Learning Center, Wright State University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65760" y="1719072"/>
            <a:ext cx="4572000" cy="91440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02920" y="176479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02920" y="199339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student independence in mathematics — strengthen foundational skills so students no longer rely on others for answers.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2816352"/>
            <a:ext cx="14447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2816352"/>
            <a:ext cx="1444752" cy="50292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5760" y="283464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9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11480" y="3346704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Right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38912" y="3767328"/>
            <a:ext cx="12984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tutors with knowledge and patience to guide struggling students.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1920240" y="2816352"/>
            <a:ext cx="14447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1920240" y="2816352"/>
            <a:ext cx="1444752" cy="50292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920240" y="283464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9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1965960" y="3346704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Prepare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1993392" y="3767328"/>
            <a:ext cx="12984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tutors for online and in-person sessions, building professional skills.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3474720" y="2816352"/>
            <a:ext cx="14447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3474720" y="2816352"/>
            <a:ext cx="1444752" cy="50292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474720" y="283464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9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3520440" y="3346704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to Independence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3547872" y="3767328"/>
            <a:ext cx="12984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Tutors walk students through thinking, not just giving answers.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65760" y="492861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B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Utsav Acharya  |  OL 3020  |  Wright State University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8412480" y="49286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DB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5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657600" cy="54864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8412480" cy="1005840"/>
          </a:xfrm>
          <a:prstGeom prst="rect">
            <a:avLst/>
          </a:prstGeom>
          <a:solidFill>
            <a:srgbClr val="143D22"/>
          </a:solidFill>
          <a:ln w="12700">
            <a:solidFill>
              <a:srgbClr val="B896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1325880" cy="1005840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38988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0" y="1225296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Northouse, P. G. (2025). Introduction to leadership: Concepts and practice (6th ed.). Sage Publications.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67712"/>
            <a:ext cx="8412480" cy="1005840"/>
          </a:xfrm>
          <a:prstGeom prst="rect">
            <a:avLst/>
          </a:prstGeom>
          <a:solidFill>
            <a:srgbClr val="143D22"/>
          </a:solidFill>
          <a:ln w="12700">
            <a:solidFill>
              <a:srgbClr val="B896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267712"/>
            <a:ext cx="1325880" cy="1005840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560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CliftonStrengths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2395728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Rath, T. (2007). StrengthsFinder 2.0. Gallup Press.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438144"/>
            <a:ext cx="8412480" cy="1005840"/>
          </a:xfrm>
          <a:prstGeom prst="rect">
            <a:avLst/>
          </a:prstGeom>
          <a:solidFill>
            <a:srgbClr val="143D22"/>
          </a:solidFill>
          <a:ln w="12700">
            <a:solidFill>
              <a:srgbClr val="B896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438144"/>
            <a:ext cx="1325880" cy="1005840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73075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Profile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0" y="3566160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Clayton, E. O. (2026). Wright State University profile. https://people.wright.edu/emanuel.clayton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DB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Utsav Acharya  |  OL 3020 – Leadership Foundations  |  Wright State University  |  March 12,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2026-03-13T00:10:33Z</dcterms:created>
  <dcterms:modified xsi:type="dcterms:W3CDTF">2026-03-13T00:10:33Z</dcterms:modified>
</cp:coreProperties>
</file>