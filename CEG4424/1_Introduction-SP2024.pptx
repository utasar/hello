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8" r:id="rId3"/>
    <p:sldId id="259" r:id="rId4"/>
    <p:sldId id="260" r:id="rId5"/>
    <p:sldId id="261" r:id="rId6"/>
    <p:sldId id="262" r:id="rId7"/>
    <p:sldId id="263" r:id="rId8"/>
    <p:sldId id="264" r:id="rId9"/>
    <p:sldId id="310" r:id="rId10"/>
    <p:sldId id="312" r:id="rId11"/>
    <p:sldId id="313" r:id="rId12"/>
    <p:sldId id="314" r:id="rId13"/>
    <p:sldId id="315" r:id="rId14"/>
    <p:sldId id="322" r:id="rId15"/>
    <p:sldId id="323" r:id="rId16"/>
    <p:sldId id="321" r:id="rId17"/>
    <p:sldId id="318" r:id="rId18"/>
    <p:sldId id="319" r:id="rId19"/>
    <p:sldId id="320" r:id="rId20"/>
    <p:sldId id="325" r:id="rId21"/>
    <p:sldId id="326" r:id="rId22"/>
    <p:sldId id="328" r:id="rId23"/>
    <p:sldId id="327" r:id="rId24"/>
    <p:sldId id="311" r:id="rId25"/>
    <p:sldId id="309" r:id="rId26"/>
    <p:sldId id="324"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0069" autoAdjust="0"/>
  </p:normalViewPr>
  <p:slideViewPr>
    <p:cSldViewPr snapToGrid="0" snapToObjects="1">
      <p:cViewPr varScale="1">
        <p:scale>
          <a:sx n="69" d="100"/>
          <a:sy n="69" d="100"/>
        </p:scale>
        <p:origin x="1858" y="67"/>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8202C-BF50-43C1-962D-AD47EA04E586}" type="doc">
      <dgm:prSet loTypeId="urn:microsoft.com/office/officeart/2005/8/layout/orgChart1" loCatId="hierarchy" qsTypeId="urn:microsoft.com/office/officeart/2005/8/quickstyle/simple1" qsCatId="simple" csTypeId="urn:microsoft.com/office/officeart/2005/8/colors/accent1_2" csCatId="accent1"/>
      <dgm:spPr/>
    </dgm:pt>
    <dgm:pt modelId="{9530189C-D2AE-4C1D-A56A-0D8A054124D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Read File</a:t>
          </a:r>
        </a:p>
      </dgm:t>
    </dgm:pt>
    <dgm:pt modelId="{D6CFB808-4B37-46BD-AAD2-176899FAE2F4}" type="parTrans" cxnId="{E6F28139-DF2A-42E5-8469-78E088E711F7}">
      <dgm:prSet/>
      <dgm:spPr/>
      <dgm:t>
        <a:bodyPr/>
        <a:lstStyle/>
        <a:p>
          <a:endParaRPr lang="en-US"/>
        </a:p>
      </dgm:t>
    </dgm:pt>
    <dgm:pt modelId="{C6233839-BC91-4687-9166-F0AB6D28C5B3}" type="sibTrans" cxnId="{E6F28139-DF2A-42E5-8469-78E088E711F7}">
      <dgm:prSet/>
      <dgm:spPr/>
      <dgm:t>
        <a:bodyPr/>
        <a:lstStyle/>
        <a:p>
          <a:endParaRPr lang="en-US"/>
        </a:p>
      </dgm:t>
    </dgm:pt>
    <dgm:pt modelId="{04647B82-ECE0-4460-BF9E-C3A84BE66B83}">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Get Password</a:t>
          </a:r>
        </a:p>
      </dgm:t>
    </dgm:pt>
    <dgm:pt modelId="{65A5F4E2-81BB-42C1-ACED-53B0A0E49360}" type="parTrans" cxnId="{B0619CB5-B6B2-49B2-9D96-28E484CCA9B6}">
      <dgm:prSet/>
      <dgm:spPr/>
      <dgm:t>
        <a:bodyPr/>
        <a:lstStyle/>
        <a:p>
          <a:endParaRPr lang="en-US"/>
        </a:p>
      </dgm:t>
    </dgm:pt>
    <dgm:pt modelId="{DFD27C13-1EB0-487A-92DC-FF43BBCC88CF}" type="sibTrans" cxnId="{B0619CB5-B6B2-49B2-9D96-28E484CCA9B6}">
      <dgm:prSet/>
      <dgm:spPr/>
      <dgm:t>
        <a:bodyPr/>
        <a:lstStyle/>
        <a:p>
          <a:endParaRPr lang="en-US"/>
        </a:p>
      </dgm:t>
    </dgm:pt>
    <dgm:pt modelId="{524F735A-3733-45E0-8461-EE16510AD30B}">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Search Desk</a:t>
          </a:r>
        </a:p>
      </dgm:t>
    </dgm:pt>
    <dgm:pt modelId="{FE15ED50-9B5F-4C63-99C7-141F28B4060F}" type="parTrans" cxnId="{DD2DB954-73A9-4EB8-89E0-27FF429D3462}">
      <dgm:prSet/>
      <dgm:spPr/>
      <dgm:t>
        <a:bodyPr/>
        <a:lstStyle/>
        <a:p>
          <a:endParaRPr lang="en-US"/>
        </a:p>
      </dgm:t>
    </dgm:pt>
    <dgm:pt modelId="{47C213EC-66BB-4B36-909F-F077B37F35E7}" type="sibTrans" cxnId="{DD2DB954-73A9-4EB8-89E0-27FF429D3462}">
      <dgm:prSet/>
      <dgm:spPr/>
      <dgm:t>
        <a:bodyPr/>
        <a:lstStyle/>
        <a:p>
          <a:endParaRPr lang="en-US"/>
        </a:p>
      </dgm:t>
    </dgm:pt>
    <dgm:pt modelId="{18720BF4-CD35-4757-8F24-DAD7F28E096D}">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Social Engineer</a:t>
          </a:r>
        </a:p>
      </dgm:t>
    </dgm:pt>
    <dgm:pt modelId="{49F1B5F5-ADF2-40A9-96EE-EFC439408946}" type="parTrans" cxnId="{E7229B79-6AB8-4564-B74C-B8DED841C2DB}">
      <dgm:prSet/>
      <dgm:spPr/>
      <dgm:t>
        <a:bodyPr/>
        <a:lstStyle/>
        <a:p>
          <a:endParaRPr lang="en-US"/>
        </a:p>
      </dgm:t>
    </dgm:pt>
    <dgm:pt modelId="{052C8F1D-235D-4D11-ADB5-A09E034BC142}" type="sibTrans" cxnId="{E7229B79-6AB8-4564-B74C-B8DED841C2DB}">
      <dgm:prSet/>
      <dgm:spPr/>
      <dgm:t>
        <a:bodyPr/>
        <a:lstStyle/>
        <a:p>
          <a:endParaRPr lang="en-US"/>
        </a:p>
      </dgm:t>
    </dgm:pt>
    <dgm:pt modelId="{42D6D3EA-C57E-419D-9581-46D91E0865B1}">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Network Access</a:t>
          </a:r>
        </a:p>
      </dgm:t>
    </dgm:pt>
    <dgm:pt modelId="{BCA8AE8E-0C01-4697-8E86-53D04F0CEA8F}" type="parTrans" cxnId="{CA6C002E-59E9-49CE-B396-E31517CB16AC}">
      <dgm:prSet/>
      <dgm:spPr/>
      <dgm:t>
        <a:bodyPr/>
        <a:lstStyle/>
        <a:p>
          <a:endParaRPr lang="en-US"/>
        </a:p>
      </dgm:t>
    </dgm:pt>
    <dgm:pt modelId="{19BA84B3-33F2-4707-9A66-42AA09F2E4A5}" type="sibTrans" cxnId="{CA6C002E-59E9-49CE-B396-E31517CB16AC}">
      <dgm:prSet/>
      <dgm:spPr/>
      <dgm:t>
        <a:bodyPr/>
        <a:lstStyle/>
        <a:p>
          <a:endParaRPr lang="en-US"/>
        </a:p>
      </dgm:t>
    </dgm:pt>
    <dgm:pt modelId="{B5CD6920-45F1-42C5-A57E-AFB5AA972738}">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Physical Access</a:t>
          </a:r>
        </a:p>
      </dgm:t>
    </dgm:pt>
    <dgm:pt modelId="{3AF0CF94-A5A5-4046-9901-AC018E6211D9}" type="parTrans" cxnId="{F1EE10EA-F738-418A-ADE0-E6AC7AFB7600}">
      <dgm:prSet/>
      <dgm:spPr/>
      <dgm:t>
        <a:bodyPr/>
        <a:lstStyle/>
        <a:p>
          <a:endParaRPr lang="en-US"/>
        </a:p>
      </dgm:t>
    </dgm:pt>
    <dgm:pt modelId="{EC2C0706-EF5D-4B25-B514-F522A6286B90}" type="sibTrans" cxnId="{F1EE10EA-F738-418A-ADE0-E6AC7AFB7600}">
      <dgm:prSet/>
      <dgm:spPr/>
      <dgm:t>
        <a:bodyPr/>
        <a:lstStyle/>
        <a:p>
          <a:endParaRPr lang="en-US"/>
        </a:p>
      </dgm:t>
    </dgm:pt>
    <dgm:pt modelId="{B20A0FF9-062A-47F9-9FDA-DE83D13B372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Boot with CD</a:t>
          </a:r>
        </a:p>
      </dgm:t>
    </dgm:pt>
    <dgm:pt modelId="{D92B1102-9AC3-4D35-B5D4-3471F1B3E3DB}" type="parTrans" cxnId="{9E62F4A9-7AFB-4DC3-81DE-9C1942D70B25}">
      <dgm:prSet/>
      <dgm:spPr/>
      <dgm:t>
        <a:bodyPr/>
        <a:lstStyle/>
        <a:p>
          <a:endParaRPr lang="en-US"/>
        </a:p>
      </dgm:t>
    </dgm:pt>
    <dgm:pt modelId="{2A638D5B-EA25-4296-AB6D-92051298CAD2}" type="sibTrans" cxnId="{9E62F4A9-7AFB-4DC3-81DE-9C1942D70B25}">
      <dgm:prSet/>
      <dgm:spPr/>
      <dgm:t>
        <a:bodyPr/>
        <a:lstStyle/>
        <a:p>
          <a:endParaRPr lang="en-US"/>
        </a:p>
      </dgm:t>
    </dgm:pt>
    <dgm:pt modelId="{3E088E27-B9F3-4EE8-B0BC-6D7FDEDD2A63}">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Remove hard disk</a:t>
          </a:r>
        </a:p>
      </dgm:t>
    </dgm:pt>
    <dgm:pt modelId="{8DF7D273-FE5E-4340-A1C0-DD7CFC1D0F40}" type="parTrans" cxnId="{428BB988-ED9D-4E25-8839-1223E02A41CA}">
      <dgm:prSet/>
      <dgm:spPr/>
      <dgm:t>
        <a:bodyPr/>
        <a:lstStyle/>
        <a:p>
          <a:endParaRPr lang="en-US"/>
        </a:p>
      </dgm:t>
    </dgm:pt>
    <dgm:pt modelId="{6A48BD0C-9BC9-4CD1-9FDC-6633B9464FDA}" type="sibTrans" cxnId="{428BB988-ED9D-4E25-8839-1223E02A41CA}">
      <dgm:prSet/>
      <dgm:spPr/>
      <dgm:t>
        <a:bodyPr/>
        <a:lstStyle/>
        <a:p>
          <a:endParaRPr lang="en-US"/>
        </a:p>
      </dgm:t>
    </dgm:pt>
    <dgm:pt modelId="{F5BC6EA3-0EA3-4625-A828-724B1A5369E6}" type="pres">
      <dgm:prSet presAssocID="{7D78202C-BF50-43C1-962D-AD47EA04E586}" presName="hierChild1" presStyleCnt="0">
        <dgm:presLayoutVars>
          <dgm:orgChart val="1"/>
          <dgm:chPref val="1"/>
          <dgm:dir/>
          <dgm:animOne val="branch"/>
          <dgm:animLvl val="lvl"/>
          <dgm:resizeHandles/>
        </dgm:presLayoutVars>
      </dgm:prSet>
      <dgm:spPr/>
    </dgm:pt>
    <dgm:pt modelId="{0A23F2AD-BE29-4934-B3EC-0A298A2975EC}" type="pres">
      <dgm:prSet presAssocID="{9530189C-D2AE-4C1D-A56A-0D8A054124D9}" presName="hierRoot1" presStyleCnt="0">
        <dgm:presLayoutVars>
          <dgm:hierBranch/>
        </dgm:presLayoutVars>
      </dgm:prSet>
      <dgm:spPr/>
    </dgm:pt>
    <dgm:pt modelId="{167B10DF-450C-4397-9CFB-A7144ABDD7A7}" type="pres">
      <dgm:prSet presAssocID="{9530189C-D2AE-4C1D-A56A-0D8A054124D9}" presName="rootComposite1" presStyleCnt="0"/>
      <dgm:spPr/>
    </dgm:pt>
    <dgm:pt modelId="{B7CF1E0D-36C9-46F7-849D-9D2A120EC749}" type="pres">
      <dgm:prSet presAssocID="{9530189C-D2AE-4C1D-A56A-0D8A054124D9}" presName="rootText1" presStyleLbl="node0" presStyleIdx="0" presStyleCnt="1">
        <dgm:presLayoutVars>
          <dgm:chPref val="3"/>
        </dgm:presLayoutVars>
      </dgm:prSet>
      <dgm:spPr/>
    </dgm:pt>
    <dgm:pt modelId="{54C44970-8781-4AC4-8F0D-309E17CA0A55}" type="pres">
      <dgm:prSet presAssocID="{9530189C-D2AE-4C1D-A56A-0D8A054124D9}" presName="rootConnector1" presStyleLbl="node1" presStyleIdx="0" presStyleCnt="0"/>
      <dgm:spPr/>
    </dgm:pt>
    <dgm:pt modelId="{1E5E0740-9839-40F1-BEF9-AF75EC0904EE}" type="pres">
      <dgm:prSet presAssocID="{9530189C-D2AE-4C1D-A56A-0D8A054124D9}" presName="hierChild2" presStyleCnt="0"/>
      <dgm:spPr/>
    </dgm:pt>
    <dgm:pt modelId="{2F7F4B14-8039-4C9A-8F17-59F5D2A2E331}" type="pres">
      <dgm:prSet presAssocID="{65A5F4E2-81BB-42C1-ACED-53B0A0E49360}" presName="Name35" presStyleLbl="parChTrans1D2" presStyleIdx="0" presStyleCnt="3"/>
      <dgm:spPr/>
    </dgm:pt>
    <dgm:pt modelId="{3268C4C7-4864-4018-B1D0-A838B24FD9DB}" type="pres">
      <dgm:prSet presAssocID="{04647B82-ECE0-4460-BF9E-C3A84BE66B83}" presName="hierRoot2" presStyleCnt="0">
        <dgm:presLayoutVars>
          <dgm:hierBranch/>
        </dgm:presLayoutVars>
      </dgm:prSet>
      <dgm:spPr/>
    </dgm:pt>
    <dgm:pt modelId="{175C9B85-99EA-419F-AB86-832465E99CE9}" type="pres">
      <dgm:prSet presAssocID="{04647B82-ECE0-4460-BF9E-C3A84BE66B83}" presName="rootComposite" presStyleCnt="0"/>
      <dgm:spPr/>
    </dgm:pt>
    <dgm:pt modelId="{531FCA09-03CE-4C13-895B-01460317C498}" type="pres">
      <dgm:prSet presAssocID="{04647B82-ECE0-4460-BF9E-C3A84BE66B83}" presName="rootText" presStyleLbl="node2" presStyleIdx="0" presStyleCnt="3">
        <dgm:presLayoutVars>
          <dgm:chPref val="3"/>
        </dgm:presLayoutVars>
      </dgm:prSet>
      <dgm:spPr/>
    </dgm:pt>
    <dgm:pt modelId="{98CDD1C3-568E-4893-981E-73EC5E605260}" type="pres">
      <dgm:prSet presAssocID="{04647B82-ECE0-4460-BF9E-C3A84BE66B83}" presName="rootConnector" presStyleLbl="node2" presStyleIdx="0" presStyleCnt="3"/>
      <dgm:spPr/>
    </dgm:pt>
    <dgm:pt modelId="{BDF3C084-9E47-41ED-BE23-D969C56B11E6}" type="pres">
      <dgm:prSet presAssocID="{04647B82-ECE0-4460-BF9E-C3A84BE66B83}" presName="hierChild4" presStyleCnt="0"/>
      <dgm:spPr/>
    </dgm:pt>
    <dgm:pt modelId="{BE5DF9BE-D172-4175-9D53-2DFD879C9A6A}" type="pres">
      <dgm:prSet presAssocID="{FE15ED50-9B5F-4C63-99C7-141F28B4060F}" presName="Name35" presStyleLbl="parChTrans1D3" presStyleIdx="0" presStyleCnt="4"/>
      <dgm:spPr/>
    </dgm:pt>
    <dgm:pt modelId="{41F7CC21-A940-4A27-9243-EEB47DDEF519}" type="pres">
      <dgm:prSet presAssocID="{524F735A-3733-45E0-8461-EE16510AD30B}" presName="hierRoot2" presStyleCnt="0">
        <dgm:presLayoutVars>
          <dgm:hierBranch val="r"/>
        </dgm:presLayoutVars>
      </dgm:prSet>
      <dgm:spPr/>
    </dgm:pt>
    <dgm:pt modelId="{31F02E46-2545-4A74-8DAB-1B59A79B5227}" type="pres">
      <dgm:prSet presAssocID="{524F735A-3733-45E0-8461-EE16510AD30B}" presName="rootComposite" presStyleCnt="0"/>
      <dgm:spPr/>
    </dgm:pt>
    <dgm:pt modelId="{1F15AFF8-7647-4B06-AE3D-045AD9F2DFB5}" type="pres">
      <dgm:prSet presAssocID="{524F735A-3733-45E0-8461-EE16510AD30B}" presName="rootText" presStyleLbl="node3" presStyleIdx="0" presStyleCnt="4">
        <dgm:presLayoutVars>
          <dgm:chPref val="3"/>
        </dgm:presLayoutVars>
      </dgm:prSet>
      <dgm:spPr/>
    </dgm:pt>
    <dgm:pt modelId="{482E9A05-AC12-4C10-B5FA-1603E1407477}" type="pres">
      <dgm:prSet presAssocID="{524F735A-3733-45E0-8461-EE16510AD30B}" presName="rootConnector" presStyleLbl="node3" presStyleIdx="0" presStyleCnt="4"/>
      <dgm:spPr/>
    </dgm:pt>
    <dgm:pt modelId="{D12A6C3E-7F00-4373-9D3F-FB81C42007C8}" type="pres">
      <dgm:prSet presAssocID="{524F735A-3733-45E0-8461-EE16510AD30B}" presName="hierChild4" presStyleCnt="0"/>
      <dgm:spPr/>
    </dgm:pt>
    <dgm:pt modelId="{8727AD98-7420-493A-9F67-E1504CA5CF18}" type="pres">
      <dgm:prSet presAssocID="{524F735A-3733-45E0-8461-EE16510AD30B}" presName="hierChild5" presStyleCnt="0"/>
      <dgm:spPr/>
    </dgm:pt>
    <dgm:pt modelId="{A95D377D-AAFB-4D1D-AC46-B5B4122397E7}" type="pres">
      <dgm:prSet presAssocID="{49F1B5F5-ADF2-40A9-96EE-EFC439408946}" presName="Name35" presStyleLbl="parChTrans1D3" presStyleIdx="1" presStyleCnt="4"/>
      <dgm:spPr/>
    </dgm:pt>
    <dgm:pt modelId="{9618C4E0-57EA-498F-8AB6-529FC7BDA3F5}" type="pres">
      <dgm:prSet presAssocID="{18720BF4-CD35-4757-8F24-DAD7F28E096D}" presName="hierRoot2" presStyleCnt="0">
        <dgm:presLayoutVars>
          <dgm:hierBranch val="r"/>
        </dgm:presLayoutVars>
      </dgm:prSet>
      <dgm:spPr/>
    </dgm:pt>
    <dgm:pt modelId="{7F03B0C5-8E64-4342-B6CA-69225FE82DF6}" type="pres">
      <dgm:prSet presAssocID="{18720BF4-CD35-4757-8F24-DAD7F28E096D}" presName="rootComposite" presStyleCnt="0"/>
      <dgm:spPr/>
    </dgm:pt>
    <dgm:pt modelId="{DBF14975-D104-471F-B58F-BA68CF2FF165}" type="pres">
      <dgm:prSet presAssocID="{18720BF4-CD35-4757-8F24-DAD7F28E096D}" presName="rootText" presStyleLbl="node3" presStyleIdx="1" presStyleCnt="4">
        <dgm:presLayoutVars>
          <dgm:chPref val="3"/>
        </dgm:presLayoutVars>
      </dgm:prSet>
      <dgm:spPr/>
    </dgm:pt>
    <dgm:pt modelId="{B27D5FB4-4821-40A9-B998-D94373BF788A}" type="pres">
      <dgm:prSet presAssocID="{18720BF4-CD35-4757-8F24-DAD7F28E096D}" presName="rootConnector" presStyleLbl="node3" presStyleIdx="1" presStyleCnt="4"/>
      <dgm:spPr/>
    </dgm:pt>
    <dgm:pt modelId="{24FFA0BA-C4BC-4823-9A59-38C620F8CD5A}" type="pres">
      <dgm:prSet presAssocID="{18720BF4-CD35-4757-8F24-DAD7F28E096D}" presName="hierChild4" presStyleCnt="0"/>
      <dgm:spPr/>
    </dgm:pt>
    <dgm:pt modelId="{5705922E-92B3-4B5A-B4E3-36C8DB97CA6E}" type="pres">
      <dgm:prSet presAssocID="{18720BF4-CD35-4757-8F24-DAD7F28E096D}" presName="hierChild5" presStyleCnt="0"/>
      <dgm:spPr/>
    </dgm:pt>
    <dgm:pt modelId="{426B7800-C83D-4A62-915F-89C250816CF0}" type="pres">
      <dgm:prSet presAssocID="{04647B82-ECE0-4460-BF9E-C3A84BE66B83}" presName="hierChild5" presStyleCnt="0"/>
      <dgm:spPr/>
    </dgm:pt>
    <dgm:pt modelId="{68BB30EB-3474-4B68-824E-8968CC5A14FE}" type="pres">
      <dgm:prSet presAssocID="{BCA8AE8E-0C01-4697-8E86-53D04F0CEA8F}" presName="Name35" presStyleLbl="parChTrans1D2" presStyleIdx="1" presStyleCnt="3"/>
      <dgm:spPr/>
    </dgm:pt>
    <dgm:pt modelId="{96152A51-5AD6-4FF2-8FD6-3E61A1FB5880}" type="pres">
      <dgm:prSet presAssocID="{42D6D3EA-C57E-419D-9581-46D91E0865B1}" presName="hierRoot2" presStyleCnt="0">
        <dgm:presLayoutVars>
          <dgm:hierBranch/>
        </dgm:presLayoutVars>
      </dgm:prSet>
      <dgm:spPr/>
    </dgm:pt>
    <dgm:pt modelId="{5034E54A-7853-44B8-8969-8BE27148FB86}" type="pres">
      <dgm:prSet presAssocID="{42D6D3EA-C57E-419D-9581-46D91E0865B1}" presName="rootComposite" presStyleCnt="0"/>
      <dgm:spPr/>
    </dgm:pt>
    <dgm:pt modelId="{52AB96FB-1A0C-4629-9A76-21E16C61E8B2}" type="pres">
      <dgm:prSet presAssocID="{42D6D3EA-C57E-419D-9581-46D91E0865B1}" presName="rootText" presStyleLbl="node2" presStyleIdx="1" presStyleCnt="3">
        <dgm:presLayoutVars>
          <dgm:chPref val="3"/>
        </dgm:presLayoutVars>
      </dgm:prSet>
      <dgm:spPr/>
    </dgm:pt>
    <dgm:pt modelId="{01A3BC60-582D-4C7F-A997-F41FB25FDCC6}" type="pres">
      <dgm:prSet presAssocID="{42D6D3EA-C57E-419D-9581-46D91E0865B1}" presName="rootConnector" presStyleLbl="node2" presStyleIdx="1" presStyleCnt="3"/>
      <dgm:spPr/>
    </dgm:pt>
    <dgm:pt modelId="{F879D778-71D1-482D-95E9-D11752E2BE1B}" type="pres">
      <dgm:prSet presAssocID="{42D6D3EA-C57E-419D-9581-46D91E0865B1}" presName="hierChild4" presStyleCnt="0"/>
      <dgm:spPr/>
    </dgm:pt>
    <dgm:pt modelId="{90BD5F1E-1C3C-47D6-8FA2-FD7CC6CC9014}" type="pres">
      <dgm:prSet presAssocID="{42D6D3EA-C57E-419D-9581-46D91E0865B1}" presName="hierChild5" presStyleCnt="0"/>
      <dgm:spPr/>
    </dgm:pt>
    <dgm:pt modelId="{41F4DDC2-1208-4BE7-AE00-6543AB13CF0C}" type="pres">
      <dgm:prSet presAssocID="{3AF0CF94-A5A5-4046-9901-AC018E6211D9}" presName="Name35" presStyleLbl="parChTrans1D2" presStyleIdx="2" presStyleCnt="3"/>
      <dgm:spPr/>
    </dgm:pt>
    <dgm:pt modelId="{35A1201F-F0E9-4359-BEFF-536E790E2B7E}" type="pres">
      <dgm:prSet presAssocID="{B5CD6920-45F1-42C5-A57E-AFB5AA972738}" presName="hierRoot2" presStyleCnt="0">
        <dgm:presLayoutVars>
          <dgm:hierBranch/>
        </dgm:presLayoutVars>
      </dgm:prSet>
      <dgm:spPr/>
    </dgm:pt>
    <dgm:pt modelId="{EA042A45-F260-4EF7-9776-93D5CEBF538D}" type="pres">
      <dgm:prSet presAssocID="{B5CD6920-45F1-42C5-A57E-AFB5AA972738}" presName="rootComposite" presStyleCnt="0"/>
      <dgm:spPr/>
    </dgm:pt>
    <dgm:pt modelId="{4C1609CB-65D7-4924-9047-7E8885B4099A}" type="pres">
      <dgm:prSet presAssocID="{B5CD6920-45F1-42C5-A57E-AFB5AA972738}" presName="rootText" presStyleLbl="node2" presStyleIdx="2" presStyleCnt="3">
        <dgm:presLayoutVars>
          <dgm:chPref val="3"/>
        </dgm:presLayoutVars>
      </dgm:prSet>
      <dgm:spPr/>
    </dgm:pt>
    <dgm:pt modelId="{312C3455-C3BE-4A59-874A-CE56567B34D9}" type="pres">
      <dgm:prSet presAssocID="{B5CD6920-45F1-42C5-A57E-AFB5AA972738}" presName="rootConnector" presStyleLbl="node2" presStyleIdx="2" presStyleCnt="3"/>
      <dgm:spPr/>
    </dgm:pt>
    <dgm:pt modelId="{6A5A48FE-DA34-413C-BDA3-BC2970FDBE90}" type="pres">
      <dgm:prSet presAssocID="{B5CD6920-45F1-42C5-A57E-AFB5AA972738}" presName="hierChild4" presStyleCnt="0"/>
      <dgm:spPr/>
    </dgm:pt>
    <dgm:pt modelId="{19D7C0F1-84A4-41C2-8766-362F1D359483}" type="pres">
      <dgm:prSet presAssocID="{D92B1102-9AC3-4D35-B5D4-3471F1B3E3DB}" presName="Name35" presStyleLbl="parChTrans1D3" presStyleIdx="2" presStyleCnt="4"/>
      <dgm:spPr/>
    </dgm:pt>
    <dgm:pt modelId="{9131BC0D-87F5-4169-8223-A859DCA42D24}" type="pres">
      <dgm:prSet presAssocID="{B20A0FF9-062A-47F9-9FDA-DE83D13B3722}" presName="hierRoot2" presStyleCnt="0">
        <dgm:presLayoutVars>
          <dgm:hierBranch val="r"/>
        </dgm:presLayoutVars>
      </dgm:prSet>
      <dgm:spPr/>
    </dgm:pt>
    <dgm:pt modelId="{E1B5515E-9A1A-4274-AF56-25CCC916E3D7}" type="pres">
      <dgm:prSet presAssocID="{B20A0FF9-062A-47F9-9FDA-DE83D13B3722}" presName="rootComposite" presStyleCnt="0"/>
      <dgm:spPr/>
    </dgm:pt>
    <dgm:pt modelId="{B4045D2C-75BA-4ADA-B132-CA5C1A15F8CD}" type="pres">
      <dgm:prSet presAssocID="{B20A0FF9-062A-47F9-9FDA-DE83D13B3722}" presName="rootText" presStyleLbl="node3" presStyleIdx="2" presStyleCnt="4">
        <dgm:presLayoutVars>
          <dgm:chPref val="3"/>
        </dgm:presLayoutVars>
      </dgm:prSet>
      <dgm:spPr/>
    </dgm:pt>
    <dgm:pt modelId="{E03ADCE2-8A3A-42B6-9774-5D04792F7369}" type="pres">
      <dgm:prSet presAssocID="{B20A0FF9-062A-47F9-9FDA-DE83D13B3722}" presName="rootConnector" presStyleLbl="node3" presStyleIdx="2" presStyleCnt="4"/>
      <dgm:spPr/>
    </dgm:pt>
    <dgm:pt modelId="{45709337-C5B0-494B-8C35-C17EF6A6A17A}" type="pres">
      <dgm:prSet presAssocID="{B20A0FF9-062A-47F9-9FDA-DE83D13B3722}" presName="hierChild4" presStyleCnt="0"/>
      <dgm:spPr/>
    </dgm:pt>
    <dgm:pt modelId="{28865728-1AE3-41F3-90CD-0318240CB24B}" type="pres">
      <dgm:prSet presAssocID="{B20A0FF9-062A-47F9-9FDA-DE83D13B3722}" presName="hierChild5" presStyleCnt="0"/>
      <dgm:spPr/>
    </dgm:pt>
    <dgm:pt modelId="{794BE749-414B-41B0-BED3-8188A19CC644}" type="pres">
      <dgm:prSet presAssocID="{8DF7D273-FE5E-4340-A1C0-DD7CFC1D0F40}" presName="Name35" presStyleLbl="parChTrans1D3" presStyleIdx="3" presStyleCnt="4"/>
      <dgm:spPr/>
    </dgm:pt>
    <dgm:pt modelId="{41D8C675-7B5F-4C28-B72C-00C942626369}" type="pres">
      <dgm:prSet presAssocID="{3E088E27-B9F3-4EE8-B0BC-6D7FDEDD2A63}" presName="hierRoot2" presStyleCnt="0">
        <dgm:presLayoutVars>
          <dgm:hierBranch val="r"/>
        </dgm:presLayoutVars>
      </dgm:prSet>
      <dgm:spPr/>
    </dgm:pt>
    <dgm:pt modelId="{245E8DD7-0E61-4277-8A20-FA8461330FCA}" type="pres">
      <dgm:prSet presAssocID="{3E088E27-B9F3-4EE8-B0BC-6D7FDEDD2A63}" presName="rootComposite" presStyleCnt="0"/>
      <dgm:spPr/>
    </dgm:pt>
    <dgm:pt modelId="{B9E177F9-67CB-4414-AA0D-BA59C1343BEA}" type="pres">
      <dgm:prSet presAssocID="{3E088E27-B9F3-4EE8-B0BC-6D7FDEDD2A63}" presName="rootText" presStyleLbl="node3" presStyleIdx="3" presStyleCnt="4">
        <dgm:presLayoutVars>
          <dgm:chPref val="3"/>
        </dgm:presLayoutVars>
      </dgm:prSet>
      <dgm:spPr/>
    </dgm:pt>
    <dgm:pt modelId="{36ABB858-1F26-467D-A816-6C86E414545B}" type="pres">
      <dgm:prSet presAssocID="{3E088E27-B9F3-4EE8-B0BC-6D7FDEDD2A63}" presName="rootConnector" presStyleLbl="node3" presStyleIdx="3" presStyleCnt="4"/>
      <dgm:spPr/>
    </dgm:pt>
    <dgm:pt modelId="{27B0E1B1-94AF-499C-974F-A73B426A457A}" type="pres">
      <dgm:prSet presAssocID="{3E088E27-B9F3-4EE8-B0BC-6D7FDEDD2A63}" presName="hierChild4" presStyleCnt="0"/>
      <dgm:spPr/>
    </dgm:pt>
    <dgm:pt modelId="{AF69160C-DC49-430A-B440-F46C3C7463B7}" type="pres">
      <dgm:prSet presAssocID="{3E088E27-B9F3-4EE8-B0BC-6D7FDEDD2A63}" presName="hierChild5" presStyleCnt="0"/>
      <dgm:spPr/>
    </dgm:pt>
    <dgm:pt modelId="{53467F01-551E-4935-908F-2B6EAE72BE71}" type="pres">
      <dgm:prSet presAssocID="{B5CD6920-45F1-42C5-A57E-AFB5AA972738}" presName="hierChild5" presStyleCnt="0"/>
      <dgm:spPr/>
    </dgm:pt>
    <dgm:pt modelId="{E336DE33-6FCE-4917-B303-63328FF6A8B5}" type="pres">
      <dgm:prSet presAssocID="{9530189C-D2AE-4C1D-A56A-0D8A054124D9}" presName="hierChild3" presStyleCnt="0"/>
      <dgm:spPr/>
    </dgm:pt>
  </dgm:ptLst>
  <dgm:cxnLst>
    <dgm:cxn modelId="{71CC6D11-B443-4CAD-BD09-12B4E6951D8A}" type="presOf" srcId="{BCA8AE8E-0C01-4697-8E86-53D04F0CEA8F}" destId="{68BB30EB-3474-4B68-824E-8968CC5A14FE}" srcOrd="0" destOrd="0" presId="urn:microsoft.com/office/officeart/2005/8/layout/orgChart1"/>
    <dgm:cxn modelId="{955E1127-47B5-4E76-82D9-16973DC93974}" type="presOf" srcId="{3E088E27-B9F3-4EE8-B0BC-6D7FDEDD2A63}" destId="{B9E177F9-67CB-4414-AA0D-BA59C1343BEA}" srcOrd="0" destOrd="0" presId="urn:microsoft.com/office/officeart/2005/8/layout/orgChart1"/>
    <dgm:cxn modelId="{CA6C002E-59E9-49CE-B396-E31517CB16AC}" srcId="{9530189C-D2AE-4C1D-A56A-0D8A054124D9}" destId="{42D6D3EA-C57E-419D-9581-46D91E0865B1}" srcOrd="1" destOrd="0" parTransId="{BCA8AE8E-0C01-4697-8E86-53D04F0CEA8F}" sibTransId="{19BA84B3-33F2-4707-9A66-42AA09F2E4A5}"/>
    <dgm:cxn modelId="{80659530-6559-43CC-A124-DD2ABDB4FB33}" type="presOf" srcId="{B20A0FF9-062A-47F9-9FDA-DE83D13B3722}" destId="{E03ADCE2-8A3A-42B6-9774-5D04792F7369}" srcOrd="1" destOrd="0" presId="urn:microsoft.com/office/officeart/2005/8/layout/orgChart1"/>
    <dgm:cxn modelId="{E6F28139-DF2A-42E5-8469-78E088E711F7}" srcId="{7D78202C-BF50-43C1-962D-AD47EA04E586}" destId="{9530189C-D2AE-4C1D-A56A-0D8A054124D9}" srcOrd="0" destOrd="0" parTransId="{D6CFB808-4B37-46BD-AAD2-176899FAE2F4}" sibTransId="{C6233839-BC91-4687-9166-F0AB6D28C5B3}"/>
    <dgm:cxn modelId="{B318FD3E-B7E1-4510-93B6-580ABF5E6547}" type="presOf" srcId="{B5CD6920-45F1-42C5-A57E-AFB5AA972738}" destId="{312C3455-C3BE-4A59-874A-CE56567B34D9}" srcOrd="1" destOrd="0" presId="urn:microsoft.com/office/officeart/2005/8/layout/orgChart1"/>
    <dgm:cxn modelId="{4AB8EE40-1154-42B4-9E61-48ED9D6D0CA1}" type="presOf" srcId="{D92B1102-9AC3-4D35-B5D4-3471F1B3E3DB}" destId="{19D7C0F1-84A4-41C2-8766-362F1D359483}" srcOrd="0" destOrd="0" presId="urn:microsoft.com/office/officeart/2005/8/layout/orgChart1"/>
    <dgm:cxn modelId="{7CBF6C5C-0425-4D70-A6E5-2A58DCE5D29B}" type="presOf" srcId="{9530189C-D2AE-4C1D-A56A-0D8A054124D9}" destId="{54C44970-8781-4AC4-8F0D-309E17CA0A55}" srcOrd="1" destOrd="0" presId="urn:microsoft.com/office/officeart/2005/8/layout/orgChart1"/>
    <dgm:cxn modelId="{4AEDFC48-AE5D-4096-9833-FCAC415E65FF}" type="presOf" srcId="{8DF7D273-FE5E-4340-A1C0-DD7CFC1D0F40}" destId="{794BE749-414B-41B0-BED3-8188A19CC644}" srcOrd="0" destOrd="0" presId="urn:microsoft.com/office/officeart/2005/8/layout/orgChart1"/>
    <dgm:cxn modelId="{5B35A24F-09E8-4D87-BD9D-C81858CAE08A}" type="presOf" srcId="{04647B82-ECE0-4460-BF9E-C3A84BE66B83}" destId="{98CDD1C3-568E-4893-981E-73EC5E605260}" srcOrd="1" destOrd="0" presId="urn:microsoft.com/office/officeart/2005/8/layout/orgChart1"/>
    <dgm:cxn modelId="{DD2DB954-73A9-4EB8-89E0-27FF429D3462}" srcId="{04647B82-ECE0-4460-BF9E-C3A84BE66B83}" destId="{524F735A-3733-45E0-8461-EE16510AD30B}" srcOrd="0" destOrd="0" parTransId="{FE15ED50-9B5F-4C63-99C7-141F28B4060F}" sibTransId="{47C213EC-66BB-4B36-909F-F077B37F35E7}"/>
    <dgm:cxn modelId="{E7229B79-6AB8-4564-B74C-B8DED841C2DB}" srcId="{04647B82-ECE0-4460-BF9E-C3A84BE66B83}" destId="{18720BF4-CD35-4757-8F24-DAD7F28E096D}" srcOrd="1" destOrd="0" parTransId="{49F1B5F5-ADF2-40A9-96EE-EFC439408946}" sibTransId="{052C8F1D-235D-4D11-ADB5-A09E034BC142}"/>
    <dgm:cxn modelId="{4673557E-4E8D-45DF-8485-5293A41EE16C}" type="presOf" srcId="{7D78202C-BF50-43C1-962D-AD47EA04E586}" destId="{F5BC6EA3-0EA3-4625-A828-724B1A5369E6}" srcOrd="0" destOrd="0" presId="urn:microsoft.com/office/officeart/2005/8/layout/orgChart1"/>
    <dgm:cxn modelId="{741A167F-521B-43B5-82F0-C9E3E1690344}" type="presOf" srcId="{FE15ED50-9B5F-4C63-99C7-141F28B4060F}" destId="{BE5DF9BE-D172-4175-9D53-2DFD879C9A6A}" srcOrd="0" destOrd="0" presId="urn:microsoft.com/office/officeart/2005/8/layout/orgChart1"/>
    <dgm:cxn modelId="{E05E3A7F-5739-4619-A73D-517368D8D074}" type="presOf" srcId="{18720BF4-CD35-4757-8F24-DAD7F28E096D}" destId="{DBF14975-D104-471F-B58F-BA68CF2FF165}" srcOrd="0" destOrd="0" presId="urn:microsoft.com/office/officeart/2005/8/layout/orgChart1"/>
    <dgm:cxn modelId="{37723384-8DAB-4213-9D3A-F0ACF2DF3E5D}" type="presOf" srcId="{18720BF4-CD35-4757-8F24-DAD7F28E096D}" destId="{B27D5FB4-4821-40A9-B998-D94373BF788A}" srcOrd="1" destOrd="0" presId="urn:microsoft.com/office/officeart/2005/8/layout/orgChart1"/>
    <dgm:cxn modelId="{C07D7084-754A-4F86-B0C5-4ED09609A7BB}" type="presOf" srcId="{42D6D3EA-C57E-419D-9581-46D91E0865B1}" destId="{52AB96FB-1A0C-4629-9A76-21E16C61E8B2}" srcOrd="0" destOrd="0" presId="urn:microsoft.com/office/officeart/2005/8/layout/orgChart1"/>
    <dgm:cxn modelId="{428BB988-ED9D-4E25-8839-1223E02A41CA}" srcId="{B5CD6920-45F1-42C5-A57E-AFB5AA972738}" destId="{3E088E27-B9F3-4EE8-B0BC-6D7FDEDD2A63}" srcOrd="1" destOrd="0" parTransId="{8DF7D273-FE5E-4340-A1C0-DD7CFC1D0F40}" sibTransId="{6A48BD0C-9BC9-4CD1-9FDC-6633B9464FDA}"/>
    <dgm:cxn modelId="{EF118491-077E-4DC9-9B79-D68BE4D51F35}" type="presOf" srcId="{9530189C-D2AE-4C1D-A56A-0D8A054124D9}" destId="{B7CF1E0D-36C9-46F7-849D-9D2A120EC749}" srcOrd="0" destOrd="0" presId="urn:microsoft.com/office/officeart/2005/8/layout/orgChart1"/>
    <dgm:cxn modelId="{84F55EA5-5789-44E0-ACF3-93084676EE94}" type="presOf" srcId="{3E088E27-B9F3-4EE8-B0BC-6D7FDEDD2A63}" destId="{36ABB858-1F26-467D-A816-6C86E414545B}" srcOrd="1" destOrd="0" presId="urn:microsoft.com/office/officeart/2005/8/layout/orgChart1"/>
    <dgm:cxn modelId="{A89B1AA8-962A-4C6E-8772-DEFC02FBB4C2}" type="presOf" srcId="{B20A0FF9-062A-47F9-9FDA-DE83D13B3722}" destId="{B4045D2C-75BA-4ADA-B132-CA5C1A15F8CD}" srcOrd="0" destOrd="0" presId="urn:microsoft.com/office/officeart/2005/8/layout/orgChart1"/>
    <dgm:cxn modelId="{9E62F4A9-7AFB-4DC3-81DE-9C1942D70B25}" srcId="{B5CD6920-45F1-42C5-A57E-AFB5AA972738}" destId="{B20A0FF9-062A-47F9-9FDA-DE83D13B3722}" srcOrd="0" destOrd="0" parTransId="{D92B1102-9AC3-4D35-B5D4-3471F1B3E3DB}" sibTransId="{2A638D5B-EA25-4296-AB6D-92051298CAD2}"/>
    <dgm:cxn modelId="{152F21AD-F69D-4ABC-AF81-137453D38822}" type="presOf" srcId="{04647B82-ECE0-4460-BF9E-C3A84BE66B83}" destId="{531FCA09-03CE-4C13-895B-01460317C498}" srcOrd="0" destOrd="0" presId="urn:microsoft.com/office/officeart/2005/8/layout/orgChart1"/>
    <dgm:cxn modelId="{A5DD64B5-A22F-4C6B-AC79-A49EB0C50BF0}" type="presOf" srcId="{B5CD6920-45F1-42C5-A57E-AFB5AA972738}" destId="{4C1609CB-65D7-4924-9047-7E8885B4099A}" srcOrd="0" destOrd="0" presId="urn:microsoft.com/office/officeart/2005/8/layout/orgChart1"/>
    <dgm:cxn modelId="{B0619CB5-B6B2-49B2-9D96-28E484CCA9B6}" srcId="{9530189C-D2AE-4C1D-A56A-0D8A054124D9}" destId="{04647B82-ECE0-4460-BF9E-C3A84BE66B83}" srcOrd="0" destOrd="0" parTransId="{65A5F4E2-81BB-42C1-ACED-53B0A0E49360}" sibTransId="{DFD27C13-1EB0-487A-92DC-FF43BBCC88CF}"/>
    <dgm:cxn modelId="{B353DABE-0C87-42EA-9062-C733147539B7}" type="presOf" srcId="{65A5F4E2-81BB-42C1-ACED-53B0A0E49360}" destId="{2F7F4B14-8039-4C9A-8F17-59F5D2A2E331}" srcOrd="0" destOrd="0" presId="urn:microsoft.com/office/officeart/2005/8/layout/orgChart1"/>
    <dgm:cxn modelId="{9B0EA6D6-00DA-4E34-88C2-515ED5E0308F}" type="presOf" srcId="{49F1B5F5-ADF2-40A9-96EE-EFC439408946}" destId="{A95D377D-AAFB-4D1D-AC46-B5B4122397E7}" srcOrd="0" destOrd="0" presId="urn:microsoft.com/office/officeart/2005/8/layout/orgChart1"/>
    <dgm:cxn modelId="{F7C7BAE4-30A3-4BAA-9068-E3745DEA901F}" type="presOf" srcId="{3AF0CF94-A5A5-4046-9901-AC018E6211D9}" destId="{41F4DDC2-1208-4BE7-AE00-6543AB13CF0C}" srcOrd="0" destOrd="0" presId="urn:microsoft.com/office/officeart/2005/8/layout/orgChart1"/>
    <dgm:cxn modelId="{AA77DAE6-DE6B-4642-96FF-81BE9BA76AD2}" type="presOf" srcId="{524F735A-3733-45E0-8461-EE16510AD30B}" destId="{1F15AFF8-7647-4B06-AE3D-045AD9F2DFB5}" srcOrd="0" destOrd="0" presId="urn:microsoft.com/office/officeart/2005/8/layout/orgChart1"/>
    <dgm:cxn modelId="{F1EE10EA-F738-418A-ADE0-E6AC7AFB7600}" srcId="{9530189C-D2AE-4C1D-A56A-0D8A054124D9}" destId="{B5CD6920-45F1-42C5-A57E-AFB5AA972738}" srcOrd="2" destOrd="0" parTransId="{3AF0CF94-A5A5-4046-9901-AC018E6211D9}" sibTransId="{EC2C0706-EF5D-4B25-B514-F522A6286B90}"/>
    <dgm:cxn modelId="{02B740EF-10F9-4DD2-9C05-21077A118BBE}" type="presOf" srcId="{524F735A-3733-45E0-8461-EE16510AD30B}" destId="{482E9A05-AC12-4C10-B5FA-1603E1407477}" srcOrd="1" destOrd="0" presId="urn:microsoft.com/office/officeart/2005/8/layout/orgChart1"/>
    <dgm:cxn modelId="{8C4E85FD-6610-4378-8F15-7D1F2B04BA0E}" type="presOf" srcId="{42D6D3EA-C57E-419D-9581-46D91E0865B1}" destId="{01A3BC60-582D-4C7F-A997-F41FB25FDCC6}" srcOrd="1" destOrd="0" presId="urn:microsoft.com/office/officeart/2005/8/layout/orgChart1"/>
    <dgm:cxn modelId="{C2B4421A-0C89-41BE-94F4-34F571D7BB30}" type="presParOf" srcId="{F5BC6EA3-0EA3-4625-A828-724B1A5369E6}" destId="{0A23F2AD-BE29-4934-B3EC-0A298A2975EC}" srcOrd="0" destOrd="0" presId="urn:microsoft.com/office/officeart/2005/8/layout/orgChart1"/>
    <dgm:cxn modelId="{2CBF8DE8-3991-4A8F-89A5-4C9F2ABA5AF1}" type="presParOf" srcId="{0A23F2AD-BE29-4934-B3EC-0A298A2975EC}" destId="{167B10DF-450C-4397-9CFB-A7144ABDD7A7}" srcOrd="0" destOrd="0" presId="urn:microsoft.com/office/officeart/2005/8/layout/orgChart1"/>
    <dgm:cxn modelId="{D443EE25-8A97-4F42-A7E6-4D75F4851231}" type="presParOf" srcId="{167B10DF-450C-4397-9CFB-A7144ABDD7A7}" destId="{B7CF1E0D-36C9-46F7-849D-9D2A120EC749}" srcOrd="0" destOrd="0" presId="urn:microsoft.com/office/officeart/2005/8/layout/orgChart1"/>
    <dgm:cxn modelId="{B6C6B3F3-04C0-4C41-974B-A6CCAB392D7F}" type="presParOf" srcId="{167B10DF-450C-4397-9CFB-A7144ABDD7A7}" destId="{54C44970-8781-4AC4-8F0D-309E17CA0A55}" srcOrd="1" destOrd="0" presId="urn:microsoft.com/office/officeart/2005/8/layout/orgChart1"/>
    <dgm:cxn modelId="{83CE8C01-61E7-4C6B-98A5-02773262B377}" type="presParOf" srcId="{0A23F2AD-BE29-4934-B3EC-0A298A2975EC}" destId="{1E5E0740-9839-40F1-BEF9-AF75EC0904EE}" srcOrd="1" destOrd="0" presId="urn:microsoft.com/office/officeart/2005/8/layout/orgChart1"/>
    <dgm:cxn modelId="{4A15896F-1FB2-4402-991E-34EA21BA8D88}" type="presParOf" srcId="{1E5E0740-9839-40F1-BEF9-AF75EC0904EE}" destId="{2F7F4B14-8039-4C9A-8F17-59F5D2A2E331}" srcOrd="0" destOrd="0" presId="urn:microsoft.com/office/officeart/2005/8/layout/orgChart1"/>
    <dgm:cxn modelId="{5226561D-FBE1-42E0-90B0-0508F09A91AD}" type="presParOf" srcId="{1E5E0740-9839-40F1-BEF9-AF75EC0904EE}" destId="{3268C4C7-4864-4018-B1D0-A838B24FD9DB}" srcOrd="1" destOrd="0" presId="urn:microsoft.com/office/officeart/2005/8/layout/orgChart1"/>
    <dgm:cxn modelId="{3B4C1998-65F8-4D98-A69A-983D5268BD62}" type="presParOf" srcId="{3268C4C7-4864-4018-B1D0-A838B24FD9DB}" destId="{175C9B85-99EA-419F-AB86-832465E99CE9}" srcOrd="0" destOrd="0" presId="urn:microsoft.com/office/officeart/2005/8/layout/orgChart1"/>
    <dgm:cxn modelId="{2399C9BF-9382-44BF-ADDD-B78424DF5D1D}" type="presParOf" srcId="{175C9B85-99EA-419F-AB86-832465E99CE9}" destId="{531FCA09-03CE-4C13-895B-01460317C498}" srcOrd="0" destOrd="0" presId="urn:microsoft.com/office/officeart/2005/8/layout/orgChart1"/>
    <dgm:cxn modelId="{70D85C42-A72F-4C3A-90C9-5EC3AAAFC4F2}" type="presParOf" srcId="{175C9B85-99EA-419F-AB86-832465E99CE9}" destId="{98CDD1C3-568E-4893-981E-73EC5E605260}" srcOrd="1" destOrd="0" presId="urn:microsoft.com/office/officeart/2005/8/layout/orgChart1"/>
    <dgm:cxn modelId="{100AAFBA-CE57-42A3-A947-20D2A18AEED2}" type="presParOf" srcId="{3268C4C7-4864-4018-B1D0-A838B24FD9DB}" destId="{BDF3C084-9E47-41ED-BE23-D969C56B11E6}" srcOrd="1" destOrd="0" presId="urn:microsoft.com/office/officeart/2005/8/layout/orgChart1"/>
    <dgm:cxn modelId="{BC4C721F-5812-4D40-B2B5-0D84C2B18FC8}" type="presParOf" srcId="{BDF3C084-9E47-41ED-BE23-D969C56B11E6}" destId="{BE5DF9BE-D172-4175-9D53-2DFD879C9A6A}" srcOrd="0" destOrd="0" presId="urn:microsoft.com/office/officeart/2005/8/layout/orgChart1"/>
    <dgm:cxn modelId="{09560EA8-1ECE-4272-8A6F-EDE7730FFE0A}" type="presParOf" srcId="{BDF3C084-9E47-41ED-BE23-D969C56B11E6}" destId="{41F7CC21-A940-4A27-9243-EEB47DDEF519}" srcOrd="1" destOrd="0" presId="urn:microsoft.com/office/officeart/2005/8/layout/orgChart1"/>
    <dgm:cxn modelId="{FC1C2009-807B-4979-B6CF-BA4B2969A4A2}" type="presParOf" srcId="{41F7CC21-A940-4A27-9243-EEB47DDEF519}" destId="{31F02E46-2545-4A74-8DAB-1B59A79B5227}" srcOrd="0" destOrd="0" presId="urn:microsoft.com/office/officeart/2005/8/layout/orgChart1"/>
    <dgm:cxn modelId="{3F1D6AAD-BC24-4309-A5FD-CC0E5B01579A}" type="presParOf" srcId="{31F02E46-2545-4A74-8DAB-1B59A79B5227}" destId="{1F15AFF8-7647-4B06-AE3D-045AD9F2DFB5}" srcOrd="0" destOrd="0" presId="urn:microsoft.com/office/officeart/2005/8/layout/orgChart1"/>
    <dgm:cxn modelId="{1EC0DB34-D421-4CBE-81A6-45B300F96156}" type="presParOf" srcId="{31F02E46-2545-4A74-8DAB-1B59A79B5227}" destId="{482E9A05-AC12-4C10-B5FA-1603E1407477}" srcOrd="1" destOrd="0" presId="urn:microsoft.com/office/officeart/2005/8/layout/orgChart1"/>
    <dgm:cxn modelId="{29B22BD2-3821-4814-9EF1-E80014417F72}" type="presParOf" srcId="{41F7CC21-A940-4A27-9243-EEB47DDEF519}" destId="{D12A6C3E-7F00-4373-9D3F-FB81C42007C8}" srcOrd="1" destOrd="0" presId="urn:microsoft.com/office/officeart/2005/8/layout/orgChart1"/>
    <dgm:cxn modelId="{D0FDA061-5F05-498E-B449-73ACFB8A2CAA}" type="presParOf" srcId="{41F7CC21-A940-4A27-9243-EEB47DDEF519}" destId="{8727AD98-7420-493A-9F67-E1504CA5CF18}" srcOrd="2" destOrd="0" presId="urn:microsoft.com/office/officeart/2005/8/layout/orgChart1"/>
    <dgm:cxn modelId="{EA178C56-723E-40CC-820D-906AE8CAA7DB}" type="presParOf" srcId="{BDF3C084-9E47-41ED-BE23-D969C56B11E6}" destId="{A95D377D-AAFB-4D1D-AC46-B5B4122397E7}" srcOrd="2" destOrd="0" presId="urn:microsoft.com/office/officeart/2005/8/layout/orgChart1"/>
    <dgm:cxn modelId="{93A754F1-94E7-4232-9B7E-EDDC57665DBF}" type="presParOf" srcId="{BDF3C084-9E47-41ED-BE23-D969C56B11E6}" destId="{9618C4E0-57EA-498F-8AB6-529FC7BDA3F5}" srcOrd="3" destOrd="0" presId="urn:microsoft.com/office/officeart/2005/8/layout/orgChart1"/>
    <dgm:cxn modelId="{5D80AFCA-BFA5-47E4-9F4B-A1CDF071A4FA}" type="presParOf" srcId="{9618C4E0-57EA-498F-8AB6-529FC7BDA3F5}" destId="{7F03B0C5-8E64-4342-B6CA-69225FE82DF6}" srcOrd="0" destOrd="0" presId="urn:microsoft.com/office/officeart/2005/8/layout/orgChart1"/>
    <dgm:cxn modelId="{0B09B416-218B-4153-8504-12CD94F789B4}" type="presParOf" srcId="{7F03B0C5-8E64-4342-B6CA-69225FE82DF6}" destId="{DBF14975-D104-471F-B58F-BA68CF2FF165}" srcOrd="0" destOrd="0" presId="urn:microsoft.com/office/officeart/2005/8/layout/orgChart1"/>
    <dgm:cxn modelId="{6B94DD99-B684-4504-901D-5E1DB1A12764}" type="presParOf" srcId="{7F03B0C5-8E64-4342-B6CA-69225FE82DF6}" destId="{B27D5FB4-4821-40A9-B998-D94373BF788A}" srcOrd="1" destOrd="0" presId="urn:microsoft.com/office/officeart/2005/8/layout/orgChart1"/>
    <dgm:cxn modelId="{B0498C51-8343-4AA2-968E-31C272DDD231}" type="presParOf" srcId="{9618C4E0-57EA-498F-8AB6-529FC7BDA3F5}" destId="{24FFA0BA-C4BC-4823-9A59-38C620F8CD5A}" srcOrd="1" destOrd="0" presId="urn:microsoft.com/office/officeart/2005/8/layout/orgChart1"/>
    <dgm:cxn modelId="{58F6F480-E39B-4FA8-9E4E-EEB6D21AF608}" type="presParOf" srcId="{9618C4E0-57EA-498F-8AB6-529FC7BDA3F5}" destId="{5705922E-92B3-4B5A-B4E3-36C8DB97CA6E}" srcOrd="2" destOrd="0" presId="urn:microsoft.com/office/officeart/2005/8/layout/orgChart1"/>
    <dgm:cxn modelId="{76807F82-19DB-4965-B0DF-D8EAE8B9E7F7}" type="presParOf" srcId="{3268C4C7-4864-4018-B1D0-A838B24FD9DB}" destId="{426B7800-C83D-4A62-915F-89C250816CF0}" srcOrd="2" destOrd="0" presId="urn:microsoft.com/office/officeart/2005/8/layout/orgChart1"/>
    <dgm:cxn modelId="{DA1E7BA7-57CC-49F8-82C0-8338AE35C3C6}" type="presParOf" srcId="{1E5E0740-9839-40F1-BEF9-AF75EC0904EE}" destId="{68BB30EB-3474-4B68-824E-8968CC5A14FE}" srcOrd="2" destOrd="0" presId="urn:microsoft.com/office/officeart/2005/8/layout/orgChart1"/>
    <dgm:cxn modelId="{DEFBCBEC-113C-41DB-A89A-D35BD6D9BB09}" type="presParOf" srcId="{1E5E0740-9839-40F1-BEF9-AF75EC0904EE}" destId="{96152A51-5AD6-4FF2-8FD6-3E61A1FB5880}" srcOrd="3" destOrd="0" presId="urn:microsoft.com/office/officeart/2005/8/layout/orgChart1"/>
    <dgm:cxn modelId="{E0229C75-F965-4250-9C5B-E19F32CBE9C2}" type="presParOf" srcId="{96152A51-5AD6-4FF2-8FD6-3E61A1FB5880}" destId="{5034E54A-7853-44B8-8969-8BE27148FB86}" srcOrd="0" destOrd="0" presId="urn:microsoft.com/office/officeart/2005/8/layout/orgChart1"/>
    <dgm:cxn modelId="{7BEF4064-9F67-4641-88C5-C938B8A4DA3C}" type="presParOf" srcId="{5034E54A-7853-44B8-8969-8BE27148FB86}" destId="{52AB96FB-1A0C-4629-9A76-21E16C61E8B2}" srcOrd="0" destOrd="0" presId="urn:microsoft.com/office/officeart/2005/8/layout/orgChart1"/>
    <dgm:cxn modelId="{8B268001-9763-4FB8-9807-32C6558C22FF}" type="presParOf" srcId="{5034E54A-7853-44B8-8969-8BE27148FB86}" destId="{01A3BC60-582D-4C7F-A997-F41FB25FDCC6}" srcOrd="1" destOrd="0" presId="urn:microsoft.com/office/officeart/2005/8/layout/orgChart1"/>
    <dgm:cxn modelId="{3098796F-A565-49B7-B0A7-A06B88F31B0A}" type="presParOf" srcId="{96152A51-5AD6-4FF2-8FD6-3E61A1FB5880}" destId="{F879D778-71D1-482D-95E9-D11752E2BE1B}" srcOrd="1" destOrd="0" presId="urn:microsoft.com/office/officeart/2005/8/layout/orgChart1"/>
    <dgm:cxn modelId="{ECD1756D-BDD0-4280-BDB2-A053EF11B219}" type="presParOf" srcId="{96152A51-5AD6-4FF2-8FD6-3E61A1FB5880}" destId="{90BD5F1E-1C3C-47D6-8FA2-FD7CC6CC9014}" srcOrd="2" destOrd="0" presId="urn:microsoft.com/office/officeart/2005/8/layout/orgChart1"/>
    <dgm:cxn modelId="{C4256184-A2C7-47EF-8B2F-E8A29A5D3856}" type="presParOf" srcId="{1E5E0740-9839-40F1-BEF9-AF75EC0904EE}" destId="{41F4DDC2-1208-4BE7-AE00-6543AB13CF0C}" srcOrd="4" destOrd="0" presId="urn:microsoft.com/office/officeart/2005/8/layout/orgChart1"/>
    <dgm:cxn modelId="{563C2253-49D1-4D92-AAD0-389FFBCEE60B}" type="presParOf" srcId="{1E5E0740-9839-40F1-BEF9-AF75EC0904EE}" destId="{35A1201F-F0E9-4359-BEFF-536E790E2B7E}" srcOrd="5" destOrd="0" presId="urn:microsoft.com/office/officeart/2005/8/layout/orgChart1"/>
    <dgm:cxn modelId="{D79E6B05-F2C4-44FD-8217-76482908781E}" type="presParOf" srcId="{35A1201F-F0E9-4359-BEFF-536E790E2B7E}" destId="{EA042A45-F260-4EF7-9776-93D5CEBF538D}" srcOrd="0" destOrd="0" presId="urn:microsoft.com/office/officeart/2005/8/layout/orgChart1"/>
    <dgm:cxn modelId="{B881179F-74D9-4F2A-9F3A-5BF3E16BB190}" type="presParOf" srcId="{EA042A45-F260-4EF7-9776-93D5CEBF538D}" destId="{4C1609CB-65D7-4924-9047-7E8885B4099A}" srcOrd="0" destOrd="0" presId="urn:microsoft.com/office/officeart/2005/8/layout/orgChart1"/>
    <dgm:cxn modelId="{A2EC58DA-FA2D-4FF0-A92C-8770DA4A18A1}" type="presParOf" srcId="{EA042A45-F260-4EF7-9776-93D5CEBF538D}" destId="{312C3455-C3BE-4A59-874A-CE56567B34D9}" srcOrd="1" destOrd="0" presId="urn:microsoft.com/office/officeart/2005/8/layout/orgChart1"/>
    <dgm:cxn modelId="{0ABB6A3D-0227-4FE5-AB55-E013B4AAC981}" type="presParOf" srcId="{35A1201F-F0E9-4359-BEFF-536E790E2B7E}" destId="{6A5A48FE-DA34-413C-BDA3-BC2970FDBE90}" srcOrd="1" destOrd="0" presId="urn:microsoft.com/office/officeart/2005/8/layout/orgChart1"/>
    <dgm:cxn modelId="{5A2A17DD-4012-41AF-90B6-0CE29E684D33}" type="presParOf" srcId="{6A5A48FE-DA34-413C-BDA3-BC2970FDBE90}" destId="{19D7C0F1-84A4-41C2-8766-362F1D359483}" srcOrd="0" destOrd="0" presId="urn:microsoft.com/office/officeart/2005/8/layout/orgChart1"/>
    <dgm:cxn modelId="{A6EAE025-F15B-4263-9EC2-F73528FCC4BE}" type="presParOf" srcId="{6A5A48FE-DA34-413C-BDA3-BC2970FDBE90}" destId="{9131BC0D-87F5-4169-8223-A859DCA42D24}" srcOrd="1" destOrd="0" presId="urn:microsoft.com/office/officeart/2005/8/layout/orgChart1"/>
    <dgm:cxn modelId="{8E4E9C15-01CE-4745-99F0-9FB5823962A1}" type="presParOf" srcId="{9131BC0D-87F5-4169-8223-A859DCA42D24}" destId="{E1B5515E-9A1A-4274-AF56-25CCC916E3D7}" srcOrd="0" destOrd="0" presId="urn:microsoft.com/office/officeart/2005/8/layout/orgChart1"/>
    <dgm:cxn modelId="{256CB63A-3866-42C3-B519-192D7FD75DC9}" type="presParOf" srcId="{E1B5515E-9A1A-4274-AF56-25CCC916E3D7}" destId="{B4045D2C-75BA-4ADA-B132-CA5C1A15F8CD}" srcOrd="0" destOrd="0" presId="urn:microsoft.com/office/officeart/2005/8/layout/orgChart1"/>
    <dgm:cxn modelId="{315E2D71-3ADD-457F-BC3A-2264422F0FDE}" type="presParOf" srcId="{E1B5515E-9A1A-4274-AF56-25CCC916E3D7}" destId="{E03ADCE2-8A3A-42B6-9774-5D04792F7369}" srcOrd="1" destOrd="0" presId="urn:microsoft.com/office/officeart/2005/8/layout/orgChart1"/>
    <dgm:cxn modelId="{794EC423-7611-42E1-9AEB-AB5CDB3DCBB8}" type="presParOf" srcId="{9131BC0D-87F5-4169-8223-A859DCA42D24}" destId="{45709337-C5B0-494B-8C35-C17EF6A6A17A}" srcOrd="1" destOrd="0" presId="urn:microsoft.com/office/officeart/2005/8/layout/orgChart1"/>
    <dgm:cxn modelId="{95AFBFA0-B763-4641-ABE7-7DA1601003FF}" type="presParOf" srcId="{9131BC0D-87F5-4169-8223-A859DCA42D24}" destId="{28865728-1AE3-41F3-90CD-0318240CB24B}" srcOrd="2" destOrd="0" presId="urn:microsoft.com/office/officeart/2005/8/layout/orgChart1"/>
    <dgm:cxn modelId="{F6F71DBA-8F06-4278-BC20-FA1096861B7B}" type="presParOf" srcId="{6A5A48FE-DA34-413C-BDA3-BC2970FDBE90}" destId="{794BE749-414B-41B0-BED3-8188A19CC644}" srcOrd="2" destOrd="0" presId="urn:microsoft.com/office/officeart/2005/8/layout/orgChart1"/>
    <dgm:cxn modelId="{A38F540C-0A4A-48E5-93A1-8DC5CF511FD5}" type="presParOf" srcId="{6A5A48FE-DA34-413C-BDA3-BC2970FDBE90}" destId="{41D8C675-7B5F-4C28-B72C-00C942626369}" srcOrd="3" destOrd="0" presId="urn:microsoft.com/office/officeart/2005/8/layout/orgChart1"/>
    <dgm:cxn modelId="{66B1CC93-F6F9-4187-BE9B-948E4C2EF0D0}" type="presParOf" srcId="{41D8C675-7B5F-4C28-B72C-00C942626369}" destId="{245E8DD7-0E61-4277-8A20-FA8461330FCA}" srcOrd="0" destOrd="0" presId="urn:microsoft.com/office/officeart/2005/8/layout/orgChart1"/>
    <dgm:cxn modelId="{70FDD7A5-C5D0-4835-BAB6-EB85593A1866}" type="presParOf" srcId="{245E8DD7-0E61-4277-8A20-FA8461330FCA}" destId="{B9E177F9-67CB-4414-AA0D-BA59C1343BEA}" srcOrd="0" destOrd="0" presId="urn:microsoft.com/office/officeart/2005/8/layout/orgChart1"/>
    <dgm:cxn modelId="{B001390E-6BA9-47D6-874B-0396E6AA8681}" type="presParOf" srcId="{245E8DD7-0E61-4277-8A20-FA8461330FCA}" destId="{36ABB858-1F26-467D-A816-6C86E414545B}" srcOrd="1" destOrd="0" presId="urn:microsoft.com/office/officeart/2005/8/layout/orgChart1"/>
    <dgm:cxn modelId="{4A0FE725-4C13-47FE-B3E2-A7D5AE3EA22D}" type="presParOf" srcId="{41D8C675-7B5F-4C28-B72C-00C942626369}" destId="{27B0E1B1-94AF-499C-974F-A73B426A457A}" srcOrd="1" destOrd="0" presId="urn:microsoft.com/office/officeart/2005/8/layout/orgChart1"/>
    <dgm:cxn modelId="{E210853D-9B68-4321-B0CD-521943985297}" type="presParOf" srcId="{41D8C675-7B5F-4C28-B72C-00C942626369}" destId="{AF69160C-DC49-430A-B440-F46C3C7463B7}" srcOrd="2" destOrd="0" presId="urn:microsoft.com/office/officeart/2005/8/layout/orgChart1"/>
    <dgm:cxn modelId="{3416BBC1-68F2-40B1-B509-D1DBBE34B150}" type="presParOf" srcId="{35A1201F-F0E9-4359-BEFF-536E790E2B7E}" destId="{53467F01-551E-4935-908F-2B6EAE72BE71}" srcOrd="2" destOrd="0" presId="urn:microsoft.com/office/officeart/2005/8/layout/orgChart1"/>
    <dgm:cxn modelId="{78834808-08B4-4133-A202-2ED0DD338F09}" type="presParOf" srcId="{0A23F2AD-BE29-4934-B3EC-0A298A2975EC}" destId="{E336DE33-6FCE-4917-B303-63328FF6A8B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4BE749-414B-41B0-BED3-8188A19CC644}">
      <dsp:nvSpPr>
        <dsp:cNvPr id="0" name=""/>
        <dsp:cNvSpPr/>
      </dsp:nvSpPr>
      <dsp:spPr>
        <a:xfrm>
          <a:off x="4605616" y="1335919"/>
          <a:ext cx="667760" cy="231784"/>
        </a:xfrm>
        <a:custGeom>
          <a:avLst/>
          <a:gdLst/>
          <a:ahLst/>
          <a:cxnLst/>
          <a:rect l="0" t="0" r="0" b="0"/>
          <a:pathLst>
            <a:path>
              <a:moveTo>
                <a:pt x="0" y="0"/>
              </a:moveTo>
              <a:lnTo>
                <a:pt x="0" y="115892"/>
              </a:lnTo>
              <a:lnTo>
                <a:pt x="667760" y="115892"/>
              </a:lnTo>
              <a:lnTo>
                <a:pt x="667760" y="23178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D7C0F1-84A4-41C2-8766-362F1D359483}">
      <dsp:nvSpPr>
        <dsp:cNvPr id="0" name=""/>
        <dsp:cNvSpPr/>
      </dsp:nvSpPr>
      <dsp:spPr>
        <a:xfrm>
          <a:off x="3937855" y="1335919"/>
          <a:ext cx="667760" cy="231784"/>
        </a:xfrm>
        <a:custGeom>
          <a:avLst/>
          <a:gdLst/>
          <a:ahLst/>
          <a:cxnLst/>
          <a:rect l="0" t="0" r="0" b="0"/>
          <a:pathLst>
            <a:path>
              <a:moveTo>
                <a:pt x="667760" y="0"/>
              </a:moveTo>
              <a:lnTo>
                <a:pt x="667760" y="115892"/>
              </a:lnTo>
              <a:lnTo>
                <a:pt x="0" y="115892"/>
              </a:lnTo>
              <a:lnTo>
                <a:pt x="0" y="23178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F4DDC2-1208-4BE7-AE00-6543AB13CF0C}">
      <dsp:nvSpPr>
        <dsp:cNvPr id="0" name=""/>
        <dsp:cNvSpPr/>
      </dsp:nvSpPr>
      <dsp:spPr>
        <a:xfrm>
          <a:off x="3270095" y="552266"/>
          <a:ext cx="1335521" cy="231784"/>
        </a:xfrm>
        <a:custGeom>
          <a:avLst/>
          <a:gdLst/>
          <a:ahLst/>
          <a:cxnLst/>
          <a:rect l="0" t="0" r="0" b="0"/>
          <a:pathLst>
            <a:path>
              <a:moveTo>
                <a:pt x="0" y="0"/>
              </a:moveTo>
              <a:lnTo>
                <a:pt x="0" y="115892"/>
              </a:lnTo>
              <a:lnTo>
                <a:pt x="1335521" y="115892"/>
              </a:lnTo>
              <a:lnTo>
                <a:pt x="1335521" y="2317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8BB30EB-3474-4B68-824E-8968CC5A14FE}">
      <dsp:nvSpPr>
        <dsp:cNvPr id="0" name=""/>
        <dsp:cNvSpPr/>
      </dsp:nvSpPr>
      <dsp:spPr>
        <a:xfrm>
          <a:off x="3224375" y="552266"/>
          <a:ext cx="91440" cy="231784"/>
        </a:xfrm>
        <a:custGeom>
          <a:avLst/>
          <a:gdLst/>
          <a:ahLst/>
          <a:cxnLst/>
          <a:rect l="0" t="0" r="0" b="0"/>
          <a:pathLst>
            <a:path>
              <a:moveTo>
                <a:pt x="45720" y="0"/>
              </a:moveTo>
              <a:lnTo>
                <a:pt x="45720" y="2317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5D377D-AAFB-4D1D-AC46-B5B4122397E7}">
      <dsp:nvSpPr>
        <dsp:cNvPr id="0" name=""/>
        <dsp:cNvSpPr/>
      </dsp:nvSpPr>
      <dsp:spPr>
        <a:xfrm>
          <a:off x="1934573" y="1335919"/>
          <a:ext cx="667760" cy="231784"/>
        </a:xfrm>
        <a:custGeom>
          <a:avLst/>
          <a:gdLst/>
          <a:ahLst/>
          <a:cxnLst/>
          <a:rect l="0" t="0" r="0" b="0"/>
          <a:pathLst>
            <a:path>
              <a:moveTo>
                <a:pt x="0" y="0"/>
              </a:moveTo>
              <a:lnTo>
                <a:pt x="0" y="115892"/>
              </a:lnTo>
              <a:lnTo>
                <a:pt x="667760" y="115892"/>
              </a:lnTo>
              <a:lnTo>
                <a:pt x="667760" y="23178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5DF9BE-D172-4175-9D53-2DFD879C9A6A}">
      <dsp:nvSpPr>
        <dsp:cNvPr id="0" name=""/>
        <dsp:cNvSpPr/>
      </dsp:nvSpPr>
      <dsp:spPr>
        <a:xfrm>
          <a:off x="1266812" y="1335919"/>
          <a:ext cx="667760" cy="231784"/>
        </a:xfrm>
        <a:custGeom>
          <a:avLst/>
          <a:gdLst/>
          <a:ahLst/>
          <a:cxnLst/>
          <a:rect l="0" t="0" r="0" b="0"/>
          <a:pathLst>
            <a:path>
              <a:moveTo>
                <a:pt x="667760" y="0"/>
              </a:moveTo>
              <a:lnTo>
                <a:pt x="667760" y="115892"/>
              </a:lnTo>
              <a:lnTo>
                <a:pt x="0" y="115892"/>
              </a:lnTo>
              <a:lnTo>
                <a:pt x="0" y="23178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7F4B14-8039-4C9A-8F17-59F5D2A2E331}">
      <dsp:nvSpPr>
        <dsp:cNvPr id="0" name=""/>
        <dsp:cNvSpPr/>
      </dsp:nvSpPr>
      <dsp:spPr>
        <a:xfrm>
          <a:off x="1934573" y="552266"/>
          <a:ext cx="1335521" cy="231784"/>
        </a:xfrm>
        <a:custGeom>
          <a:avLst/>
          <a:gdLst/>
          <a:ahLst/>
          <a:cxnLst/>
          <a:rect l="0" t="0" r="0" b="0"/>
          <a:pathLst>
            <a:path>
              <a:moveTo>
                <a:pt x="1335521" y="0"/>
              </a:moveTo>
              <a:lnTo>
                <a:pt x="1335521" y="115892"/>
              </a:lnTo>
              <a:lnTo>
                <a:pt x="0" y="115892"/>
              </a:lnTo>
              <a:lnTo>
                <a:pt x="0" y="23178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CF1E0D-36C9-46F7-849D-9D2A120EC749}">
      <dsp:nvSpPr>
        <dsp:cNvPr id="0" name=""/>
        <dsp:cNvSpPr/>
      </dsp:nvSpPr>
      <dsp:spPr>
        <a:xfrm>
          <a:off x="2718226" y="398"/>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a:ln>
                <a:noFill/>
              </a:ln>
              <a:solidFill>
                <a:schemeClr val="tx1"/>
              </a:solidFill>
              <a:effectLst/>
              <a:latin typeface="Arial" panose="020B0604020202020204" pitchFamily="34" charset="0"/>
            </a:rPr>
            <a:t>Read File</a:t>
          </a:r>
        </a:p>
      </dsp:txBody>
      <dsp:txXfrm>
        <a:off x="2718226" y="398"/>
        <a:ext cx="1103736" cy="551868"/>
      </dsp:txXfrm>
    </dsp:sp>
    <dsp:sp modelId="{531FCA09-03CE-4C13-895B-01460317C498}">
      <dsp:nvSpPr>
        <dsp:cNvPr id="0" name=""/>
        <dsp:cNvSpPr/>
      </dsp:nvSpPr>
      <dsp:spPr>
        <a:xfrm>
          <a:off x="1382704" y="784051"/>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dirty="0">
              <a:ln>
                <a:noFill/>
              </a:ln>
              <a:solidFill>
                <a:schemeClr val="tx1"/>
              </a:solidFill>
              <a:effectLst/>
              <a:latin typeface="Arial" panose="020B0604020202020204" pitchFamily="34" charset="0"/>
            </a:rPr>
            <a:t>Get Password</a:t>
          </a:r>
        </a:p>
      </dsp:txBody>
      <dsp:txXfrm>
        <a:off x="1382704" y="784051"/>
        <a:ext cx="1103736" cy="551868"/>
      </dsp:txXfrm>
    </dsp:sp>
    <dsp:sp modelId="{1F15AFF8-7647-4B06-AE3D-045AD9F2DFB5}">
      <dsp:nvSpPr>
        <dsp:cNvPr id="0" name=""/>
        <dsp:cNvSpPr/>
      </dsp:nvSpPr>
      <dsp:spPr>
        <a:xfrm>
          <a:off x="714944" y="1567704"/>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a:ln>
                <a:noFill/>
              </a:ln>
              <a:solidFill>
                <a:schemeClr val="tx1"/>
              </a:solidFill>
              <a:effectLst/>
              <a:latin typeface="Arial" panose="020B0604020202020204" pitchFamily="34" charset="0"/>
            </a:rPr>
            <a:t>Search Desk</a:t>
          </a:r>
        </a:p>
      </dsp:txBody>
      <dsp:txXfrm>
        <a:off x="714944" y="1567704"/>
        <a:ext cx="1103736" cy="551868"/>
      </dsp:txXfrm>
    </dsp:sp>
    <dsp:sp modelId="{DBF14975-D104-471F-B58F-BA68CF2FF165}">
      <dsp:nvSpPr>
        <dsp:cNvPr id="0" name=""/>
        <dsp:cNvSpPr/>
      </dsp:nvSpPr>
      <dsp:spPr>
        <a:xfrm>
          <a:off x="2050465" y="1567704"/>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a:ln>
                <a:noFill/>
              </a:ln>
              <a:solidFill>
                <a:schemeClr val="tx1"/>
              </a:solidFill>
              <a:effectLst/>
              <a:latin typeface="Arial" panose="020B0604020202020204" pitchFamily="34" charset="0"/>
            </a:rPr>
            <a:t>Social Engineer</a:t>
          </a:r>
        </a:p>
      </dsp:txBody>
      <dsp:txXfrm>
        <a:off x="2050465" y="1567704"/>
        <a:ext cx="1103736" cy="551868"/>
      </dsp:txXfrm>
    </dsp:sp>
    <dsp:sp modelId="{52AB96FB-1A0C-4629-9A76-21E16C61E8B2}">
      <dsp:nvSpPr>
        <dsp:cNvPr id="0" name=""/>
        <dsp:cNvSpPr/>
      </dsp:nvSpPr>
      <dsp:spPr>
        <a:xfrm>
          <a:off x="2718226" y="784051"/>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dirty="0">
              <a:ln>
                <a:noFill/>
              </a:ln>
              <a:solidFill>
                <a:schemeClr val="tx1"/>
              </a:solidFill>
              <a:effectLst/>
              <a:latin typeface="Arial" panose="020B0604020202020204" pitchFamily="34" charset="0"/>
            </a:rPr>
            <a:t>Network Access</a:t>
          </a:r>
        </a:p>
      </dsp:txBody>
      <dsp:txXfrm>
        <a:off x="2718226" y="784051"/>
        <a:ext cx="1103736" cy="551868"/>
      </dsp:txXfrm>
    </dsp:sp>
    <dsp:sp modelId="{4C1609CB-65D7-4924-9047-7E8885B4099A}">
      <dsp:nvSpPr>
        <dsp:cNvPr id="0" name=""/>
        <dsp:cNvSpPr/>
      </dsp:nvSpPr>
      <dsp:spPr>
        <a:xfrm>
          <a:off x="4053748" y="784051"/>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a:ln>
                <a:noFill/>
              </a:ln>
              <a:solidFill>
                <a:schemeClr val="tx1"/>
              </a:solidFill>
              <a:effectLst/>
              <a:latin typeface="Arial" panose="020B0604020202020204" pitchFamily="34" charset="0"/>
            </a:rPr>
            <a:t>Physical Access</a:t>
          </a:r>
        </a:p>
      </dsp:txBody>
      <dsp:txXfrm>
        <a:off x="4053748" y="784051"/>
        <a:ext cx="1103736" cy="551868"/>
      </dsp:txXfrm>
    </dsp:sp>
    <dsp:sp modelId="{B4045D2C-75BA-4ADA-B132-CA5C1A15F8CD}">
      <dsp:nvSpPr>
        <dsp:cNvPr id="0" name=""/>
        <dsp:cNvSpPr/>
      </dsp:nvSpPr>
      <dsp:spPr>
        <a:xfrm>
          <a:off x="3385987" y="1567704"/>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a:ln>
                <a:noFill/>
              </a:ln>
              <a:solidFill>
                <a:schemeClr val="tx1"/>
              </a:solidFill>
              <a:effectLst/>
              <a:latin typeface="Arial" panose="020B0604020202020204" pitchFamily="34" charset="0"/>
            </a:rPr>
            <a:t>Boot with CD</a:t>
          </a:r>
        </a:p>
      </dsp:txBody>
      <dsp:txXfrm>
        <a:off x="3385987" y="1567704"/>
        <a:ext cx="1103736" cy="551868"/>
      </dsp:txXfrm>
    </dsp:sp>
    <dsp:sp modelId="{B9E177F9-67CB-4414-AA0D-BA59C1343BEA}">
      <dsp:nvSpPr>
        <dsp:cNvPr id="0" name=""/>
        <dsp:cNvSpPr/>
      </dsp:nvSpPr>
      <dsp:spPr>
        <a:xfrm>
          <a:off x="4721509" y="1567704"/>
          <a:ext cx="1103736" cy="55186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kern="1200" cap="none" normalizeH="0" baseline="0">
              <a:ln>
                <a:noFill/>
              </a:ln>
              <a:solidFill>
                <a:schemeClr val="tx1"/>
              </a:solidFill>
              <a:effectLst/>
              <a:latin typeface="Arial" panose="020B0604020202020204" pitchFamily="34" charset="0"/>
            </a:rPr>
            <a:t>Remove hard disk</a:t>
          </a:r>
        </a:p>
      </dsp:txBody>
      <dsp:txXfrm>
        <a:off x="4721509" y="1567704"/>
        <a:ext cx="1103736" cy="55186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2261AE-3279-2B40-971D-FE5BBF2C3878}" type="datetimeFigureOut">
              <a:rPr lang="en-US" smtClean="0"/>
              <a:t>1/12/2024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9787D6-74B1-B44D-8654-BCEE28471BCE}" type="slidenum">
              <a:rPr lang="en-US" smtClean="0"/>
              <a:t>‹#›</a:t>
            </a:fld>
            <a:endParaRPr lang="en-US"/>
          </a:p>
        </p:txBody>
      </p:sp>
    </p:spTree>
    <p:extLst>
      <p:ext uri="{BB962C8B-B14F-4D97-AF65-F5344CB8AC3E}">
        <p14:creationId xmlns:p14="http://schemas.microsoft.com/office/powerpoint/2010/main" val="37240947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you design a system, there are security requirements,</a:t>
            </a:r>
            <a:r>
              <a:rPr lang="en-US" sz="1200" b="0" i="0" kern="1200" baseline="0" dirty="0">
                <a:solidFill>
                  <a:schemeClr val="tx1"/>
                </a:solidFill>
                <a:effectLst/>
                <a:latin typeface="+mn-lt"/>
                <a:ea typeface="+mn-ea"/>
                <a:cs typeface="+mn-cs"/>
              </a:rPr>
              <a:t> or the security objectives. </a:t>
            </a:r>
          </a:p>
          <a:p>
            <a:r>
              <a:rPr lang="en-US" sz="1200" b="0" i="0" kern="1200" baseline="0" dirty="0">
                <a:solidFill>
                  <a:schemeClr val="tx1"/>
                </a:solidFill>
                <a:effectLst/>
                <a:latin typeface="+mn-lt"/>
                <a:ea typeface="+mn-ea"/>
                <a:cs typeface="+mn-cs"/>
              </a:rPr>
              <a:t>After the system is in use, the system has security features, or we can say the system provides s</a:t>
            </a:r>
            <a:r>
              <a:rPr lang="en-US" sz="1200" b="0" i="0" kern="1200" dirty="0">
                <a:solidFill>
                  <a:schemeClr val="tx1"/>
                </a:solidFill>
                <a:effectLst/>
                <a:latin typeface="+mn-lt"/>
                <a:ea typeface="+mn-ea"/>
                <a:cs typeface="+mn-cs"/>
              </a:rPr>
              <a:t>ecurity services. </a:t>
            </a:r>
            <a:endParaRPr lang="en-US" dirty="0"/>
          </a:p>
        </p:txBody>
      </p:sp>
      <p:sp>
        <p:nvSpPr>
          <p:cNvPr id="4" name="Slide Number Placeholder 3"/>
          <p:cNvSpPr>
            <a:spLocks noGrp="1"/>
          </p:cNvSpPr>
          <p:nvPr>
            <p:ph type="sldNum" sz="quarter" idx="10"/>
          </p:nvPr>
        </p:nvSpPr>
        <p:spPr/>
        <p:txBody>
          <a:bodyPr/>
          <a:lstStyle/>
          <a:p>
            <a:fld id="{1B9787D6-74B1-B44D-8654-BCEE28471BCE}" type="slidenum">
              <a:rPr lang="en-US" smtClean="0"/>
              <a:t>2</a:t>
            </a:fld>
            <a:endParaRPr lang="en-US"/>
          </a:p>
        </p:txBody>
      </p:sp>
    </p:spTree>
    <p:extLst>
      <p:ext uri="{BB962C8B-B14F-4D97-AF65-F5344CB8AC3E}">
        <p14:creationId xmlns:p14="http://schemas.microsoft.com/office/powerpoint/2010/main" val="1231572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dirty="0"/>
              <a:t>Threat: a set of circumstances that has the potential to cause loss or harm.</a:t>
            </a:r>
          </a:p>
          <a:p>
            <a:endParaRPr lang="en-US" dirty="0"/>
          </a:p>
        </p:txBody>
      </p:sp>
      <p:sp>
        <p:nvSpPr>
          <p:cNvPr id="4" name="Slide Number Placeholder 3"/>
          <p:cNvSpPr>
            <a:spLocks noGrp="1"/>
          </p:cNvSpPr>
          <p:nvPr>
            <p:ph type="sldNum" sz="quarter" idx="10"/>
          </p:nvPr>
        </p:nvSpPr>
        <p:spPr/>
        <p:txBody>
          <a:bodyPr/>
          <a:lstStyle/>
          <a:p>
            <a:fld id="{1B9787D6-74B1-B44D-8654-BCEE28471BCE}" type="slidenum">
              <a:rPr lang="en-US" smtClean="0"/>
              <a:t>6</a:t>
            </a:fld>
            <a:endParaRPr lang="en-US"/>
          </a:p>
        </p:txBody>
      </p:sp>
    </p:spTree>
    <p:extLst>
      <p:ext uri="{BB962C8B-B14F-4D97-AF65-F5344CB8AC3E}">
        <p14:creationId xmlns:p14="http://schemas.microsoft.com/office/powerpoint/2010/main" val="359706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9219" name="Rectangle 7"/>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FB4E441-B2F4-4472-A0C5-20CE1B19A0C1}" type="slidenum">
              <a:rPr lang="zh-CN" altLang="en-US" smtClean="0"/>
              <a:pPr>
                <a:spcBef>
                  <a:spcPct val="0"/>
                </a:spcBef>
              </a:pPr>
              <a:t>10</a:t>
            </a:fld>
            <a:endParaRPr lang="en-US" altLang="zh-CN"/>
          </a:p>
        </p:txBody>
      </p:sp>
      <p:sp>
        <p:nvSpPr>
          <p:cNvPr id="9220" name="Rectangle 2"/>
          <p:cNvSpPr>
            <a:spLocks noGrp="1" noRot="1" noChangeAspect="1" noChangeArrowheads="1" noTextEdit="1"/>
          </p:cNvSpPr>
          <p:nvPr>
            <p:ph type="sldImg"/>
          </p:nvPr>
        </p:nvSpPr>
        <p:spPr>
          <a:ln/>
        </p:spPr>
      </p:sp>
      <p:sp>
        <p:nvSpPr>
          <p:cNvPr id="9221" name="Rectangle 3"/>
          <p:cNvSpPr>
            <a:spLocks noGrp="1" noChangeArrowheads="1"/>
          </p:cNvSpPr>
          <p:nvPr>
            <p:ph type="body" idx="1"/>
          </p:nvPr>
        </p:nvSpPr>
        <p:spPr>
          <a:xfrm>
            <a:off x="700088" y="4411663"/>
            <a:ext cx="5607050" cy="4179887"/>
          </a:xfrm>
          <a:noFill/>
        </p:spPr>
        <p:txBody>
          <a:bodyPr/>
          <a:lstStyle/>
          <a:p>
            <a:pPr eaLnBrk="1" hangingPunct="1"/>
            <a:r>
              <a:rPr lang="en-US" altLang="en-US"/>
              <a:t>Another useful view of trends in computer security is provided by the CSI/FBI Computer Crime and Security Survey for 2006, conducted by the Computer Security Institute, a private organization, and the U.S. Federal Bureau of Investigation (FBI). Figure 1.7 here shows the estimated losses caused by various types of computer security incidents. The top four categories of losses (viruses, unauthorized access, laptop or mobile hardware theft, and theft of proprietary information) accounted for nearly three-quarters of the total loss. Note that these attacks need to be countered by technical measures (in the case of viruses and unauthorized access); physical security measures (laptop or mobile hardware theft); or a combination (theft of proprietary information, which could include electronic as well as paper assets). Other management controls would also come into play.</a:t>
            </a:r>
          </a:p>
        </p:txBody>
      </p:sp>
    </p:spTree>
    <p:extLst>
      <p:ext uri="{BB962C8B-B14F-4D97-AF65-F5344CB8AC3E}">
        <p14:creationId xmlns:p14="http://schemas.microsoft.com/office/powerpoint/2010/main" val="3601137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11267" name="Rectangle 7"/>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2E7C781-5D41-49EC-A586-30F58257C8CE}" type="slidenum">
              <a:rPr lang="zh-CN" altLang="en-US" smtClean="0"/>
              <a:pPr>
                <a:spcBef>
                  <a:spcPct val="0"/>
                </a:spcBef>
              </a:pPr>
              <a:t>11</a:t>
            </a:fld>
            <a:endParaRPr lang="en-US" altLang="zh-CN"/>
          </a:p>
        </p:txBody>
      </p:sp>
      <p:sp>
        <p:nvSpPr>
          <p:cNvPr id="11268" name="Rectangle 2"/>
          <p:cNvSpPr>
            <a:spLocks noGrp="1" noRot="1" noChangeAspect="1" noChangeArrowheads="1" noTextEdit="1"/>
          </p:cNvSpPr>
          <p:nvPr>
            <p:ph type="sldImg"/>
          </p:nvPr>
        </p:nvSpPr>
        <p:spPr>
          <a:ln/>
        </p:spPr>
      </p:sp>
      <p:sp>
        <p:nvSpPr>
          <p:cNvPr id="11269" name="Rectangle 3"/>
          <p:cNvSpPr>
            <a:spLocks noGrp="1" noChangeArrowheads="1"/>
          </p:cNvSpPr>
          <p:nvPr>
            <p:ph type="body" idx="1"/>
          </p:nvPr>
        </p:nvSpPr>
        <p:spPr>
          <a:xfrm>
            <a:off x="700088" y="4411663"/>
            <a:ext cx="5607050" cy="4179887"/>
          </a:xfrm>
          <a:noFill/>
        </p:spPr>
        <p:txBody>
          <a:bodyPr/>
          <a:lstStyle/>
          <a:p>
            <a:pPr eaLnBrk="1" hangingPunct="1"/>
            <a:r>
              <a:rPr lang="en-US" altLang="en-US"/>
              <a:t>Figure 1.8here, also from the CSI/FBI Computer Crime and Security Survey for 2006, indicates the types of security technology used by organizations to counter threats. Both firewalls and anti-virus software are used almost universally. This popularity reflects a number of factors:</a:t>
            </a:r>
          </a:p>
          <a:p>
            <a:pPr eaLnBrk="1" hangingPunct="1"/>
            <a:r>
              <a:rPr lang="en-US" altLang="en-US">
                <a:cs typeface="Times New Roman" panose="02020603050405020304" pitchFamily="18" charset="0"/>
              </a:rPr>
              <a:t>• </a:t>
            </a:r>
            <a:r>
              <a:rPr lang="en-US" altLang="en-US"/>
              <a:t>The maturity of these technologies means that security administrators are very familiar with the products and are confident of their effectiveness.</a:t>
            </a:r>
          </a:p>
          <a:p>
            <a:pPr eaLnBrk="1" hangingPunct="1"/>
            <a:r>
              <a:rPr lang="en-US" altLang="en-US">
                <a:cs typeface="Times New Roman" panose="02020603050405020304" pitchFamily="18" charset="0"/>
              </a:rPr>
              <a:t>• </a:t>
            </a:r>
            <a:r>
              <a:rPr lang="en-US" altLang="en-US"/>
              <a:t>Because these technologies are mature and there are a number of vendors, costs tend to be quite reasonable and user-friendly interfaces are available</a:t>
            </a:r>
          </a:p>
          <a:p>
            <a:pPr eaLnBrk="1" hangingPunct="1"/>
            <a:r>
              <a:rPr lang="en-US" altLang="en-US">
                <a:cs typeface="Times New Roman" panose="02020603050405020304" pitchFamily="18" charset="0"/>
              </a:rPr>
              <a:t>• </a:t>
            </a:r>
            <a:r>
              <a:rPr lang="en-US" altLang="en-US"/>
              <a:t>The threats countered by these technologies are among the most significant facing security administrators.</a:t>
            </a:r>
          </a:p>
        </p:txBody>
      </p:sp>
    </p:spTree>
    <p:extLst>
      <p:ext uri="{BB962C8B-B14F-4D97-AF65-F5344CB8AC3E}">
        <p14:creationId xmlns:p14="http://schemas.microsoft.com/office/powerpoint/2010/main" val="3751219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13315" name="Rectangle 7"/>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B81141C-D3CF-4109-9E2B-9C93137506FE}" type="slidenum">
              <a:rPr lang="zh-CN" altLang="en-US" smtClean="0"/>
              <a:pPr>
                <a:spcBef>
                  <a:spcPct val="0"/>
                </a:spcBef>
              </a:pPr>
              <a:t>12</a:t>
            </a:fld>
            <a:endParaRPr lang="en-US" altLang="zh-CN"/>
          </a:p>
        </p:txBody>
      </p:sp>
      <p:sp>
        <p:nvSpPr>
          <p:cNvPr id="13316" name="Rectangle 2"/>
          <p:cNvSpPr>
            <a:spLocks noGrp="1" noRot="1" noChangeAspect="1" noChangeArrowheads="1" noTextEdit="1"/>
          </p:cNvSpPr>
          <p:nvPr>
            <p:ph type="sldImg"/>
          </p:nvPr>
        </p:nvSpPr>
        <p:spPr>
          <a:ln/>
        </p:spPr>
      </p:sp>
      <p:sp>
        <p:nvSpPr>
          <p:cNvPr id="13317" name="Rectangle 3"/>
          <p:cNvSpPr>
            <a:spLocks noGrp="1" noChangeArrowheads="1"/>
          </p:cNvSpPr>
          <p:nvPr>
            <p:ph type="body" idx="1"/>
          </p:nvPr>
        </p:nvSpPr>
        <p:spPr>
          <a:xfrm>
            <a:off x="935038" y="4411663"/>
            <a:ext cx="5137150" cy="4179887"/>
          </a:xfrm>
          <a:noFill/>
        </p:spPr>
        <p:txBody>
          <a:bodyPr/>
          <a:lstStyle/>
          <a:p>
            <a:pPr eaLnBrk="1" hangingPunct="1"/>
            <a:r>
              <a:rPr lang="en-US" altLang="en-US" dirty="0"/>
              <a:t>Policy: may be expressed in</a:t>
            </a:r>
          </a:p>
          <a:p>
            <a:pPr eaLnBrk="1" hangingPunct="1">
              <a:buFontTx/>
              <a:buChar char="•"/>
            </a:pPr>
            <a:r>
              <a:rPr lang="en-US" altLang="en-US" dirty="0"/>
              <a:t>natural language, which is usually imprecise but easy to understand;</a:t>
            </a:r>
          </a:p>
          <a:p>
            <a:pPr eaLnBrk="1" hangingPunct="1">
              <a:buFontTx/>
              <a:buChar char="•"/>
            </a:pPr>
            <a:r>
              <a:rPr lang="en-US" altLang="en-US" dirty="0"/>
              <a:t>mathematics, which is usually precise but hard to understand;</a:t>
            </a:r>
          </a:p>
          <a:p>
            <a:pPr eaLnBrk="1" hangingPunct="1">
              <a:buFontTx/>
              <a:buChar char="•"/>
            </a:pPr>
            <a:r>
              <a:rPr lang="en-US" altLang="en-US" dirty="0"/>
              <a:t>policy languages, which look like some form of programming language and try to balance precision with ease of understanding</a:t>
            </a:r>
          </a:p>
          <a:p>
            <a:pPr eaLnBrk="1" hangingPunct="1"/>
            <a:r>
              <a:rPr lang="en-US" altLang="en-US" dirty="0"/>
              <a:t>Mechanisms: may be</a:t>
            </a:r>
          </a:p>
          <a:p>
            <a:pPr eaLnBrk="1" hangingPunct="1">
              <a:buFontTx/>
              <a:buChar char="•"/>
            </a:pPr>
            <a:r>
              <a:rPr lang="en-US" altLang="en-US" dirty="0"/>
              <a:t>technical, in which controls in the computer enforce the policy; for example, the requirement that a user supply a password to authenticate herself before using the computer</a:t>
            </a:r>
          </a:p>
          <a:p>
            <a:pPr eaLnBrk="1" hangingPunct="1">
              <a:buFontTx/>
              <a:buChar char="•"/>
            </a:pPr>
            <a:r>
              <a:rPr lang="en-US" altLang="en-US" dirty="0"/>
              <a:t>procedural, in which  controls outside the system enforce the policy; for example, firing someone for ringing in a disk containing a game program obtained from an untrusted source</a:t>
            </a:r>
          </a:p>
          <a:p>
            <a:pPr eaLnBrk="1" hangingPunct="1"/>
            <a:r>
              <a:rPr lang="en-US" altLang="en-US" dirty="0"/>
              <a:t>The composition problem requires checking for inconsistencies among policies. If, for example, one policy allows students and faculty access to all data, and the other allows only faculty access to all the data, then they must be resolved (e.g., partition the data so that students and faculty can access some data, and only faculty access the other data).</a:t>
            </a:r>
          </a:p>
        </p:txBody>
      </p:sp>
    </p:spTree>
    <p:extLst>
      <p:ext uri="{BB962C8B-B14F-4D97-AF65-F5344CB8AC3E}">
        <p14:creationId xmlns:p14="http://schemas.microsoft.com/office/powerpoint/2010/main" val="2902695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15363" name="Rectangle 7"/>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D1D907-8603-46AB-801D-C7E114E1BCB0}" type="slidenum">
              <a:rPr lang="zh-CN" altLang="en-US" smtClean="0"/>
              <a:pPr>
                <a:spcBef>
                  <a:spcPct val="0"/>
                </a:spcBef>
              </a:pPr>
              <a:t>13</a:t>
            </a:fld>
            <a:endParaRPr lang="en-US" altLang="zh-CN"/>
          </a:p>
        </p:txBody>
      </p:sp>
      <p:sp>
        <p:nvSpPr>
          <p:cNvPr id="15364" name="Rectangle 2"/>
          <p:cNvSpPr>
            <a:spLocks noGrp="1" noRot="1" noChangeAspect="1" noChangeArrowheads="1" noTextEdit="1"/>
          </p:cNvSpPr>
          <p:nvPr>
            <p:ph type="sldImg"/>
          </p:nvPr>
        </p:nvSpPr>
        <p:spPr>
          <a:ln/>
        </p:spPr>
      </p:sp>
      <p:sp>
        <p:nvSpPr>
          <p:cNvPr id="15365" name="Rectangle 3"/>
          <p:cNvSpPr>
            <a:spLocks noGrp="1" noChangeArrowheads="1"/>
          </p:cNvSpPr>
          <p:nvPr>
            <p:ph type="body" idx="1"/>
          </p:nvPr>
        </p:nvSpPr>
        <p:spPr>
          <a:xfrm>
            <a:off x="935038" y="4411663"/>
            <a:ext cx="5137150" cy="4179887"/>
          </a:xfrm>
          <a:noFill/>
        </p:spPr>
        <p:txBody>
          <a:bodyPr/>
          <a:lstStyle/>
          <a:p>
            <a:pPr eaLnBrk="1" hangingPunct="1"/>
            <a:r>
              <a:rPr lang="en-US" altLang="en-US" dirty="0"/>
              <a:t>Prevention is ideal, because then there are no successful attacks.</a:t>
            </a:r>
          </a:p>
          <a:p>
            <a:pPr eaLnBrk="1" hangingPunct="1"/>
            <a:r>
              <a:rPr lang="en-US" altLang="en-US" dirty="0"/>
              <a:t>Detection occurs after someone violates the policy. The mechanism determines that a violation of the policy has occurred (or is underway), and reports it. The system (or system security officer) must then respond appropriately.</a:t>
            </a:r>
          </a:p>
          <a:p>
            <a:pPr eaLnBrk="1" hangingPunct="1"/>
            <a:r>
              <a:rPr lang="en-US" altLang="en-US" dirty="0"/>
              <a:t>Recovery means that the system continues to function correctly, possibly system functions correctly always, but possibly with degraded services, it is said to be intrusion tolerant. This is very difficult to do correctly; usually, recovery means that after a period during which it fails to function correctly. If the attack is stopped, the system fixed (which may involve shutting down the system for some time, or making it unavailable to all users except the system security officers), and then the system resumes correct operations.</a:t>
            </a:r>
          </a:p>
        </p:txBody>
      </p:sp>
    </p:spTree>
    <p:extLst>
      <p:ext uri="{BB962C8B-B14F-4D97-AF65-F5344CB8AC3E}">
        <p14:creationId xmlns:p14="http://schemas.microsoft.com/office/powerpoint/2010/main" val="3317689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a:defRPr sz="3600">
                <a:solidFill>
                  <a:schemeClr val="tx1"/>
                </a:solidFill>
                <a:latin typeface="Arial" panose="020B0604020202020204" pitchFamily="34" charset="0"/>
                <a:cs typeface="Lucida Sans Unicode" panose="020B0602030504020204" pitchFamily="34" charset="0"/>
              </a:defRPr>
            </a:lvl1pPr>
            <a:lvl2pPr marL="742950" indent="-285750">
              <a:defRPr sz="3600">
                <a:solidFill>
                  <a:schemeClr val="tx1"/>
                </a:solidFill>
                <a:latin typeface="Arial" panose="020B0604020202020204" pitchFamily="34" charset="0"/>
                <a:cs typeface="Lucida Sans Unicode" panose="020B0602030504020204" pitchFamily="34" charset="0"/>
              </a:defRPr>
            </a:lvl2pPr>
            <a:lvl3pPr marL="1143000" indent="-228600">
              <a:defRPr sz="3600">
                <a:solidFill>
                  <a:schemeClr val="tx1"/>
                </a:solidFill>
                <a:latin typeface="Arial" panose="020B0604020202020204" pitchFamily="34" charset="0"/>
                <a:cs typeface="Lucida Sans Unicode" panose="020B0602030504020204" pitchFamily="34" charset="0"/>
              </a:defRPr>
            </a:lvl3pPr>
            <a:lvl4pPr marL="1600200" indent="-228600">
              <a:defRPr sz="3600">
                <a:solidFill>
                  <a:schemeClr val="tx1"/>
                </a:solidFill>
                <a:latin typeface="Arial" panose="020B0604020202020204" pitchFamily="34" charset="0"/>
                <a:cs typeface="Lucida Sans Unicode" panose="020B0602030504020204" pitchFamily="34" charset="0"/>
              </a:defRPr>
            </a:lvl4pPr>
            <a:lvl5pPr marL="2057400" indent="-228600">
              <a:defRPr sz="3600">
                <a:solidFill>
                  <a:schemeClr val="tx1"/>
                </a:solidFill>
                <a:latin typeface="Arial" panose="020B0604020202020204" pitchFamily="34" charset="0"/>
                <a:cs typeface="Lucida Sans Unicode" panose="020B0602030504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Lucida Sans Unicode" panose="020B0602030504020204" pitchFamily="34" charset="0"/>
              </a:defRPr>
            </a:lvl9pPr>
          </a:lstStyle>
          <a:p>
            <a:fld id="{69E84BD0-9EED-4FB4-B1E6-F507E9DD461E}" type="slidenum">
              <a:rPr lang="en-AU" altLang="en-US" sz="1200" smtClean="0"/>
              <a:pPr/>
              <a:t>14</a:t>
            </a:fld>
            <a:endParaRPr lang="en-AU" altLang="en-US" sz="120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r>
              <a:rPr lang="en-US" altLang="en-US" dirty="0">
                <a:latin typeface="Times New Roman" panose="02020603050405020304" pitchFamily="18" charset="0"/>
              </a:rPr>
              <a:t>RFC 2828 describes four kinds of threat consequences and kinds of attacks that result:</a:t>
            </a:r>
          </a:p>
          <a:p>
            <a:pPr eaLnBrk="1" hangingPunct="1"/>
            <a:r>
              <a:rPr lang="en-US" altLang="en-US" b="1" dirty="0">
                <a:latin typeface="Times New Roman" panose="02020603050405020304" pitchFamily="18" charset="0"/>
              </a:rPr>
              <a:t>Unauthorized disclosure</a:t>
            </a:r>
            <a:r>
              <a:rPr lang="en-US" altLang="en-US" dirty="0">
                <a:latin typeface="Times New Roman" panose="02020603050405020304" pitchFamily="18" charset="0"/>
              </a:rPr>
              <a:t> is a threat to confidentiality:</a:t>
            </a:r>
          </a:p>
          <a:p>
            <a:pPr eaLnBrk="1" hangingPunct="1">
              <a:buFontTx/>
              <a:buChar char="•"/>
            </a:pPr>
            <a:r>
              <a:rPr lang="en-US" altLang="en-US" b="1" dirty="0">
                <a:latin typeface="Times New Roman" panose="02020603050405020304" pitchFamily="18" charset="0"/>
              </a:rPr>
              <a:t>Exposure: </a:t>
            </a:r>
            <a:r>
              <a:rPr lang="en-US" altLang="en-US" dirty="0">
                <a:latin typeface="Times New Roman" panose="02020603050405020304" pitchFamily="18" charset="0"/>
              </a:rPr>
              <a:t>Sensitive data is directly released to an unauthorized entity.</a:t>
            </a:r>
          </a:p>
          <a:p>
            <a:pPr eaLnBrk="1" hangingPunct="1">
              <a:buFontTx/>
              <a:buChar char="•"/>
            </a:pPr>
            <a:r>
              <a:rPr lang="en-US" altLang="en-US" b="1" dirty="0">
                <a:latin typeface="Times New Roman" panose="02020603050405020304" pitchFamily="18" charset="0"/>
              </a:rPr>
              <a:t>Interception: </a:t>
            </a:r>
            <a:r>
              <a:rPr lang="en-US" altLang="en-US" dirty="0">
                <a:latin typeface="Times New Roman" panose="02020603050405020304" pitchFamily="18" charset="0"/>
              </a:rPr>
              <a:t>An unauthorized entity directly accesses sensitive data in transit.</a:t>
            </a:r>
          </a:p>
          <a:p>
            <a:pPr eaLnBrk="1" hangingPunct="1">
              <a:buFontTx/>
              <a:buChar char="•"/>
            </a:pPr>
            <a:r>
              <a:rPr lang="en-US" altLang="en-US" b="1" dirty="0">
                <a:latin typeface="Times New Roman" panose="02020603050405020304" pitchFamily="18" charset="0"/>
              </a:rPr>
              <a:t>Inference: </a:t>
            </a:r>
            <a:r>
              <a:rPr lang="en-US" altLang="en-US" dirty="0">
                <a:latin typeface="Times New Roman" panose="02020603050405020304" pitchFamily="18" charset="0"/>
              </a:rPr>
              <a:t>an unauthorized entity indirectly accesses sensitive data by reasoning from characteristics or byproducts of communications.</a:t>
            </a:r>
          </a:p>
          <a:p>
            <a:pPr eaLnBrk="1" hangingPunct="1">
              <a:buFontTx/>
              <a:buChar char="•"/>
            </a:pPr>
            <a:r>
              <a:rPr lang="en-US" altLang="en-US" b="1" dirty="0">
                <a:latin typeface="Times New Roman" panose="02020603050405020304" pitchFamily="18" charset="0"/>
              </a:rPr>
              <a:t>Intrusion: </a:t>
            </a:r>
            <a:r>
              <a:rPr lang="en-US" altLang="en-US" dirty="0">
                <a:latin typeface="Times New Roman" panose="02020603050405020304" pitchFamily="18" charset="0"/>
              </a:rPr>
              <a:t>An unauthorized entity circumvents system's security protections.</a:t>
            </a:r>
          </a:p>
          <a:p>
            <a:pPr eaLnBrk="1" hangingPunct="1"/>
            <a:r>
              <a:rPr lang="en-US" altLang="en-US" b="1" dirty="0">
                <a:latin typeface="Times New Roman" panose="02020603050405020304" pitchFamily="18" charset="0"/>
              </a:rPr>
              <a:t>Deception</a:t>
            </a:r>
            <a:r>
              <a:rPr lang="en-US" altLang="en-US" dirty="0">
                <a:latin typeface="Times New Roman" panose="02020603050405020304" pitchFamily="18" charset="0"/>
              </a:rPr>
              <a:t> is a threat to either system integrity or data integrity:</a:t>
            </a:r>
          </a:p>
          <a:p>
            <a:pPr eaLnBrk="1" hangingPunct="1">
              <a:buFontTx/>
              <a:buChar char="•"/>
            </a:pPr>
            <a:r>
              <a:rPr lang="en-US" altLang="en-US" b="1" dirty="0">
                <a:latin typeface="Times New Roman" panose="02020603050405020304" pitchFamily="18" charset="0"/>
              </a:rPr>
              <a:t>Masquerade: </a:t>
            </a:r>
            <a:r>
              <a:rPr lang="en-US" altLang="en-US" dirty="0">
                <a:latin typeface="Times New Roman" panose="02020603050405020304" pitchFamily="18" charset="0"/>
              </a:rPr>
              <a:t>An unauthorized entity poses as an authorized entity.</a:t>
            </a:r>
          </a:p>
          <a:p>
            <a:pPr eaLnBrk="1" hangingPunct="1">
              <a:buFontTx/>
              <a:buChar char="•"/>
            </a:pPr>
            <a:r>
              <a:rPr lang="en-US" altLang="en-US" b="1" dirty="0">
                <a:latin typeface="Times New Roman" panose="02020603050405020304" pitchFamily="18" charset="0"/>
              </a:rPr>
              <a:t>Falsification: </a:t>
            </a:r>
            <a:r>
              <a:rPr lang="en-US" altLang="en-US" dirty="0">
                <a:latin typeface="Times New Roman" panose="02020603050405020304" pitchFamily="18" charset="0"/>
              </a:rPr>
              <a:t>False data deceives an authorized entity.</a:t>
            </a:r>
          </a:p>
          <a:p>
            <a:pPr eaLnBrk="1" hangingPunct="1">
              <a:buFontTx/>
              <a:buChar char="•"/>
            </a:pPr>
            <a:r>
              <a:rPr lang="en-US" altLang="en-US" b="1" dirty="0">
                <a:latin typeface="Times New Roman" panose="02020603050405020304" pitchFamily="18" charset="0"/>
              </a:rPr>
              <a:t>Repudiation: </a:t>
            </a:r>
            <a:r>
              <a:rPr lang="en-US" altLang="en-US" dirty="0">
                <a:latin typeface="Times New Roman" panose="02020603050405020304" pitchFamily="18" charset="0"/>
              </a:rPr>
              <a:t>An entity deceives another by falsely denying responsibility for an act.</a:t>
            </a:r>
          </a:p>
          <a:p>
            <a:pPr eaLnBrk="1" hangingPunct="1"/>
            <a:r>
              <a:rPr lang="en-US" altLang="en-US" b="1" dirty="0">
                <a:latin typeface="Times New Roman" panose="02020603050405020304" pitchFamily="18" charset="0"/>
              </a:rPr>
              <a:t>Disruption</a:t>
            </a:r>
            <a:r>
              <a:rPr lang="en-US" altLang="en-US" dirty="0">
                <a:latin typeface="Times New Roman" panose="02020603050405020304" pitchFamily="18" charset="0"/>
              </a:rPr>
              <a:t> is a threat to availability or system integrity:</a:t>
            </a:r>
          </a:p>
          <a:p>
            <a:pPr eaLnBrk="1" hangingPunct="1">
              <a:buFontTx/>
              <a:buChar char="•"/>
            </a:pPr>
            <a:r>
              <a:rPr lang="en-US" altLang="en-US" b="1" dirty="0">
                <a:latin typeface="Times New Roman" panose="02020603050405020304" pitchFamily="18" charset="0"/>
              </a:rPr>
              <a:t>Incapacitation: </a:t>
            </a:r>
            <a:r>
              <a:rPr lang="en-US" altLang="en-US" dirty="0">
                <a:latin typeface="Times New Roman" panose="02020603050405020304" pitchFamily="18" charset="0"/>
              </a:rPr>
              <a:t>Prevent/interrupt system operation by disabling a system component</a:t>
            </a:r>
          </a:p>
          <a:p>
            <a:pPr eaLnBrk="1" hangingPunct="1">
              <a:buFontTx/>
              <a:buChar char="•"/>
            </a:pPr>
            <a:r>
              <a:rPr lang="en-US" altLang="en-US" b="1" dirty="0">
                <a:latin typeface="Times New Roman" panose="02020603050405020304" pitchFamily="18" charset="0"/>
              </a:rPr>
              <a:t>Corruption: </a:t>
            </a:r>
            <a:r>
              <a:rPr lang="en-US" altLang="en-US" dirty="0">
                <a:latin typeface="Times New Roman" panose="02020603050405020304" pitchFamily="18" charset="0"/>
              </a:rPr>
              <a:t>adversely modifying system functions or data</a:t>
            </a:r>
          </a:p>
          <a:p>
            <a:pPr eaLnBrk="1" hangingPunct="1">
              <a:buFontTx/>
              <a:buChar char="•"/>
            </a:pPr>
            <a:r>
              <a:rPr lang="en-US" altLang="en-US" b="1" dirty="0">
                <a:latin typeface="Times New Roman" panose="02020603050405020304" pitchFamily="18" charset="0"/>
              </a:rPr>
              <a:t>Obstruction: </a:t>
            </a:r>
            <a:r>
              <a:rPr lang="en-US" altLang="en-US" dirty="0">
                <a:latin typeface="Times New Roman" panose="02020603050405020304" pitchFamily="18" charset="0"/>
              </a:rPr>
              <a:t>interrupts delivery of system services by hindering system operation.</a:t>
            </a:r>
          </a:p>
          <a:p>
            <a:pPr eaLnBrk="1" hangingPunct="1"/>
            <a:r>
              <a:rPr lang="en-US" altLang="en-US" b="1" dirty="0">
                <a:latin typeface="Times New Roman" panose="02020603050405020304" pitchFamily="18" charset="0"/>
              </a:rPr>
              <a:t>Usurpation </a:t>
            </a:r>
            <a:r>
              <a:rPr lang="en-US" altLang="en-US" dirty="0">
                <a:latin typeface="Times New Roman" panose="02020603050405020304" pitchFamily="18" charset="0"/>
              </a:rPr>
              <a:t>is a threat to system integrity:</a:t>
            </a:r>
          </a:p>
          <a:p>
            <a:pPr eaLnBrk="1" hangingPunct="1">
              <a:buFontTx/>
              <a:buChar char="•"/>
            </a:pPr>
            <a:r>
              <a:rPr lang="en-US" altLang="en-US" b="1" dirty="0">
                <a:latin typeface="Times New Roman" panose="02020603050405020304" pitchFamily="18" charset="0"/>
              </a:rPr>
              <a:t>Misappropriation: </a:t>
            </a:r>
            <a:r>
              <a:rPr lang="en-US" altLang="en-US" dirty="0">
                <a:latin typeface="Times New Roman" panose="02020603050405020304" pitchFamily="18" charset="0"/>
              </a:rPr>
              <a:t>unauthorized logical or physical control of a system resource.</a:t>
            </a:r>
          </a:p>
          <a:p>
            <a:pPr eaLnBrk="1" hangingPunct="1">
              <a:buFontTx/>
              <a:buChar char="•"/>
            </a:pPr>
            <a:r>
              <a:rPr lang="en-US" altLang="en-US" b="1" dirty="0">
                <a:latin typeface="Times New Roman" panose="02020603050405020304" pitchFamily="18" charset="0"/>
              </a:rPr>
              <a:t>Misuse: </a:t>
            </a:r>
            <a:r>
              <a:rPr lang="en-US" altLang="en-US" dirty="0">
                <a:latin typeface="Times New Roman" panose="02020603050405020304" pitchFamily="18" charset="0"/>
              </a:rPr>
              <a:t>Causes system to perform a function or service detrimental to security.</a:t>
            </a:r>
          </a:p>
        </p:txBody>
      </p:sp>
    </p:spTree>
    <p:extLst>
      <p:ext uri="{BB962C8B-B14F-4D97-AF65-F5344CB8AC3E}">
        <p14:creationId xmlns:p14="http://schemas.microsoft.com/office/powerpoint/2010/main" val="1962802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Times New Roman" panose="02020603050405020304" pitchFamily="18" charset="0"/>
              </a:rPr>
              <a:t>RFC 2828 describes four kinds of threat consequences and kinds of attacks that result:</a:t>
            </a:r>
          </a:p>
          <a:p>
            <a:pPr eaLnBrk="1" hangingPunct="1"/>
            <a:r>
              <a:rPr lang="en-US" altLang="en-US" b="1" dirty="0">
                <a:latin typeface="Times New Roman" panose="02020603050405020304" pitchFamily="18" charset="0"/>
              </a:rPr>
              <a:t>Unauthorized disclosure</a:t>
            </a:r>
            <a:r>
              <a:rPr lang="en-US" altLang="en-US" dirty="0">
                <a:latin typeface="Times New Roman" panose="02020603050405020304" pitchFamily="18" charset="0"/>
              </a:rPr>
              <a:t> is a threat to confidentiality:</a:t>
            </a:r>
          </a:p>
          <a:p>
            <a:pPr eaLnBrk="1" hangingPunct="1">
              <a:buFontTx/>
              <a:buChar char="•"/>
            </a:pPr>
            <a:r>
              <a:rPr lang="en-US" altLang="en-US" b="1" dirty="0">
                <a:latin typeface="Times New Roman" panose="02020603050405020304" pitchFamily="18" charset="0"/>
              </a:rPr>
              <a:t>Exposure: </a:t>
            </a:r>
            <a:r>
              <a:rPr lang="en-US" altLang="en-US" dirty="0">
                <a:latin typeface="Times New Roman" panose="02020603050405020304" pitchFamily="18" charset="0"/>
              </a:rPr>
              <a:t>Sensitive data is directly released to an unauthorized entity.</a:t>
            </a:r>
          </a:p>
          <a:p>
            <a:pPr eaLnBrk="1" hangingPunct="1">
              <a:buFontTx/>
              <a:buChar char="•"/>
            </a:pPr>
            <a:r>
              <a:rPr lang="en-US" altLang="en-US" b="1" dirty="0">
                <a:latin typeface="Times New Roman" panose="02020603050405020304" pitchFamily="18" charset="0"/>
              </a:rPr>
              <a:t>Interception: </a:t>
            </a:r>
            <a:r>
              <a:rPr lang="en-US" altLang="en-US" dirty="0">
                <a:latin typeface="Times New Roman" panose="02020603050405020304" pitchFamily="18" charset="0"/>
              </a:rPr>
              <a:t>An unauthorized entity directly accesses sensitive data in transit.</a:t>
            </a:r>
          </a:p>
          <a:p>
            <a:pPr eaLnBrk="1" hangingPunct="1">
              <a:buFontTx/>
              <a:buChar char="•"/>
            </a:pPr>
            <a:r>
              <a:rPr lang="en-US" altLang="en-US" b="1" dirty="0">
                <a:latin typeface="Times New Roman" panose="02020603050405020304" pitchFamily="18" charset="0"/>
              </a:rPr>
              <a:t>Inference: </a:t>
            </a:r>
            <a:r>
              <a:rPr lang="en-US" altLang="en-US" dirty="0">
                <a:latin typeface="Times New Roman" panose="02020603050405020304" pitchFamily="18" charset="0"/>
              </a:rPr>
              <a:t>an unauthorized entity indirectly accesses sensitive data by reasoning from characteristics or byproducts of communications.</a:t>
            </a:r>
          </a:p>
          <a:p>
            <a:pPr eaLnBrk="1" hangingPunct="1">
              <a:buFontTx/>
              <a:buChar char="•"/>
            </a:pPr>
            <a:r>
              <a:rPr lang="en-US" altLang="en-US" b="1" dirty="0">
                <a:latin typeface="Times New Roman" panose="02020603050405020304" pitchFamily="18" charset="0"/>
              </a:rPr>
              <a:t>Intrusion: </a:t>
            </a:r>
            <a:r>
              <a:rPr lang="en-US" altLang="en-US" dirty="0">
                <a:latin typeface="Times New Roman" panose="02020603050405020304" pitchFamily="18" charset="0"/>
              </a:rPr>
              <a:t>An unauthorized entity circumvents system's security protections.</a:t>
            </a:r>
          </a:p>
          <a:p>
            <a:pPr eaLnBrk="1" hangingPunct="1"/>
            <a:r>
              <a:rPr lang="en-US" altLang="en-US" b="1" dirty="0">
                <a:latin typeface="Times New Roman" panose="02020603050405020304" pitchFamily="18" charset="0"/>
              </a:rPr>
              <a:t>Deception</a:t>
            </a:r>
            <a:r>
              <a:rPr lang="en-US" altLang="en-US" dirty="0">
                <a:latin typeface="Times New Roman" panose="02020603050405020304" pitchFamily="18" charset="0"/>
              </a:rPr>
              <a:t> is a threat to either system integrity or data integrity:</a:t>
            </a:r>
          </a:p>
          <a:p>
            <a:pPr eaLnBrk="1" hangingPunct="1">
              <a:buFontTx/>
              <a:buChar char="•"/>
            </a:pPr>
            <a:r>
              <a:rPr lang="en-US" altLang="en-US" b="1" dirty="0">
                <a:latin typeface="Times New Roman" panose="02020603050405020304" pitchFamily="18" charset="0"/>
              </a:rPr>
              <a:t>Masquerade: </a:t>
            </a:r>
            <a:r>
              <a:rPr lang="en-US" altLang="en-US" dirty="0">
                <a:latin typeface="Times New Roman" panose="02020603050405020304" pitchFamily="18" charset="0"/>
              </a:rPr>
              <a:t>An unauthorized entity poses as an authorized entity.</a:t>
            </a:r>
          </a:p>
          <a:p>
            <a:pPr eaLnBrk="1" hangingPunct="1">
              <a:buFontTx/>
              <a:buChar char="•"/>
            </a:pPr>
            <a:r>
              <a:rPr lang="en-US" altLang="en-US" b="1" dirty="0">
                <a:latin typeface="Times New Roman" panose="02020603050405020304" pitchFamily="18" charset="0"/>
              </a:rPr>
              <a:t>Falsification: </a:t>
            </a:r>
            <a:r>
              <a:rPr lang="en-US" altLang="en-US" dirty="0">
                <a:latin typeface="Times New Roman" panose="02020603050405020304" pitchFamily="18" charset="0"/>
              </a:rPr>
              <a:t>False data deceives an authorized entity.</a:t>
            </a:r>
          </a:p>
          <a:p>
            <a:pPr eaLnBrk="1" hangingPunct="1">
              <a:buFontTx/>
              <a:buChar char="•"/>
            </a:pPr>
            <a:r>
              <a:rPr lang="en-US" altLang="en-US" b="1" dirty="0">
                <a:latin typeface="Times New Roman" panose="02020603050405020304" pitchFamily="18" charset="0"/>
              </a:rPr>
              <a:t>Repudiation: </a:t>
            </a:r>
            <a:r>
              <a:rPr lang="en-US" altLang="en-US" dirty="0">
                <a:latin typeface="Times New Roman" panose="02020603050405020304" pitchFamily="18" charset="0"/>
              </a:rPr>
              <a:t>An entity deceives another by falsely denying responsibility for an act.</a:t>
            </a:r>
          </a:p>
          <a:p>
            <a:pPr eaLnBrk="1" hangingPunct="1"/>
            <a:r>
              <a:rPr lang="en-US" altLang="en-US" b="1" dirty="0">
                <a:latin typeface="Times New Roman" panose="02020603050405020304" pitchFamily="18" charset="0"/>
              </a:rPr>
              <a:t>Disruption</a:t>
            </a:r>
            <a:r>
              <a:rPr lang="en-US" altLang="en-US" dirty="0">
                <a:latin typeface="Times New Roman" panose="02020603050405020304" pitchFamily="18" charset="0"/>
              </a:rPr>
              <a:t> is a threat to availability or system integrity:</a:t>
            </a:r>
          </a:p>
          <a:p>
            <a:pPr eaLnBrk="1" hangingPunct="1">
              <a:buFontTx/>
              <a:buChar char="•"/>
            </a:pPr>
            <a:r>
              <a:rPr lang="en-US" altLang="en-US" b="1" dirty="0">
                <a:latin typeface="Times New Roman" panose="02020603050405020304" pitchFamily="18" charset="0"/>
              </a:rPr>
              <a:t>Incapacitation: </a:t>
            </a:r>
            <a:r>
              <a:rPr lang="en-US" altLang="en-US" dirty="0">
                <a:latin typeface="Times New Roman" panose="02020603050405020304" pitchFamily="18" charset="0"/>
              </a:rPr>
              <a:t>Prevent/interrupt system operation by disabling a system component</a:t>
            </a:r>
          </a:p>
          <a:p>
            <a:pPr eaLnBrk="1" hangingPunct="1">
              <a:buFontTx/>
              <a:buChar char="•"/>
            </a:pPr>
            <a:r>
              <a:rPr lang="en-US" altLang="en-US" b="1" dirty="0">
                <a:latin typeface="Times New Roman" panose="02020603050405020304" pitchFamily="18" charset="0"/>
              </a:rPr>
              <a:t>Corruption: </a:t>
            </a:r>
            <a:r>
              <a:rPr lang="en-US" altLang="en-US" dirty="0">
                <a:latin typeface="Times New Roman" panose="02020603050405020304" pitchFamily="18" charset="0"/>
              </a:rPr>
              <a:t>adversely modifying system functions or data</a:t>
            </a:r>
          </a:p>
          <a:p>
            <a:pPr eaLnBrk="1" hangingPunct="1">
              <a:buFontTx/>
              <a:buChar char="•"/>
            </a:pPr>
            <a:r>
              <a:rPr lang="en-US" altLang="en-US" b="1" dirty="0">
                <a:latin typeface="Times New Roman" panose="02020603050405020304" pitchFamily="18" charset="0"/>
              </a:rPr>
              <a:t>Obstruction: </a:t>
            </a:r>
            <a:r>
              <a:rPr lang="en-US" altLang="en-US" dirty="0">
                <a:latin typeface="Times New Roman" panose="02020603050405020304" pitchFamily="18" charset="0"/>
              </a:rPr>
              <a:t>interrupts delivery of system services by hindering system operation.</a:t>
            </a:r>
          </a:p>
          <a:p>
            <a:pPr eaLnBrk="1" hangingPunct="1"/>
            <a:r>
              <a:rPr lang="en-US" altLang="en-US" b="1" dirty="0">
                <a:latin typeface="Times New Roman" panose="02020603050405020304" pitchFamily="18" charset="0"/>
              </a:rPr>
              <a:t>Usurpation </a:t>
            </a:r>
            <a:r>
              <a:rPr lang="en-US" altLang="en-US" dirty="0">
                <a:latin typeface="Times New Roman" panose="02020603050405020304" pitchFamily="18" charset="0"/>
              </a:rPr>
              <a:t>is a threat to system integrity:</a:t>
            </a:r>
          </a:p>
          <a:p>
            <a:pPr eaLnBrk="1" hangingPunct="1">
              <a:buFontTx/>
              <a:buChar char="•"/>
            </a:pPr>
            <a:r>
              <a:rPr lang="en-US" altLang="en-US" b="1" dirty="0">
                <a:latin typeface="Times New Roman" panose="02020603050405020304" pitchFamily="18" charset="0"/>
              </a:rPr>
              <a:t>Misappropriation: </a:t>
            </a:r>
            <a:r>
              <a:rPr lang="en-US" altLang="en-US" dirty="0">
                <a:latin typeface="Times New Roman" panose="02020603050405020304" pitchFamily="18" charset="0"/>
              </a:rPr>
              <a:t>unauthorized logical or physical control of a system resource.</a:t>
            </a:r>
          </a:p>
          <a:p>
            <a:pPr eaLnBrk="1" hangingPunct="1">
              <a:buFontTx/>
              <a:buChar char="•"/>
            </a:pPr>
            <a:r>
              <a:rPr lang="en-US" altLang="en-US" b="1" dirty="0">
                <a:latin typeface="Times New Roman" panose="02020603050405020304" pitchFamily="18" charset="0"/>
              </a:rPr>
              <a:t>Misuse: </a:t>
            </a:r>
            <a:r>
              <a:rPr lang="en-US" altLang="en-US" dirty="0">
                <a:latin typeface="Times New Roman" panose="02020603050405020304" pitchFamily="18" charset="0"/>
              </a:rPr>
              <a:t>Causes system to perform a function or service detrimental to security.</a:t>
            </a:r>
            <a:endParaRPr lang="en-US" dirty="0"/>
          </a:p>
        </p:txBody>
      </p:sp>
      <p:sp>
        <p:nvSpPr>
          <p:cNvPr id="4" name="Slide Number Placeholder 3"/>
          <p:cNvSpPr>
            <a:spLocks noGrp="1"/>
          </p:cNvSpPr>
          <p:nvPr>
            <p:ph type="sldNum" sz="quarter" idx="5"/>
          </p:nvPr>
        </p:nvSpPr>
        <p:spPr/>
        <p:txBody>
          <a:bodyPr/>
          <a:lstStyle/>
          <a:p>
            <a:fld id="{1B9787D6-74B1-B44D-8654-BCEE28471BCE}" type="slidenum">
              <a:rPr lang="en-US" smtClean="0"/>
              <a:t>15</a:t>
            </a:fld>
            <a:endParaRPr lang="en-US"/>
          </a:p>
        </p:txBody>
      </p:sp>
    </p:spTree>
    <p:extLst>
      <p:ext uri="{BB962C8B-B14F-4D97-AF65-F5344CB8AC3E}">
        <p14:creationId xmlns:p14="http://schemas.microsoft.com/office/powerpoint/2010/main" val="2194087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1507" name="Rectangle 7"/>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0EA22E5-696B-467F-8BB9-6A846E4124E9}" type="slidenum">
              <a:rPr lang="zh-CN" altLang="en-US" smtClean="0"/>
              <a:pPr>
                <a:spcBef>
                  <a:spcPct val="0"/>
                </a:spcBef>
              </a:pPr>
              <a:t>17</a:t>
            </a:fld>
            <a:endParaRPr lang="en-US" altLang="zh-CN"/>
          </a:p>
        </p:txBody>
      </p:sp>
      <p:sp>
        <p:nvSpPr>
          <p:cNvPr id="21508" name="Rectangle 2"/>
          <p:cNvSpPr>
            <a:spLocks noGrp="1" noRot="1" noChangeAspect="1" noChangeArrowheads="1" noTextEdit="1"/>
          </p:cNvSpPr>
          <p:nvPr>
            <p:ph type="sldImg"/>
          </p:nvPr>
        </p:nvSpPr>
        <p:spPr>
          <a:ln/>
        </p:spPr>
      </p:sp>
      <p:sp>
        <p:nvSpPr>
          <p:cNvPr id="21509" name="Rectangle 3"/>
          <p:cNvSpPr>
            <a:spLocks noGrp="1" noChangeArrowheads="1"/>
          </p:cNvSpPr>
          <p:nvPr>
            <p:ph type="body" idx="1"/>
          </p:nvPr>
        </p:nvSpPr>
        <p:spPr>
          <a:xfrm>
            <a:off x="935038" y="4411663"/>
            <a:ext cx="5137150" cy="4179887"/>
          </a:xfrm>
          <a:noFill/>
        </p:spPr>
        <p:txBody>
          <a:bodyPr/>
          <a:lstStyle/>
          <a:p>
            <a:pPr eaLnBrk="1" hangingPunct="1"/>
            <a:r>
              <a:rPr lang="en-US" altLang="en-US" dirty="0"/>
              <a:t>Confidentiality: a good example is cryptography, which traditionally is used to protect secret messages. But cryptography is traditionally used to protect data, not resources. Resources are protected by limiting information, for example by using firewalls or address translation mechanisms.</a:t>
            </a:r>
          </a:p>
          <a:p>
            <a:pPr eaLnBrk="1" hangingPunct="1"/>
            <a:endParaRPr lang="en-US" altLang="en-US" dirty="0"/>
          </a:p>
          <a:p>
            <a:pPr eaLnBrk="1" hangingPunct="1"/>
            <a:r>
              <a:rPr lang="en-US" altLang="en-US" dirty="0"/>
              <a:t>Integrity: a good example here is that of an interrupted database transaction, leaving the database in an inconsistent state (this foreshadows the Clark-Wilson model). Trustworthiness of both data and origin affects integrity, as noted in the book’s example. That integrity is tied to trustworthiness makes it much harder to quantify than confidentiality. Cryptography provides mechanisms for detecting violations of integrity, but not preventing them (e.g., a digital signature can be used to determine if data has changed). </a:t>
            </a:r>
          </a:p>
          <a:p>
            <a:pPr eaLnBrk="1" hangingPunct="1"/>
            <a:endParaRPr lang="en-US" altLang="en-US" dirty="0"/>
          </a:p>
          <a:p>
            <a:pPr eaLnBrk="1" hangingPunct="1"/>
            <a:r>
              <a:rPr lang="en-US" altLang="en-US" dirty="0"/>
              <a:t>Availability: this is usually defined in terms of “quality of service,” in which authorized users are expected to receive a specific level of service (stated in terms of a metric). Denial of service attacks are attempts to block availability.</a:t>
            </a:r>
          </a:p>
        </p:txBody>
      </p:sp>
    </p:spTree>
    <p:extLst>
      <p:ext uri="{BB962C8B-B14F-4D97-AF65-F5344CB8AC3E}">
        <p14:creationId xmlns:p14="http://schemas.microsoft.com/office/powerpoint/2010/main" val="4149396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3555" name="Rectangle 7"/>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EE64691-65AF-4D88-8456-C2AAB1918E1C}" type="slidenum">
              <a:rPr lang="zh-CN" altLang="en-US" smtClean="0"/>
              <a:pPr>
                <a:spcBef>
                  <a:spcPct val="0"/>
                </a:spcBef>
              </a:pPr>
              <a:t>18</a:t>
            </a:fld>
            <a:endParaRPr lang="en-US" altLang="zh-CN"/>
          </a:p>
        </p:txBody>
      </p:sp>
      <p:sp>
        <p:nvSpPr>
          <p:cNvPr id="23556" name="Rectangle 2"/>
          <p:cNvSpPr>
            <a:spLocks noGrp="1" noRot="1" noChangeAspect="1" noChangeArrowheads="1" noTextEdit="1"/>
          </p:cNvSpPr>
          <p:nvPr>
            <p:ph type="sldImg"/>
          </p:nvPr>
        </p:nvSpPr>
        <p:spPr>
          <a:ln/>
        </p:spPr>
      </p:sp>
      <p:sp>
        <p:nvSpPr>
          <p:cNvPr id="23557" name="Rectangle 3"/>
          <p:cNvSpPr>
            <a:spLocks noGrp="1" noChangeArrowheads="1"/>
          </p:cNvSpPr>
          <p:nvPr>
            <p:ph type="body" idx="1"/>
          </p:nvPr>
        </p:nvSpPr>
        <p:spPr>
          <a:xfrm>
            <a:off x="935038" y="4411663"/>
            <a:ext cx="5137150" cy="4179887"/>
          </a:xfrm>
          <a:noFill/>
        </p:spPr>
        <p:txBody>
          <a:bodyPr/>
          <a:lstStyle/>
          <a:p>
            <a:pPr eaLnBrk="1" hangingPunct="1"/>
            <a:endParaRPr lang="en-US" altLang="en-US" dirty="0"/>
          </a:p>
        </p:txBody>
      </p:sp>
    </p:spTree>
    <p:extLst>
      <p:ext uri="{BB962C8B-B14F-4D97-AF65-F5344CB8AC3E}">
        <p14:creationId xmlns:p14="http://schemas.microsoft.com/office/powerpoint/2010/main" val="626154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Grp="1" noChangeArrowheads="1"/>
          </p:cNvSpPr>
          <p:nvPr>
            <p:ph type="ftr" sz="quarter" idx="4"/>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25603" name="Rectangle 7"/>
          <p:cNvSpPr>
            <a:spLocks noGrp="1" noChangeArrowheads="1"/>
          </p:cNvSpPr>
          <p:nvPr>
            <p:ph type="sldNum" sz="quarter" idx="5"/>
          </p:nvPr>
        </p:nvSpPr>
        <p:spPr>
          <a:noFill/>
        </p:spPr>
        <p:txBody>
          <a:bodyPr/>
          <a:lstStyle>
            <a:lvl1pPr defTabSz="930275">
              <a:spcBef>
                <a:spcPct val="30000"/>
              </a:spcBef>
              <a:defRPr sz="1200">
                <a:solidFill>
                  <a:schemeClr val="tx1"/>
                </a:solidFill>
                <a:latin typeface="Times New Roman" panose="02020603050405020304" pitchFamily="18" charset="0"/>
              </a:defRPr>
            </a:lvl1pPr>
            <a:lvl2pPr marL="742950" indent="-285750" defTabSz="930275">
              <a:spcBef>
                <a:spcPct val="30000"/>
              </a:spcBef>
              <a:defRPr sz="1200">
                <a:solidFill>
                  <a:schemeClr val="tx1"/>
                </a:solidFill>
                <a:latin typeface="Times New Roman" panose="02020603050405020304" pitchFamily="18" charset="0"/>
              </a:defRPr>
            </a:lvl2pPr>
            <a:lvl3pPr marL="1143000" indent="-228600" defTabSz="930275">
              <a:spcBef>
                <a:spcPct val="30000"/>
              </a:spcBef>
              <a:defRPr sz="1200">
                <a:solidFill>
                  <a:schemeClr val="tx1"/>
                </a:solidFill>
                <a:latin typeface="Times New Roman" panose="02020603050405020304" pitchFamily="18" charset="0"/>
              </a:defRPr>
            </a:lvl3pPr>
            <a:lvl4pPr marL="1600200" indent="-228600" defTabSz="930275">
              <a:spcBef>
                <a:spcPct val="30000"/>
              </a:spcBef>
              <a:defRPr sz="1200">
                <a:solidFill>
                  <a:schemeClr val="tx1"/>
                </a:solidFill>
                <a:latin typeface="Times New Roman" panose="02020603050405020304" pitchFamily="18" charset="0"/>
              </a:defRPr>
            </a:lvl4pPr>
            <a:lvl5pPr marL="2057400" indent="-228600" defTabSz="930275">
              <a:spcBef>
                <a:spcPct val="30000"/>
              </a:spcBef>
              <a:defRPr sz="1200">
                <a:solidFill>
                  <a:schemeClr val="tx1"/>
                </a:solidFill>
                <a:latin typeface="Times New Roman" panose="02020603050405020304" pitchFamily="18" charset="0"/>
              </a:defRPr>
            </a:lvl5pPr>
            <a:lvl6pPr marL="2514600" indent="-228600" defTabSz="9302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02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02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02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093B6E4-51C9-48D5-B5AF-FE2A4CA64526}" type="slidenum">
              <a:rPr lang="zh-CN" altLang="en-US" smtClean="0"/>
              <a:pPr>
                <a:spcBef>
                  <a:spcPct val="0"/>
                </a:spcBef>
              </a:pPr>
              <a:t>19</a:t>
            </a:fld>
            <a:endParaRPr lang="en-US" altLang="zh-CN"/>
          </a:p>
        </p:txBody>
      </p:sp>
      <p:sp>
        <p:nvSpPr>
          <p:cNvPr id="25604" name="Rectangle 2"/>
          <p:cNvSpPr>
            <a:spLocks noGrp="1" noRot="1" noChangeAspect="1" noChangeArrowheads="1" noTextEdit="1"/>
          </p:cNvSpPr>
          <p:nvPr>
            <p:ph type="sldImg"/>
          </p:nvPr>
        </p:nvSpPr>
        <p:spPr>
          <a:ln/>
        </p:spPr>
      </p:sp>
      <p:sp>
        <p:nvSpPr>
          <p:cNvPr id="25605" name="Rectangle 3"/>
          <p:cNvSpPr>
            <a:spLocks noGrp="1" noChangeArrowheads="1"/>
          </p:cNvSpPr>
          <p:nvPr>
            <p:ph type="body" idx="1"/>
          </p:nvPr>
        </p:nvSpPr>
        <p:spPr>
          <a:xfrm>
            <a:off x="935038" y="4411663"/>
            <a:ext cx="5137150" cy="4179887"/>
          </a:xfrm>
          <a:noFill/>
        </p:spPr>
        <p:txBody>
          <a:bodyPr/>
          <a:lstStyle/>
          <a:p>
            <a:pPr eaLnBrk="1" hangingPunct="1"/>
            <a:endParaRPr lang="en-US" altLang="en-US" dirty="0"/>
          </a:p>
        </p:txBody>
      </p:sp>
    </p:spTree>
    <p:extLst>
      <p:ext uri="{BB962C8B-B14F-4D97-AF65-F5344CB8AC3E}">
        <p14:creationId xmlns:p14="http://schemas.microsoft.com/office/powerpoint/2010/main" val="1179481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Attack surface</a:t>
            </a:r>
            <a:r>
              <a:rPr lang="en-US" sz="1200" b="0" i="0" kern="1200" dirty="0">
                <a:solidFill>
                  <a:schemeClr val="tx1"/>
                </a:solidFill>
                <a:effectLst/>
                <a:latin typeface="+mn-lt"/>
                <a:ea typeface="+mn-ea"/>
                <a:cs typeface="+mn-cs"/>
              </a:rPr>
              <a:t> is total possible means of entry into a company -Decrease </a:t>
            </a:r>
            <a:r>
              <a:rPr lang="en-US" sz="1200" b="1" i="0" kern="1200" dirty="0">
                <a:solidFill>
                  <a:schemeClr val="tx1"/>
                </a:solidFill>
                <a:effectLst/>
                <a:latin typeface="+mn-lt"/>
                <a:ea typeface="+mn-ea"/>
                <a:cs typeface="+mn-cs"/>
              </a:rPr>
              <a:t>attack surface</a:t>
            </a:r>
            <a:r>
              <a:rPr lang="en-US" sz="1200" b="0" i="0" kern="1200" dirty="0">
                <a:solidFill>
                  <a:schemeClr val="tx1"/>
                </a:solidFill>
                <a:effectLst/>
                <a:latin typeface="+mn-lt"/>
                <a:ea typeface="+mn-ea"/>
                <a:cs typeface="+mn-cs"/>
              </a:rPr>
              <a:t> by having less web servers, reduce entry points to untrusted users.</a:t>
            </a:r>
            <a:endParaRPr lang="en-US" dirty="0"/>
          </a:p>
        </p:txBody>
      </p:sp>
      <p:sp>
        <p:nvSpPr>
          <p:cNvPr id="4" name="Slide Number Placeholder 3"/>
          <p:cNvSpPr>
            <a:spLocks noGrp="1"/>
          </p:cNvSpPr>
          <p:nvPr>
            <p:ph type="sldNum" sz="quarter" idx="10"/>
          </p:nvPr>
        </p:nvSpPr>
        <p:spPr/>
        <p:txBody>
          <a:bodyPr/>
          <a:lstStyle/>
          <a:p>
            <a:fld id="{1B9787D6-74B1-B44D-8654-BCEE28471BCE}" type="slidenum">
              <a:rPr lang="en-US" smtClean="0"/>
              <a:t>20</a:t>
            </a:fld>
            <a:endParaRPr lang="en-US"/>
          </a:p>
        </p:txBody>
      </p:sp>
    </p:spTree>
    <p:extLst>
      <p:ext uri="{BB962C8B-B14F-4D97-AF65-F5344CB8AC3E}">
        <p14:creationId xmlns:p14="http://schemas.microsoft.com/office/powerpoint/2010/main" val="4086733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D5CE1B-A44F-4845-8AD8-8422325D3148}" type="slidenum">
              <a:rPr lang="en-US" altLang="en-US"/>
              <a:pPr/>
              <a:t>22</a:t>
            </a:fld>
            <a:endParaRPr lang="en-US" altLang="en-US"/>
          </a:p>
        </p:txBody>
      </p:sp>
      <p:sp>
        <p:nvSpPr>
          <p:cNvPr id="428034" name="Rectangle 2"/>
          <p:cNvSpPr>
            <a:spLocks noGrp="1" noRot="1" noChangeAspect="1" noChangeArrowheads="1" noTextEdit="1"/>
          </p:cNvSpPr>
          <p:nvPr>
            <p:ph type="sldImg"/>
          </p:nvPr>
        </p:nvSpPr>
        <p:spPr>
          <a:ln/>
        </p:spPr>
      </p:sp>
      <p:sp>
        <p:nvSpPr>
          <p:cNvPr id="428035" name="Rectangle 3"/>
          <p:cNvSpPr>
            <a:spLocks noGrp="1" noChangeArrowheads="1"/>
          </p:cNvSpPr>
          <p:nvPr>
            <p:ph type="body" idx="1"/>
          </p:nvPr>
        </p:nvSpPr>
        <p:spPr>
          <a:xfrm>
            <a:off x="685800" y="4343400"/>
            <a:ext cx="5486400" cy="4114800"/>
          </a:xfrm>
        </p:spPr>
        <p:txBody>
          <a:bodyPr/>
          <a:lstStyle/>
          <a:p>
            <a:r>
              <a:rPr lang="en-US" altLang="en-US" dirty="0"/>
              <a:t>Graph represents decision-making process of attacker.</a:t>
            </a:r>
          </a:p>
          <a:p>
            <a:r>
              <a:rPr lang="en-US" altLang="en-US" dirty="0"/>
              <a:t>Root node represents goal; leaves represent methods of achieving goals.</a:t>
            </a:r>
          </a:p>
          <a:p>
            <a:r>
              <a:rPr lang="en-US" altLang="en-US" dirty="0"/>
              <a:t>Leaves become more specific lower in tree.</a:t>
            </a:r>
          </a:p>
          <a:p>
            <a:r>
              <a:rPr lang="en-US" altLang="en-US" dirty="0"/>
              <a:t>Most child nodes represent logical ORs, but some represent ANDs (get encrypted key file AND password used to encrypt it.)</a:t>
            </a:r>
          </a:p>
          <a:p>
            <a:r>
              <a:rPr lang="en-US" altLang="en-US" dirty="0"/>
              <a:t>Assign values to nodes, representing perceived risk, i.e. how feasible is the attack.</a:t>
            </a:r>
          </a:p>
        </p:txBody>
      </p:sp>
    </p:spTree>
    <p:extLst>
      <p:ext uri="{BB962C8B-B14F-4D97-AF65-F5344CB8AC3E}">
        <p14:creationId xmlns:p14="http://schemas.microsoft.com/office/powerpoint/2010/main" val="1235908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UT/U: User Terminal and user</a:t>
            </a:r>
          </a:p>
          <a:p>
            <a:r>
              <a:rPr lang="en-US" dirty="0"/>
              <a:t>CC: Communication Channel</a:t>
            </a:r>
          </a:p>
          <a:p>
            <a:r>
              <a:rPr lang="en-US" dirty="0"/>
              <a:t>IBS: Internal Banking Service</a:t>
            </a:r>
          </a:p>
          <a:p>
            <a:endParaRPr lang="en-US" dirty="0"/>
          </a:p>
        </p:txBody>
      </p:sp>
      <p:sp>
        <p:nvSpPr>
          <p:cNvPr id="4" name="Slide Number Placeholder 3"/>
          <p:cNvSpPr>
            <a:spLocks noGrp="1"/>
          </p:cNvSpPr>
          <p:nvPr>
            <p:ph type="sldNum" sz="quarter" idx="5"/>
          </p:nvPr>
        </p:nvSpPr>
        <p:spPr/>
        <p:txBody>
          <a:bodyPr/>
          <a:lstStyle/>
          <a:p>
            <a:fld id="{1B9787D6-74B1-B44D-8654-BCEE28471BCE}" type="slidenum">
              <a:rPr lang="en-US" smtClean="0"/>
              <a:t>23</a:t>
            </a:fld>
            <a:endParaRPr lang="en-US"/>
          </a:p>
        </p:txBody>
      </p:sp>
    </p:spTree>
    <p:extLst>
      <p:ext uri="{BB962C8B-B14F-4D97-AF65-F5344CB8AC3E}">
        <p14:creationId xmlns:p14="http://schemas.microsoft.com/office/powerpoint/2010/main" val="9448541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ftr" sz="quarter" idx="4"/>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r>
              <a:rPr lang="zh-CN" altLang="en-US"/>
              <a:t>Zili Shao</a:t>
            </a:r>
            <a:endParaRPr lang="en-US" altLang="zh-CN"/>
          </a:p>
        </p:txBody>
      </p:sp>
      <p:sp>
        <p:nvSpPr>
          <p:cNvPr id="7171" name="Rectangle 7"/>
          <p:cNvSpPr>
            <a:spLocks noGrp="1" noChangeArrowheads="1"/>
          </p:cNvSpPr>
          <p:nvPr>
            <p:ph type="sldNum" sz="quarter" idx="5"/>
          </p:nvPr>
        </p:nvSpPr>
        <p:spPr>
          <a:noFill/>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0AEE87-7E19-442E-A959-079CE0B95513}" type="slidenum">
              <a:rPr lang="zh-CN" altLang="en-US" smtClean="0"/>
              <a:pPr>
                <a:spcBef>
                  <a:spcPct val="0"/>
                </a:spcBef>
              </a:pPr>
              <a:t>24</a:t>
            </a:fld>
            <a:endParaRPr lang="en-US" altLang="zh-CN"/>
          </a:p>
        </p:txBody>
      </p:sp>
      <p:sp>
        <p:nvSpPr>
          <p:cNvPr id="7172" name="Rectangle 2"/>
          <p:cNvSpPr>
            <a:spLocks noGrp="1" noRot="1" noChangeAspect="1" noChangeArrowheads="1" noTextEdit="1"/>
          </p:cNvSpPr>
          <p:nvPr>
            <p:ph type="sldImg"/>
          </p:nvPr>
        </p:nvSpPr>
        <p:spPr>
          <a:ln/>
        </p:spPr>
      </p:sp>
      <p:sp>
        <p:nvSpPr>
          <p:cNvPr id="7173" name="Rectangle 3"/>
          <p:cNvSpPr>
            <a:spLocks noGrp="1" noChangeArrowheads="1"/>
          </p:cNvSpPr>
          <p:nvPr>
            <p:ph type="body" idx="1"/>
          </p:nvPr>
        </p:nvSpPr>
        <p:spPr>
          <a:xfrm>
            <a:off x="715963" y="4487863"/>
            <a:ext cx="5730875" cy="4252912"/>
          </a:xfrm>
          <a:noFill/>
        </p:spPr>
        <p:txBody>
          <a:bodyPr/>
          <a:lstStyle/>
          <a:p>
            <a:pPr eaLnBrk="1" hangingPunct="1"/>
            <a:r>
              <a:rPr lang="en-AU" altLang="en-US"/>
              <a:t>Briefly review some terminology used throughout the course. </a:t>
            </a:r>
          </a:p>
        </p:txBody>
      </p:sp>
    </p:spTree>
    <p:extLst>
      <p:ext uri="{BB962C8B-B14F-4D97-AF65-F5344CB8AC3E}">
        <p14:creationId xmlns:p14="http://schemas.microsoft.com/office/powerpoint/2010/main" val="4060287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AE5A904-05D1-2E4C-BE20-0B31593015EC}"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2394086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E5A904-05D1-2E4C-BE20-0B31593015EC}"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2213607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E5A904-05D1-2E4C-BE20-0B31593015EC}"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9881729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E5A904-05D1-2E4C-BE20-0B31593015EC}" type="datetimeFigureOut">
              <a:rPr lang="en-US" smtClean="0"/>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416279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AE5A904-05D1-2E4C-BE20-0B31593015EC}" type="datetimeFigureOut">
              <a:rPr lang="en-US" smtClean="0"/>
              <a:t>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51674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AE5A904-05D1-2E4C-BE20-0B31593015EC}" type="datetimeFigureOut">
              <a:rPr lang="en-US" smtClean="0"/>
              <a:t>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1583970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E5A904-05D1-2E4C-BE20-0B31593015EC}" type="datetimeFigureOut">
              <a:rPr lang="en-US" smtClean="0"/>
              <a:t>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4022785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E5A904-05D1-2E4C-BE20-0B31593015EC}" type="datetimeFigureOut">
              <a:rPr lang="en-US" smtClean="0"/>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117490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E5A904-05D1-2E4C-BE20-0B31593015EC}" type="datetimeFigureOut">
              <a:rPr lang="en-US" smtClean="0"/>
              <a:t>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3693495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E5A904-05D1-2E4C-BE20-0B31593015EC}"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740936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E5A904-05D1-2E4C-BE20-0B31593015EC}" type="datetimeFigureOut">
              <a:rPr lang="en-US" smtClean="0"/>
              <a:t>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D28EB6-31A1-AB4C-A835-6662C14E3F46}" type="slidenum">
              <a:rPr lang="en-US" smtClean="0"/>
              <a:t>‹#›</a:t>
            </a:fld>
            <a:endParaRPr lang="en-US"/>
          </a:p>
        </p:txBody>
      </p:sp>
    </p:spTree>
    <p:extLst>
      <p:ext uri="{BB962C8B-B14F-4D97-AF65-F5344CB8AC3E}">
        <p14:creationId xmlns:p14="http://schemas.microsoft.com/office/powerpoint/2010/main" val="1037437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990600"/>
          </a:xfrm>
        </p:spPr>
        <p:txBody>
          <a:bodyPr/>
          <a:lstStyle/>
          <a:p>
            <a:r>
              <a:rPr lang="en-US"/>
              <a:t>Click to edit Master title style</a:t>
            </a:r>
          </a:p>
        </p:txBody>
      </p:sp>
      <p:sp>
        <p:nvSpPr>
          <p:cNvPr id="3" name="SmartArt Placeholder 2"/>
          <p:cNvSpPr>
            <a:spLocks noGrp="1"/>
          </p:cNvSpPr>
          <p:nvPr>
            <p:ph type="dgm" idx="1"/>
          </p:nvPr>
        </p:nvSpPr>
        <p:spPr>
          <a:xfrm>
            <a:off x="685800" y="1295400"/>
            <a:ext cx="7772400" cy="4800600"/>
          </a:xfrm>
        </p:spPr>
        <p:txBody>
          <a:bodyPr/>
          <a:lstStyle/>
          <a:p>
            <a:endParaRPr lang="en-US"/>
          </a:p>
        </p:txBody>
      </p:sp>
      <p:sp>
        <p:nvSpPr>
          <p:cNvPr id="4" name="Footer Placeholder 3"/>
          <p:cNvSpPr>
            <a:spLocks noGrp="1"/>
          </p:cNvSpPr>
          <p:nvPr>
            <p:ph type="ftr" sz="quarter" idx="10"/>
          </p:nvPr>
        </p:nvSpPr>
        <p:spPr>
          <a:xfrm>
            <a:off x="685800" y="6248400"/>
            <a:ext cx="5334000" cy="457200"/>
          </a:xfrm>
        </p:spPr>
        <p:txBody>
          <a:bodyPr/>
          <a:lstStyle>
            <a:lvl1pPr>
              <a:defRPr/>
            </a:lvl1pPr>
          </a:lstStyle>
          <a:p>
            <a:r>
              <a:rPr lang="en-US" altLang="en-US"/>
              <a:t>CSC 382: Computer Security</a:t>
            </a:r>
          </a:p>
        </p:txBody>
      </p:sp>
      <p:sp>
        <p:nvSpPr>
          <p:cNvPr id="5" name="Slide Number Placeholder 4"/>
          <p:cNvSpPr>
            <a:spLocks noGrp="1"/>
          </p:cNvSpPr>
          <p:nvPr>
            <p:ph type="sldNum" sz="quarter" idx="11"/>
          </p:nvPr>
        </p:nvSpPr>
        <p:spPr>
          <a:xfrm>
            <a:off x="6553200" y="6248400"/>
            <a:ext cx="1905000" cy="457200"/>
          </a:xfrm>
        </p:spPr>
        <p:txBody>
          <a:bodyPr/>
          <a:lstStyle>
            <a:lvl1pPr>
              <a:defRPr/>
            </a:lvl1pPr>
          </a:lstStyle>
          <a:p>
            <a:r>
              <a:rPr lang="en-US" altLang="en-US"/>
              <a:t>Slide #</a:t>
            </a:r>
            <a:fld id="{83FC73CA-36CF-42EF-8D4A-5B8EF19E102D}" type="slidenum">
              <a:rPr lang="en-US" altLang="en-US"/>
              <a:pPr/>
              <a:t>‹#›</a:t>
            </a:fld>
            <a:endParaRPr lang="en-US" altLang="en-US"/>
          </a:p>
        </p:txBody>
      </p:sp>
    </p:spTree>
    <p:extLst>
      <p:ext uri="{BB962C8B-B14F-4D97-AF65-F5344CB8AC3E}">
        <p14:creationId xmlns:p14="http://schemas.microsoft.com/office/powerpoint/2010/main" val="3444198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E5A904-05D1-2E4C-BE20-0B31593015EC}" type="datetimeFigureOut">
              <a:rPr lang="en-US" smtClean="0"/>
              <a:t>1/12/2024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D28EB6-31A1-AB4C-A835-6662C14E3F46}" type="slidenum">
              <a:rPr lang="en-US" smtClean="0"/>
              <a:t>‹#›</a:t>
            </a:fld>
            <a:endParaRPr lang="en-US"/>
          </a:p>
        </p:txBody>
      </p:sp>
    </p:spTree>
    <p:extLst>
      <p:ext uri="{BB962C8B-B14F-4D97-AF65-F5344CB8AC3E}">
        <p14:creationId xmlns:p14="http://schemas.microsoft.com/office/powerpoint/2010/main" val="2537245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8" Type="http://schemas.microsoft.com/office/2007/relationships/hdphoto" Target="../media/hdphoto4.wdp"/><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1157" y="996106"/>
            <a:ext cx="7772400" cy="1470025"/>
          </a:xfrm>
        </p:spPr>
        <p:txBody>
          <a:bodyPr/>
          <a:lstStyle/>
          <a:p>
            <a:r>
              <a:rPr lang="en-US" dirty="0"/>
              <a:t>Fundamental Concepts of Security</a:t>
            </a:r>
          </a:p>
        </p:txBody>
      </p:sp>
      <p:sp>
        <p:nvSpPr>
          <p:cNvPr id="3" name="Subtitle 2"/>
          <p:cNvSpPr>
            <a:spLocks noGrp="1"/>
          </p:cNvSpPr>
          <p:nvPr>
            <p:ph type="subTitle" idx="1"/>
          </p:nvPr>
        </p:nvSpPr>
        <p:spPr/>
        <p:txBody>
          <a:bodyPr/>
          <a:lstStyle/>
          <a:p>
            <a:pPr algn="l" eaLnBrk="1" hangingPunct="1">
              <a:lnSpc>
                <a:spcPct val="100000"/>
              </a:lnSpc>
              <a:spcBef>
                <a:spcPct val="50000"/>
              </a:spcBef>
            </a:pPr>
            <a:r>
              <a:rPr lang="en-US" altLang="en-US" dirty="0">
                <a:solidFill>
                  <a:srgbClr val="00B0F0"/>
                </a:solidFill>
              </a:rPr>
              <a:t>This lecture slide is mainly based on the power point slides by Professor Lawrie Brown, Dr. </a:t>
            </a:r>
            <a:r>
              <a:rPr lang="en-US" altLang="en-US" dirty="0" err="1">
                <a:solidFill>
                  <a:srgbClr val="00B0F0"/>
                </a:solidFill>
              </a:rPr>
              <a:t>Junjie</a:t>
            </a:r>
            <a:r>
              <a:rPr lang="en-US" altLang="en-US" dirty="0">
                <a:solidFill>
                  <a:srgbClr val="00B0F0"/>
                </a:solidFill>
              </a:rPr>
              <a:t> Zhang.</a:t>
            </a:r>
          </a:p>
        </p:txBody>
      </p:sp>
    </p:spTree>
    <p:extLst>
      <p:ext uri="{BB962C8B-B14F-4D97-AF65-F5344CB8AC3E}">
        <p14:creationId xmlns:p14="http://schemas.microsoft.com/office/powerpoint/2010/main" val="373365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Objectives</a:t>
            </a:r>
          </a:p>
        </p:txBody>
      </p:sp>
      <p:grpSp>
        <p:nvGrpSpPr>
          <p:cNvPr id="3" name="Group 2"/>
          <p:cNvGrpSpPr/>
          <p:nvPr/>
        </p:nvGrpSpPr>
        <p:grpSpPr>
          <a:xfrm>
            <a:off x="3324266" y="3466405"/>
            <a:ext cx="2592705" cy="2775496"/>
            <a:chOff x="3324266" y="2493947"/>
            <a:chExt cx="2592705" cy="2775496"/>
          </a:xfrm>
        </p:grpSpPr>
        <p:sp>
          <p:nvSpPr>
            <p:cNvPr id="5" name="Isosceles Triangle 4"/>
            <p:cNvSpPr/>
            <p:nvPr/>
          </p:nvSpPr>
          <p:spPr>
            <a:xfrm>
              <a:off x="3400323" y="2720257"/>
              <a:ext cx="2400710" cy="1884517"/>
            </a:xfrm>
            <a:prstGeom prst="triangle">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Digital Assets</a:t>
              </a:r>
            </a:p>
          </p:txBody>
        </p:sp>
        <p:sp>
          <p:nvSpPr>
            <p:cNvPr id="6" name="Rectangle 5"/>
            <p:cNvSpPr/>
            <p:nvPr/>
          </p:nvSpPr>
          <p:spPr>
            <a:xfrm rot="18171636">
              <a:off x="2802950" y="3541668"/>
              <a:ext cx="2231253" cy="139469"/>
            </a:xfrm>
            <a:prstGeom prst="rect">
              <a:avLst/>
            </a:prstGeom>
            <a:solidFill>
              <a:schemeClr val="bg1">
                <a:lumMod val="65000"/>
              </a:schemeClr>
            </a:solidFill>
            <a:ln>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p:cNvSpPr/>
            <p:nvPr/>
          </p:nvSpPr>
          <p:spPr>
            <a:xfrm rot="3492452">
              <a:off x="4146671" y="3539839"/>
              <a:ext cx="2231253" cy="139469"/>
            </a:xfrm>
            <a:prstGeom prst="rect">
              <a:avLst/>
            </a:prstGeom>
            <a:solidFill>
              <a:schemeClr val="bg1">
                <a:lumMod val="65000"/>
              </a:schemeClr>
            </a:solidFill>
            <a:ln>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3361254" y="4604774"/>
              <a:ext cx="2442469" cy="139469"/>
            </a:xfrm>
            <a:prstGeom prst="rect">
              <a:avLst/>
            </a:prstGeom>
            <a:solidFill>
              <a:schemeClr val="bg1">
                <a:lumMod val="65000"/>
              </a:schemeClr>
            </a:solidFill>
            <a:ln>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rot="18304838">
              <a:off x="2646516" y="3184871"/>
              <a:ext cx="1755609" cy="400110"/>
            </a:xfrm>
            <a:prstGeom prst="rect">
              <a:avLst/>
            </a:prstGeom>
            <a:noFill/>
          </p:spPr>
          <p:txBody>
            <a:bodyPr wrap="none" rtlCol="0">
              <a:spAutoFit/>
            </a:bodyPr>
            <a:lstStyle/>
            <a:p>
              <a:r>
                <a:rPr lang="en-US" sz="2000" b="1" dirty="0"/>
                <a:t>Confidentiality</a:t>
              </a:r>
            </a:p>
          </p:txBody>
        </p:sp>
        <p:sp>
          <p:nvSpPr>
            <p:cNvPr id="10" name="TextBox 9"/>
            <p:cNvSpPr txBox="1"/>
            <p:nvPr/>
          </p:nvSpPr>
          <p:spPr>
            <a:xfrm rot="3462918">
              <a:off x="5169330" y="3273494"/>
              <a:ext cx="1095172" cy="400110"/>
            </a:xfrm>
            <a:prstGeom prst="rect">
              <a:avLst/>
            </a:prstGeom>
            <a:noFill/>
          </p:spPr>
          <p:txBody>
            <a:bodyPr wrap="none" rtlCol="0">
              <a:spAutoFit/>
            </a:bodyPr>
            <a:lstStyle/>
            <a:p>
              <a:r>
                <a:rPr lang="en-US" sz="2000" b="1" dirty="0"/>
                <a:t>Integrity</a:t>
              </a:r>
            </a:p>
          </p:txBody>
        </p:sp>
        <p:sp>
          <p:nvSpPr>
            <p:cNvPr id="11" name="TextBox 10"/>
            <p:cNvSpPr txBox="1"/>
            <p:nvPr/>
          </p:nvSpPr>
          <p:spPr>
            <a:xfrm>
              <a:off x="3920026" y="4869333"/>
              <a:ext cx="1390475" cy="400110"/>
            </a:xfrm>
            <a:prstGeom prst="rect">
              <a:avLst/>
            </a:prstGeom>
            <a:noFill/>
          </p:spPr>
          <p:txBody>
            <a:bodyPr wrap="none" rtlCol="0">
              <a:spAutoFit/>
            </a:bodyPr>
            <a:lstStyle/>
            <a:p>
              <a:r>
                <a:rPr lang="en-US" sz="2000" b="1" dirty="0"/>
                <a:t>Availability</a:t>
              </a:r>
            </a:p>
          </p:txBody>
        </p:sp>
        <p:pic>
          <p:nvPicPr>
            <p:cNvPr id="13" name="Picture 12" descr="Treasur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4330" y="3293807"/>
              <a:ext cx="879930" cy="571444"/>
            </a:xfrm>
            <a:prstGeom prst="rect">
              <a:avLst/>
            </a:prstGeom>
          </p:spPr>
        </p:pic>
      </p:grpSp>
      <p:sp>
        <p:nvSpPr>
          <p:cNvPr id="4" name="Rectangle 3"/>
          <p:cNvSpPr/>
          <p:nvPr/>
        </p:nvSpPr>
        <p:spPr>
          <a:xfrm>
            <a:off x="831804" y="1335122"/>
            <a:ext cx="2543645" cy="1323439"/>
          </a:xfrm>
          <a:prstGeom prst="rect">
            <a:avLst/>
          </a:prstGeom>
        </p:spPr>
        <p:txBody>
          <a:bodyPr wrap="none">
            <a:spAutoFit/>
          </a:bodyPr>
          <a:lstStyle/>
          <a:p>
            <a:r>
              <a:rPr lang="en-US" sz="2000" dirty="0"/>
              <a:t>Security Requirements</a:t>
            </a:r>
          </a:p>
          <a:p>
            <a:r>
              <a:rPr lang="en-US" sz="2000" dirty="0"/>
              <a:t>Security Objectives</a:t>
            </a:r>
          </a:p>
          <a:p>
            <a:r>
              <a:rPr lang="en-US" sz="2000" dirty="0"/>
              <a:t>Security Features</a:t>
            </a:r>
          </a:p>
          <a:p>
            <a:r>
              <a:rPr lang="en-US" sz="2000" dirty="0"/>
              <a:t>Security Services</a:t>
            </a:r>
          </a:p>
        </p:txBody>
      </p:sp>
    </p:spTree>
    <p:extLst>
      <p:ext uri="{BB962C8B-B14F-4D97-AF65-F5344CB8AC3E}">
        <p14:creationId xmlns:p14="http://schemas.microsoft.com/office/powerpoint/2010/main" val="156844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Confidentiality</a:t>
            </a:r>
          </a:p>
        </p:txBody>
      </p:sp>
      <p:sp>
        <p:nvSpPr>
          <p:cNvPr id="3" name="Content Placeholder 2"/>
          <p:cNvSpPr>
            <a:spLocks noGrp="1"/>
          </p:cNvSpPr>
          <p:nvPr>
            <p:ph idx="1"/>
          </p:nvPr>
        </p:nvSpPr>
        <p:spPr>
          <a:xfrm>
            <a:off x="457200" y="1600200"/>
            <a:ext cx="8229600" cy="1750961"/>
          </a:xfrm>
        </p:spPr>
        <p:txBody>
          <a:bodyPr/>
          <a:lstStyle/>
          <a:p>
            <a:r>
              <a:rPr lang="en-US" dirty="0"/>
              <a:t>Assets are accessed only by authorized parties.</a:t>
            </a:r>
          </a:p>
          <a:p>
            <a:pPr lvl="1"/>
            <a:r>
              <a:rPr lang="en-US" dirty="0"/>
              <a:t>Often referred to as privacy or secrecy</a:t>
            </a:r>
          </a:p>
        </p:txBody>
      </p:sp>
      <p:pic>
        <p:nvPicPr>
          <p:cNvPr id="4" name="Picture 3" descr="msn_onlin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684" y="3817001"/>
            <a:ext cx="1170490" cy="1170490"/>
          </a:xfrm>
          <a:prstGeom prst="rect">
            <a:avLst/>
          </a:prstGeom>
        </p:spPr>
      </p:pic>
      <p:pic>
        <p:nvPicPr>
          <p:cNvPr id="5" name="Picture 4" descr="msn_mobil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0496" y="3817001"/>
            <a:ext cx="1170490" cy="1170490"/>
          </a:xfrm>
          <a:prstGeom prst="rect">
            <a:avLst/>
          </a:prstGeom>
        </p:spPr>
      </p:pic>
      <p:pic>
        <p:nvPicPr>
          <p:cNvPr id="6" name="Picture 5" descr="evil.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07511" y="5291761"/>
            <a:ext cx="1070795" cy="1070795"/>
          </a:xfrm>
          <a:prstGeom prst="rect">
            <a:avLst/>
          </a:prstGeom>
        </p:spPr>
      </p:pic>
      <p:cxnSp>
        <p:nvCxnSpPr>
          <p:cNvPr id="7" name="Straight Arrow Connector 6"/>
          <p:cNvCxnSpPr>
            <a:stCxn id="4" idx="3"/>
            <a:endCxn id="5" idx="1"/>
          </p:cNvCxnSpPr>
          <p:nvPr/>
        </p:nvCxnSpPr>
        <p:spPr>
          <a:xfrm>
            <a:off x="3365174" y="4402246"/>
            <a:ext cx="18953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Down Arrow 7"/>
          <p:cNvSpPr/>
          <p:nvPr/>
        </p:nvSpPr>
        <p:spPr>
          <a:xfrm>
            <a:off x="4179762" y="4683221"/>
            <a:ext cx="283583" cy="608540"/>
          </a:xfrm>
          <a:prstGeom prst="down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2426695" y="3341040"/>
            <a:ext cx="636638" cy="369332"/>
          </a:xfrm>
          <a:prstGeom prst="rect">
            <a:avLst/>
          </a:prstGeom>
          <a:noFill/>
        </p:spPr>
        <p:txBody>
          <a:bodyPr wrap="none" rtlCol="0">
            <a:spAutoFit/>
          </a:bodyPr>
          <a:lstStyle/>
          <a:p>
            <a:r>
              <a:rPr lang="en-US" dirty="0"/>
              <a:t>Alice</a:t>
            </a:r>
          </a:p>
        </p:txBody>
      </p:sp>
      <p:sp>
        <p:nvSpPr>
          <p:cNvPr id="10" name="TextBox 9"/>
          <p:cNvSpPr txBox="1"/>
          <p:nvPr/>
        </p:nvSpPr>
        <p:spPr>
          <a:xfrm>
            <a:off x="5575209" y="3365698"/>
            <a:ext cx="553231" cy="369332"/>
          </a:xfrm>
          <a:prstGeom prst="rect">
            <a:avLst/>
          </a:prstGeom>
          <a:noFill/>
        </p:spPr>
        <p:txBody>
          <a:bodyPr wrap="none" rtlCol="0">
            <a:spAutoFit/>
          </a:bodyPr>
          <a:lstStyle/>
          <a:p>
            <a:r>
              <a:rPr lang="en-US" dirty="0"/>
              <a:t>Bob</a:t>
            </a:r>
          </a:p>
        </p:txBody>
      </p:sp>
      <p:sp>
        <p:nvSpPr>
          <p:cNvPr id="11" name="TextBox 10"/>
          <p:cNvSpPr txBox="1"/>
          <p:nvPr/>
        </p:nvSpPr>
        <p:spPr>
          <a:xfrm>
            <a:off x="4878306" y="5630800"/>
            <a:ext cx="516488" cy="369332"/>
          </a:xfrm>
          <a:prstGeom prst="rect">
            <a:avLst/>
          </a:prstGeom>
          <a:noFill/>
        </p:spPr>
        <p:txBody>
          <a:bodyPr wrap="none" rtlCol="0">
            <a:spAutoFit/>
          </a:bodyPr>
          <a:lstStyle/>
          <a:p>
            <a:r>
              <a:rPr lang="en-US" dirty="0"/>
              <a:t>Eve</a:t>
            </a:r>
          </a:p>
        </p:txBody>
      </p:sp>
      <p:sp>
        <p:nvSpPr>
          <p:cNvPr id="12" name="TextBox 11"/>
          <p:cNvSpPr txBox="1"/>
          <p:nvPr/>
        </p:nvSpPr>
        <p:spPr>
          <a:xfrm>
            <a:off x="4351559" y="4694610"/>
            <a:ext cx="1053494" cy="338554"/>
          </a:xfrm>
          <a:prstGeom prst="rect">
            <a:avLst/>
          </a:prstGeom>
          <a:noFill/>
        </p:spPr>
        <p:txBody>
          <a:bodyPr wrap="none" rtlCol="0">
            <a:spAutoFit/>
          </a:bodyPr>
          <a:lstStyle/>
          <a:p>
            <a:r>
              <a:rPr lang="en-US" sz="1600" dirty="0">
                <a:solidFill>
                  <a:srgbClr val="FF0000"/>
                </a:solidFill>
              </a:rPr>
              <a:t>Eavesdrop</a:t>
            </a:r>
          </a:p>
        </p:txBody>
      </p:sp>
      <p:sp>
        <p:nvSpPr>
          <p:cNvPr id="13" name="Rectangle 12"/>
          <p:cNvSpPr/>
          <p:nvPr/>
        </p:nvSpPr>
        <p:spPr>
          <a:xfrm>
            <a:off x="4042395" y="4113162"/>
            <a:ext cx="618328" cy="22122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data</a:t>
            </a:r>
          </a:p>
        </p:txBody>
      </p:sp>
    </p:spTree>
    <p:extLst>
      <p:ext uri="{BB962C8B-B14F-4D97-AF65-F5344CB8AC3E}">
        <p14:creationId xmlns:p14="http://schemas.microsoft.com/office/powerpoint/2010/main" val="944950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Integrity</a:t>
            </a:r>
          </a:p>
        </p:txBody>
      </p:sp>
      <p:sp>
        <p:nvSpPr>
          <p:cNvPr id="3" name="Content Placeholder 2"/>
          <p:cNvSpPr>
            <a:spLocks noGrp="1"/>
          </p:cNvSpPr>
          <p:nvPr>
            <p:ph idx="1"/>
          </p:nvPr>
        </p:nvSpPr>
        <p:spPr>
          <a:xfrm>
            <a:off x="457200" y="1600201"/>
            <a:ext cx="8229600" cy="1152832"/>
          </a:xfrm>
        </p:spPr>
        <p:txBody>
          <a:bodyPr/>
          <a:lstStyle/>
          <a:p>
            <a:r>
              <a:rPr lang="en-US" dirty="0"/>
              <a:t>Assets can be modified only by authorized parties.</a:t>
            </a:r>
          </a:p>
        </p:txBody>
      </p:sp>
      <p:pic>
        <p:nvPicPr>
          <p:cNvPr id="4" name="Picture 3" descr="msn_onlin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684" y="3545879"/>
            <a:ext cx="1170490" cy="1170490"/>
          </a:xfrm>
          <a:prstGeom prst="rect">
            <a:avLst/>
          </a:prstGeom>
        </p:spPr>
      </p:pic>
      <p:pic>
        <p:nvPicPr>
          <p:cNvPr id="5" name="Picture 4" descr="msn_mobil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0496" y="3545879"/>
            <a:ext cx="1170490" cy="1170490"/>
          </a:xfrm>
          <a:prstGeom prst="rect">
            <a:avLst/>
          </a:prstGeom>
        </p:spPr>
      </p:pic>
      <p:pic>
        <p:nvPicPr>
          <p:cNvPr id="6" name="Picture 5" descr="evil.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5182" y="4973035"/>
            <a:ext cx="1070795" cy="1070795"/>
          </a:xfrm>
          <a:prstGeom prst="rect">
            <a:avLst/>
          </a:prstGeom>
        </p:spPr>
      </p:pic>
      <p:cxnSp>
        <p:nvCxnSpPr>
          <p:cNvPr id="7" name="Straight Arrow Connector 6"/>
          <p:cNvCxnSpPr>
            <a:stCxn id="4" idx="3"/>
            <a:endCxn id="5" idx="1"/>
          </p:cNvCxnSpPr>
          <p:nvPr/>
        </p:nvCxnSpPr>
        <p:spPr>
          <a:xfrm>
            <a:off x="3365174" y="4131124"/>
            <a:ext cx="18953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Down Arrow 7"/>
          <p:cNvSpPr/>
          <p:nvPr/>
        </p:nvSpPr>
        <p:spPr>
          <a:xfrm flipV="1">
            <a:off x="4179762" y="4270813"/>
            <a:ext cx="283583" cy="702221"/>
          </a:xfrm>
          <a:prstGeom prst="down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2426695" y="3069918"/>
            <a:ext cx="636638" cy="369332"/>
          </a:xfrm>
          <a:prstGeom prst="rect">
            <a:avLst/>
          </a:prstGeom>
          <a:noFill/>
        </p:spPr>
        <p:txBody>
          <a:bodyPr wrap="none" rtlCol="0">
            <a:spAutoFit/>
          </a:bodyPr>
          <a:lstStyle/>
          <a:p>
            <a:r>
              <a:rPr lang="en-US" dirty="0"/>
              <a:t>Alice</a:t>
            </a:r>
          </a:p>
        </p:txBody>
      </p:sp>
      <p:sp>
        <p:nvSpPr>
          <p:cNvPr id="10" name="TextBox 9"/>
          <p:cNvSpPr txBox="1"/>
          <p:nvPr/>
        </p:nvSpPr>
        <p:spPr>
          <a:xfrm>
            <a:off x="5575209" y="3094576"/>
            <a:ext cx="553231" cy="369332"/>
          </a:xfrm>
          <a:prstGeom prst="rect">
            <a:avLst/>
          </a:prstGeom>
          <a:noFill/>
        </p:spPr>
        <p:txBody>
          <a:bodyPr wrap="none" rtlCol="0">
            <a:spAutoFit/>
          </a:bodyPr>
          <a:lstStyle/>
          <a:p>
            <a:r>
              <a:rPr lang="en-US" dirty="0"/>
              <a:t>Bob</a:t>
            </a:r>
          </a:p>
        </p:txBody>
      </p:sp>
      <p:sp>
        <p:nvSpPr>
          <p:cNvPr id="11" name="TextBox 10"/>
          <p:cNvSpPr txBox="1"/>
          <p:nvPr/>
        </p:nvSpPr>
        <p:spPr>
          <a:xfrm>
            <a:off x="4858086" y="5342367"/>
            <a:ext cx="516488" cy="369332"/>
          </a:xfrm>
          <a:prstGeom prst="rect">
            <a:avLst/>
          </a:prstGeom>
          <a:noFill/>
        </p:spPr>
        <p:txBody>
          <a:bodyPr wrap="none" rtlCol="0">
            <a:spAutoFit/>
          </a:bodyPr>
          <a:lstStyle/>
          <a:p>
            <a:r>
              <a:rPr lang="en-US" dirty="0"/>
              <a:t>Eve</a:t>
            </a:r>
          </a:p>
        </p:txBody>
      </p:sp>
      <p:sp>
        <p:nvSpPr>
          <p:cNvPr id="12" name="TextBox 11"/>
          <p:cNvSpPr txBox="1"/>
          <p:nvPr/>
        </p:nvSpPr>
        <p:spPr>
          <a:xfrm>
            <a:off x="4393819" y="4531703"/>
            <a:ext cx="1377488" cy="369332"/>
          </a:xfrm>
          <a:prstGeom prst="rect">
            <a:avLst/>
          </a:prstGeom>
          <a:noFill/>
        </p:spPr>
        <p:txBody>
          <a:bodyPr wrap="none" rtlCol="0">
            <a:spAutoFit/>
          </a:bodyPr>
          <a:lstStyle/>
          <a:p>
            <a:r>
              <a:rPr lang="en-US" dirty="0">
                <a:solidFill>
                  <a:srgbClr val="FF0000"/>
                </a:solidFill>
              </a:rPr>
              <a:t>Tamper with</a:t>
            </a:r>
          </a:p>
        </p:txBody>
      </p:sp>
      <p:sp>
        <p:nvSpPr>
          <p:cNvPr id="13" name="Rectangle 12"/>
          <p:cNvSpPr/>
          <p:nvPr/>
        </p:nvSpPr>
        <p:spPr>
          <a:xfrm>
            <a:off x="3431456" y="3792774"/>
            <a:ext cx="727451" cy="20959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$100</a:t>
            </a:r>
          </a:p>
        </p:txBody>
      </p:sp>
      <p:sp>
        <p:nvSpPr>
          <p:cNvPr id="14" name="Rectangle 13"/>
          <p:cNvSpPr/>
          <p:nvPr/>
        </p:nvSpPr>
        <p:spPr>
          <a:xfrm>
            <a:off x="4500335" y="3785000"/>
            <a:ext cx="727451" cy="20959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$10</a:t>
            </a:r>
          </a:p>
        </p:txBody>
      </p:sp>
    </p:spTree>
    <p:extLst>
      <p:ext uri="{BB962C8B-B14F-4D97-AF65-F5344CB8AC3E}">
        <p14:creationId xmlns:p14="http://schemas.microsoft.com/office/powerpoint/2010/main" val="2989329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Availability</a:t>
            </a:r>
          </a:p>
        </p:txBody>
      </p:sp>
      <p:sp>
        <p:nvSpPr>
          <p:cNvPr id="3" name="Content Placeholder 2"/>
          <p:cNvSpPr>
            <a:spLocks noGrp="1"/>
          </p:cNvSpPr>
          <p:nvPr>
            <p:ph idx="1"/>
          </p:nvPr>
        </p:nvSpPr>
        <p:spPr>
          <a:xfrm>
            <a:off x="457200" y="1600200"/>
            <a:ext cx="8229600" cy="1038123"/>
          </a:xfrm>
        </p:spPr>
        <p:txBody>
          <a:bodyPr>
            <a:normAutofit lnSpcReduction="10000"/>
          </a:bodyPr>
          <a:lstStyle/>
          <a:p>
            <a:r>
              <a:rPr lang="en-US" dirty="0"/>
              <a:t>Assets are accessible to authorized parties at appropriate times. </a:t>
            </a:r>
          </a:p>
        </p:txBody>
      </p:sp>
      <p:pic>
        <p:nvPicPr>
          <p:cNvPr id="4" name="Picture 3" descr="msn_onlin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684" y="3545879"/>
            <a:ext cx="1170490" cy="1170490"/>
          </a:xfrm>
          <a:prstGeom prst="rect">
            <a:avLst/>
          </a:prstGeom>
        </p:spPr>
      </p:pic>
      <p:pic>
        <p:nvPicPr>
          <p:cNvPr id="5" name="Picture 4" descr="msn_mobile.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0496" y="3545879"/>
            <a:ext cx="1170490" cy="1170490"/>
          </a:xfrm>
          <a:prstGeom prst="rect">
            <a:avLst/>
          </a:prstGeom>
        </p:spPr>
      </p:pic>
      <p:pic>
        <p:nvPicPr>
          <p:cNvPr id="6" name="Picture 5" descr="evil.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5182" y="4671505"/>
            <a:ext cx="1070795" cy="1070795"/>
          </a:xfrm>
          <a:prstGeom prst="rect">
            <a:avLst/>
          </a:prstGeom>
        </p:spPr>
      </p:pic>
      <p:cxnSp>
        <p:nvCxnSpPr>
          <p:cNvPr id="7" name="Straight Arrow Connector 6"/>
          <p:cNvCxnSpPr>
            <a:stCxn id="4" idx="3"/>
            <a:endCxn id="5" idx="1"/>
          </p:cNvCxnSpPr>
          <p:nvPr/>
        </p:nvCxnSpPr>
        <p:spPr>
          <a:xfrm>
            <a:off x="3365174" y="4131124"/>
            <a:ext cx="18953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Down Arrow 7"/>
          <p:cNvSpPr/>
          <p:nvPr/>
        </p:nvSpPr>
        <p:spPr>
          <a:xfrm flipV="1">
            <a:off x="4179762" y="4270814"/>
            <a:ext cx="283583" cy="445555"/>
          </a:xfrm>
          <a:prstGeom prst="down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2426695" y="3069918"/>
            <a:ext cx="636638" cy="369332"/>
          </a:xfrm>
          <a:prstGeom prst="rect">
            <a:avLst/>
          </a:prstGeom>
          <a:noFill/>
        </p:spPr>
        <p:txBody>
          <a:bodyPr wrap="none" rtlCol="0">
            <a:spAutoFit/>
          </a:bodyPr>
          <a:lstStyle/>
          <a:p>
            <a:r>
              <a:rPr lang="en-US" dirty="0"/>
              <a:t>Alice</a:t>
            </a:r>
          </a:p>
        </p:txBody>
      </p:sp>
      <p:sp>
        <p:nvSpPr>
          <p:cNvPr id="10" name="TextBox 9"/>
          <p:cNvSpPr txBox="1"/>
          <p:nvPr/>
        </p:nvSpPr>
        <p:spPr>
          <a:xfrm>
            <a:off x="5575209" y="3094576"/>
            <a:ext cx="553231" cy="369332"/>
          </a:xfrm>
          <a:prstGeom prst="rect">
            <a:avLst/>
          </a:prstGeom>
          <a:noFill/>
        </p:spPr>
        <p:txBody>
          <a:bodyPr wrap="none" rtlCol="0">
            <a:spAutoFit/>
          </a:bodyPr>
          <a:lstStyle/>
          <a:p>
            <a:r>
              <a:rPr lang="en-US" dirty="0"/>
              <a:t>Bob</a:t>
            </a:r>
          </a:p>
        </p:txBody>
      </p:sp>
      <p:sp>
        <p:nvSpPr>
          <p:cNvPr id="11" name="TextBox 10"/>
          <p:cNvSpPr txBox="1"/>
          <p:nvPr/>
        </p:nvSpPr>
        <p:spPr>
          <a:xfrm>
            <a:off x="4865977" y="4973035"/>
            <a:ext cx="516488" cy="369332"/>
          </a:xfrm>
          <a:prstGeom prst="rect">
            <a:avLst/>
          </a:prstGeom>
          <a:noFill/>
        </p:spPr>
        <p:txBody>
          <a:bodyPr wrap="none" rtlCol="0">
            <a:spAutoFit/>
          </a:bodyPr>
          <a:lstStyle/>
          <a:p>
            <a:r>
              <a:rPr lang="en-US" dirty="0"/>
              <a:t>Eve</a:t>
            </a:r>
          </a:p>
        </p:txBody>
      </p:sp>
      <p:sp>
        <p:nvSpPr>
          <p:cNvPr id="12" name="TextBox 11"/>
          <p:cNvSpPr txBox="1"/>
          <p:nvPr/>
        </p:nvSpPr>
        <p:spPr>
          <a:xfrm>
            <a:off x="4521422" y="4322371"/>
            <a:ext cx="553231" cy="369332"/>
          </a:xfrm>
          <a:prstGeom prst="rect">
            <a:avLst/>
          </a:prstGeom>
          <a:noFill/>
        </p:spPr>
        <p:txBody>
          <a:bodyPr wrap="none" rtlCol="0">
            <a:spAutoFit/>
          </a:bodyPr>
          <a:lstStyle/>
          <a:p>
            <a:r>
              <a:rPr lang="en-US" dirty="0">
                <a:solidFill>
                  <a:srgbClr val="FF0000"/>
                </a:solidFill>
              </a:rPr>
              <a:t>Jam</a:t>
            </a:r>
          </a:p>
        </p:txBody>
      </p:sp>
      <p:sp>
        <p:nvSpPr>
          <p:cNvPr id="13" name="Rectangle 12"/>
          <p:cNvSpPr/>
          <p:nvPr/>
        </p:nvSpPr>
        <p:spPr>
          <a:xfrm>
            <a:off x="3230376" y="3785000"/>
            <a:ext cx="727451" cy="20959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$100</a:t>
            </a:r>
          </a:p>
        </p:txBody>
      </p:sp>
      <p:sp>
        <p:nvSpPr>
          <p:cNvPr id="14" name="Lightning Bolt 13"/>
          <p:cNvSpPr/>
          <p:nvPr/>
        </p:nvSpPr>
        <p:spPr>
          <a:xfrm flipH="1">
            <a:off x="4279632" y="3494087"/>
            <a:ext cx="409600" cy="776727"/>
          </a:xfrm>
          <a:prstGeom prst="lightningBol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26562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Terminology</a:t>
            </a:r>
          </a:p>
        </p:txBody>
      </p:sp>
      <p:sp>
        <p:nvSpPr>
          <p:cNvPr id="3" name="Content Placeholder 2"/>
          <p:cNvSpPr>
            <a:spLocks noGrp="1"/>
          </p:cNvSpPr>
          <p:nvPr>
            <p:ph idx="1"/>
          </p:nvPr>
        </p:nvSpPr>
        <p:spPr/>
        <p:txBody>
          <a:bodyPr>
            <a:normAutofit lnSpcReduction="10000"/>
          </a:bodyPr>
          <a:lstStyle/>
          <a:p>
            <a:r>
              <a:rPr lang="en-US" dirty="0"/>
              <a:t>Vulnerability</a:t>
            </a:r>
          </a:p>
          <a:p>
            <a:pPr lvl="1"/>
            <a:r>
              <a:rPr lang="en-US" dirty="0"/>
              <a:t>A weakness in the security system that might be exploited to cause loss or harm.</a:t>
            </a:r>
          </a:p>
          <a:p>
            <a:r>
              <a:rPr lang="en-US" dirty="0"/>
              <a:t>Threat</a:t>
            </a:r>
          </a:p>
          <a:p>
            <a:pPr lvl="1"/>
            <a:r>
              <a:rPr lang="en-US" dirty="0"/>
              <a:t>A set of circumstances that has the potential to cause loss or harm.</a:t>
            </a:r>
          </a:p>
          <a:p>
            <a:r>
              <a:rPr lang="en-US" dirty="0"/>
              <a:t>Attack</a:t>
            </a:r>
          </a:p>
          <a:p>
            <a:pPr lvl="1"/>
            <a:r>
              <a:rPr lang="en-US" dirty="0"/>
              <a:t>The execution of a plan to carry out a threat by exploiting a vulnerability. </a:t>
            </a:r>
          </a:p>
        </p:txBody>
      </p:sp>
    </p:spTree>
    <p:extLst>
      <p:ext uri="{BB962C8B-B14F-4D97-AF65-F5344CB8AC3E}">
        <p14:creationId xmlns:p14="http://schemas.microsoft.com/office/powerpoint/2010/main" val="467161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Vulnerability, Threat, and Attack</a:t>
            </a:r>
          </a:p>
        </p:txBody>
      </p:sp>
      <p:grpSp>
        <p:nvGrpSpPr>
          <p:cNvPr id="4" name="Group 3"/>
          <p:cNvGrpSpPr/>
          <p:nvPr/>
        </p:nvGrpSpPr>
        <p:grpSpPr>
          <a:xfrm>
            <a:off x="1551630" y="2180719"/>
            <a:ext cx="5547394" cy="3465958"/>
            <a:chOff x="1319280" y="2786352"/>
            <a:chExt cx="5547394" cy="3465958"/>
          </a:xfrm>
        </p:grpSpPr>
        <p:sp>
          <p:nvSpPr>
            <p:cNvPr id="5" name="Rectangle 4"/>
            <p:cNvSpPr/>
            <p:nvPr/>
          </p:nvSpPr>
          <p:spPr>
            <a:xfrm>
              <a:off x="4463344" y="2786352"/>
              <a:ext cx="517847" cy="299594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6" name="Lightning Bolt 5"/>
            <p:cNvSpPr/>
            <p:nvPr/>
          </p:nvSpPr>
          <p:spPr>
            <a:xfrm>
              <a:off x="4303060" y="3921372"/>
              <a:ext cx="813758" cy="308225"/>
            </a:xfrm>
            <a:prstGeom prst="lightningBol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Rectangle 6"/>
            <p:cNvSpPr/>
            <p:nvPr/>
          </p:nvSpPr>
          <p:spPr>
            <a:xfrm>
              <a:off x="1319280" y="4097296"/>
              <a:ext cx="3131740" cy="1685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Water</a:t>
              </a:r>
            </a:p>
          </p:txBody>
        </p:sp>
        <p:pic>
          <p:nvPicPr>
            <p:cNvPr id="8" name="Picture 7" descr="man_person_mens_roo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1074" y="4277246"/>
              <a:ext cx="1625600" cy="1625600"/>
            </a:xfrm>
            <a:prstGeom prst="rect">
              <a:avLst/>
            </a:prstGeom>
          </p:spPr>
        </p:pic>
        <p:sp>
          <p:nvSpPr>
            <p:cNvPr id="9" name="TextBox 8"/>
            <p:cNvSpPr txBox="1"/>
            <p:nvPr/>
          </p:nvSpPr>
          <p:spPr>
            <a:xfrm>
              <a:off x="4448627" y="5882978"/>
              <a:ext cx="606544" cy="369332"/>
            </a:xfrm>
            <a:prstGeom prst="rect">
              <a:avLst/>
            </a:prstGeom>
            <a:noFill/>
          </p:spPr>
          <p:txBody>
            <a:bodyPr wrap="none" rtlCol="0">
              <a:spAutoFit/>
            </a:bodyPr>
            <a:lstStyle/>
            <a:p>
              <a:r>
                <a:rPr lang="en-US" dirty="0"/>
                <a:t>Wall</a:t>
              </a:r>
            </a:p>
          </p:txBody>
        </p:sp>
        <p:sp>
          <p:nvSpPr>
            <p:cNvPr id="10" name="TextBox 9"/>
            <p:cNvSpPr txBox="1"/>
            <p:nvPr/>
          </p:nvSpPr>
          <p:spPr>
            <a:xfrm>
              <a:off x="4403135" y="3582818"/>
              <a:ext cx="646331" cy="338554"/>
            </a:xfrm>
            <a:prstGeom prst="rect">
              <a:avLst/>
            </a:prstGeom>
            <a:noFill/>
          </p:spPr>
          <p:txBody>
            <a:bodyPr wrap="none" rtlCol="0">
              <a:spAutoFit/>
            </a:bodyPr>
            <a:lstStyle/>
            <a:p>
              <a:r>
                <a:rPr lang="en-US" sz="1600" dirty="0"/>
                <a:t>Crack</a:t>
              </a:r>
            </a:p>
          </p:txBody>
        </p:sp>
      </p:grpSp>
      <p:sp>
        <p:nvSpPr>
          <p:cNvPr id="16" name="Rounded Rectangular Callout 15"/>
          <p:cNvSpPr/>
          <p:nvPr/>
        </p:nvSpPr>
        <p:spPr>
          <a:xfrm>
            <a:off x="5473424" y="2485728"/>
            <a:ext cx="1302776" cy="316114"/>
          </a:xfrm>
          <a:prstGeom prst="wedgeRoundRectCallout">
            <a:avLst>
              <a:gd name="adj1" fmla="val -76808"/>
              <a:gd name="adj2" fmla="val 225793"/>
              <a:gd name="adj3" fmla="val 16667"/>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rgbClr val="FF0000"/>
                </a:solidFill>
              </a:rPr>
              <a:t>Vulnerability</a:t>
            </a:r>
          </a:p>
        </p:txBody>
      </p:sp>
      <p:grpSp>
        <p:nvGrpSpPr>
          <p:cNvPr id="19" name="Group 18"/>
          <p:cNvGrpSpPr/>
          <p:nvPr/>
        </p:nvGrpSpPr>
        <p:grpSpPr>
          <a:xfrm>
            <a:off x="998882" y="1548387"/>
            <a:ext cx="2143279" cy="1921465"/>
            <a:chOff x="998882" y="1548387"/>
            <a:chExt cx="2143279" cy="1921465"/>
          </a:xfrm>
        </p:grpSpPr>
        <p:grpSp>
          <p:nvGrpSpPr>
            <p:cNvPr id="11" name="Group 10"/>
            <p:cNvGrpSpPr/>
            <p:nvPr/>
          </p:nvGrpSpPr>
          <p:grpSpPr>
            <a:xfrm>
              <a:off x="1650270" y="2112962"/>
              <a:ext cx="1491891" cy="1356890"/>
              <a:chOff x="1551630" y="2945925"/>
              <a:chExt cx="1491891" cy="1356890"/>
            </a:xfrm>
          </p:grpSpPr>
          <p:pic>
            <p:nvPicPr>
              <p:cNvPr id="12" name="Picture 11" descr="6832245-close-up-shot-of-green-garden-hose-with-water-flowing-out-and-space-for-copy.jpg"/>
              <p:cNvPicPr>
                <a:picLocks noChangeAspect="1"/>
              </p:cNvPicPr>
              <p:nvPr/>
            </p:nvPicPr>
            <p:blipFill>
              <a:blip r:embed="rId3">
                <a:extLst>
                  <a:ext uri="{BEBA8EAE-BF5A-486C-A8C5-ECC9F3942E4B}">
                    <a14:imgProps xmlns:a14="http://schemas.microsoft.com/office/drawing/2010/main">
                      <a14:imgLayer r:embed="rId4">
                        <a14:imgEffect>
                          <a14:backgroundRemoval t="4494" b="98502" l="4750" r="98500"/>
                        </a14:imgEffect>
                      </a14:imgLayer>
                    </a14:imgProps>
                  </a:ext>
                  <a:ext uri="{28A0092B-C50C-407E-A947-70E740481C1C}">
                    <a14:useLocalDpi xmlns:a14="http://schemas.microsoft.com/office/drawing/2010/main" val="0"/>
                  </a:ext>
                </a:extLst>
              </a:blip>
              <a:stretch>
                <a:fillRect/>
              </a:stretch>
            </p:blipFill>
            <p:spPr>
              <a:xfrm flipH="1">
                <a:off x="1551630" y="3130591"/>
                <a:ext cx="1491891" cy="1172224"/>
              </a:xfrm>
              <a:prstGeom prst="rect">
                <a:avLst/>
              </a:prstGeom>
            </p:spPr>
          </p:pic>
          <p:sp>
            <p:nvSpPr>
              <p:cNvPr id="13" name="TextBox 12"/>
              <p:cNvSpPr txBox="1"/>
              <p:nvPr/>
            </p:nvSpPr>
            <p:spPr>
              <a:xfrm>
                <a:off x="1689166" y="2945925"/>
                <a:ext cx="777752" cy="369332"/>
              </a:xfrm>
              <a:prstGeom prst="rect">
                <a:avLst/>
              </a:prstGeom>
              <a:noFill/>
            </p:spPr>
            <p:txBody>
              <a:bodyPr wrap="none" rtlCol="0">
                <a:spAutoFit/>
              </a:bodyPr>
              <a:lstStyle/>
              <a:p>
                <a:r>
                  <a:rPr lang="en-US" dirty="0"/>
                  <a:t>Attack</a:t>
                </a:r>
              </a:p>
            </p:txBody>
          </p:sp>
        </p:grpSp>
        <p:sp>
          <p:nvSpPr>
            <p:cNvPr id="17" name="Rounded Rectangular Callout 16"/>
            <p:cNvSpPr/>
            <p:nvPr/>
          </p:nvSpPr>
          <p:spPr>
            <a:xfrm>
              <a:off x="998882" y="1548387"/>
              <a:ext cx="1302776" cy="316114"/>
            </a:xfrm>
            <a:prstGeom prst="wedgeRoundRectCallout">
              <a:avLst>
                <a:gd name="adj1" fmla="val 18160"/>
                <a:gd name="adj2" fmla="val 166178"/>
                <a:gd name="adj3" fmla="val 16667"/>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rgbClr val="FF0000"/>
                  </a:solidFill>
                </a:rPr>
                <a:t>Attack1</a:t>
              </a:r>
            </a:p>
          </p:txBody>
        </p:sp>
      </p:grpSp>
      <p:sp>
        <p:nvSpPr>
          <p:cNvPr id="21" name="Right Arrow 20"/>
          <p:cNvSpPr/>
          <p:nvPr/>
        </p:nvSpPr>
        <p:spPr>
          <a:xfrm>
            <a:off x="4512911" y="3998450"/>
            <a:ext cx="1427988" cy="84393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FF0000"/>
                </a:solidFill>
              </a:rPr>
              <a:t>Threat</a:t>
            </a:r>
          </a:p>
        </p:txBody>
      </p:sp>
      <p:grpSp>
        <p:nvGrpSpPr>
          <p:cNvPr id="23" name="Group 22"/>
          <p:cNvGrpSpPr/>
          <p:nvPr/>
        </p:nvGrpSpPr>
        <p:grpSpPr>
          <a:xfrm>
            <a:off x="4991403" y="2999625"/>
            <a:ext cx="2252272" cy="1041677"/>
            <a:chOff x="4991403" y="2999625"/>
            <a:chExt cx="2252272" cy="1041677"/>
          </a:xfrm>
        </p:grpSpPr>
        <p:pic>
          <p:nvPicPr>
            <p:cNvPr id="14" name="Picture 13" descr="Drill2.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91403" y="3419139"/>
              <a:ext cx="933244" cy="622163"/>
            </a:xfrm>
            <a:prstGeom prst="rect">
              <a:avLst/>
            </a:prstGeom>
          </p:spPr>
        </p:pic>
        <p:sp>
          <p:nvSpPr>
            <p:cNvPr id="22" name="Rounded Rectangular Callout 21"/>
            <p:cNvSpPr/>
            <p:nvPr/>
          </p:nvSpPr>
          <p:spPr>
            <a:xfrm>
              <a:off x="5940899" y="2999625"/>
              <a:ext cx="1302776" cy="316114"/>
            </a:xfrm>
            <a:prstGeom prst="wedgeRoundRectCallout">
              <a:avLst>
                <a:gd name="adj1" fmla="val -58569"/>
                <a:gd name="adj2" fmla="val 116931"/>
                <a:gd name="adj3" fmla="val 16667"/>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rgbClr val="FF0000"/>
                  </a:solidFill>
                </a:rPr>
                <a:t>Attack2</a:t>
              </a:r>
            </a:p>
          </p:txBody>
        </p:sp>
      </p:grpSp>
    </p:spTree>
    <p:extLst>
      <p:ext uri="{BB962C8B-B14F-4D97-AF65-F5344CB8AC3E}">
        <p14:creationId xmlns:p14="http://schemas.microsoft.com/office/powerpoint/2010/main" val="143371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Prevention, Detection, Mitigation</a:t>
            </a:r>
          </a:p>
        </p:txBody>
      </p:sp>
      <p:pic>
        <p:nvPicPr>
          <p:cNvPr id="4" name="Picture 3" descr="flexi-straw_view2.jpgCB8003EC-6757-4B57-82D45931600BCDC7.jpgLarger.jpg"/>
          <p:cNvPicPr>
            <a:picLocks noChangeAspect="1"/>
          </p:cNvPicPr>
          <p:nvPr/>
        </p:nvPicPr>
        <p:blipFill>
          <a:blip r:embed="rId2">
            <a:extLst>
              <a:ext uri="{BEBA8EAE-BF5A-486C-A8C5-ECC9F3942E4B}">
                <a14:imgProps xmlns:a14="http://schemas.microsoft.com/office/drawing/2010/main">
                  <a14:imgLayer r:embed="rId3">
                    <a14:imgEffect>
                      <a14:backgroundRemoval t="10000" b="98167" l="10000" r="97000"/>
                    </a14:imgEffect>
                  </a14:imgLayer>
                </a14:imgProps>
              </a:ext>
              <a:ext uri="{28A0092B-C50C-407E-A947-70E740481C1C}">
                <a14:useLocalDpi xmlns:a14="http://schemas.microsoft.com/office/drawing/2010/main" val="0"/>
              </a:ext>
            </a:extLst>
          </a:blip>
          <a:stretch>
            <a:fillRect/>
          </a:stretch>
        </p:blipFill>
        <p:spPr>
          <a:xfrm>
            <a:off x="851164" y="2224626"/>
            <a:ext cx="1920454" cy="1684447"/>
          </a:xfrm>
          <a:prstGeom prst="rect">
            <a:avLst/>
          </a:prstGeom>
        </p:spPr>
      </p:pic>
      <p:sp>
        <p:nvSpPr>
          <p:cNvPr id="5" name="Rectangle 4"/>
          <p:cNvSpPr/>
          <p:nvPr/>
        </p:nvSpPr>
        <p:spPr>
          <a:xfrm>
            <a:off x="4855984" y="2224626"/>
            <a:ext cx="517847" cy="2995944"/>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6" name="Lightning Bolt 5"/>
          <p:cNvSpPr/>
          <p:nvPr/>
        </p:nvSpPr>
        <p:spPr>
          <a:xfrm>
            <a:off x="4695700" y="2828746"/>
            <a:ext cx="813758" cy="308225"/>
          </a:xfrm>
          <a:prstGeom prst="lightningBol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Rectangle 6"/>
          <p:cNvSpPr/>
          <p:nvPr/>
        </p:nvSpPr>
        <p:spPr>
          <a:xfrm>
            <a:off x="1711920" y="3535570"/>
            <a:ext cx="3131740" cy="1685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Water</a:t>
            </a:r>
          </a:p>
        </p:txBody>
      </p:sp>
      <p:pic>
        <p:nvPicPr>
          <p:cNvPr id="8" name="Picture 7" descr="man_person_mens_room.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33714" y="3715520"/>
            <a:ext cx="1625600" cy="1625600"/>
          </a:xfrm>
          <a:prstGeom prst="rect">
            <a:avLst/>
          </a:prstGeom>
        </p:spPr>
      </p:pic>
      <p:sp>
        <p:nvSpPr>
          <p:cNvPr id="9" name="TextBox 8"/>
          <p:cNvSpPr txBox="1"/>
          <p:nvPr/>
        </p:nvSpPr>
        <p:spPr>
          <a:xfrm>
            <a:off x="4841267" y="5321252"/>
            <a:ext cx="606544" cy="369332"/>
          </a:xfrm>
          <a:prstGeom prst="rect">
            <a:avLst/>
          </a:prstGeom>
          <a:noFill/>
        </p:spPr>
        <p:txBody>
          <a:bodyPr wrap="none" rtlCol="0">
            <a:spAutoFit/>
          </a:bodyPr>
          <a:lstStyle/>
          <a:p>
            <a:r>
              <a:rPr lang="en-US" dirty="0"/>
              <a:t>Wall</a:t>
            </a:r>
          </a:p>
        </p:txBody>
      </p:sp>
      <p:sp>
        <p:nvSpPr>
          <p:cNvPr id="10" name="TextBox 9"/>
          <p:cNvSpPr txBox="1"/>
          <p:nvPr/>
        </p:nvSpPr>
        <p:spPr>
          <a:xfrm>
            <a:off x="5410821" y="2681067"/>
            <a:ext cx="701334" cy="369332"/>
          </a:xfrm>
          <a:prstGeom prst="rect">
            <a:avLst/>
          </a:prstGeom>
          <a:noFill/>
        </p:spPr>
        <p:txBody>
          <a:bodyPr wrap="none" rtlCol="0">
            <a:spAutoFit/>
          </a:bodyPr>
          <a:lstStyle/>
          <a:p>
            <a:r>
              <a:rPr lang="en-US" dirty="0"/>
              <a:t>Crack</a:t>
            </a:r>
          </a:p>
        </p:txBody>
      </p:sp>
      <p:pic>
        <p:nvPicPr>
          <p:cNvPr id="11" name="Picture 10" descr="bandaid.jpg"/>
          <p:cNvPicPr>
            <a:picLocks noChangeAspect="1"/>
          </p:cNvPicPr>
          <p:nvPr/>
        </p:nvPicPr>
        <p:blipFill>
          <a:blip r:embed="rId5">
            <a:extLst>
              <a:ext uri="{BEBA8EAE-BF5A-486C-A8C5-ECC9F3942E4B}">
                <a14:imgProps xmlns:a14="http://schemas.microsoft.com/office/drawing/2010/main">
                  <a14:imgLayer r:embed="rId6">
                    <a14:imgEffect>
                      <a14:backgroundRemoval t="4913" b="100000" l="2882" r="100000"/>
                    </a14:imgEffect>
                  </a14:imgLayer>
                </a14:imgProps>
              </a:ext>
              <a:ext uri="{28A0092B-C50C-407E-A947-70E740481C1C}">
                <a14:useLocalDpi xmlns:a14="http://schemas.microsoft.com/office/drawing/2010/main" val="0"/>
              </a:ext>
            </a:extLst>
          </a:blip>
          <a:stretch>
            <a:fillRect/>
          </a:stretch>
        </p:blipFill>
        <p:spPr>
          <a:xfrm>
            <a:off x="4802211" y="2649219"/>
            <a:ext cx="583950" cy="582267"/>
          </a:xfrm>
          <a:prstGeom prst="rect">
            <a:avLst/>
          </a:prstGeom>
        </p:spPr>
      </p:pic>
      <p:pic>
        <p:nvPicPr>
          <p:cNvPr id="12" name="Picture 11" descr="fire-alarm.jpg"/>
          <p:cNvPicPr>
            <a:picLocks noChangeAspect="1"/>
          </p:cNvPicPr>
          <p:nvPr/>
        </p:nvPicPr>
        <p:blipFill>
          <a:blip r:embed="rId7">
            <a:extLst>
              <a:ext uri="{BEBA8EAE-BF5A-486C-A8C5-ECC9F3942E4B}">
                <a14:imgProps xmlns:a14="http://schemas.microsoft.com/office/drawing/2010/main">
                  <a14:imgLayer r:embed="rId8">
                    <a14:imgEffect>
                      <a14:backgroundRemoval t="0" b="99667" l="1667" r="99000"/>
                    </a14:imgEffect>
                  </a14:imgLayer>
                </a14:imgProps>
              </a:ext>
              <a:ext uri="{28A0092B-C50C-407E-A947-70E740481C1C}">
                <a14:useLocalDpi xmlns:a14="http://schemas.microsoft.com/office/drawing/2010/main" val="0"/>
              </a:ext>
            </a:extLst>
          </a:blip>
          <a:stretch>
            <a:fillRect/>
          </a:stretch>
        </p:blipFill>
        <p:spPr>
          <a:xfrm>
            <a:off x="5135411" y="3095867"/>
            <a:ext cx="631982" cy="631982"/>
          </a:xfrm>
          <a:prstGeom prst="rect">
            <a:avLst/>
          </a:prstGeom>
        </p:spPr>
      </p:pic>
      <p:pic>
        <p:nvPicPr>
          <p:cNvPr id="13" name="Picture 12" descr="running-icon-on-transparent-background-md.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89327" y="3860929"/>
            <a:ext cx="1416889" cy="1359641"/>
          </a:xfrm>
          <a:prstGeom prst="rect">
            <a:avLst/>
          </a:prstGeom>
        </p:spPr>
      </p:pic>
    </p:spTree>
    <p:extLst>
      <p:ext uri="{BB962C8B-B14F-4D97-AF65-F5344CB8AC3E}">
        <p14:creationId xmlns:p14="http://schemas.microsoft.com/office/powerpoint/2010/main" val="183669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FC255-83FD-574D-88B6-2E39D52E743C}"/>
              </a:ext>
            </a:extLst>
          </p:cNvPr>
          <p:cNvSpPr>
            <a:spLocks noGrp="1"/>
          </p:cNvSpPr>
          <p:nvPr>
            <p:ph type="title"/>
          </p:nvPr>
        </p:nvSpPr>
        <p:spPr/>
        <p:txBody>
          <a:bodyPr/>
          <a:lstStyle/>
          <a:p>
            <a:r>
              <a:rPr lang="en-US" dirty="0"/>
              <a:t>Systems with Security Challenges</a:t>
            </a:r>
          </a:p>
        </p:txBody>
      </p:sp>
      <p:sp>
        <p:nvSpPr>
          <p:cNvPr id="3" name="Content Placeholder 2">
            <a:extLst>
              <a:ext uri="{FF2B5EF4-FFF2-40B4-BE49-F238E27FC236}">
                <a16:creationId xmlns:a16="http://schemas.microsoft.com/office/drawing/2014/main" id="{B75A2E36-81CC-BC44-A179-72C0BF5C06C4}"/>
              </a:ext>
            </a:extLst>
          </p:cNvPr>
          <p:cNvSpPr>
            <a:spLocks noGrp="1"/>
          </p:cNvSpPr>
          <p:nvPr>
            <p:ph idx="1"/>
          </p:nvPr>
        </p:nvSpPr>
        <p:spPr/>
        <p:txBody>
          <a:bodyPr/>
          <a:lstStyle/>
          <a:p>
            <a:r>
              <a:rPr lang="en-US" dirty="0"/>
              <a:t>Software</a:t>
            </a:r>
          </a:p>
          <a:p>
            <a:r>
              <a:rPr lang="en-US" dirty="0"/>
              <a:t>Hardware</a:t>
            </a:r>
          </a:p>
          <a:p>
            <a:r>
              <a:rPr lang="en-US" dirty="0"/>
              <a:t>Artificial Intelligence Systems</a:t>
            </a:r>
          </a:p>
          <a:p>
            <a:r>
              <a:rPr lang="en-US" dirty="0"/>
              <a:t>Cyber-Physical Systems</a:t>
            </a:r>
          </a:p>
          <a:p>
            <a:r>
              <a:rPr lang="en-US" dirty="0"/>
              <a:t>……</a:t>
            </a:r>
          </a:p>
        </p:txBody>
      </p:sp>
    </p:spTree>
    <p:extLst>
      <p:ext uri="{BB962C8B-B14F-4D97-AF65-F5344CB8AC3E}">
        <p14:creationId xmlns:p14="http://schemas.microsoft.com/office/powerpoint/2010/main" val="2961051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8195"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F38F1DAB-2B0A-44B9-9353-17D9806602A0}" type="slidenum">
              <a:rPr lang="zh-CN" altLang="en-US" sz="1400" smtClean="0"/>
              <a:pPr>
                <a:lnSpc>
                  <a:spcPct val="100000"/>
                </a:lnSpc>
                <a:spcBef>
                  <a:spcPct val="0"/>
                </a:spcBef>
              </a:pPr>
              <a:t>10</a:t>
            </a:fld>
            <a:endParaRPr lang="en-US" altLang="zh-CN" sz="1400"/>
          </a:p>
        </p:txBody>
      </p:sp>
      <p:sp>
        <p:nvSpPr>
          <p:cNvPr id="8196" name="Rectangle 2"/>
          <p:cNvSpPr>
            <a:spLocks noGrp="1" noChangeArrowheads="1"/>
          </p:cNvSpPr>
          <p:nvPr>
            <p:ph type="title"/>
          </p:nvPr>
        </p:nvSpPr>
        <p:spPr/>
        <p:txBody>
          <a:bodyPr/>
          <a:lstStyle/>
          <a:p>
            <a:pPr eaLnBrk="1" hangingPunct="1"/>
            <a:r>
              <a:rPr lang="en-US" altLang="en-US"/>
              <a:t>Computer Security Losses</a:t>
            </a:r>
          </a:p>
        </p:txBody>
      </p:sp>
      <p:pic>
        <p:nvPicPr>
          <p:cNvPr id="8197" name="Picture 3"/>
          <p:cNvPicPr>
            <a:picLocks noChangeAspect="1" noChangeArrowheads="1"/>
          </p:cNvPicPr>
          <p:nvPr/>
        </p:nvPicPr>
        <p:blipFill>
          <a:blip r:embed="rId3">
            <a:extLst>
              <a:ext uri="{28A0092B-C50C-407E-A947-70E740481C1C}">
                <a14:useLocalDpi xmlns:a14="http://schemas.microsoft.com/office/drawing/2010/main" val="0"/>
              </a:ext>
            </a:extLst>
          </a:blip>
          <a:srcRect t="14319" b="14319"/>
          <a:stretch>
            <a:fillRect/>
          </a:stretch>
        </p:blipFill>
        <p:spPr bwMode="auto">
          <a:xfrm>
            <a:off x="1600200" y="1295400"/>
            <a:ext cx="5826125" cy="5380038"/>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75591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10243"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E72340AB-51DF-4E4B-B4E2-1A49EF6AF422}" type="slidenum">
              <a:rPr lang="zh-CN" altLang="en-US" sz="1400" smtClean="0"/>
              <a:pPr>
                <a:lnSpc>
                  <a:spcPct val="100000"/>
                </a:lnSpc>
                <a:spcBef>
                  <a:spcPct val="0"/>
                </a:spcBef>
              </a:pPr>
              <a:t>11</a:t>
            </a:fld>
            <a:endParaRPr lang="en-US" altLang="zh-CN" sz="1400"/>
          </a:p>
        </p:txBody>
      </p:sp>
      <p:sp>
        <p:nvSpPr>
          <p:cNvPr id="10244" name="Rectangle 2"/>
          <p:cNvSpPr>
            <a:spLocks noGrp="1" noChangeArrowheads="1"/>
          </p:cNvSpPr>
          <p:nvPr>
            <p:ph type="title"/>
          </p:nvPr>
        </p:nvSpPr>
        <p:spPr/>
        <p:txBody>
          <a:bodyPr/>
          <a:lstStyle/>
          <a:p>
            <a:pPr eaLnBrk="1" hangingPunct="1"/>
            <a:r>
              <a:rPr lang="en-US" altLang="en-US"/>
              <a:t>Security Technologies Used</a:t>
            </a:r>
          </a:p>
        </p:txBody>
      </p:sp>
      <p:pic>
        <p:nvPicPr>
          <p:cNvPr id="10245" name="Picture 3"/>
          <p:cNvPicPr>
            <a:picLocks noChangeAspect="1" noChangeArrowheads="1"/>
          </p:cNvPicPr>
          <p:nvPr/>
        </p:nvPicPr>
        <p:blipFill>
          <a:blip r:embed="rId3">
            <a:extLst>
              <a:ext uri="{28A0092B-C50C-407E-A947-70E740481C1C}">
                <a14:useLocalDpi xmlns:a14="http://schemas.microsoft.com/office/drawing/2010/main" val="0"/>
              </a:ext>
            </a:extLst>
          </a:blip>
          <a:srcRect t="17897" b="14319"/>
          <a:stretch>
            <a:fillRect/>
          </a:stretch>
        </p:blipFill>
        <p:spPr bwMode="auto">
          <a:xfrm>
            <a:off x="1720850" y="1404938"/>
            <a:ext cx="5826125" cy="5110162"/>
          </a:xfrm>
          <a:prstGeom prst="rect">
            <a:avLst/>
          </a:prstGeom>
          <a:noFill/>
          <a:ln>
            <a:noFill/>
          </a:ln>
          <a:extLst>
            <a:ext uri="{909E8E84-426E-40DD-AFC4-6F175D3DCCD1}">
              <a14:hiddenFill xmlns:a14="http://schemas.microsoft.com/office/drawing/2010/main">
                <a:solidFill>
                  <a:srgbClr val="FFFFFF">
                    <a:alpha val="70195"/>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849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12291"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68E4A719-4405-4DCA-93D8-2BB95CEC9872}" type="slidenum">
              <a:rPr lang="zh-CN" altLang="en-US" sz="1400" smtClean="0"/>
              <a:pPr>
                <a:lnSpc>
                  <a:spcPct val="100000"/>
                </a:lnSpc>
                <a:spcBef>
                  <a:spcPct val="0"/>
                </a:spcBef>
              </a:pPr>
              <a:t>12</a:t>
            </a:fld>
            <a:endParaRPr lang="en-US" altLang="zh-CN" sz="1400"/>
          </a:p>
        </p:txBody>
      </p:sp>
      <p:sp>
        <p:nvSpPr>
          <p:cNvPr id="12292" name="Rectangle 2"/>
          <p:cNvSpPr>
            <a:spLocks noGrp="1" noChangeArrowheads="1"/>
          </p:cNvSpPr>
          <p:nvPr>
            <p:ph type="title"/>
          </p:nvPr>
        </p:nvSpPr>
        <p:spPr/>
        <p:txBody>
          <a:bodyPr/>
          <a:lstStyle/>
          <a:p>
            <a:pPr eaLnBrk="1" hangingPunct="1"/>
            <a:r>
              <a:rPr lang="en-US" altLang="en-US"/>
              <a:t>Policies and Mechanisms</a:t>
            </a:r>
          </a:p>
        </p:txBody>
      </p:sp>
      <p:sp>
        <p:nvSpPr>
          <p:cNvPr id="12293" name="Rectangle 3"/>
          <p:cNvSpPr>
            <a:spLocks noGrp="1" noChangeArrowheads="1"/>
          </p:cNvSpPr>
          <p:nvPr>
            <p:ph type="body" idx="1"/>
          </p:nvPr>
        </p:nvSpPr>
        <p:spPr/>
        <p:txBody>
          <a:bodyPr>
            <a:normAutofit lnSpcReduction="10000"/>
          </a:bodyPr>
          <a:lstStyle/>
          <a:p>
            <a:pPr eaLnBrk="1" hangingPunct="1"/>
            <a:r>
              <a:rPr lang="en-US" altLang="en-US"/>
              <a:t>Policy says what is, and is not, allowed</a:t>
            </a:r>
          </a:p>
          <a:p>
            <a:pPr lvl="1" eaLnBrk="1" hangingPunct="1"/>
            <a:r>
              <a:rPr lang="en-US" altLang="en-US"/>
              <a:t>This defines “security” for the site/system/</a:t>
            </a:r>
            <a:r>
              <a:rPr lang="en-US" altLang="en-US" i="1"/>
              <a:t>etc</a:t>
            </a:r>
            <a:r>
              <a:rPr lang="en-US" altLang="en-US"/>
              <a:t>.</a:t>
            </a:r>
            <a:endParaRPr lang="en-US" altLang="zh-CN">
              <a:ea typeface="宋体" panose="02010600030101010101" pitchFamily="2" charset="-122"/>
            </a:endParaRPr>
          </a:p>
          <a:p>
            <a:pPr lvl="1" eaLnBrk="1" hangingPunct="1"/>
            <a:r>
              <a:rPr lang="en-US" altLang="zh-CN">
                <a:ea typeface="宋体" panose="02010600030101010101" pitchFamily="2" charset="-122"/>
              </a:rPr>
              <a:t>A Security Policy is a statement of what is, and what is not allowed</a:t>
            </a:r>
          </a:p>
          <a:p>
            <a:pPr eaLnBrk="1" hangingPunct="1"/>
            <a:r>
              <a:rPr lang="en-US" altLang="zh-CN">
                <a:ea typeface="宋体" panose="02010600030101010101" pitchFamily="2" charset="-122"/>
              </a:rPr>
              <a:t>A Security mechanism is a method, tool, or procedure for enforcing a security policy. </a:t>
            </a:r>
          </a:p>
          <a:p>
            <a:pPr eaLnBrk="1" hangingPunct="1"/>
            <a:r>
              <a:rPr lang="en-US" altLang="en-US"/>
              <a:t>Composition of policies</a:t>
            </a:r>
          </a:p>
          <a:p>
            <a:pPr lvl="1" eaLnBrk="1" hangingPunct="1"/>
            <a:r>
              <a:rPr lang="en-US" altLang="en-US"/>
              <a:t>If policies conflict, discrepancies may create security vulnerabilities</a:t>
            </a:r>
          </a:p>
        </p:txBody>
      </p:sp>
    </p:spTree>
    <p:extLst>
      <p:ext uri="{BB962C8B-B14F-4D97-AF65-F5344CB8AC3E}">
        <p14:creationId xmlns:p14="http://schemas.microsoft.com/office/powerpoint/2010/main" val="1426686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14339"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E367FBF0-2508-4EAE-BF1B-374BB25A75E1}" type="slidenum">
              <a:rPr lang="zh-CN" altLang="en-US" sz="1400" smtClean="0"/>
              <a:pPr>
                <a:lnSpc>
                  <a:spcPct val="100000"/>
                </a:lnSpc>
                <a:spcBef>
                  <a:spcPct val="0"/>
                </a:spcBef>
              </a:pPr>
              <a:t>13</a:t>
            </a:fld>
            <a:endParaRPr lang="en-US" altLang="zh-CN" sz="1400"/>
          </a:p>
        </p:txBody>
      </p:sp>
      <p:sp>
        <p:nvSpPr>
          <p:cNvPr id="14340" name="Rectangle 2"/>
          <p:cNvSpPr>
            <a:spLocks noGrp="1" noChangeArrowheads="1"/>
          </p:cNvSpPr>
          <p:nvPr>
            <p:ph type="title"/>
          </p:nvPr>
        </p:nvSpPr>
        <p:spPr/>
        <p:txBody>
          <a:bodyPr/>
          <a:lstStyle/>
          <a:p>
            <a:pPr eaLnBrk="1" hangingPunct="1"/>
            <a:r>
              <a:rPr lang="en-US" altLang="en-US"/>
              <a:t>Goals of Security</a:t>
            </a:r>
          </a:p>
        </p:txBody>
      </p:sp>
      <p:sp>
        <p:nvSpPr>
          <p:cNvPr id="14341" name="Rectangle 3"/>
          <p:cNvSpPr>
            <a:spLocks noGrp="1" noChangeArrowheads="1"/>
          </p:cNvSpPr>
          <p:nvPr>
            <p:ph type="body" idx="1"/>
          </p:nvPr>
        </p:nvSpPr>
        <p:spPr/>
        <p:txBody>
          <a:bodyPr/>
          <a:lstStyle/>
          <a:p>
            <a:pPr eaLnBrk="1" hangingPunct="1">
              <a:lnSpc>
                <a:spcPct val="90000"/>
              </a:lnSpc>
            </a:pPr>
            <a:r>
              <a:rPr lang="en-US" altLang="en-US"/>
              <a:t>Prevention</a:t>
            </a:r>
          </a:p>
          <a:p>
            <a:pPr lvl="1" eaLnBrk="1" hangingPunct="1"/>
            <a:r>
              <a:rPr lang="en-US" altLang="en-US"/>
              <a:t>Prevent attackers from violating security policy</a:t>
            </a:r>
          </a:p>
          <a:p>
            <a:pPr eaLnBrk="1" hangingPunct="1">
              <a:lnSpc>
                <a:spcPct val="90000"/>
              </a:lnSpc>
            </a:pPr>
            <a:r>
              <a:rPr lang="en-US" altLang="en-US"/>
              <a:t>Detection</a:t>
            </a:r>
          </a:p>
          <a:p>
            <a:pPr lvl="1" eaLnBrk="1" hangingPunct="1"/>
            <a:r>
              <a:rPr lang="en-US" altLang="en-US"/>
              <a:t>Detect attackers’ violation of security policy</a:t>
            </a:r>
          </a:p>
          <a:p>
            <a:pPr eaLnBrk="1" hangingPunct="1">
              <a:lnSpc>
                <a:spcPct val="90000"/>
              </a:lnSpc>
            </a:pPr>
            <a:r>
              <a:rPr lang="en-US" altLang="en-US"/>
              <a:t>Recovery</a:t>
            </a:r>
          </a:p>
          <a:p>
            <a:pPr lvl="1" eaLnBrk="1" hangingPunct="1"/>
            <a:r>
              <a:rPr lang="en-US" altLang="en-US"/>
              <a:t>Stop attack, assess and repair damage</a:t>
            </a:r>
          </a:p>
          <a:p>
            <a:pPr lvl="1" eaLnBrk="1" hangingPunct="1"/>
            <a:r>
              <a:rPr lang="en-US" altLang="en-US"/>
              <a:t>Continue to function correctly even if attack succeeds</a:t>
            </a:r>
          </a:p>
        </p:txBody>
      </p:sp>
    </p:spTree>
    <p:extLst>
      <p:ext uri="{BB962C8B-B14F-4D97-AF65-F5344CB8AC3E}">
        <p14:creationId xmlns:p14="http://schemas.microsoft.com/office/powerpoint/2010/main" val="3153008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Threat consequences</a:t>
            </a:r>
          </a:p>
        </p:txBody>
      </p:sp>
      <p:sp>
        <p:nvSpPr>
          <p:cNvPr id="26627" name="Rectangle 3"/>
          <p:cNvSpPr>
            <a:spLocks noGrp="1" noChangeArrowheads="1"/>
          </p:cNvSpPr>
          <p:nvPr>
            <p:ph type="body" idx="1"/>
          </p:nvPr>
        </p:nvSpPr>
        <p:spPr>
          <a:xfrm>
            <a:off x="457200" y="1447800"/>
            <a:ext cx="8229600" cy="4573588"/>
          </a:xfrm>
        </p:spPr>
        <p:txBody>
          <a:bodyPr>
            <a:normAutofit fontScale="85000" lnSpcReduction="10000"/>
          </a:bodyPr>
          <a:lstStyle/>
          <a:p>
            <a:pPr eaLnBrk="1" hangingPunct="1"/>
            <a:r>
              <a:rPr lang="en-US" altLang="en-US"/>
              <a:t>Unauthorized disclosure: threat to confidentiality </a:t>
            </a:r>
          </a:p>
          <a:p>
            <a:pPr lvl="1" eaLnBrk="1" hangingPunct="1"/>
            <a:r>
              <a:rPr lang="en-US" altLang="en-US"/>
              <a:t>Exposure (release data), interception, inference, intrusion</a:t>
            </a:r>
          </a:p>
          <a:p>
            <a:pPr eaLnBrk="1" hangingPunct="1"/>
            <a:r>
              <a:rPr lang="en-US" altLang="en-US"/>
              <a:t>Deception: threat to integrity</a:t>
            </a:r>
          </a:p>
          <a:p>
            <a:pPr lvl="1" eaLnBrk="1" hangingPunct="1"/>
            <a:r>
              <a:rPr lang="en-US" altLang="en-US"/>
              <a:t>Masquerade, falsification (alter data), repudiation</a:t>
            </a:r>
          </a:p>
          <a:p>
            <a:pPr eaLnBrk="1" hangingPunct="1"/>
            <a:r>
              <a:rPr lang="en-US" altLang="en-US"/>
              <a:t>Disruption: threat to integrity and availability</a:t>
            </a:r>
          </a:p>
          <a:p>
            <a:pPr lvl="1" eaLnBrk="1" hangingPunct="1"/>
            <a:r>
              <a:rPr lang="en-US" altLang="en-US"/>
              <a:t>Incapacitation (destruction), corruption (backdoor logic), obstruction (infer with communication, overload a line)</a:t>
            </a:r>
          </a:p>
          <a:p>
            <a:pPr eaLnBrk="1" hangingPunct="1"/>
            <a:r>
              <a:rPr lang="en-US" altLang="en-US"/>
              <a:t>Usurpation: threat to integrity</a:t>
            </a:r>
          </a:p>
          <a:p>
            <a:pPr lvl="1" eaLnBrk="1" hangingPunct="1"/>
            <a:r>
              <a:rPr lang="en-US" altLang="en-US"/>
              <a:t>Misappropriation (theft of service), misuse (hacker gaining unauthorized access)</a:t>
            </a:r>
          </a:p>
        </p:txBody>
      </p:sp>
    </p:spTree>
    <p:extLst>
      <p:ext uri="{BB962C8B-B14F-4D97-AF65-F5344CB8AC3E}">
        <p14:creationId xmlns:p14="http://schemas.microsoft.com/office/powerpoint/2010/main" val="3533408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516390"/>
            <a:ext cx="8229600" cy="1641475"/>
          </a:xfrm>
        </p:spPr>
        <p:txBody>
          <a:bodyPr>
            <a:normAutofit/>
          </a:bodyPr>
          <a:lstStyle/>
          <a:p>
            <a:pPr eaLnBrk="1" hangingPunct="1"/>
            <a:r>
              <a:rPr lang="en-US" altLang="en-US" dirty="0">
                <a:solidFill>
                  <a:srgbClr val="C00000"/>
                </a:solidFill>
              </a:rPr>
              <a:t>Threat consequences</a:t>
            </a:r>
            <a:br>
              <a:rPr lang="en-US" altLang="en-US" dirty="0">
                <a:solidFill>
                  <a:srgbClr val="C00000"/>
                </a:solidFill>
              </a:rPr>
            </a:br>
            <a:r>
              <a:rPr lang="en-US" altLang="en-US" dirty="0">
                <a:solidFill>
                  <a:srgbClr val="C00000"/>
                </a:solidFill>
              </a:rPr>
              <a:t>(tabular form)</a:t>
            </a:r>
          </a:p>
        </p:txBody>
      </p:sp>
      <p:pic>
        <p:nvPicPr>
          <p:cNvPr id="2867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1350" y="940708"/>
            <a:ext cx="5505450" cy="529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1635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altLang="en-US"/>
              <a:t>Examples of threats</a:t>
            </a:r>
          </a:p>
        </p:txBody>
      </p:sp>
      <p:pic>
        <p:nvPicPr>
          <p:cNvPr id="3174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281113"/>
            <a:ext cx="6480175" cy="462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7315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0483"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4D00F4A9-AB30-4A3C-BBD1-E19993C40E02}" type="slidenum">
              <a:rPr lang="zh-CN" altLang="en-US" sz="1400" smtClean="0"/>
              <a:pPr>
                <a:lnSpc>
                  <a:spcPct val="100000"/>
                </a:lnSpc>
                <a:spcBef>
                  <a:spcPct val="0"/>
                </a:spcBef>
              </a:pPr>
              <a:t>17</a:t>
            </a:fld>
            <a:endParaRPr lang="en-US" altLang="zh-CN" sz="1400"/>
          </a:p>
        </p:txBody>
      </p:sp>
      <p:sp>
        <p:nvSpPr>
          <p:cNvPr id="20484" name="Rectangle 2"/>
          <p:cNvSpPr>
            <a:spLocks noGrp="1" noChangeArrowheads="1"/>
          </p:cNvSpPr>
          <p:nvPr>
            <p:ph type="title"/>
          </p:nvPr>
        </p:nvSpPr>
        <p:spPr/>
        <p:txBody>
          <a:bodyPr/>
          <a:lstStyle/>
          <a:p>
            <a:pPr eaLnBrk="1" hangingPunct="1"/>
            <a:r>
              <a:rPr lang="en-US" altLang="en-US"/>
              <a:t>Categorization of Attacks</a:t>
            </a:r>
          </a:p>
        </p:txBody>
      </p:sp>
      <p:sp>
        <p:nvSpPr>
          <p:cNvPr id="20485" name="Rectangle 3"/>
          <p:cNvSpPr>
            <a:spLocks noGrp="1" noChangeArrowheads="1"/>
          </p:cNvSpPr>
          <p:nvPr>
            <p:ph type="body" idx="1"/>
          </p:nvPr>
        </p:nvSpPr>
        <p:spPr/>
        <p:txBody>
          <a:bodyPr>
            <a:normAutofit/>
          </a:bodyPr>
          <a:lstStyle/>
          <a:p>
            <a:pPr eaLnBrk="1" hangingPunct="1"/>
            <a:r>
              <a:rPr lang="en-US" altLang="en-US" sz="2000" dirty="0"/>
              <a:t>Wiretapping: An unauthorized party gains access to an asset. This is an attack on confidentiality.</a:t>
            </a:r>
          </a:p>
          <a:p>
            <a:pPr eaLnBrk="1" hangingPunct="1"/>
            <a:endParaRPr lang="en-US" altLang="en-US" sz="2000" dirty="0"/>
          </a:p>
          <a:p>
            <a:pPr eaLnBrk="1" hangingPunct="1"/>
            <a:r>
              <a:rPr lang="en-US" altLang="en-US" sz="2000" dirty="0"/>
              <a:t>Modification : An unauthorized party not only gains access to but tampers with an asset. This is an attack on integrity.</a:t>
            </a:r>
          </a:p>
          <a:p>
            <a:pPr eaLnBrk="1" hangingPunct="1"/>
            <a:endParaRPr lang="en-US" altLang="en-US" sz="2000" dirty="0"/>
          </a:p>
          <a:p>
            <a:pPr eaLnBrk="1" hangingPunct="1"/>
            <a:r>
              <a:rPr lang="en-US" altLang="en-US" sz="2000" dirty="0"/>
              <a:t>Denial of Service : An asset of system is destroyed or becomes unavailable or unusable. This is an attack on availability.</a:t>
            </a:r>
          </a:p>
          <a:p>
            <a:pPr eaLnBrk="1" hangingPunct="1"/>
            <a:endParaRPr lang="en-US" altLang="en-US" sz="2000" dirty="0"/>
          </a:p>
          <a:p>
            <a:pPr eaLnBrk="1" hangingPunct="1"/>
            <a:endParaRPr lang="en-US" altLang="en-US" dirty="0"/>
          </a:p>
          <a:p>
            <a:pPr eaLnBrk="1" hangingPunct="1"/>
            <a:endParaRPr lang="en-US" altLang="en-US" dirty="0"/>
          </a:p>
          <a:p>
            <a:pPr eaLnBrk="1" hangingPunct="1"/>
            <a:endParaRPr lang="en-US" altLang="en-US" dirty="0"/>
          </a:p>
        </p:txBody>
      </p:sp>
    </p:spTree>
    <p:extLst>
      <p:ext uri="{BB962C8B-B14F-4D97-AF65-F5344CB8AC3E}">
        <p14:creationId xmlns:p14="http://schemas.microsoft.com/office/powerpoint/2010/main" val="639020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2531"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C95E33F5-BD8B-48E3-8946-8A3FE2AA9E45}" type="slidenum">
              <a:rPr lang="zh-CN" altLang="en-US" sz="1400" smtClean="0"/>
              <a:pPr>
                <a:lnSpc>
                  <a:spcPct val="100000"/>
                </a:lnSpc>
                <a:spcBef>
                  <a:spcPct val="0"/>
                </a:spcBef>
              </a:pPr>
              <a:t>18</a:t>
            </a:fld>
            <a:endParaRPr lang="en-US" altLang="zh-CN" sz="1400"/>
          </a:p>
        </p:txBody>
      </p:sp>
      <p:sp>
        <p:nvSpPr>
          <p:cNvPr id="22532" name="Rectangle 2"/>
          <p:cNvSpPr>
            <a:spLocks noGrp="1" noChangeArrowheads="1"/>
          </p:cNvSpPr>
          <p:nvPr>
            <p:ph type="title"/>
          </p:nvPr>
        </p:nvSpPr>
        <p:spPr/>
        <p:txBody>
          <a:bodyPr>
            <a:normAutofit fontScale="90000"/>
          </a:bodyPr>
          <a:lstStyle/>
          <a:p>
            <a:pPr eaLnBrk="1" hangingPunct="1"/>
            <a:br>
              <a:rPr lang="en-US" altLang="en-US" sz="3200" b="0"/>
            </a:br>
            <a:r>
              <a:rPr lang="en-US" altLang="en-US"/>
              <a:t>Active/Passive</a:t>
            </a:r>
            <a:r>
              <a:rPr lang="en-US" altLang="en-US" sz="3200" b="0"/>
              <a:t> </a:t>
            </a:r>
            <a:r>
              <a:rPr lang="en-US" altLang="en-US"/>
              <a:t>Attacks</a:t>
            </a:r>
            <a:r>
              <a:rPr lang="en-US" altLang="en-US" sz="3200"/>
              <a:t> </a:t>
            </a:r>
          </a:p>
        </p:txBody>
      </p:sp>
      <p:sp>
        <p:nvSpPr>
          <p:cNvPr id="22533" name="Rectangle 3"/>
          <p:cNvSpPr>
            <a:spLocks noGrp="1" noChangeArrowheads="1"/>
          </p:cNvSpPr>
          <p:nvPr>
            <p:ph type="body" idx="1"/>
          </p:nvPr>
        </p:nvSpPr>
        <p:spPr/>
        <p:txBody>
          <a:bodyPr/>
          <a:lstStyle/>
          <a:p>
            <a:pPr eaLnBrk="1" hangingPunct="1"/>
            <a:r>
              <a:rPr lang="en-US" altLang="en-US"/>
              <a:t>Passive Attacks :</a:t>
            </a:r>
          </a:p>
          <a:p>
            <a:pPr lvl="1" eaLnBrk="1" hangingPunct="1"/>
            <a:r>
              <a:rPr lang="en-US" altLang="en-US"/>
              <a:t>The goal of the intruder is to obtain information being transmitted.</a:t>
            </a:r>
          </a:p>
          <a:p>
            <a:pPr lvl="1" eaLnBrk="1" hangingPunct="1"/>
            <a:r>
              <a:rPr lang="en-US" altLang="en-US"/>
              <a:t>Ex. Release of message contents, traffic analysis.</a:t>
            </a:r>
          </a:p>
          <a:p>
            <a:pPr lvl="1" eaLnBrk="1" hangingPunct="1"/>
            <a:r>
              <a:rPr lang="en-US" altLang="en-US"/>
              <a:t>Passive attacks are very difficult to detect because they do not involve any alteration of the data.</a:t>
            </a:r>
          </a:p>
        </p:txBody>
      </p:sp>
    </p:spTree>
    <p:extLst>
      <p:ext uri="{BB962C8B-B14F-4D97-AF65-F5344CB8AC3E}">
        <p14:creationId xmlns:p14="http://schemas.microsoft.com/office/powerpoint/2010/main" val="2726553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24579"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A774750B-D494-4E08-862A-94377EE2BD4E}" type="slidenum">
              <a:rPr lang="zh-CN" altLang="en-US" sz="1400" smtClean="0"/>
              <a:pPr>
                <a:lnSpc>
                  <a:spcPct val="100000"/>
                </a:lnSpc>
                <a:spcBef>
                  <a:spcPct val="0"/>
                </a:spcBef>
              </a:pPr>
              <a:t>19</a:t>
            </a:fld>
            <a:endParaRPr lang="en-US" altLang="zh-CN" sz="1400"/>
          </a:p>
        </p:txBody>
      </p:sp>
      <p:sp>
        <p:nvSpPr>
          <p:cNvPr id="24580" name="Rectangle 2"/>
          <p:cNvSpPr>
            <a:spLocks noGrp="1" noChangeArrowheads="1"/>
          </p:cNvSpPr>
          <p:nvPr>
            <p:ph type="title"/>
          </p:nvPr>
        </p:nvSpPr>
        <p:spPr/>
        <p:txBody>
          <a:bodyPr>
            <a:normAutofit fontScale="90000"/>
          </a:bodyPr>
          <a:lstStyle/>
          <a:p>
            <a:pPr eaLnBrk="1" hangingPunct="1"/>
            <a:br>
              <a:rPr lang="en-US" altLang="en-US" sz="3200" b="0"/>
            </a:br>
            <a:r>
              <a:rPr lang="en-US" altLang="en-US"/>
              <a:t>Active/Passive</a:t>
            </a:r>
            <a:r>
              <a:rPr lang="en-US" altLang="en-US" sz="3200" b="0"/>
              <a:t> </a:t>
            </a:r>
            <a:r>
              <a:rPr lang="en-US" altLang="en-US"/>
              <a:t>Attacks</a:t>
            </a:r>
            <a:r>
              <a:rPr lang="en-US" altLang="en-US" sz="3200"/>
              <a:t> </a:t>
            </a:r>
          </a:p>
        </p:txBody>
      </p:sp>
      <p:sp>
        <p:nvSpPr>
          <p:cNvPr id="24581" name="Rectangle 3"/>
          <p:cNvSpPr>
            <a:spLocks noGrp="1" noChangeArrowheads="1"/>
          </p:cNvSpPr>
          <p:nvPr>
            <p:ph type="body" idx="1"/>
          </p:nvPr>
        </p:nvSpPr>
        <p:spPr/>
        <p:txBody>
          <a:bodyPr/>
          <a:lstStyle/>
          <a:p>
            <a:pPr eaLnBrk="1" hangingPunct="1"/>
            <a:r>
              <a:rPr lang="en-US" altLang="en-US"/>
              <a:t>Active Attacks :</a:t>
            </a:r>
          </a:p>
          <a:p>
            <a:pPr lvl="1" eaLnBrk="1" hangingPunct="1"/>
            <a:r>
              <a:rPr lang="en-US" altLang="en-US"/>
              <a:t>Active attacks involve some modification of the data stream or the creation of a false stream.</a:t>
            </a:r>
          </a:p>
          <a:p>
            <a:pPr lvl="1" eaLnBrk="1" hangingPunct="1"/>
            <a:r>
              <a:rPr lang="en-US" altLang="en-US"/>
              <a:t>Ex. Masquerade, replay, modification of the messages, denial of service (DoS).</a:t>
            </a:r>
          </a:p>
          <a:p>
            <a:pPr lvl="1" eaLnBrk="1" hangingPunct="1"/>
            <a:r>
              <a:rPr lang="en-US" altLang="en-US"/>
              <a:t>Active attacks are easier to detect than passive attacks. The goal of security is to detect them and to recover from any disruption or delay caused by them</a:t>
            </a:r>
          </a:p>
        </p:txBody>
      </p:sp>
    </p:spTree>
    <p:extLst>
      <p:ext uri="{BB962C8B-B14F-4D97-AF65-F5344CB8AC3E}">
        <p14:creationId xmlns:p14="http://schemas.microsoft.com/office/powerpoint/2010/main" val="3301241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altLang="en-US"/>
              <a:t>Attack surfaces</a:t>
            </a:r>
          </a:p>
        </p:txBody>
      </p:sp>
      <p:sp>
        <p:nvSpPr>
          <p:cNvPr id="3" name="Content Placeholder 2"/>
          <p:cNvSpPr>
            <a:spLocks noGrp="1"/>
          </p:cNvSpPr>
          <p:nvPr>
            <p:ph idx="1"/>
          </p:nvPr>
        </p:nvSpPr>
        <p:spPr>
          <a:xfrm>
            <a:off x="457200" y="1447800"/>
            <a:ext cx="8686800" cy="4419600"/>
          </a:xfrm>
        </p:spPr>
        <p:txBody>
          <a:bodyPr>
            <a:normAutofit fontScale="85000" lnSpcReduction="20000"/>
          </a:bodyPr>
          <a:lstStyle/>
          <a:p>
            <a:pPr eaLnBrk="1" hangingPunct="1">
              <a:defRPr/>
            </a:pPr>
            <a:r>
              <a:rPr lang="en-US" dirty="0"/>
              <a:t>Attack surface: the reachable and exploitable vulnerabilities in a system</a:t>
            </a:r>
          </a:p>
          <a:p>
            <a:pPr lvl="1" eaLnBrk="1" hangingPunct="1">
              <a:defRPr/>
            </a:pPr>
            <a:r>
              <a:rPr lang="en-US" dirty="0"/>
              <a:t>Open ports</a:t>
            </a:r>
          </a:p>
          <a:p>
            <a:pPr lvl="1" eaLnBrk="1" hangingPunct="1">
              <a:defRPr/>
            </a:pPr>
            <a:r>
              <a:rPr lang="en-US" dirty="0"/>
              <a:t>Services outside a firewall</a:t>
            </a:r>
          </a:p>
          <a:p>
            <a:pPr lvl="1" eaLnBrk="1" hangingPunct="1">
              <a:defRPr/>
            </a:pPr>
            <a:r>
              <a:rPr lang="en-US" dirty="0"/>
              <a:t>An employee with access to sensitive info</a:t>
            </a:r>
          </a:p>
          <a:p>
            <a:pPr lvl="1" eaLnBrk="1" hangingPunct="1">
              <a:defRPr/>
            </a:pPr>
            <a:r>
              <a:rPr lang="en-US" dirty="0"/>
              <a:t>…</a:t>
            </a:r>
          </a:p>
          <a:p>
            <a:pPr eaLnBrk="1" hangingPunct="1">
              <a:defRPr/>
            </a:pPr>
            <a:r>
              <a:rPr lang="en-US" dirty="0"/>
              <a:t>Three categories</a:t>
            </a:r>
          </a:p>
          <a:p>
            <a:pPr lvl="1" eaLnBrk="1" hangingPunct="1">
              <a:defRPr/>
            </a:pPr>
            <a:r>
              <a:rPr lang="en-US" b="1" dirty="0"/>
              <a:t>Network attack surface </a:t>
            </a:r>
            <a:r>
              <a:rPr lang="en-US" dirty="0"/>
              <a:t>(i.e., network vulnerability)</a:t>
            </a:r>
          </a:p>
          <a:p>
            <a:pPr lvl="1" eaLnBrk="1" hangingPunct="1">
              <a:defRPr/>
            </a:pPr>
            <a:r>
              <a:rPr lang="en-US" b="1" dirty="0"/>
              <a:t>Software attack surface </a:t>
            </a:r>
            <a:r>
              <a:rPr lang="en-US" dirty="0"/>
              <a:t>(i.e., software vulnerabilities) </a:t>
            </a:r>
          </a:p>
          <a:p>
            <a:pPr lvl="1" eaLnBrk="1" hangingPunct="1">
              <a:defRPr/>
            </a:pPr>
            <a:r>
              <a:rPr lang="en-US" b="1" dirty="0"/>
              <a:t>Human attack surface </a:t>
            </a:r>
            <a:r>
              <a:rPr lang="en-US" dirty="0"/>
              <a:t>(e.g., social engineering)</a:t>
            </a:r>
          </a:p>
          <a:p>
            <a:pPr eaLnBrk="1" hangingPunct="1">
              <a:defRPr/>
            </a:pPr>
            <a:r>
              <a:rPr lang="en-US" dirty="0"/>
              <a:t>Attack analysis: assessing the scale and severity of threats</a:t>
            </a:r>
          </a:p>
        </p:txBody>
      </p:sp>
    </p:spTree>
    <p:extLst>
      <p:ext uri="{BB962C8B-B14F-4D97-AF65-F5344CB8AC3E}">
        <p14:creationId xmlns:p14="http://schemas.microsoft.com/office/powerpoint/2010/main" val="2228375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a:t>Attack trees</a:t>
            </a:r>
          </a:p>
        </p:txBody>
      </p:sp>
      <p:sp>
        <p:nvSpPr>
          <p:cNvPr id="43011" name="Content Placeholder 2"/>
          <p:cNvSpPr>
            <a:spLocks noGrp="1"/>
          </p:cNvSpPr>
          <p:nvPr>
            <p:ph idx="1"/>
          </p:nvPr>
        </p:nvSpPr>
        <p:spPr/>
        <p:txBody>
          <a:bodyPr/>
          <a:lstStyle/>
          <a:p>
            <a:pPr eaLnBrk="1" hangingPunct="1"/>
            <a:r>
              <a:rPr lang="en-US" altLang="en-US"/>
              <a:t>A branching, hierarchical data structure that represents a set of potential vulnerabilities </a:t>
            </a:r>
          </a:p>
          <a:p>
            <a:pPr eaLnBrk="1" hangingPunct="1"/>
            <a:r>
              <a:rPr lang="en-US" altLang="en-US"/>
              <a:t>Objective: to effectively exploit the info available on attack patterns</a:t>
            </a:r>
          </a:p>
          <a:p>
            <a:pPr lvl="1" eaLnBrk="1" hangingPunct="1"/>
            <a:r>
              <a:rPr lang="en-US" altLang="en-US"/>
              <a:t>published on CERT or similar forums</a:t>
            </a:r>
          </a:p>
          <a:p>
            <a:pPr lvl="1" eaLnBrk="1" hangingPunct="1"/>
            <a:r>
              <a:rPr lang="en-US" altLang="en-US"/>
              <a:t>Security analysts can use the tree to guide design and strengthen coiuntermeasures </a:t>
            </a:r>
          </a:p>
        </p:txBody>
      </p:sp>
    </p:spTree>
    <p:extLst>
      <p:ext uri="{BB962C8B-B14F-4D97-AF65-F5344CB8AC3E}">
        <p14:creationId xmlns:p14="http://schemas.microsoft.com/office/powerpoint/2010/main" val="764315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r>
              <a:rPr lang="en-US" altLang="en-US"/>
              <a:t>CSC 382: Computer Security</a:t>
            </a:r>
          </a:p>
        </p:txBody>
      </p:sp>
      <p:sp>
        <p:nvSpPr>
          <p:cNvPr id="6" name="Slide Number Placeholder 4"/>
          <p:cNvSpPr>
            <a:spLocks noGrp="1"/>
          </p:cNvSpPr>
          <p:nvPr>
            <p:ph type="sldNum" sz="quarter" idx="11"/>
          </p:nvPr>
        </p:nvSpPr>
        <p:spPr/>
        <p:txBody>
          <a:bodyPr/>
          <a:lstStyle/>
          <a:p>
            <a:r>
              <a:rPr lang="en-US" altLang="en-US"/>
              <a:t>Slide #</a:t>
            </a:r>
            <a:fld id="{D9B59A03-3B87-45BC-A3E9-065586C5E9FC}" type="slidenum">
              <a:rPr lang="en-US" altLang="en-US"/>
              <a:pPr/>
              <a:t>22</a:t>
            </a:fld>
            <a:endParaRPr lang="en-US" altLang="en-US"/>
          </a:p>
        </p:txBody>
      </p:sp>
      <p:sp>
        <p:nvSpPr>
          <p:cNvPr id="427010" name="Rectangle 2"/>
          <p:cNvSpPr>
            <a:spLocks noGrp="1" noChangeArrowheads="1"/>
          </p:cNvSpPr>
          <p:nvPr>
            <p:ph type="title"/>
          </p:nvPr>
        </p:nvSpPr>
        <p:spPr/>
        <p:txBody>
          <a:bodyPr/>
          <a:lstStyle/>
          <a:p>
            <a:r>
              <a:rPr lang="en-US" altLang="en-US"/>
              <a:t>Attack Trees—Graph Notation</a:t>
            </a:r>
          </a:p>
        </p:txBody>
      </p:sp>
      <p:sp>
        <p:nvSpPr>
          <p:cNvPr id="427011" name="Rectangle 3"/>
          <p:cNvSpPr>
            <a:spLocks noGrp="1" noChangeArrowheads="1"/>
          </p:cNvSpPr>
          <p:nvPr>
            <p:ph type="body" idx="4294967295"/>
          </p:nvPr>
        </p:nvSpPr>
        <p:spPr>
          <a:xfrm>
            <a:off x="685800" y="1376363"/>
            <a:ext cx="7848600" cy="909637"/>
          </a:xfrm>
        </p:spPr>
        <p:txBody>
          <a:bodyPr/>
          <a:lstStyle/>
          <a:p>
            <a:pPr>
              <a:buFontTx/>
              <a:buNone/>
            </a:pPr>
            <a:r>
              <a:rPr lang="en-US" altLang="en-US" b="1" dirty="0"/>
              <a:t>Goal:</a:t>
            </a:r>
            <a:r>
              <a:rPr lang="en-US" altLang="en-US" dirty="0"/>
              <a:t> Read file from password-protected PC.</a:t>
            </a:r>
          </a:p>
        </p:txBody>
      </p:sp>
      <p:graphicFrame>
        <p:nvGraphicFramePr>
          <p:cNvPr id="2" name="Diagram 1"/>
          <p:cNvGraphicFramePr/>
          <p:nvPr>
            <p:extLst>
              <p:ext uri="{D42A27DB-BD31-4B8C-83A1-F6EECF244321}">
                <p14:modId xmlns:p14="http://schemas.microsoft.com/office/powerpoint/2010/main" val="3521293254"/>
              </p:ext>
            </p:extLst>
          </p:nvPr>
        </p:nvGraphicFramePr>
        <p:xfrm>
          <a:off x="685801" y="2184400"/>
          <a:ext cx="6540190" cy="21199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E11B2A61-178D-4C83-B8F7-B522ACC338F2}"/>
              </a:ext>
            </a:extLst>
          </p:cNvPr>
          <p:cNvSpPr/>
          <p:nvPr/>
        </p:nvSpPr>
        <p:spPr>
          <a:xfrm>
            <a:off x="869795" y="4923484"/>
            <a:ext cx="7225990" cy="1200329"/>
          </a:xfrm>
          <a:prstGeom prst="rect">
            <a:avLst/>
          </a:prstGeom>
        </p:spPr>
        <p:txBody>
          <a:bodyPr wrap="square">
            <a:spAutoFit/>
          </a:bodyPr>
          <a:lstStyle/>
          <a:p>
            <a:r>
              <a:rPr lang="en-US" altLang="en-US" dirty="0"/>
              <a:t>Root node represents the goal of attack; Each </a:t>
            </a:r>
            <a:r>
              <a:rPr lang="en-US" altLang="en-US" dirty="0" err="1"/>
              <a:t>subnode</a:t>
            </a:r>
            <a:r>
              <a:rPr lang="en-US" altLang="en-US" dirty="0"/>
              <a:t> defines a </a:t>
            </a:r>
            <a:r>
              <a:rPr lang="en-US" altLang="en-US" dirty="0" err="1"/>
              <a:t>subgoal</a:t>
            </a:r>
            <a:r>
              <a:rPr lang="en-US" altLang="en-US" dirty="0"/>
              <a:t> of the attack; leaves represent different ways to initialize the attack.</a:t>
            </a:r>
          </a:p>
          <a:p>
            <a:endParaRPr lang="en-US" altLang="en-US" dirty="0"/>
          </a:p>
          <a:p>
            <a:r>
              <a:rPr lang="en-US" altLang="en-US" dirty="0"/>
              <a:t>Each node other than the leaf node is either an AND-node, or an OR-node. </a:t>
            </a:r>
          </a:p>
        </p:txBody>
      </p:sp>
    </p:spTree>
    <p:extLst>
      <p:ext uri="{BB962C8B-B14F-4D97-AF65-F5344CB8AC3E}">
        <p14:creationId xmlns:p14="http://schemas.microsoft.com/office/powerpoint/2010/main" val="1815012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1248936" y="-78697"/>
            <a:ext cx="6734881" cy="706669"/>
          </a:xfrm>
        </p:spPr>
        <p:txBody>
          <a:bodyPr>
            <a:normAutofit fontScale="90000"/>
          </a:bodyPr>
          <a:lstStyle/>
          <a:p>
            <a:pPr eaLnBrk="1" hangingPunct="1"/>
            <a:r>
              <a:rPr lang="en-US" altLang="en-US" dirty="0"/>
              <a:t>Another attack tree</a:t>
            </a:r>
          </a:p>
        </p:txBody>
      </p:sp>
      <p:pic>
        <p:nvPicPr>
          <p:cNvPr id="4403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457" y="627972"/>
            <a:ext cx="6734881" cy="589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378AD4DF-63E4-40F6-9F40-E2688C6B9ED1}"/>
              </a:ext>
            </a:extLst>
          </p:cNvPr>
          <p:cNvSpPr/>
          <p:nvPr/>
        </p:nvSpPr>
        <p:spPr>
          <a:xfrm>
            <a:off x="122661" y="2968446"/>
            <a:ext cx="2319456" cy="738664"/>
          </a:xfrm>
          <a:prstGeom prst="rect">
            <a:avLst/>
          </a:prstGeom>
        </p:spPr>
        <p:txBody>
          <a:bodyPr wrap="square">
            <a:spAutoFit/>
          </a:bodyPr>
          <a:lstStyle/>
          <a:p>
            <a:r>
              <a:rPr lang="en-US" sz="1400" dirty="0"/>
              <a:t>UT/U: User Terminal and user</a:t>
            </a:r>
          </a:p>
          <a:p>
            <a:r>
              <a:rPr lang="en-US" sz="1400" dirty="0"/>
              <a:t>CC: Communication Channel</a:t>
            </a:r>
          </a:p>
          <a:p>
            <a:r>
              <a:rPr lang="en-US" sz="1400" dirty="0"/>
              <a:t>IBS: Internal Banking Service</a:t>
            </a:r>
          </a:p>
        </p:txBody>
      </p:sp>
    </p:spTree>
    <p:extLst>
      <p:ext uri="{BB962C8B-B14F-4D97-AF65-F5344CB8AC3E}">
        <p14:creationId xmlns:p14="http://schemas.microsoft.com/office/powerpoint/2010/main" val="1725733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3"/>
          <p:cNvSpPr>
            <a:spLocks noGrp="1"/>
          </p:cNvSpPr>
          <p:nvPr>
            <p:ph type="dt" sz="quarter" idx="10"/>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r>
              <a:rPr lang="en-US" altLang="zh-CN" sz="1600"/>
              <a:t>CEG 260, Meilin Liu </a:t>
            </a:r>
          </a:p>
        </p:txBody>
      </p:sp>
      <p:sp>
        <p:nvSpPr>
          <p:cNvPr id="6147" name="Slide Number Placeholder 5"/>
          <p:cNvSpPr>
            <a:spLocks noGrp="1"/>
          </p:cNvSpPr>
          <p:nvPr>
            <p:ph type="sldNum" sz="quarter" idx="12"/>
          </p:nvPr>
        </p:nvSpPr>
        <p:spPr>
          <a:noFill/>
        </p:spPr>
        <p:txBody>
          <a:bodyPr/>
          <a:lstStyle>
            <a:lvl1pPr>
              <a:lnSpc>
                <a:spcPct val="95000"/>
              </a:lnSpc>
              <a:spcBef>
                <a:spcPct val="20000"/>
              </a:spcBef>
              <a:defRPr sz="2400">
                <a:solidFill>
                  <a:schemeClr val="tx1"/>
                </a:solidFill>
                <a:latin typeface="Times New Roman" panose="02020603050405020304" pitchFamily="18" charset="0"/>
              </a:defRPr>
            </a:lvl1pPr>
            <a:lvl2pPr marL="742950" indent="-285750">
              <a:lnSpc>
                <a:spcPct val="90000"/>
              </a:lnSpc>
              <a:spcBef>
                <a:spcPct val="20000"/>
              </a:spcBef>
              <a:buClr>
                <a:srgbClr val="000099"/>
              </a:buClr>
              <a:buFont typeface="Wingdings" panose="05000000000000000000" pitchFamily="2" charset="2"/>
              <a:buChar char="Ø"/>
              <a:defRPr sz="2200">
                <a:solidFill>
                  <a:schemeClr val="tx1"/>
                </a:solidFill>
                <a:latin typeface="Times New Roman" panose="02020603050405020304" pitchFamily="18" charset="0"/>
              </a:defRPr>
            </a:lvl2pPr>
            <a:lvl3pPr marL="1143000" indent="-22860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nSpc>
                <a:spcPct val="100000"/>
              </a:lnSpc>
              <a:spcBef>
                <a:spcPct val="0"/>
              </a:spcBef>
            </a:pPr>
            <a:fld id="{EEA53B21-A2D0-49D3-A627-2CE31E4FCF08}" type="slidenum">
              <a:rPr lang="zh-CN" altLang="en-US" sz="1400" smtClean="0"/>
              <a:pPr>
                <a:lnSpc>
                  <a:spcPct val="100000"/>
                </a:lnSpc>
                <a:spcBef>
                  <a:spcPct val="0"/>
                </a:spcBef>
              </a:pPr>
              <a:t>24</a:t>
            </a:fld>
            <a:endParaRPr lang="en-US" altLang="zh-CN" sz="1400"/>
          </a:p>
        </p:txBody>
      </p:sp>
      <p:sp>
        <p:nvSpPr>
          <p:cNvPr id="6148" name="Rectangle 2"/>
          <p:cNvSpPr>
            <a:spLocks noGrp="1" noChangeArrowheads="1"/>
          </p:cNvSpPr>
          <p:nvPr>
            <p:ph type="title"/>
          </p:nvPr>
        </p:nvSpPr>
        <p:spPr>
          <a:xfrm>
            <a:off x="72572" y="76200"/>
            <a:ext cx="8229600" cy="1143000"/>
          </a:xfrm>
        </p:spPr>
        <p:txBody>
          <a:bodyPr>
            <a:normAutofit fontScale="90000"/>
          </a:bodyPr>
          <a:lstStyle/>
          <a:p>
            <a:pPr eaLnBrk="1" hangingPunct="1"/>
            <a:r>
              <a:rPr lang="en-US" altLang="en-US" dirty="0">
                <a:solidFill>
                  <a:srgbClr val="C00000"/>
                </a:solidFill>
              </a:rPr>
              <a:t>Cybersecurity Safeguards and Countermeasures</a:t>
            </a:r>
            <a:endParaRPr lang="en-AU" altLang="en-US" dirty="0">
              <a:solidFill>
                <a:srgbClr val="C00000"/>
              </a:solidFill>
            </a:endParaRPr>
          </a:p>
        </p:txBody>
      </p:sp>
      <p:sp>
        <p:nvSpPr>
          <p:cNvPr id="6149" name="Rectangle 3"/>
          <p:cNvSpPr>
            <a:spLocks noGrp="1" noChangeArrowheads="1"/>
          </p:cNvSpPr>
          <p:nvPr>
            <p:ph type="body" idx="1"/>
          </p:nvPr>
        </p:nvSpPr>
        <p:spPr>
          <a:xfrm>
            <a:off x="609600" y="1591468"/>
            <a:ext cx="8229600" cy="4392613"/>
          </a:xfrm>
        </p:spPr>
        <p:txBody>
          <a:bodyPr/>
          <a:lstStyle/>
          <a:p>
            <a:pPr marL="457200" indent="-457200" eaLnBrk="1" hangingPunct="1">
              <a:lnSpc>
                <a:spcPct val="80000"/>
              </a:lnSpc>
              <a:buFontTx/>
              <a:buAutoNum type="arabicPeriod"/>
              <a:defRPr/>
            </a:pPr>
            <a:r>
              <a:rPr lang="en-AU" altLang="zh-CN" i="1" dirty="0">
                <a:ea typeface="宋体" panose="02010600030101010101" pitchFamily="2" charset="-122"/>
              </a:rPr>
              <a:t>Functional Safeguards</a:t>
            </a:r>
          </a:p>
          <a:p>
            <a:pPr marL="400050" lvl="1" indent="0" eaLnBrk="1" hangingPunct="1">
              <a:lnSpc>
                <a:spcPct val="80000"/>
              </a:lnSpc>
              <a:defRPr/>
            </a:pPr>
            <a:r>
              <a:rPr lang="en-AU" altLang="zh-CN" i="1" dirty="0">
                <a:ea typeface="宋体" panose="02010600030101010101" pitchFamily="2" charset="-122"/>
              </a:rPr>
              <a:t>Cryptography, Firewalls, Intrusion Detection</a:t>
            </a:r>
          </a:p>
          <a:p>
            <a:pPr marL="400050" lvl="1" indent="0" eaLnBrk="1" hangingPunct="1">
              <a:lnSpc>
                <a:spcPct val="80000"/>
              </a:lnSpc>
              <a:defRPr/>
            </a:pPr>
            <a:endParaRPr lang="en-AU" altLang="zh-CN" i="1" dirty="0">
              <a:ea typeface="宋体" panose="02010600030101010101" pitchFamily="2" charset="-122"/>
            </a:endParaRPr>
          </a:p>
          <a:p>
            <a:pPr marL="0" indent="0" eaLnBrk="1" hangingPunct="1">
              <a:lnSpc>
                <a:spcPct val="80000"/>
              </a:lnSpc>
              <a:defRPr/>
            </a:pPr>
            <a:r>
              <a:rPr lang="en-AU" altLang="zh-CN" i="1" dirty="0">
                <a:ea typeface="宋体" panose="02010600030101010101" pitchFamily="2" charset="-122"/>
              </a:rPr>
              <a:t>2. Procedural Safeguards</a:t>
            </a:r>
          </a:p>
          <a:p>
            <a:pPr marL="400050" lvl="1" indent="0" eaLnBrk="1" hangingPunct="1">
              <a:lnSpc>
                <a:spcPct val="80000"/>
              </a:lnSpc>
              <a:defRPr/>
            </a:pPr>
            <a:r>
              <a:rPr lang="en-AU" altLang="zh-CN" i="1" dirty="0">
                <a:ea typeface="宋体" panose="02010600030101010101" pitchFamily="2" charset="-122"/>
              </a:rPr>
              <a:t>Administrative, Configuration, use</a:t>
            </a:r>
          </a:p>
          <a:p>
            <a:pPr marL="400050" lvl="1" indent="0" eaLnBrk="1" hangingPunct="1">
              <a:lnSpc>
                <a:spcPct val="80000"/>
              </a:lnSpc>
              <a:defRPr/>
            </a:pPr>
            <a:endParaRPr lang="en-AU" altLang="zh-CN" i="1" dirty="0">
              <a:ea typeface="宋体" panose="02010600030101010101" pitchFamily="2" charset="-122"/>
            </a:endParaRPr>
          </a:p>
          <a:p>
            <a:pPr marL="0" indent="0" eaLnBrk="1" hangingPunct="1">
              <a:lnSpc>
                <a:spcPct val="80000"/>
              </a:lnSpc>
              <a:defRPr/>
            </a:pPr>
            <a:r>
              <a:rPr lang="en-AU" altLang="zh-CN" i="1" dirty="0">
                <a:ea typeface="宋体" panose="02010600030101010101" pitchFamily="2" charset="-122"/>
              </a:rPr>
              <a:t>3. Policy Safeguards</a:t>
            </a:r>
          </a:p>
          <a:p>
            <a:pPr marL="400050" lvl="1" indent="0" eaLnBrk="1" hangingPunct="1">
              <a:lnSpc>
                <a:spcPct val="80000"/>
              </a:lnSpc>
              <a:defRPr/>
            </a:pPr>
            <a:r>
              <a:rPr lang="en-AU" altLang="zh-CN" i="1" dirty="0">
                <a:ea typeface="宋体" panose="02010600030101010101" pitchFamily="2" charset="-122"/>
              </a:rPr>
              <a:t>Rules, Consequences, Regulations, Fines</a:t>
            </a:r>
            <a:endParaRPr lang="en-AU" altLang="zh-CN" dirty="0">
              <a:ea typeface="宋体" panose="02010600030101010101" pitchFamily="2" charset="-122"/>
            </a:endParaRPr>
          </a:p>
          <a:p>
            <a:pPr eaLnBrk="1" hangingPunct="1">
              <a:lnSpc>
                <a:spcPct val="80000"/>
              </a:lnSpc>
              <a:defRPr/>
            </a:pPr>
            <a:endParaRPr lang="en-AU" altLang="zh-CN" dirty="0">
              <a:ea typeface="宋体" panose="02010600030101010101" pitchFamily="2" charset="-122"/>
            </a:endParaRPr>
          </a:p>
          <a:p>
            <a:pPr eaLnBrk="1" hangingPunct="1">
              <a:lnSpc>
                <a:spcPct val="80000"/>
              </a:lnSpc>
              <a:defRPr/>
            </a:pPr>
            <a:endParaRPr lang="en-AU" altLang="zh-CN" sz="1800" dirty="0">
              <a:ea typeface="宋体" panose="02010600030101010101" pitchFamily="2" charset="-122"/>
            </a:endParaRPr>
          </a:p>
          <a:p>
            <a:pPr eaLnBrk="1" hangingPunct="1">
              <a:lnSpc>
                <a:spcPct val="80000"/>
              </a:lnSpc>
              <a:defRPr/>
            </a:pPr>
            <a:endParaRPr lang="en-AU" altLang="zh-CN" sz="1800" dirty="0">
              <a:ea typeface="宋体" panose="02010600030101010101" pitchFamily="2" charset="-122"/>
            </a:endParaRPr>
          </a:p>
          <a:p>
            <a:pPr eaLnBrk="1" hangingPunct="1">
              <a:lnSpc>
                <a:spcPct val="80000"/>
              </a:lnSpc>
              <a:defRPr/>
            </a:pPr>
            <a:endParaRPr lang="en-AU" altLang="en-US" sz="1800" dirty="0"/>
          </a:p>
        </p:txBody>
      </p:sp>
    </p:spTree>
    <p:extLst>
      <p:ext uri="{BB962C8B-B14F-4D97-AF65-F5344CB8AC3E}">
        <p14:creationId xmlns:p14="http://schemas.microsoft.com/office/powerpoint/2010/main" val="2749425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Challenge of Security</a:t>
            </a:r>
          </a:p>
        </p:txBody>
      </p:sp>
      <p:sp>
        <p:nvSpPr>
          <p:cNvPr id="3" name="Content Placeholder 2"/>
          <p:cNvSpPr>
            <a:spLocks noGrp="1"/>
          </p:cNvSpPr>
          <p:nvPr>
            <p:ph idx="1"/>
          </p:nvPr>
        </p:nvSpPr>
        <p:spPr/>
        <p:txBody>
          <a:bodyPr>
            <a:normAutofit/>
          </a:bodyPr>
          <a:lstStyle/>
          <a:p>
            <a:r>
              <a:rPr lang="en-US" sz="2400" dirty="0"/>
              <a:t>Security is too often an afterthought to be incorporated into a system after the design is complete rather than being an integral part of the design process. </a:t>
            </a:r>
          </a:p>
          <a:p>
            <a:r>
              <a:rPr lang="en-US" altLang="en-US" sz="2400" dirty="0"/>
              <a:t>Despite years of research, it is still difficult to design systems that comprehensively prevent security flaws</a:t>
            </a:r>
          </a:p>
          <a:p>
            <a:r>
              <a:rPr lang="en-US" altLang="en-US" sz="2400" dirty="0"/>
              <a:t>But good practices for good design have been documented (analogous to software engineering)</a:t>
            </a:r>
          </a:p>
          <a:p>
            <a:endParaRPr lang="en-US" sz="2000" dirty="0"/>
          </a:p>
          <a:p>
            <a:pPr marL="457200" lvl="1" indent="0">
              <a:buNone/>
            </a:pPr>
            <a:endParaRPr lang="en-US" sz="1600" dirty="0"/>
          </a:p>
        </p:txBody>
      </p:sp>
    </p:spTree>
    <p:extLst>
      <p:ext uri="{BB962C8B-B14F-4D97-AF65-F5344CB8AC3E}">
        <p14:creationId xmlns:p14="http://schemas.microsoft.com/office/powerpoint/2010/main" val="1603003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Challenge of Security</a:t>
            </a:r>
          </a:p>
        </p:txBody>
      </p:sp>
      <p:sp>
        <p:nvSpPr>
          <p:cNvPr id="3" name="Content Placeholder 2"/>
          <p:cNvSpPr>
            <a:spLocks noGrp="1"/>
          </p:cNvSpPr>
          <p:nvPr>
            <p:ph idx="1"/>
          </p:nvPr>
        </p:nvSpPr>
        <p:spPr>
          <a:xfrm>
            <a:off x="377372" y="1244600"/>
            <a:ext cx="8229600" cy="4525963"/>
          </a:xfrm>
        </p:spPr>
        <p:txBody>
          <a:bodyPr>
            <a:normAutofit/>
          </a:bodyPr>
          <a:lstStyle/>
          <a:p>
            <a:endParaRPr lang="en-US" sz="2000" dirty="0"/>
          </a:p>
          <a:p>
            <a:r>
              <a:rPr lang="en-US" sz="2000" dirty="0"/>
              <a:t>Fundamental Security Design Principles</a:t>
            </a:r>
          </a:p>
          <a:p>
            <a:pPr lvl="1"/>
            <a:r>
              <a:rPr lang="en-US" sz="1600" dirty="0"/>
              <a:t>Economy of mechanism</a:t>
            </a:r>
          </a:p>
          <a:p>
            <a:pPr lvl="1"/>
            <a:r>
              <a:rPr lang="en-US" sz="1600" dirty="0"/>
              <a:t>Fail-Safe defaults</a:t>
            </a:r>
          </a:p>
          <a:p>
            <a:pPr lvl="1"/>
            <a:r>
              <a:rPr lang="en-US" sz="1600" dirty="0"/>
              <a:t>Complete mediation</a:t>
            </a:r>
          </a:p>
          <a:p>
            <a:pPr lvl="1"/>
            <a:r>
              <a:rPr lang="en-US" sz="1600" dirty="0"/>
              <a:t>Open Design</a:t>
            </a:r>
          </a:p>
          <a:p>
            <a:pPr lvl="1"/>
            <a:r>
              <a:rPr lang="en-US" sz="1600" dirty="0"/>
              <a:t>Separation of Privilege</a:t>
            </a:r>
          </a:p>
          <a:p>
            <a:pPr lvl="1"/>
            <a:r>
              <a:rPr lang="en-US" sz="1600" dirty="0"/>
              <a:t>Least Common Mechanism</a:t>
            </a:r>
          </a:p>
          <a:p>
            <a:pPr lvl="1"/>
            <a:r>
              <a:rPr lang="en-US" sz="1600" dirty="0"/>
              <a:t>Psychological Acceptability</a:t>
            </a:r>
          </a:p>
          <a:p>
            <a:pPr lvl="1"/>
            <a:r>
              <a:rPr lang="en-US" altLang="en-US" sz="1600" dirty="0"/>
              <a:t>Isolation, </a:t>
            </a:r>
          </a:p>
          <a:p>
            <a:pPr lvl="1"/>
            <a:r>
              <a:rPr lang="en-US" altLang="en-US" sz="1600" dirty="0"/>
              <a:t>Encapsulation</a:t>
            </a:r>
          </a:p>
          <a:p>
            <a:pPr lvl="1"/>
            <a:r>
              <a:rPr lang="en-US" altLang="en-US" sz="1600" dirty="0"/>
              <a:t>Modularity</a:t>
            </a:r>
          </a:p>
          <a:p>
            <a:pPr lvl="1"/>
            <a:r>
              <a:rPr lang="en-US" altLang="en-US" sz="1600" dirty="0"/>
              <a:t>Layering</a:t>
            </a:r>
          </a:p>
          <a:p>
            <a:pPr lvl="1"/>
            <a:r>
              <a:rPr lang="en-US" altLang="en-US" sz="1600" dirty="0"/>
              <a:t>Least astonishment</a:t>
            </a:r>
          </a:p>
          <a:p>
            <a:pPr lvl="1"/>
            <a:endParaRPr lang="en-US" sz="1600" dirty="0"/>
          </a:p>
        </p:txBody>
      </p:sp>
    </p:spTree>
    <p:extLst>
      <p:ext uri="{BB962C8B-B14F-4D97-AF65-F5344CB8AC3E}">
        <p14:creationId xmlns:p14="http://schemas.microsoft.com/office/powerpoint/2010/main" val="3669624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2294</Words>
  <Application>Microsoft Office PowerPoint</Application>
  <PresentationFormat>On-screen Show (4:3)</PresentationFormat>
  <Paragraphs>278</Paragraphs>
  <Slides>26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宋体</vt:lpstr>
      <vt:lpstr>Arial</vt:lpstr>
      <vt:lpstr>Calibri</vt:lpstr>
      <vt:lpstr>Lucida Sans Unicode</vt:lpstr>
      <vt:lpstr>Times New Roman</vt:lpstr>
      <vt:lpstr>Office Theme</vt:lpstr>
      <vt:lpstr>Fundamental Concepts of Security</vt:lpstr>
      <vt:lpstr>Security Objectives</vt:lpstr>
      <vt:lpstr>Confidentiality</vt:lpstr>
      <vt:lpstr>Integrity</vt:lpstr>
      <vt:lpstr>Availability</vt:lpstr>
      <vt:lpstr>Terminology</vt:lpstr>
      <vt:lpstr>Vulnerability, Threat, and Attack</vt:lpstr>
      <vt:lpstr>Prevention, Detection, Mitigation</vt:lpstr>
      <vt:lpstr>Systems with Security Challenges</vt:lpstr>
      <vt:lpstr>Computer Security Losses</vt:lpstr>
      <vt:lpstr>Security Technologies Used</vt:lpstr>
      <vt:lpstr>Policies and Mechanisms</vt:lpstr>
      <vt:lpstr>Goals of Security</vt:lpstr>
      <vt:lpstr>Threat consequences</vt:lpstr>
      <vt:lpstr>Threat consequences (tabular form)</vt:lpstr>
      <vt:lpstr>Examples of threats</vt:lpstr>
      <vt:lpstr>Categorization of Attacks</vt:lpstr>
      <vt:lpstr> Active/Passive Attacks </vt:lpstr>
      <vt:lpstr> Active/Passive Attacks </vt:lpstr>
      <vt:lpstr>Attack surfaces</vt:lpstr>
      <vt:lpstr>Attack trees</vt:lpstr>
      <vt:lpstr>Attack Trees—Graph Notation</vt:lpstr>
      <vt:lpstr>Another attack tree</vt:lpstr>
      <vt:lpstr>Cybersecurity Safeguards and Countermeasures</vt:lpstr>
      <vt:lpstr>Challenge of Security</vt:lpstr>
      <vt:lpstr>Challenge of Security</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Junjie Zhang</dc:creator>
  <cp:lastModifiedBy>Meilin</cp:lastModifiedBy>
  <cp:revision>712</cp:revision>
  <dcterms:created xsi:type="dcterms:W3CDTF">2014-02-25T02:06:58Z</dcterms:created>
  <dcterms:modified xsi:type="dcterms:W3CDTF">2024-01-12T21:44:23Z</dcterms:modified>
</cp:coreProperties>
</file>