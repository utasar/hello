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4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469" r:id="rId15"/>
    <p:sldId id="470" r:id="rId16"/>
    <p:sldId id="4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1"/>
    <p:restoredTop sz="94627"/>
  </p:normalViewPr>
  <p:slideViewPr>
    <p:cSldViewPr snapToGrid="0" snapToObjects="1">
      <p:cViewPr varScale="1">
        <p:scale>
          <a:sx n="78" d="100"/>
          <a:sy n="78" d="100"/>
        </p:scale>
        <p:origin x="165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ED502-7DE3-6E48-B045-99EFC4CD3F6F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B124-8E1E-274D-8567-E171330D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5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/>
              <a:t>Zili Shao</a:t>
            </a:r>
            <a:endParaRPr lang="en-US" altLang="zh-CN"/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F5A365-C45F-4D6D-BAC1-6F0304937173}" type="slidenum">
              <a:rPr lang="zh-CN" altLang="en-US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675" y="4487863"/>
            <a:ext cx="5251450" cy="4252912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423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/>
              <a:t>Zili Shao</a:t>
            </a:r>
            <a:endParaRPr lang="en-US" altLang="zh-CN"/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E40F086-3015-41AB-BE0E-3D361FE82B13}" type="slidenum">
              <a:rPr lang="zh-CN" altLang="en-US" smtClean="0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28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5963" y="4487863"/>
            <a:ext cx="5730875" cy="4252912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932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/>
              <a:t>Zili Shao</a:t>
            </a:r>
            <a:endParaRPr lang="en-US" altLang="zh-CN"/>
          </a:p>
        </p:txBody>
      </p:sp>
      <p:sp>
        <p:nvSpPr>
          <p:cNvPr id="307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D78E66-59E8-41E1-9FBD-FF2849A7ABB2}" type="slidenum">
              <a:rPr lang="zh-CN" altLang="en-US" smtClean="0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30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5963" y="4487863"/>
            <a:ext cx="5730875" cy="4252912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1198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/>
              <a:t>Zili Shao</a:t>
            </a:r>
            <a:endParaRPr lang="en-US" altLang="zh-CN"/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E78DD90-1263-4FCC-AADF-ECC12EADB8A5}" type="slidenum">
              <a:rPr lang="zh-CN" altLang="en-US" smtClean="0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5963" y="4487863"/>
            <a:ext cx="5730875" cy="4252912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456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6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1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1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7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7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69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1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166C2-98B5-6B47-A9D0-E6558DFD749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E137B-368C-A84D-AA6E-968EF164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3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Cryptography </a:t>
            </a:r>
            <a:br>
              <a:rPr lang="en-US" altLang="zh-CN" dirty="0"/>
            </a:br>
            <a:r>
              <a:rPr lang="en-US" altLang="zh-CN" dirty="0"/>
              <a:t>Basic Terms and Concepts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en-US" dirty="0">
                <a:solidFill>
                  <a:srgbClr val="00B0F0"/>
                </a:solidFill>
              </a:rPr>
              <a:t>This lecture slide is mainly based on the power point slides by Professor Lawrie Brown, Dr. </a:t>
            </a:r>
            <a:r>
              <a:rPr lang="en-US" altLang="en-US" dirty="0" err="1">
                <a:solidFill>
                  <a:srgbClr val="00B0F0"/>
                </a:solidFill>
              </a:rPr>
              <a:t>Junjie</a:t>
            </a:r>
            <a:r>
              <a:rPr lang="en-US" altLang="en-US">
                <a:solidFill>
                  <a:srgbClr val="00B0F0"/>
                </a:solidFill>
              </a:rPr>
              <a:t> Zhang.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34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0103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Cryptography is the art and science of secret writing</a:t>
            </a:r>
          </a:p>
          <a:p>
            <a:pPr lvl="1"/>
            <a:r>
              <a:rPr lang="en-US" dirty="0"/>
              <a:t>Crypto: hidden, secret</a:t>
            </a:r>
          </a:p>
          <a:p>
            <a:pPr lvl="1"/>
            <a:r>
              <a:rPr lang="en-US" dirty="0"/>
              <a:t>Graph: writing</a:t>
            </a:r>
          </a:p>
          <a:p>
            <a:pPr lvl="1">
              <a:buNone/>
            </a:pPr>
            <a:endParaRPr lang="en-US" dirty="0"/>
          </a:p>
          <a:p>
            <a:r>
              <a:rPr lang="en-US" dirty="0"/>
              <a:t>“…… is about communication in the presence of adversaries” (R. </a:t>
            </a:r>
            <a:r>
              <a:rPr lang="en-US" dirty="0" err="1"/>
              <a:t>Rivest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pic>
        <p:nvPicPr>
          <p:cNvPr id="4" name="Picture 3" descr="skyt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715" y="2069050"/>
            <a:ext cx="2050550" cy="1173940"/>
          </a:xfrm>
          <a:prstGeom prst="rect">
            <a:avLst/>
          </a:prstGeom>
        </p:spPr>
      </p:pic>
      <p:pic>
        <p:nvPicPr>
          <p:cNvPr id="5" name="Picture 4" descr="cartoon_girl_st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141" y="4179931"/>
            <a:ext cx="819855" cy="1383868"/>
          </a:xfrm>
          <a:prstGeom prst="rect">
            <a:avLst/>
          </a:prstGeom>
        </p:spPr>
      </p:pic>
      <p:pic>
        <p:nvPicPr>
          <p:cNvPr id="6" name="Picture 5" descr="cutecharacterint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761" y="4030805"/>
            <a:ext cx="1067160" cy="1602509"/>
          </a:xfrm>
          <a:prstGeom prst="rect">
            <a:avLst/>
          </a:prstGeom>
        </p:spPr>
      </p:pic>
      <p:cxnSp>
        <p:nvCxnSpPr>
          <p:cNvPr id="7" name="Straight Arrow Connector 6"/>
          <p:cNvCxnSpPr>
            <a:stCxn id="5" idx="3"/>
          </p:cNvCxnSpPr>
          <p:nvPr/>
        </p:nvCxnSpPr>
        <p:spPr>
          <a:xfrm flipV="1">
            <a:off x="2564996" y="4866454"/>
            <a:ext cx="694187" cy="54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014574" y="4871865"/>
            <a:ext cx="694187" cy="54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478547" y="4866454"/>
            <a:ext cx="1316182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9893" y="5644859"/>
            <a:ext cx="63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018" y="5644859"/>
            <a:ext cx="55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1000" y="4381543"/>
            <a:ext cx="11100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message</a:t>
            </a:r>
          </a:p>
        </p:txBody>
      </p:sp>
      <p:grpSp>
        <p:nvGrpSpPr>
          <p:cNvPr id="13" name="Group 18"/>
          <p:cNvGrpSpPr/>
          <p:nvPr/>
        </p:nvGrpSpPr>
        <p:grpSpPr>
          <a:xfrm>
            <a:off x="3139036" y="4854915"/>
            <a:ext cx="1772428" cy="1645873"/>
            <a:chOff x="3112580" y="4934295"/>
            <a:chExt cx="1772428" cy="1645873"/>
          </a:xfrm>
        </p:grpSpPr>
        <p:sp>
          <p:nvSpPr>
            <p:cNvPr id="14" name="TextBox 13"/>
            <p:cNvSpPr txBox="1"/>
            <p:nvPr/>
          </p:nvSpPr>
          <p:spPr>
            <a:xfrm>
              <a:off x="3325096" y="6210836"/>
              <a:ext cx="1274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Adversaries</a:t>
              </a:r>
            </a:p>
          </p:txBody>
        </p:sp>
        <p:grpSp>
          <p:nvGrpSpPr>
            <p:cNvPr id="15" name="Group 17"/>
            <p:cNvGrpSpPr/>
            <p:nvPr/>
          </p:nvGrpSpPr>
          <p:grpSpPr>
            <a:xfrm>
              <a:off x="3112580" y="4934295"/>
              <a:ext cx="1772428" cy="1299858"/>
              <a:chOff x="3112580" y="4934295"/>
              <a:chExt cx="1772428" cy="1299858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3112580" y="4934295"/>
                <a:ext cx="1772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Insecure channel</a:t>
                </a:r>
              </a:p>
            </p:txBody>
          </p:sp>
          <p:pic>
            <p:nvPicPr>
              <p:cNvPr id="17" name="Picture 16" descr="cartoon_devil.gif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3057" y="5216014"/>
                <a:ext cx="1126260" cy="101813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8842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/>
              <a:t>CEG 260, Meilin Liu 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BE84AD04-B2A0-425D-870E-EF7AD1295689}" type="slidenum">
              <a:rPr lang="zh-CN" altLang="en-US" sz="1400" smtClean="0"/>
              <a:pPr>
                <a:lnSpc>
                  <a:spcPct val="100000"/>
                </a:lnSpc>
                <a:spcBef>
                  <a:spcPct val="0"/>
                </a:spcBef>
              </a:pPr>
              <a:t>3</a:t>
            </a:fld>
            <a:endParaRPr lang="en-US" altLang="zh-CN" sz="14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What’s the Cryptography</a:t>
            </a:r>
          </a:p>
        </p:txBody>
      </p:sp>
      <p:sp>
        <p:nvSpPr>
          <p:cNvPr id="7173" name="Text Box 3"/>
          <p:cNvSpPr txBox="1">
            <a:spLocks noChangeArrowheads="1"/>
          </p:cNvSpPr>
          <p:nvPr/>
        </p:nvSpPr>
        <p:spPr bwMode="auto">
          <a:xfrm>
            <a:off x="533400" y="1371600"/>
            <a:ext cx="8197850" cy="473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The original intelligible message, referred to as plaintext, 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en-US"/>
              <a:t>is converted into apparently random nonsense, 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en-US"/>
              <a:t>referred to as ciphertext. The encryption process consists 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en-US"/>
              <a:t>of an algorithm and a key.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AU" altLang="zh-CN" b="1">
                <a:ea typeface="宋体" panose="02010600030101010101" pitchFamily="2" charset="-122"/>
              </a:rPr>
              <a:t>C</a:t>
            </a:r>
            <a:r>
              <a:rPr lang="en-AU" altLang="en-US" b="1"/>
              <a:t>ryptography</a:t>
            </a:r>
            <a:r>
              <a:rPr lang="en-AU" altLang="en-US"/>
              <a:t> - study of encryption principles/methods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AU" altLang="zh-CN" b="1">
                <a:ea typeface="宋体" panose="02010600030101010101" pitchFamily="2" charset="-122"/>
              </a:rPr>
              <a:t>C</a:t>
            </a:r>
            <a:r>
              <a:rPr lang="en-AU" altLang="en-US" b="1"/>
              <a:t>ryptanalysis (codebreaking)</a:t>
            </a:r>
            <a:r>
              <a:rPr lang="en-AU" altLang="en-US"/>
              <a:t> - the study of principles/methods </a:t>
            </a:r>
            <a:endParaRPr lang="en-AU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AU" altLang="en-US"/>
              <a:t>of deciphering ciphertext </a:t>
            </a:r>
            <a:r>
              <a:rPr lang="en-AU" altLang="en-US" i="1"/>
              <a:t>without</a:t>
            </a:r>
            <a:r>
              <a:rPr lang="en-AU" altLang="en-US"/>
              <a:t> knowing key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AU" altLang="zh-CN" b="1">
                <a:ea typeface="宋体" panose="02010600030101010101" pitchFamily="2" charset="-122"/>
              </a:rPr>
              <a:t>C</a:t>
            </a:r>
            <a:r>
              <a:rPr lang="en-AU" altLang="en-US" b="1"/>
              <a:t>ryptology</a:t>
            </a:r>
            <a:r>
              <a:rPr lang="en-AU" altLang="en-US"/>
              <a:t> - the field of both cryptography and cryptanalysis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40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/>
              <a:t>Confidentiality</a:t>
            </a:r>
            <a:r>
              <a:rPr lang="en-US" dirty="0"/>
              <a:t>: ensuring that information is accessible to those authorized to have access</a:t>
            </a:r>
          </a:p>
          <a:p>
            <a:endParaRPr lang="en-US" dirty="0"/>
          </a:p>
          <a:p>
            <a:r>
              <a:rPr lang="en-US" b="1" i="1" dirty="0"/>
              <a:t>Authentication</a:t>
            </a:r>
            <a:r>
              <a:rPr lang="en-US" dirty="0"/>
              <a:t>: the process of proving one’s identity</a:t>
            </a:r>
          </a:p>
          <a:p>
            <a:endParaRPr lang="en-US" dirty="0"/>
          </a:p>
          <a:p>
            <a:pPr lvl="0"/>
            <a:r>
              <a:rPr lang="en-US" b="1" i="1" dirty="0"/>
              <a:t>Integrity</a:t>
            </a:r>
            <a:r>
              <a:rPr lang="en-US" dirty="0"/>
              <a:t>: assuring the receiver that the received message has not been alerted in any way from the original</a:t>
            </a:r>
          </a:p>
        </p:txBody>
      </p:sp>
    </p:spTree>
    <p:extLst>
      <p:ext uri="{BB962C8B-B14F-4D97-AF65-F5344CB8AC3E}">
        <p14:creationId xmlns:p14="http://schemas.microsoft.com/office/powerpoint/2010/main" val="326070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A cryptosystem is a 5-tuple consisting of</a:t>
            </a:r>
          </a:p>
          <a:p>
            <a:pPr algn="ctr">
              <a:buNone/>
            </a:pPr>
            <a:r>
              <a:rPr lang="en-US" b="1" i="1" dirty="0"/>
              <a:t>(E, D, M, K, C)</a:t>
            </a:r>
          </a:p>
          <a:p>
            <a:pPr>
              <a:buNone/>
            </a:pPr>
            <a:r>
              <a:rPr lang="en-US" dirty="0"/>
              <a:t>Where,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E</a:t>
            </a:r>
            <a:r>
              <a:rPr lang="en-US" dirty="0"/>
              <a:t> is the set of </a:t>
            </a:r>
            <a:r>
              <a:rPr lang="en-US" b="1" i="1" dirty="0">
                <a:solidFill>
                  <a:srgbClr val="FF0000"/>
                </a:solidFill>
              </a:rPr>
              <a:t>encryption</a:t>
            </a:r>
            <a:r>
              <a:rPr lang="en-US" dirty="0"/>
              <a:t> algorithms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D</a:t>
            </a:r>
            <a:r>
              <a:rPr lang="en-US" dirty="0"/>
              <a:t> is the set of </a:t>
            </a:r>
            <a:r>
              <a:rPr lang="en-US" b="1" i="1" dirty="0">
                <a:solidFill>
                  <a:srgbClr val="FF0000"/>
                </a:solidFill>
              </a:rPr>
              <a:t>decryption</a:t>
            </a:r>
            <a:r>
              <a:rPr lang="en-US" dirty="0"/>
              <a:t> algorithms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M</a:t>
            </a:r>
            <a:r>
              <a:rPr lang="en-US" dirty="0"/>
              <a:t> is the set of </a:t>
            </a:r>
            <a:r>
              <a:rPr lang="en-US" b="1" i="1" dirty="0">
                <a:solidFill>
                  <a:srgbClr val="FF0000"/>
                </a:solidFill>
              </a:rPr>
              <a:t>plaintexts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K</a:t>
            </a:r>
            <a:r>
              <a:rPr lang="en-US" dirty="0"/>
              <a:t> is the set of </a:t>
            </a:r>
            <a:r>
              <a:rPr lang="en-US" b="1" i="1" dirty="0">
                <a:solidFill>
                  <a:srgbClr val="FF0000"/>
                </a:solidFill>
              </a:rPr>
              <a:t>keys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C</a:t>
            </a:r>
            <a:r>
              <a:rPr lang="en-US" dirty="0"/>
              <a:t> is the set of </a:t>
            </a:r>
            <a:r>
              <a:rPr lang="en-US" b="1" i="1" dirty="0" err="1">
                <a:solidFill>
                  <a:srgbClr val="FF0000"/>
                </a:solidFill>
              </a:rPr>
              <a:t>ciphertexts</a:t>
            </a:r>
            <a:endParaRPr lang="en-US" b="1" i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b="1" i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E: M × K -&gt; C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D: C × K -&gt; M</a:t>
            </a:r>
          </a:p>
        </p:txBody>
      </p:sp>
    </p:spTree>
    <p:extLst>
      <p:ext uri="{BB962C8B-B14F-4D97-AF65-F5344CB8AC3E}">
        <p14:creationId xmlns:p14="http://schemas.microsoft.com/office/powerpoint/2010/main" val="383874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79065"/>
            <a:ext cx="8229600" cy="1747099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/>
              <a:t>Symmetric-key cryptosystem</a:t>
            </a:r>
            <a:r>
              <a:rPr lang="en-US" dirty="0"/>
              <a:t>: cryptosystem that uses the same key for encryption and decryption</a:t>
            </a:r>
          </a:p>
          <a:p>
            <a:r>
              <a:rPr lang="en-US" b="1" i="1" dirty="0"/>
              <a:t>Asymmetric-key cryptosystem</a:t>
            </a:r>
            <a:r>
              <a:rPr lang="en-US" dirty="0"/>
              <a:t>: cryptosystem that uses a public-key/private-key pair for encryption and decryption</a:t>
            </a:r>
          </a:p>
          <a:p>
            <a:endParaRPr lang="en-US" dirty="0"/>
          </a:p>
        </p:txBody>
      </p:sp>
      <p:pic>
        <p:nvPicPr>
          <p:cNvPr id="4" name="Picture 3" descr="cutecharacterintro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8551" y="1554930"/>
            <a:ext cx="1067160" cy="16025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24832" y="2136471"/>
            <a:ext cx="1243071" cy="7025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Encrypt (Enc)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1751" y="2136471"/>
            <a:ext cx="1243071" cy="7025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Decrypt (Dec)</a:t>
            </a:r>
          </a:p>
        </p:txBody>
      </p:sp>
      <p:cxnSp>
        <p:nvCxnSpPr>
          <p:cNvPr id="7" name="Straight Arrow Connector 6"/>
          <p:cNvCxnSpPr>
            <a:endCxn id="5" idx="1"/>
          </p:cNvCxnSpPr>
          <p:nvPr/>
        </p:nvCxnSpPr>
        <p:spPr>
          <a:xfrm>
            <a:off x="1262764" y="2487731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929683" y="2486143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167903" y="2484555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834822" y="2482967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5" idx="2"/>
          </p:cNvCxnSpPr>
          <p:nvPr/>
        </p:nvCxnSpPr>
        <p:spPr>
          <a:xfrm rot="5400000" flipH="1" flipV="1">
            <a:off x="2318594" y="3066765"/>
            <a:ext cx="45554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 flipH="1" flipV="1">
            <a:off x="5986307" y="3065971"/>
            <a:ext cx="45554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938832" y="2491701"/>
            <a:ext cx="864745" cy="4764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3469" y="3411566"/>
            <a:ext cx="50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4755" y="3411566"/>
            <a:ext cx="50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054" y="2113635"/>
            <a:ext cx="100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568" y="2113635"/>
            <a:ext cx="113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429689" y="2113635"/>
            <a:ext cx="113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815666" y="2109451"/>
            <a:ext cx="100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pic>
        <p:nvPicPr>
          <p:cNvPr id="20" name="Picture 19" descr="cartoon_girl_st5.gif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4965" r="8936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807" y="1669666"/>
            <a:ext cx="819855" cy="13838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2559" y="3134594"/>
            <a:ext cx="63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2808" y="3168984"/>
            <a:ext cx="55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</p:spTree>
    <p:extLst>
      <p:ext uri="{BB962C8B-B14F-4D97-AF65-F5344CB8AC3E}">
        <p14:creationId xmlns:p14="http://schemas.microsoft.com/office/powerpoint/2010/main" val="397301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Symmetric-Key Cryptosystem</a:t>
            </a:r>
          </a:p>
        </p:txBody>
      </p:sp>
      <p:pic>
        <p:nvPicPr>
          <p:cNvPr id="4" name="Picture 3" descr="cutecharacter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943" y="1879589"/>
            <a:ext cx="1067160" cy="1602509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2139" y="4341105"/>
            <a:ext cx="4630507" cy="5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Enc(key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plaintext) 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ciphertext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9224" y="2461130"/>
            <a:ext cx="1243071" cy="7025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Encrypt (E)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6143" y="2461130"/>
            <a:ext cx="1243071" cy="7025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Decrypt (D)</a:t>
            </a:r>
          </a:p>
        </p:txBody>
      </p:sp>
      <p:cxnSp>
        <p:nvCxnSpPr>
          <p:cNvPr id="8" name="Straight Arrow Connector 7"/>
          <p:cNvCxnSpPr>
            <a:endCxn id="6" idx="1"/>
          </p:cNvCxnSpPr>
          <p:nvPr/>
        </p:nvCxnSpPr>
        <p:spPr>
          <a:xfrm>
            <a:off x="1307156" y="2812390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974075" y="2810802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212295" y="2809214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879214" y="2807626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2"/>
          </p:cNvCxnSpPr>
          <p:nvPr/>
        </p:nvCxnSpPr>
        <p:spPr>
          <a:xfrm rot="5400000" flipH="1" flipV="1">
            <a:off x="2362986" y="3391424"/>
            <a:ext cx="45554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H="1" flipV="1">
            <a:off x="6030699" y="3390630"/>
            <a:ext cx="45554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983224" y="2816360"/>
            <a:ext cx="864745" cy="4764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27861" y="3736225"/>
            <a:ext cx="50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147" y="3736225"/>
            <a:ext cx="50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446" y="2438294"/>
            <a:ext cx="100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8960" y="2438294"/>
            <a:ext cx="113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474081" y="2438294"/>
            <a:ext cx="113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860058" y="2434110"/>
            <a:ext cx="100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4548544" y="4340126"/>
            <a:ext cx="4286391" cy="56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Dec(key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ciphertext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plaintext</a:t>
            </a:r>
          </a:p>
        </p:txBody>
      </p:sp>
      <p:pic>
        <p:nvPicPr>
          <p:cNvPr id="22" name="Picture 21" descr="cartoon_girl_st5.gif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8936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199" y="1994325"/>
            <a:ext cx="819855" cy="13838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6951" y="3459253"/>
            <a:ext cx="63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7200" y="3493643"/>
            <a:ext cx="55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grpSp>
        <p:nvGrpSpPr>
          <p:cNvPr id="25" name="Group 28"/>
          <p:cNvGrpSpPr/>
          <p:nvPr/>
        </p:nvGrpSpPr>
        <p:grpSpPr>
          <a:xfrm>
            <a:off x="2139130" y="3736225"/>
            <a:ext cx="4549472" cy="427182"/>
            <a:chOff x="2139130" y="3736225"/>
            <a:chExt cx="4549472" cy="427182"/>
          </a:xfrm>
        </p:grpSpPr>
        <p:sp>
          <p:nvSpPr>
            <p:cNvPr id="26" name="Oval 25"/>
            <p:cNvSpPr/>
            <p:nvPr/>
          </p:nvSpPr>
          <p:spPr>
            <a:xfrm>
              <a:off x="2139130" y="3736225"/>
              <a:ext cx="858669" cy="42718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5829933" y="3736225"/>
              <a:ext cx="858669" cy="42718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301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Asymmetric-Key Cryptosystem</a:t>
            </a:r>
            <a:br>
              <a:rPr lang="en-US" dirty="0"/>
            </a:br>
            <a:r>
              <a:rPr lang="en-US" dirty="0"/>
              <a:t>Public Key Cryptosystem</a:t>
            </a:r>
          </a:p>
        </p:txBody>
      </p:sp>
      <p:pic>
        <p:nvPicPr>
          <p:cNvPr id="4" name="Picture 3" descr="cutecharacter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943" y="1925769"/>
            <a:ext cx="1067160" cy="1602509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49306" y="4919732"/>
            <a:ext cx="4630507" cy="5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Enc(</a:t>
            </a:r>
            <a:r>
              <a:rPr lang="en-US" sz="2400" dirty="0" err="1"/>
              <a:t>K</a:t>
            </a:r>
            <a:r>
              <a:rPr lang="en-US" sz="2400" baseline="-25000" dirty="0" err="1"/>
              <a:t>Bob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plaintext) 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ciphertext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9224" y="2507310"/>
            <a:ext cx="1243071" cy="7025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Encrypt (E)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6143" y="2507310"/>
            <a:ext cx="1243071" cy="7025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Decrypt (D)</a:t>
            </a:r>
          </a:p>
        </p:txBody>
      </p:sp>
      <p:cxnSp>
        <p:nvCxnSpPr>
          <p:cNvPr id="8" name="Straight Arrow Connector 7"/>
          <p:cNvCxnSpPr>
            <a:endCxn id="6" idx="1"/>
          </p:cNvCxnSpPr>
          <p:nvPr/>
        </p:nvCxnSpPr>
        <p:spPr>
          <a:xfrm>
            <a:off x="1307156" y="2858570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974075" y="2856982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212295" y="2855394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879214" y="2853806"/>
            <a:ext cx="66206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2"/>
          </p:cNvCxnSpPr>
          <p:nvPr/>
        </p:nvCxnSpPr>
        <p:spPr>
          <a:xfrm rot="5400000" flipH="1" flipV="1">
            <a:off x="2362986" y="3437604"/>
            <a:ext cx="45554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H="1" flipV="1">
            <a:off x="6030699" y="3436810"/>
            <a:ext cx="45554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983224" y="2862540"/>
            <a:ext cx="864745" cy="4764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27861" y="3701590"/>
            <a:ext cx="55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Bob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989147" y="3690045"/>
            <a:ext cx="536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</a:t>
            </a:r>
            <a:r>
              <a:rPr lang="en-US" baseline="-25000" dirty="0" err="1"/>
              <a:t>Bob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96446" y="2484474"/>
            <a:ext cx="100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8960" y="2484474"/>
            <a:ext cx="113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474081" y="2484474"/>
            <a:ext cx="113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ciphertext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860058" y="2480290"/>
            <a:ext cx="100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4439446" y="4918752"/>
            <a:ext cx="4286391" cy="607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Dec(</a:t>
            </a:r>
            <a:r>
              <a:rPr lang="en-US" sz="2400" dirty="0" err="1"/>
              <a:t>S</a:t>
            </a:r>
            <a:r>
              <a:rPr lang="en-US" sz="2400" baseline="-25000" dirty="0" err="1"/>
              <a:t>Bob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ciphertext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plaintext</a:t>
            </a:r>
          </a:p>
        </p:txBody>
      </p:sp>
      <p:pic>
        <p:nvPicPr>
          <p:cNvPr id="22" name="Picture 21" descr="cartoon_girl_st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59" y="2040505"/>
            <a:ext cx="819855" cy="13838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4840" y="3378193"/>
            <a:ext cx="63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9475" y="3320468"/>
            <a:ext cx="55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35" y="3736225"/>
            <a:ext cx="1123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</a:t>
            </a:r>
            <a:r>
              <a:rPr lang="en-US" baseline="-25000" dirty="0" err="1"/>
              <a:t>Alice</a:t>
            </a:r>
            <a:r>
              <a:rPr lang="en-US" dirty="0"/>
              <a:t>, </a:t>
            </a:r>
            <a:r>
              <a:rPr lang="en-US" dirty="0" err="1"/>
              <a:t>K</a:t>
            </a:r>
            <a:r>
              <a:rPr lang="en-US" baseline="-25000" dirty="0" err="1"/>
              <a:t>Alice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866312" y="3701345"/>
            <a:ext cx="1011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</a:t>
            </a:r>
            <a:r>
              <a:rPr lang="en-US" baseline="-25000" dirty="0" err="1"/>
              <a:t>Bob</a:t>
            </a:r>
            <a:r>
              <a:rPr lang="en-US" dirty="0"/>
              <a:t>, </a:t>
            </a:r>
            <a:r>
              <a:rPr lang="en-US" dirty="0" err="1"/>
              <a:t>K</a:t>
            </a:r>
            <a:r>
              <a:rPr lang="en-US" baseline="-25000" dirty="0" err="1"/>
              <a:t>Bob</a:t>
            </a:r>
            <a:endParaRPr lang="en-US" dirty="0"/>
          </a:p>
        </p:txBody>
      </p:sp>
      <p:grpSp>
        <p:nvGrpSpPr>
          <p:cNvPr id="27" name="Group 28"/>
          <p:cNvGrpSpPr/>
          <p:nvPr/>
        </p:nvGrpSpPr>
        <p:grpSpPr>
          <a:xfrm>
            <a:off x="2139130" y="3736225"/>
            <a:ext cx="4549472" cy="427182"/>
            <a:chOff x="2139130" y="3736225"/>
            <a:chExt cx="4549472" cy="427182"/>
          </a:xfrm>
        </p:grpSpPr>
        <p:sp>
          <p:nvSpPr>
            <p:cNvPr id="28" name="Oval 27"/>
            <p:cNvSpPr/>
            <p:nvPr/>
          </p:nvSpPr>
          <p:spPr>
            <a:xfrm>
              <a:off x="2139130" y="3736225"/>
              <a:ext cx="858669" cy="42718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829933" y="3736225"/>
              <a:ext cx="858669" cy="42718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745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Cryptanalysis</a:t>
            </a:r>
          </a:p>
          <a:p>
            <a:pPr lvl="1"/>
            <a:r>
              <a:rPr lang="en-US" dirty="0"/>
              <a:t>How to break a cryptosystem?</a:t>
            </a:r>
          </a:p>
          <a:p>
            <a:pPr lvl="1"/>
            <a:r>
              <a:rPr lang="en-US" dirty="0"/>
              <a:t>How secure is a cryptosystem?</a:t>
            </a:r>
          </a:p>
          <a:p>
            <a:pPr lvl="1"/>
            <a:endParaRPr lang="en-US" dirty="0"/>
          </a:p>
          <a:p>
            <a:r>
              <a:rPr lang="en-US" dirty="0"/>
              <a:t>Basic principles to define security properties of cryptosystems</a:t>
            </a:r>
          </a:p>
          <a:p>
            <a:pPr lvl="1"/>
            <a:r>
              <a:rPr lang="en-US" dirty="0"/>
              <a:t>Algorithms are public</a:t>
            </a:r>
          </a:p>
          <a:p>
            <a:pPr lvl="1"/>
            <a:r>
              <a:rPr lang="en-US" dirty="0"/>
              <a:t>Secrets are secret</a:t>
            </a:r>
          </a:p>
          <a:p>
            <a:pPr lvl="1"/>
            <a:r>
              <a:rPr lang="en-US" dirty="0"/>
              <a:t>Adversary is bounded</a:t>
            </a:r>
          </a:p>
          <a:p>
            <a:pPr lvl="1"/>
            <a:r>
              <a:rPr lang="en-US" dirty="0"/>
              <a:t>Computational hardness assumptions</a:t>
            </a:r>
          </a:p>
        </p:txBody>
      </p:sp>
    </p:spTree>
    <p:extLst>
      <p:ext uri="{BB962C8B-B14F-4D97-AF65-F5344CB8AC3E}">
        <p14:creationId xmlns:p14="http://schemas.microsoft.com/office/powerpoint/2010/main" val="148014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  <a:p>
            <a:r>
              <a:rPr lang="en-US" dirty="0"/>
              <a:t>Three types of attacks</a:t>
            </a:r>
          </a:p>
          <a:p>
            <a:pPr lvl="1"/>
            <a:r>
              <a:rPr lang="en-US" dirty="0" err="1"/>
              <a:t>Ciphertext</a:t>
            </a:r>
            <a:r>
              <a:rPr lang="en-US" dirty="0"/>
              <a:t> only attack</a:t>
            </a:r>
          </a:p>
          <a:p>
            <a:pPr lvl="1"/>
            <a:r>
              <a:rPr lang="en-US" dirty="0"/>
              <a:t>Known plaintext attack</a:t>
            </a:r>
          </a:p>
          <a:p>
            <a:pPr lvl="1"/>
            <a:r>
              <a:rPr lang="en-US" dirty="0"/>
              <a:t>Chosen plaintext attack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533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Ciphertext</a:t>
            </a:r>
            <a:r>
              <a:rPr lang="en-US" dirty="0"/>
              <a:t> Only Attack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67853"/>
          </a:xfrm>
        </p:spPr>
        <p:txBody>
          <a:bodyPr>
            <a:normAutofit/>
          </a:bodyPr>
          <a:lstStyle/>
          <a:p>
            <a:r>
              <a:rPr lang="en-US" sz="2800" b="1" i="1" dirty="0"/>
              <a:t>Given</a:t>
            </a:r>
            <a:r>
              <a:rPr lang="en-US" sz="2800" dirty="0"/>
              <a:t>: the </a:t>
            </a:r>
            <a:r>
              <a:rPr lang="en-US" sz="2800" dirty="0" err="1"/>
              <a:t>ciphertext</a:t>
            </a:r>
            <a:endParaRPr lang="en-US" sz="2800" dirty="0"/>
          </a:p>
          <a:p>
            <a:r>
              <a:rPr lang="en-US" sz="2800" b="1" i="1" dirty="0"/>
              <a:t>Goal</a:t>
            </a:r>
            <a:r>
              <a:rPr lang="en-US" sz="2800" dirty="0"/>
              <a:t>: find its corresponding plaintext or the key</a:t>
            </a:r>
          </a:p>
          <a:p>
            <a:pPr lvl="2"/>
            <a:endParaRPr lang="en-US" sz="2800" dirty="0"/>
          </a:p>
        </p:txBody>
      </p:sp>
      <p:grpSp>
        <p:nvGrpSpPr>
          <p:cNvPr id="5" name="Group 4"/>
          <p:cNvGrpSpPr/>
          <p:nvPr/>
        </p:nvGrpSpPr>
        <p:grpSpPr>
          <a:xfrm>
            <a:off x="2180038" y="2731666"/>
            <a:ext cx="4623410" cy="2030417"/>
            <a:chOff x="2180038" y="2731666"/>
            <a:chExt cx="4623410" cy="2030417"/>
          </a:xfrm>
        </p:grpSpPr>
        <p:sp>
          <p:nvSpPr>
            <p:cNvPr id="6" name="TextBox 5"/>
            <p:cNvSpPr txBox="1"/>
            <p:nvPr/>
          </p:nvSpPr>
          <p:spPr>
            <a:xfrm>
              <a:off x="4283340" y="4392751"/>
              <a:ext cx="5182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2180038" y="2731666"/>
              <a:ext cx="4623410" cy="1707020"/>
              <a:chOff x="2180038" y="2731666"/>
              <a:chExt cx="4623410" cy="170702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3924703" y="3198471"/>
                <a:ext cx="1243071" cy="70251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Encrypt (E)</a:t>
                </a:r>
              </a:p>
            </p:txBody>
          </p:sp>
          <p:cxnSp>
            <p:nvCxnSpPr>
              <p:cNvPr id="9" name="Straight Arrow Connector 8"/>
              <p:cNvCxnSpPr>
                <a:endCxn id="8" idx="1"/>
              </p:cNvCxnSpPr>
              <p:nvPr/>
            </p:nvCxnSpPr>
            <p:spPr>
              <a:xfrm>
                <a:off x="3262635" y="3549731"/>
                <a:ext cx="662068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5167774" y="3546555"/>
                <a:ext cx="662068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endCxn id="8" idx="2"/>
              </p:cNvCxnSpPr>
              <p:nvPr/>
            </p:nvCxnSpPr>
            <p:spPr>
              <a:xfrm rot="5400000" flipH="1" flipV="1">
                <a:off x="4318465" y="4128765"/>
                <a:ext cx="455549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938703" y="3553701"/>
                <a:ext cx="864745" cy="4764"/>
              </a:xfrm>
              <a:prstGeom prst="line">
                <a:avLst/>
              </a:prstGeom>
              <a:ln w="25400" cap="flat" cmpd="sng" algn="ctr">
                <a:solidFill>
                  <a:schemeClr val="accent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2937654" y="3147097"/>
                <a:ext cx="1005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plaintext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370052" y="3147097"/>
                <a:ext cx="1137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ciphertext</a:t>
                </a:r>
                <a:endParaRPr lang="en-US" dirty="0"/>
              </a:p>
            </p:txBody>
          </p:sp>
          <p:pic>
            <p:nvPicPr>
              <p:cNvPr id="15" name="Picture 14" descr="cartoon_girl_st5.gif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80038" y="2731666"/>
                <a:ext cx="819855" cy="1383868"/>
              </a:xfrm>
              <a:prstGeom prst="rect">
                <a:avLst/>
              </a:prstGeom>
            </p:spPr>
          </p:pic>
          <p:sp>
            <p:nvSpPr>
              <p:cNvPr id="16" name="TextBox 15"/>
              <p:cNvSpPr txBox="1"/>
              <p:nvPr/>
            </p:nvSpPr>
            <p:spPr>
              <a:xfrm>
                <a:off x="2320319" y="4069354"/>
                <a:ext cx="6366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Alice</a:t>
                </a:r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5087888" y="3701155"/>
            <a:ext cx="1487224" cy="1926671"/>
            <a:chOff x="5087888" y="3701155"/>
            <a:chExt cx="1487224" cy="1926671"/>
          </a:xfrm>
        </p:grpSpPr>
        <p:grpSp>
          <p:nvGrpSpPr>
            <p:cNvPr id="18" name="Group 18"/>
            <p:cNvGrpSpPr/>
            <p:nvPr/>
          </p:nvGrpSpPr>
          <p:grpSpPr>
            <a:xfrm>
              <a:off x="5087888" y="3981953"/>
              <a:ext cx="1487224" cy="1645873"/>
              <a:chOff x="3112580" y="4934295"/>
              <a:chExt cx="1487224" cy="1645873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3325096" y="6210836"/>
                <a:ext cx="12747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Adversaries</a:t>
                </a:r>
              </a:p>
            </p:txBody>
          </p:sp>
          <p:grpSp>
            <p:nvGrpSpPr>
              <p:cNvPr id="21" name="Group 17"/>
              <p:cNvGrpSpPr/>
              <p:nvPr/>
            </p:nvGrpSpPr>
            <p:grpSpPr>
              <a:xfrm>
                <a:off x="3112580" y="4934295"/>
                <a:ext cx="1306737" cy="1299858"/>
                <a:chOff x="3112580" y="4934295"/>
                <a:chExt cx="1306737" cy="1299858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3112580" y="4934295"/>
                  <a:ext cx="1846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dirty="0"/>
                </a:p>
              </p:txBody>
            </p:sp>
            <p:pic>
              <p:nvPicPr>
                <p:cNvPr id="23" name="Picture 22" descr="cartoon_devil.gif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93057" y="5216014"/>
                  <a:ext cx="1126260" cy="1018139"/>
                </a:xfrm>
                <a:prstGeom prst="rect">
                  <a:avLst/>
                </a:prstGeom>
              </p:spPr>
            </p:pic>
          </p:grpSp>
        </p:grpSp>
        <p:sp>
          <p:nvSpPr>
            <p:cNvPr id="19" name="Down Arrow 18"/>
            <p:cNvSpPr/>
            <p:nvPr/>
          </p:nvSpPr>
          <p:spPr>
            <a:xfrm>
              <a:off x="5858384" y="3701155"/>
              <a:ext cx="108861" cy="55706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439257" y="3724188"/>
            <a:ext cx="1840930" cy="2347238"/>
            <a:chOff x="3439257" y="3724188"/>
            <a:chExt cx="1840930" cy="2347238"/>
          </a:xfrm>
        </p:grpSpPr>
        <p:sp>
          <p:nvSpPr>
            <p:cNvPr id="25" name="Freeform 24"/>
            <p:cNvSpPr/>
            <p:nvPr/>
          </p:nvSpPr>
          <p:spPr>
            <a:xfrm>
              <a:off x="3439257" y="3724188"/>
              <a:ext cx="1840930" cy="2347238"/>
            </a:xfrm>
            <a:custGeom>
              <a:avLst/>
              <a:gdLst>
                <a:gd name="connsiteX0" fmla="*/ 1840930 w 1840930"/>
                <a:gd name="connsiteY0" fmla="*/ 1755078 h 2347238"/>
                <a:gd name="connsiteX1" fmla="*/ 613644 w 1840930"/>
                <a:gd name="connsiteY1" fmla="*/ 2054725 h 2347238"/>
                <a:gd name="connsiteX2" fmla="*/ 0 w 1840930"/>
                <a:gd name="connsiteY2" fmla="*/ 0 h 2347238"/>
                <a:gd name="connsiteX3" fmla="*/ 0 w 1840930"/>
                <a:gd name="connsiteY3" fmla="*/ 0 h 234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0930" h="2347238">
                  <a:moveTo>
                    <a:pt x="1840930" y="1755078"/>
                  </a:moveTo>
                  <a:cubicBezTo>
                    <a:pt x="1380698" y="2051158"/>
                    <a:pt x="920466" y="2347238"/>
                    <a:pt x="613644" y="2054725"/>
                  </a:cubicBezTo>
                  <a:cubicBezTo>
                    <a:pt x="306822" y="1762212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4426320" y="4865702"/>
              <a:ext cx="811055" cy="796681"/>
            </a:xfrm>
            <a:custGeom>
              <a:avLst/>
              <a:gdLst>
                <a:gd name="connsiteX0" fmla="*/ 811055 w 811055"/>
                <a:gd name="connsiteY0" fmla="*/ 585026 h 796681"/>
                <a:gd name="connsiteX1" fmla="*/ 126058 w 811055"/>
                <a:gd name="connsiteY1" fmla="*/ 699177 h 796681"/>
                <a:gd name="connsiteX2" fmla="*/ 54704 w 811055"/>
                <a:gd name="connsiteY2" fmla="*/ 0 h 79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1055" h="796681">
                  <a:moveTo>
                    <a:pt x="811055" y="585026"/>
                  </a:moveTo>
                  <a:cubicBezTo>
                    <a:pt x="531585" y="690853"/>
                    <a:pt x="252116" y="796681"/>
                    <a:pt x="126058" y="699177"/>
                  </a:cubicBezTo>
                  <a:cubicBezTo>
                    <a:pt x="0" y="601673"/>
                    <a:pt x="27352" y="300836"/>
                    <a:pt x="54704" y="0"/>
                  </a:cubicBezTo>
                </a:path>
              </a:pathLst>
            </a:cu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47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Plaintext Attack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67853"/>
          </a:xfrm>
        </p:spPr>
        <p:txBody>
          <a:bodyPr>
            <a:normAutofit/>
          </a:bodyPr>
          <a:lstStyle/>
          <a:p>
            <a:r>
              <a:rPr lang="en-US" sz="2800" b="1" i="1" dirty="0"/>
              <a:t>Given</a:t>
            </a:r>
            <a:r>
              <a:rPr lang="en-US" sz="2800" dirty="0"/>
              <a:t>: the plaintext and its </a:t>
            </a:r>
            <a:r>
              <a:rPr lang="en-US" sz="2800" dirty="0" err="1"/>
              <a:t>ciphertext</a:t>
            </a:r>
            <a:endParaRPr lang="en-US" sz="2800" dirty="0"/>
          </a:p>
          <a:p>
            <a:r>
              <a:rPr lang="en-US" sz="2800" b="1" i="1" dirty="0"/>
              <a:t>Goal</a:t>
            </a:r>
            <a:r>
              <a:rPr lang="en-US" sz="2800" dirty="0"/>
              <a:t>: find the key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180038" y="2731666"/>
            <a:ext cx="4623410" cy="2030417"/>
            <a:chOff x="2180038" y="2731666"/>
            <a:chExt cx="4623410" cy="2030417"/>
          </a:xfrm>
        </p:grpSpPr>
        <p:sp>
          <p:nvSpPr>
            <p:cNvPr id="7" name="TextBox 6"/>
            <p:cNvSpPr txBox="1"/>
            <p:nvPr/>
          </p:nvSpPr>
          <p:spPr>
            <a:xfrm>
              <a:off x="4283340" y="4392751"/>
              <a:ext cx="5182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</a:t>
              </a:r>
            </a:p>
          </p:txBody>
        </p:sp>
        <p:grpSp>
          <p:nvGrpSpPr>
            <p:cNvPr id="8" name="Group 39"/>
            <p:cNvGrpSpPr/>
            <p:nvPr/>
          </p:nvGrpSpPr>
          <p:grpSpPr>
            <a:xfrm>
              <a:off x="2180038" y="2731666"/>
              <a:ext cx="4623410" cy="1707020"/>
              <a:chOff x="2180038" y="2731666"/>
              <a:chExt cx="4623410" cy="170702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3924703" y="3198471"/>
                <a:ext cx="1243071" cy="70251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Encrypt (E)</a:t>
                </a:r>
              </a:p>
            </p:txBody>
          </p:sp>
          <p:cxnSp>
            <p:nvCxnSpPr>
              <p:cNvPr id="10" name="Straight Arrow Connector 9"/>
              <p:cNvCxnSpPr>
                <a:endCxn id="9" idx="1"/>
              </p:cNvCxnSpPr>
              <p:nvPr/>
            </p:nvCxnSpPr>
            <p:spPr>
              <a:xfrm>
                <a:off x="3262635" y="3549731"/>
                <a:ext cx="662068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5167774" y="3546555"/>
                <a:ext cx="662068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>
                <a:endCxn id="9" idx="2"/>
              </p:cNvCxnSpPr>
              <p:nvPr/>
            </p:nvCxnSpPr>
            <p:spPr>
              <a:xfrm rot="5400000" flipH="1" flipV="1">
                <a:off x="4318465" y="4128765"/>
                <a:ext cx="455549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938703" y="3553701"/>
                <a:ext cx="864745" cy="4764"/>
              </a:xfrm>
              <a:prstGeom prst="line">
                <a:avLst/>
              </a:prstGeom>
              <a:ln w="25400" cap="flat" cmpd="sng" algn="ctr">
                <a:solidFill>
                  <a:schemeClr val="accent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2937654" y="3147097"/>
                <a:ext cx="1005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plaintext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370052" y="3147097"/>
                <a:ext cx="1137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ciphertext</a:t>
                </a:r>
                <a:endParaRPr lang="en-US" dirty="0"/>
              </a:p>
            </p:txBody>
          </p:sp>
          <p:pic>
            <p:nvPicPr>
              <p:cNvPr id="16" name="Picture 15" descr="cartoon_girl_st5.gif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80038" y="2731666"/>
                <a:ext cx="819855" cy="1383868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2320319" y="4069354"/>
                <a:ext cx="6366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Alice</a:t>
                </a:r>
              </a:p>
            </p:txBody>
          </p:sp>
        </p:grpSp>
      </p:grpSp>
      <p:sp>
        <p:nvSpPr>
          <p:cNvPr id="18" name="Freeform 17"/>
          <p:cNvSpPr/>
          <p:nvPr/>
        </p:nvSpPr>
        <p:spPr>
          <a:xfrm>
            <a:off x="4426320" y="4865702"/>
            <a:ext cx="811055" cy="796681"/>
          </a:xfrm>
          <a:custGeom>
            <a:avLst/>
            <a:gdLst>
              <a:gd name="connsiteX0" fmla="*/ 811055 w 811055"/>
              <a:gd name="connsiteY0" fmla="*/ 585026 h 796681"/>
              <a:gd name="connsiteX1" fmla="*/ 126058 w 811055"/>
              <a:gd name="connsiteY1" fmla="*/ 699177 h 796681"/>
              <a:gd name="connsiteX2" fmla="*/ 54704 w 811055"/>
              <a:gd name="connsiteY2" fmla="*/ 0 h 79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1055" h="796681">
                <a:moveTo>
                  <a:pt x="811055" y="585026"/>
                </a:moveTo>
                <a:cubicBezTo>
                  <a:pt x="531585" y="690853"/>
                  <a:pt x="252116" y="796681"/>
                  <a:pt x="126058" y="699177"/>
                </a:cubicBezTo>
                <a:cubicBezTo>
                  <a:pt x="0" y="601673"/>
                  <a:pt x="27352" y="300836"/>
                  <a:pt x="54704" y="0"/>
                </a:cubicBezTo>
              </a:path>
            </a:pathLst>
          </a:cu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29"/>
          <p:cNvGrpSpPr/>
          <p:nvPr/>
        </p:nvGrpSpPr>
        <p:grpSpPr>
          <a:xfrm>
            <a:off x="3410716" y="3667113"/>
            <a:ext cx="3164396" cy="3155809"/>
            <a:chOff x="3410716" y="3667113"/>
            <a:chExt cx="3164396" cy="3155809"/>
          </a:xfrm>
        </p:grpSpPr>
        <p:grpSp>
          <p:nvGrpSpPr>
            <p:cNvPr id="20" name="Group 19"/>
            <p:cNvGrpSpPr/>
            <p:nvPr/>
          </p:nvGrpSpPr>
          <p:grpSpPr>
            <a:xfrm>
              <a:off x="5087888" y="3701155"/>
              <a:ext cx="1487224" cy="1926671"/>
              <a:chOff x="5087888" y="3701155"/>
              <a:chExt cx="1487224" cy="1926671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5087888" y="3981953"/>
                <a:ext cx="1487224" cy="1645873"/>
                <a:chOff x="3112580" y="4934295"/>
                <a:chExt cx="1487224" cy="1645873"/>
              </a:xfrm>
            </p:grpSpPr>
            <p:sp>
              <p:nvSpPr>
                <p:cNvPr id="24" name="TextBox 23"/>
                <p:cNvSpPr txBox="1"/>
                <p:nvPr/>
              </p:nvSpPr>
              <p:spPr>
                <a:xfrm>
                  <a:off x="3325096" y="6210836"/>
                  <a:ext cx="12747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Adversaries</a:t>
                  </a:r>
                </a:p>
              </p:txBody>
            </p:sp>
            <p:grpSp>
              <p:nvGrpSpPr>
                <p:cNvPr id="25" name="Group 17"/>
                <p:cNvGrpSpPr/>
                <p:nvPr/>
              </p:nvGrpSpPr>
              <p:grpSpPr>
                <a:xfrm>
                  <a:off x="3112580" y="4934295"/>
                  <a:ext cx="1306737" cy="1299858"/>
                  <a:chOff x="3112580" y="4934295"/>
                  <a:chExt cx="1306737" cy="1299858"/>
                </a:xfrm>
              </p:grpSpPr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3112580" y="4934295"/>
                    <a:ext cx="18466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lang="en-US" dirty="0"/>
                  </a:p>
                </p:txBody>
              </p:sp>
              <p:pic>
                <p:nvPicPr>
                  <p:cNvPr id="27" name="Picture 26" descr="cartoon_devil.gif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293057" y="5216014"/>
                    <a:ext cx="1126260" cy="101813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3" name="Down Arrow 22"/>
              <p:cNvSpPr/>
              <p:nvPr/>
            </p:nvSpPr>
            <p:spPr>
              <a:xfrm>
                <a:off x="5858384" y="3701155"/>
                <a:ext cx="108861" cy="557069"/>
              </a:xfrm>
              <a:prstGeom prst="down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Freeform 20"/>
            <p:cNvSpPr/>
            <p:nvPr/>
          </p:nvSpPr>
          <p:spPr>
            <a:xfrm>
              <a:off x="3410716" y="3667113"/>
              <a:ext cx="2808964" cy="3155809"/>
            </a:xfrm>
            <a:custGeom>
              <a:avLst/>
              <a:gdLst>
                <a:gd name="connsiteX0" fmla="*/ 0 w 2808964"/>
                <a:gd name="connsiteY0" fmla="*/ 0 h 3155809"/>
                <a:gd name="connsiteX1" fmla="*/ 599372 w 2808964"/>
                <a:gd name="connsiteY1" fmla="*/ 2739632 h 3155809"/>
                <a:gd name="connsiteX2" fmla="*/ 2468844 w 2808964"/>
                <a:gd name="connsiteY2" fmla="*/ 2497061 h 3155809"/>
                <a:gd name="connsiteX3" fmla="*/ 2640093 w 2808964"/>
                <a:gd name="connsiteY3" fmla="*/ 1997649 h 315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8964" h="3155809">
                  <a:moveTo>
                    <a:pt x="0" y="0"/>
                  </a:moveTo>
                  <a:cubicBezTo>
                    <a:pt x="93949" y="1161727"/>
                    <a:pt x="187898" y="2323455"/>
                    <a:pt x="599372" y="2739632"/>
                  </a:cubicBezTo>
                  <a:cubicBezTo>
                    <a:pt x="1010846" y="3155809"/>
                    <a:pt x="2128724" y="2620725"/>
                    <a:pt x="2468844" y="2497061"/>
                  </a:cubicBezTo>
                  <a:cubicBezTo>
                    <a:pt x="2808964" y="2373397"/>
                    <a:pt x="2724528" y="2185523"/>
                    <a:pt x="2640093" y="1997649"/>
                  </a:cubicBezTo>
                </a:path>
              </a:pathLst>
            </a:custGeom>
            <a:ln w="635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319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Chosen Plaintext Attack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67853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i="1" dirty="0"/>
              <a:t>Given</a:t>
            </a:r>
            <a:r>
              <a:rPr lang="en-US" sz="2800" dirty="0"/>
              <a:t>: the </a:t>
            </a:r>
            <a:r>
              <a:rPr lang="en-US" sz="2800" b="1" i="1" dirty="0"/>
              <a:t>specific</a:t>
            </a:r>
            <a:r>
              <a:rPr lang="en-US" sz="2800" dirty="0"/>
              <a:t> plaintext and its corresponding </a:t>
            </a:r>
            <a:r>
              <a:rPr lang="en-US" sz="2800" dirty="0" err="1"/>
              <a:t>ciphertext</a:t>
            </a:r>
            <a:endParaRPr lang="en-US" sz="2800" dirty="0"/>
          </a:p>
          <a:p>
            <a:r>
              <a:rPr lang="en-US" sz="2800" b="1" i="1" dirty="0"/>
              <a:t>Goal</a:t>
            </a:r>
            <a:r>
              <a:rPr lang="en-US" sz="2800" dirty="0"/>
              <a:t>: find the key</a:t>
            </a:r>
          </a:p>
        </p:txBody>
      </p:sp>
      <p:sp>
        <p:nvSpPr>
          <p:cNvPr id="6" name="Freeform 5"/>
          <p:cNvSpPr/>
          <p:nvPr/>
        </p:nvSpPr>
        <p:spPr>
          <a:xfrm>
            <a:off x="4426320" y="4865702"/>
            <a:ext cx="811055" cy="796681"/>
          </a:xfrm>
          <a:custGeom>
            <a:avLst/>
            <a:gdLst>
              <a:gd name="connsiteX0" fmla="*/ 811055 w 811055"/>
              <a:gd name="connsiteY0" fmla="*/ 585026 h 796681"/>
              <a:gd name="connsiteX1" fmla="*/ 126058 w 811055"/>
              <a:gd name="connsiteY1" fmla="*/ 699177 h 796681"/>
              <a:gd name="connsiteX2" fmla="*/ 54704 w 811055"/>
              <a:gd name="connsiteY2" fmla="*/ 0 h 79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1055" h="796681">
                <a:moveTo>
                  <a:pt x="811055" y="585026"/>
                </a:moveTo>
                <a:cubicBezTo>
                  <a:pt x="531585" y="690853"/>
                  <a:pt x="252116" y="796681"/>
                  <a:pt x="126058" y="699177"/>
                </a:cubicBezTo>
                <a:cubicBezTo>
                  <a:pt x="0" y="601673"/>
                  <a:pt x="27352" y="300836"/>
                  <a:pt x="54704" y="0"/>
                </a:cubicBezTo>
              </a:path>
            </a:pathLst>
          </a:cu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168317" y="2788742"/>
            <a:ext cx="4623410" cy="2839084"/>
            <a:chOff x="2168317" y="2788742"/>
            <a:chExt cx="4623410" cy="2839084"/>
          </a:xfrm>
        </p:grpSpPr>
        <p:grpSp>
          <p:nvGrpSpPr>
            <p:cNvPr id="8" name="Group 7"/>
            <p:cNvGrpSpPr/>
            <p:nvPr/>
          </p:nvGrpSpPr>
          <p:grpSpPr>
            <a:xfrm>
              <a:off x="5087888" y="3981953"/>
              <a:ext cx="1487224" cy="1645873"/>
              <a:chOff x="3112580" y="4934295"/>
              <a:chExt cx="1487224" cy="1645873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3325096" y="6210836"/>
                <a:ext cx="12747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Adversaries</a:t>
                </a:r>
              </a:p>
            </p:txBody>
          </p:sp>
          <p:grpSp>
            <p:nvGrpSpPr>
              <p:cNvPr id="23" name="Group 17"/>
              <p:cNvGrpSpPr/>
              <p:nvPr/>
            </p:nvGrpSpPr>
            <p:grpSpPr>
              <a:xfrm>
                <a:off x="3112580" y="4934295"/>
                <a:ext cx="1306737" cy="1299858"/>
                <a:chOff x="3112580" y="4934295"/>
                <a:chExt cx="1306737" cy="1299858"/>
              </a:xfrm>
            </p:grpSpPr>
            <p:sp>
              <p:nvSpPr>
                <p:cNvPr id="24" name="TextBox 23"/>
                <p:cNvSpPr txBox="1"/>
                <p:nvPr/>
              </p:nvSpPr>
              <p:spPr>
                <a:xfrm>
                  <a:off x="3112580" y="4934295"/>
                  <a:ext cx="1846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dirty="0"/>
                </a:p>
              </p:txBody>
            </p:sp>
            <p:pic>
              <p:nvPicPr>
                <p:cNvPr id="25" name="Picture 24" descr="cartoon_devil.gif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293057" y="5216014"/>
                  <a:ext cx="1126260" cy="101813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" name="Group 8"/>
            <p:cNvGrpSpPr/>
            <p:nvPr/>
          </p:nvGrpSpPr>
          <p:grpSpPr>
            <a:xfrm>
              <a:off x="2168317" y="2788742"/>
              <a:ext cx="4623410" cy="2030417"/>
              <a:chOff x="2180038" y="2731666"/>
              <a:chExt cx="4623410" cy="2030417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2180038" y="2731666"/>
                <a:ext cx="4623410" cy="2030417"/>
                <a:chOff x="2180038" y="2731666"/>
                <a:chExt cx="4623410" cy="2030417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4283340" y="4392751"/>
                  <a:ext cx="5182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Key</a:t>
                  </a:r>
                </a:p>
              </p:txBody>
            </p:sp>
            <p:grpSp>
              <p:nvGrpSpPr>
                <p:cNvPr id="13" name="Group 39"/>
                <p:cNvGrpSpPr/>
                <p:nvPr/>
              </p:nvGrpSpPr>
              <p:grpSpPr>
                <a:xfrm>
                  <a:off x="2180038" y="2731666"/>
                  <a:ext cx="4623410" cy="1707020"/>
                  <a:chOff x="2180038" y="2731666"/>
                  <a:chExt cx="4623410" cy="1707020"/>
                </a:xfrm>
              </p:grpSpPr>
              <p:sp>
                <p:nvSpPr>
                  <p:cNvPr id="14" name="Rectangle 13"/>
                  <p:cNvSpPr/>
                  <p:nvPr/>
                </p:nvSpPr>
                <p:spPr>
                  <a:xfrm>
                    <a:off x="3924703" y="3198471"/>
                    <a:ext cx="1243071" cy="702519"/>
                  </a:xfrm>
                  <a:prstGeom prst="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Encrypt (E)</a:t>
                    </a:r>
                  </a:p>
                </p:txBody>
              </p:sp>
              <p:cxnSp>
                <p:nvCxnSpPr>
                  <p:cNvPr id="15" name="Straight Arrow Connector 14"/>
                  <p:cNvCxnSpPr>
                    <a:endCxn id="14" idx="1"/>
                  </p:cNvCxnSpPr>
                  <p:nvPr/>
                </p:nvCxnSpPr>
                <p:spPr>
                  <a:xfrm>
                    <a:off x="3262635" y="3549731"/>
                    <a:ext cx="662068" cy="1588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/>
                  <p:cNvCxnSpPr/>
                  <p:nvPr/>
                </p:nvCxnSpPr>
                <p:spPr>
                  <a:xfrm>
                    <a:off x="5167774" y="3546555"/>
                    <a:ext cx="662068" cy="1588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>
                    <a:endCxn id="14" idx="2"/>
                  </p:cNvCxnSpPr>
                  <p:nvPr/>
                </p:nvCxnSpPr>
                <p:spPr>
                  <a:xfrm rot="5400000" flipH="1" flipV="1">
                    <a:off x="4318465" y="4128765"/>
                    <a:ext cx="455549" cy="1588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/>
                  <p:cNvCxnSpPr/>
                  <p:nvPr/>
                </p:nvCxnSpPr>
                <p:spPr>
                  <a:xfrm>
                    <a:off x="5938703" y="3553701"/>
                    <a:ext cx="864745" cy="4764"/>
                  </a:xfrm>
                  <a:prstGeom prst="line">
                    <a:avLst/>
                  </a:prstGeom>
                  <a:ln w="25400" cap="flat" cmpd="sng" algn="ctr">
                    <a:solidFill>
                      <a:schemeClr val="accent1"/>
                    </a:solidFill>
                    <a:prstDash val="sysDash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5370052" y="3147097"/>
                    <a:ext cx="18466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lang="en-US" dirty="0"/>
                  </a:p>
                </p:txBody>
              </p:sp>
              <p:pic>
                <p:nvPicPr>
                  <p:cNvPr id="20" name="Picture 19" descr="cartoon_girl_st5.gif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180038" y="2731666"/>
                    <a:ext cx="819855" cy="1383868"/>
                  </a:xfrm>
                  <a:prstGeom prst="rect">
                    <a:avLst/>
                  </a:prstGeom>
                </p:spPr>
              </p:pic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2320319" y="4069354"/>
                    <a:ext cx="6366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Alice</a:t>
                    </a:r>
                  </a:p>
                </p:txBody>
              </p:sp>
            </p:grpSp>
          </p:grpSp>
          <p:sp>
            <p:nvSpPr>
              <p:cNvPr id="11" name="TextBox 10"/>
              <p:cNvSpPr txBox="1"/>
              <p:nvPr/>
            </p:nvSpPr>
            <p:spPr>
              <a:xfrm>
                <a:off x="5087888" y="3981953"/>
                <a:ext cx="1846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2633033" y="3610037"/>
            <a:ext cx="3260798" cy="2975070"/>
            <a:chOff x="2633033" y="3610037"/>
            <a:chExt cx="3260798" cy="2975070"/>
          </a:xfrm>
        </p:grpSpPr>
        <p:sp>
          <p:nvSpPr>
            <p:cNvPr id="27" name="Freeform 26"/>
            <p:cNvSpPr/>
            <p:nvPr/>
          </p:nvSpPr>
          <p:spPr>
            <a:xfrm>
              <a:off x="3199032" y="3610037"/>
              <a:ext cx="2694799" cy="2975070"/>
            </a:xfrm>
            <a:custGeom>
              <a:avLst/>
              <a:gdLst>
                <a:gd name="connsiteX0" fmla="*/ 2694799 w 2694799"/>
                <a:gd name="connsiteY0" fmla="*/ 2026187 h 2975070"/>
                <a:gd name="connsiteX1" fmla="*/ 1367616 w 2694799"/>
                <a:gd name="connsiteY1" fmla="*/ 2711095 h 2975070"/>
                <a:gd name="connsiteX2" fmla="*/ 111788 w 2694799"/>
                <a:gd name="connsiteY2" fmla="*/ 442336 h 2975070"/>
                <a:gd name="connsiteX3" fmla="*/ 696890 w 2694799"/>
                <a:gd name="connsiteY3" fmla="*/ 57076 h 2975070"/>
                <a:gd name="connsiteX4" fmla="*/ 696890 w 2694799"/>
                <a:gd name="connsiteY4" fmla="*/ 57076 h 297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4799" h="2975070">
                  <a:moveTo>
                    <a:pt x="2694799" y="2026187"/>
                  </a:moveTo>
                  <a:cubicBezTo>
                    <a:pt x="2246458" y="2500628"/>
                    <a:pt x="1798118" y="2975070"/>
                    <a:pt x="1367616" y="2711095"/>
                  </a:cubicBezTo>
                  <a:cubicBezTo>
                    <a:pt x="937114" y="2447120"/>
                    <a:pt x="223576" y="884672"/>
                    <a:pt x="111788" y="442336"/>
                  </a:cubicBezTo>
                  <a:cubicBezTo>
                    <a:pt x="0" y="0"/>
                    <a:pt x="696890" y="57076"/>
                    <a:pt x="696890" y="57076"/>
                  </a:cubicBezTo>
                  <a:lnTo>
                    <a:pt x="696890" y="57076"/>
                  </a:lnTo>
                </a:path>
              </a:pathLst>
            </a:custGeom>
            <a:ln w="4762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633033" y="5041562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Plaintext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18121" y="3703418"/>
            <a:ext cx="1285378" cy="557069"/>
            <a:chOff x="5858384" y="3701155"/>
            <a:chExt cx="1285378" cy="557069"/>
          </a:xfrm>
        </p:grpSpPr>
        <p:sp>
          <p:nvSpPr>
            <p:cNvPr id="30" name="Down Arrow 29"/>
            <p:cNvSpPr/>
            <p:nvPr/>
          </p:nvSpPr>
          <p:spPr>
            <a:xfrm>
              <a:off x="5858384" y="3701155"/>
              <a:ext cx="108861" cy="557069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006461" y="3797287"/>
              <a:ext cx="1137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ciphertext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9854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/>
              <a:t>CEG 260, Meilin Liu </a:t>
            </a: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5842FB96-E1BD-4C8A-BA15-75532A44F93C}" type="slidenum">
              <a:rPr lang="zh-CN" altLang="en-US" sz="1400" smtClean="0"/>
              <a:pPr>
                <a:lnSpc>
                  <a:spcPct val="100000"/>
                </a:lnSpc>
                <a:spcBef>
                  <a:spcPct val="0"/>
                </a:spcBef>
              </a:pPr>
              <a:t>14</a:t>
            </a:fld>
            <a:endParaRPr lang="en-US" altLang="zh-CN" sz="14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Cryptanalytic Attacks</a:t>
            </a:r>
            <a:endParaRPr lang="en-AU" alt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57363" y="1066800"/>
          <a:ext cx="6853237" cy="5257801"/>
        </p:xfrm>
        <a:graphic>
          <a:graphicData uri="http://schemas.openxmlformats.org/drawingml/2006/table">
            <a:tbl>
              <a:tblPr/>
              <a:tblGrid>
                <a:gridCol w="2166937">
                  <a:extLst>
                    <a:ext uri="{9D8B030D-6E8A-4147-A177-3AD203B41FA5}">
                      <a16:colId xmlns:a16="http://schemas.microsoft.com/office/drawing/2014/main" val="69883822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915235877"/>
                    </a:ext>
                  </a:extLst>
                </a:gridCol>
              </a:tblGrid>
              <a:tr h="193675"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Type of Attack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Known to Cryptanalyst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078695"/>
                  </a:ext>
                </a:extLst>
              </a:tr>
              <a:tr h="468313"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Ciphertext Only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Encryption algorithm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Ciphertext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393640"/>
                  </a:ext>
                </a:extLst>
              </a:tr>
              <a:tr h="935038"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Known Plaintext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Encryption algorithm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Ciphertext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One or more plaintext-ciphertext pairs formed with the secret key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819290"/>
                  </a:ext>
                </a:extLst>
              </a:tr>
              <a:tr h="935038"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Chosen Plaintext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Encryption algorithm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Ciphertext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Plaintext message chosen by cryptanalyst, together with its corresponding ciphertext generated with the secret key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647568"/>
                  </a:ext>
                </a:extLst>
              </a:tr>
              <a:tr h="1128713"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Chosen Ciphertext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Encryption algorithm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Ciphertext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Ciphertext chosen by cryptanalyst, together with its corresponding decrypted plaintext generated with the secret key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798774"/>
                  </a:ext>
                </a:extLst>
              </a:tr>
              <a:tr h="1597024"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Chosen Text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5000"/>
                        </a:lnSpc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Encryption algorithm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Ciphertext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Plaintext message chosen by cryptanalyst, together with its corresponding ciphertext generated with the secret key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• Ciphertext chosen by cryptanalyst, together with its corresponding decrypted plaintext generated with the secret key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07" marR="4830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27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305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/>
              <a:t>CEG 260, Meilin Liu </a:t>
            </a: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FAB08AFA-E64C-4C89-A8B1-987DC5295F14}" type="slidenum">
              <a:rPr lang="zh-CN" altLang="en-US" sz="1400" smtClean="0"/>
              <a:pPr>
                <a:lnSpc>
                  <a:spcPct val="100000"/>
                </a:lnSpc>
                <a:spcBef>
                  <a:spcPct val="0"/>
                </a:spcBef>
              </a:pPr>
              <a:t>15</a:t>
            </a:fld>
            <a:endParaRPr lang="en-US" altLang="zh-CN" sz="140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/>
              <a:t>Types of Attacks</a:t>
            </a:r>
            <a:endParaRPr lang="en-AU" altLang="en-US"/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738" y="919163"/>
            <a:ext cx="8229600" cy="5589587"/>
          </a:xfrm>
        </p:spPr>
        <p:txBody>
          <a:bodyPr/>
          <a:lstStyle/>
          <a:p>
            <a:pPr eaLnBrk="1" hangingPunct="1"/>
            <a:r>
              <a:rPr lang="en-AU" altLang="zh-CN" sz="2200">
                <a:ea typeface="宋体" panose="02010600030101010101" pitchFamily="2" charset="-122"/>
              </a:rPr>
              <a:t>Brute-force Attacks:</a:t>
            </a: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200">
                <a:ea typeface="宋体" panose="02010600030101010101" pitchFamily="2" charset="-122"/>
              </a:rPr>
              <a:t>How many key combinations? </a:t>
            </a:r>
          </a:p>
          <a:p>
            <a:pPr eaLnBrk="1" hangingPunct="1"/>
            <a:endParaRPr lang="en-AU" altLang="zh-CN" sz="220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200">
                <a:ea typeface="宋体" panose="02010600030101010101" pitchFamily="2" charset="-122"/>
              </a:rPr>
              <a:t>Cryptanalysis Attacks:      Linear Cryptanalysis</a:t>
            </a:r>
            <a:endParaRPr lang="en-AU" altLang="en-US" sz="2200"/>
          </a:p>
          <a:p>
            <a:pPr eaLnBrk="1" hangingPunct="1"/>
            <a:r>
              <a:rPr lang="en-AU" altLang="zh-CN" sz="2200">
                <a:ea typeface="宋体" panose="02010600030101010101" pitchFamily="2" charset="-122"/>
              </a:rPr>
              <a:t>                                           Differential Cryptanalysis</a:t>
            </a:r>
            <a:endParaRPr lang="en-AU" altLang="en-US" sz="2200"/>
          </a:p>
          <a:p>
            <a:pPr eaLnBrk="1" hangingPunct="1"/>
            <a:endParaRPr lang="en-AU" altLang="en-US" sz="2200"/>
          </a:p>
        </p:txBody>
      </p:sp>
      <p:pic>
        <p:nvPicPr>
          <p:cNvPr id="2970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111250"/>
            <a:ext cx="1758950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667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/>
              <a:t>CEG 260, Meilin Liu 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EE486D19-5A12-4E33-AB84-3F19867FA93B}" type="slidenum">
              <a:rPr lang="zh-CN" altLang="en-US" sz="1400" smtClean="0"/>
              <a:pPr>
                <a:lnSpc>
                  <a:spcPct val="100000"/>
                </a:lnSpc>
                <a:spcBef>
                  <a:spcPct val="0"/>
                </a:spcBef>
              </a:pPr>
              <a:t>16</a:t>
            </a:fld>
            <a:endParaRPr lang="en-US" altLang="zh-CN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Brute Force Search</a:t>
            </a:r>
            <a:endParaRPr lang="en-AU" altLang="en-US"/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2058988"/>
          </a:xfrm>
        </p:spPr>
        <p:txBody>
          <a:bodyPr/>
          <a:lstStyle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A</a:t>
            </a:r>
            <a:r>
              <a:rPr lang="en-AU" altLang="en-US" dirty="0"/>
              <a:t>lways possible to simply try every key 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</a:t>
            </a:r>
            <a:r>
              <a:rPr lang="en-AU" altLang="en-US" dirty="0"/>
              <a:t>ost basic attack, proportional to key size </a:t>
            </a: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A</a:t>
            </a:r>
            <a:r>
              <a:rPr lang="en-AU" altLang="en-US" dirty="0"/>
              <a:t>ssume either know / recogni</a:t>
            </a:r>
            <a:r>
              <a:rPr lang="en-AU" altLang="zh-CN" dirty="0">
                <a:ea typeface="宋体" panose="02010600030101010101" pitchFamily="2" charset="-122"/>
              </a:rPr>
              <a:t>z</a:t>
            </a:r>
            <a:r>
              <a:rPr lang="en-AU" altLang="en-US" dirty="0"/>
              <a:t>e plaintext</a:t>
            </a:r>
          </a:p>
          <a:p>
            <a:pPr eaLnBrk="1" hangingPunct="1"/>
            <a:endParaRPr lang="en-AU" altLang="en-US" dirty="0"/>
          </a:p>
          <a:p>
            <a:pPr eaLnBrk="1" hangingPunct="1"/>
            <a:endParaRPr lang="en-AU" altLang="en-US" dirty="0"/>
          </a:p>
        </p:txBody>
      </p:sp>
      <p:pic>
        <p:nvPicPr>
          <p:cNvPr id="174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00400"/>
            <a:ext cx="7235825" cy="283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61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6836</TotalTime>
  <Words>726</Words>
  <Application>Microsoft Office PowerPoint</Application>
  <PresentationFormat>On-screen Show (4:3)</PresentationFormat>
  <Paragraphs>182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</vt:lpstr>
      <vt:lpstr>Times New Roman</vt:lpstr>
      <vt:lpstr>Office Theme</vt:lpstr>
      <vt:lpstr>Cryptography  Basic Terms and Concepts</vt:lpstr>
      <vt:lpstr>Cryptography</vt:lpstr>
      <vt:lpstr>What’s the Cryptography</vt:lpstr>
      <vt:lpstr>General Goals</vt:lpstr>
      <vt:lpstr>Cryptosystem</vt:lpstr>
      <vt:lpstr>Cryptosystem</vt:lpstr>
      <vt:lpstr>Symmetric-Key Cryptosystem</vt:lpstr>
      <vt:lpstr>Asymmetric-Key Cryptosystem Public Key Cryptosystem</vt:lpstr>
      <vt:lpstr>Cryptanalysis</vt:lpstr>
      <vt:lpstr>Cryptanalysis</vt:lpstr>
      <vt:lpstr>Ciphertext Only Attack</vt:lpstr>
      <vt:lpstr>Known Plaintext Attack</vt:lpstr>
      <vt:lpstr>Chosen Plaintext Attack</vt:lpstr>
      <vt:lpstr>Types of Cryptanalytic Attacks</vt:lpstr>
      <vt:lpstr>Types of Attacks</vt:lpstr>
      <vt:lpstr>Brute Force Search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Cryptography</dc:title>
  <dc:creator>Junjie Zhang</dc:creator>
  <cp:lastModifiedBy>Liu, Meilin</cp:lastModifiedBy>
  <cp:revision>553</cp:revision>
  <dcterms:created xsi:type="dcterms:W3CDTF">2014-06-10T03:06:09Z</dcterms:created>
  <dcterms:modified xsi:type="dcterms:W3CDTF">2023-01-06T18:19:01Z</dcterms:modified>
</cp:coreProperties>
</file>