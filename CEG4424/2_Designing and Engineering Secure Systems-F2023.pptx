
<file path=[Content_Types].xml><?xml version="1.0" encoding="utf-8"?>
<Types xmlns="http://schemas.openxmlformats.org/package/2006/content-types">
  <Default Extension="bin" ContentType="audio/unknown"/>
  <Default Extension="bmp" ContentType="image/bmp"/>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1"/>
  </p:notesMasterIdLst>
  <p:sldIdLst>
    <p:sldId id="256" r:id="rId2"/>
    <p:sldId id="288" r:id="rId3"/>
    <p:sldId id="258" r:id="rId4"/>
    <p:sldId id="259" r:id="rId5"/>
    <p:sldId id="261" r:id="rId6"/>
    <p:sldId id="262" r:id="rId7"/>
    <p:sldId id="260" r:id="rId8"/>
    <p:sldId id="263" r:id="rId9"/>
    <p:sldId id="264" r:id="rId10"/>
    <p:sldId id="265" r:id="rId11"/>
    <p:sldId id="266" r:id="rId12"/>
    <p:sldId id="267" r:id="rId13"/>
    <p:sldId id="268" r:id="rId14"/>
    <p:sldId id="270" r:id="rId15"/>
    <p:sldId id="269"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466" r:id="rId34"/>
    <p:sldId id="467" r:id="rId35"/>
    <p:sldId id="352" r:id="rId36"/>
    <p:sldId id="457" r:id="rId37"/>
    <p:sldId id="294" r:id="rId38"/>
    <p:sldId id="298" r:id="rId39"/>
    <p:sldId id="463" r:id="rId40"/>
    <p:sldId id="296" r:id="rId41"/>
    <p:sldId id="295" r:id="rId42"/>
    <p:sldId id="356" r:id="rId43"/>
    <p:sldId id="332" r:id="rId44"/>
    <p:sldId id="299" r:id="rId45"/>
    <p:sldId id="464" r:id="rId46"/>
    <p:sldId id="456" r:id="rId47"/>
    <p:sldId id="455" r:id="rId48"/>
    <p:sldId id="304" r:id="rId49"/>
    <p:sldId id="465" r:id="rId5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624"/>
    <p:restoredTop sz="72074" autoAdjust="0"/>
  </p:normalViewPr>
  <p:slideViewPr>
    <p:cSldViewPr snapToGrid="0" snapToObjects="1">
      <p:cViewPr varScale="1">
        <p:scale>
          <a:sx n="59" d="100"/>
          <a:sy n="59" d="100"/>
        </p:scale>
        <p:origin x="2467" y="62"/>
      </p:cViewPr>
      <p:guideLst>
        <p:guide orient="horz" pos="2160"/>
        <p:guide pos="2880"/>
      </p:guideLst>
    </p:cSldViewPr>
  </p:slideViewPr>
  <p:notesTextViewPr>
    <p:cViewPr>
      <p:scale>
        <a:sx n="100" d="100"/>
        <a:sy n="100" d="100"/>
      </p:scale>
      <p:origin x="0" y="0"/>
    </p:cViewPr>
  </p:notesTextViewPr>
  <p:sorterViewPr>
    <p:cViewPr varScale="1">
      <p:scale>
        <a:sx n="100" d="100"/>
        <a:sy n="100" d="100"/>
      </p:scale>
      <p:origin x="0" y="-1356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C625B4C-6858-D946-8E95-BC4AA5DC7939}" type="datetimeFigureOut">
              <a:rPr lang="en-US" smtClean="0"/>
              <a:t>9/7/2023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F189402-B4F4-B243-A0CF-C8359DED6E6C}" type="slidenum">
              <a:rPr lang="en-US" smtClean="0"/>
              <a:t>‹#›</a:t>
            </a:fld>
            <a:endParaRPr lang="en-US"/>
          </a:p>
        </p:txBody>
      </p:sp>
    </p:spTree>
    <p:extLst>
      <p:ext uri="{BB962C8B-B14F-4D97-AF65-F5344CB8AC3E}">
        <p14:creationId xmlns:p14="http://schemas.microsoft.com/office/powerpoint/2010/main" val="141003290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latin typeface="+mn-lt"/>
                <a:ea typeface="+mn-ea"/>
                <a:cs typeface="+mn-cs"/>
              </a:rPr>
              <a:t>If a design and implementation are simple, fewer possibilities exist for errors. The checking and testing process is less complex, because fewer components and cases need to be tested. Complex mechanisms often make assumptions about the system and environment in which they run. If these assumptions are incorrect, security problems may result.</a:t>
            </a:r>
          </a:p>
          <a:p>
            <a:r>
              <a:rPr lang="en-US" sz="1200" kern="1200" dirty="0">
                <a:solidFill>
                  <a:schemeClr val="tx1"/>
                </a:solidFill>
                <a:latin typeface="+mn-lt"/>
                <a:ea typeface="+mn-ea"/>
                <a:cs typeface="+mn-cs"/>
              </a:rPr>
              <a:t>Interfaces to other modules are particularly suspect, because modules often make implicit assumptions about input or output parameters or the current system state; should any of these assumptions be wrong, the module's actions may produce unexpected, and erroneous, results. Interaction with external entities, such as other programs, systems, or humans, amplified this problem.</a:t>
            </a:r>
          </a:p>
          <a:p>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The KISS mantra is pervasive: "Keep It Simple, Stupid!" This motto applies just as well to security as it does everywhere else. Complexity increases the risk of problems. Avoid complexity and avoid problems.</a:t>
            </a:r>
          </a:p>
          <a:p>
            <a:r>
              <a:rPr lang="en-US" sz="1200" kern="1200" dirty="0">
                <a:solidFill>
                  <a:schemeClr val="tx1"/>
                </a:solidFill>
                <a:latin typeface="+mn-lt"/>
                <a:ea typeface="+mn-ea"/>
                <a:cs typeface="+mn-cs"/>
              </a:rPr>
              <a:t>The most obvious implication is that software design and implementation should be as straightforward as possible. Complex design is never easy to understand, and is therefore more likely to include subtle problems that will be missed during analysis. Complex code tends to be harder to maintain as well. And most importantly, complex software tends to be far more buggy. We don't think this comes as any big surprise to anyone.</a:t>
            </a:r>
            <a:endParaRPr lang="en-US" dirty="0"/>
          </a:p>
        </p:txBody>
      </p:sp>
      <p:sp>
        <p:nvSpPr>
          <p:cNvPr id="4" name="Slide Number Placeholder 3"/>
          <p:cNvSpPr>
            <a:spLocks noGrp="1"/>
          </p:cNvSpPr>
          <p:nvPr>
            <p:ph type="sldNum" sz="quarter" idx="10"/>
          </p:nvPr>
        </p:nvSpPr>
        <p:spPr/>
        <p:txBody>
          <a:bodyPr/>
          <a:lstStyle/>
          <a:p>
            <a:fld id="{CF189402-B4F4-B243-A0CF-C8359DED6E6C}" type="slidenum">
              <a:rPr lang="en-US" smtClean="0"/>
              <a:t>4</a:t>
            </a:fld>
            <a:endParaRPr lang="en-US"/>
          </a:p>
        </p:txBody>
      </p:sp>
    </p:spTree>
    <p:extLst>
      <p:ext uri="{BB962C8B-B14F-4D97-AF65-F5344CB8AC3E}">
        <p14:creationId xmlns:p14="http://schemas.microsoft.com/office/powerpoint/2010/main" val="20500782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time, a user accesses a field or a record of a file, or a data item in a database, the system must exercise access control.</a:t>
            </a:r>
            <a:r>
              <a:rPr lang="en-US" baseline="0" dirty="0"/>
              <a:t> </a:t>
            </a:r>
            <a:endParaRPr lang="en-US" dirty="0"/>
          </a:p>
        </p:txBody>
      </p:sp>
      <p:sp>
        <p:nvSpPr>
          <p:cNvPr id="4" name="Slide Number Placeholder 3"/>
          <p:cNvSpPr>
            <a:spLocks noGrp="1"/>
          </p:cNvSpPr>
          <p:nvPr>
            <p:ph type="sldNum" sz="quarter" idx="10"/>
          </p:nvPr>
        </p:nvSpPr>
        <p:spPr/>
        <p:txBody>
          <a:bodyPr/>
          <a:lstStyle/>
          <a:p>
            <a:fld id="{CF189402-B4F4-B243-A0CF-C8359DED6E6C}" type="slidenum">
              <a:rPr lang="en-US" smtClean="0"/>
              <a:t>12</a:t>
            </a:fld>
            <a:endParaRPr lang="en-US"/>
          </a:p>
        </p:txBody>
      </p:sp>
    </p:spTree>
    <p:extLst>
      <p:ext uri="{BB962C8B-B14F-4D97-AF65-F5344CB8AC3E}">
        <p14:creationId xmlns:p14="http://schemas.microsoft.com/office/powerpoint/2010/main" val="27239706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mmap</a:t>
            </a:r>
            <a:r>
              <a:rPr lang="en-US" dirty="0"/>
              <a:t>, </a:t>
            </a:r>
            <a:r>
              <a:rPr lang="en-US" dirty="0" err="1"/>
              <a:t>munmap</a:t>
            </a:r>
            <a:r>
              <a:rPr lang="en-US" dirty="0"/>
              <a:t> - map or </a:t>
            </a:r>
            <a:r>
              <a:rPr lang="en-US" dirty="0" err="1"/>
              <a:t>unmap</a:t>
            </a:r>
            <a:r>
              <a:rPr lang="en-US" dirty="0"/>
              <a:t> files or devices into memory</a:t>
            </a:r>
          </a:p>
        </p:txBody>
      </p:sp>
      <p:sp>
        <p:nvSpPr>
          <p:cNvPr id="4" name="Slide Number Placeholder 3"/>
          <p:cNvSpPr>
            <a:spLocks noGrp="1"/>
          </p:cNvSpPr>
          <p:nvPr>
            <p:ph type="sldNum" sz="quarter" idx="10"/>
          </p:nvPr>
        </p:nvSpPr>
        <p:spPr/>
        <p:txBody>
          <a:bodyPr/>
          <a:lstStyle/>
          <a:p>
            <a:fld id="{CF189402-B4F4-B243-A0CF-C8359DED6E6C}" type="slidenum">
              <a:rPr lang="en-US" smtClean="0"/>
              <a:t>14</a:t>
            </a:fld>
            <a:endParaRPr lang="en-US"/>
          </a:p>
        </p:txBody>
      </p:sp>
    </p:spTree>
    <p:extLst>
      <p:ext uri="{BB962C8B-B14F-4D97-AF65-F5344CB8AC3E}">
        <p14:creationId xmlns:p14="http://schemas.microsoft.com/office/powerpoint/2010/main" val="11252252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mmap</a:t>
            </a:r>
            <a:r>
              <a:rPr lang="en-US" dirty="0"/>
              <a:t>, </a:t>
            </a:r>
            <a:r>
              <a:rPr lang="en-US" dirty="0" err="1"/>
              <a:t>munmap</a:t>
            </a:r>
            <a:r>
              <a:rPr lang="en-US" dirty="0"/>
              <a:t> - map or </a:t>
            </a:r>
            <a:r>
              <a:rPr lang="en-US" dirty="0" err="1"/>
              <a:t>unmap</a:t>
            </a:r>
            <a:r>
              <a:rPr lang="en-US" dirty="0"/>
              <a:t> files or devices into memory</a:t>
            </a:r>
          </a:p>
          <a:p>
            <a:endParaRPr lang="en-US" dirty="0"/>
          </a:p>
          <a:p>
            <a:r>
              <a:rPr lang="en-US" dirty="0"/>
              <a:t>Untrusted</a:t>
            </a:r>
            <a:r>
              <a:rPr lang="en-US" baseline="0" dirty="0"/>
              <a:t> code access data or variable inside the process, does not need to go through the reference monitor to do complete mediation. </a:t>
            </a:r>
          </a:p>
          <a:p>
            <a:endParaRPr lang="en-US" baseline="0" dirty="0"/>
          </a:p>
          <a:p>
            <a:r>
              <a:rPr lang="en-US" baseline="0" dirty="0"/>
              <a:t>You might can put the untrusted code into a different process, to force it to go through the mediation process to access the data in the current process. </a:t>
            </a:r>
            <a:endParaRPr lang="en-US" dirty="0"/>
          </a:p>
        </p:txBody>
      </p:sp>
      <p:sp>
        <p:nvSpPr>
          <p:cNvPr id="4" name="Slide Number Placeholder 3"/>
          <p:cNvSpPr>
            <a:spLocks noGrp="1"/>
          </p:cNvSpPr>
          <p:nvPr>
            <p:ph type="sldNum" sz="quarter" idx="10"/>
          </p:nvPr>
        </p:nvSpPr>
        <p:spPr/>
        <p:txBody>
          <a:bodyPr/>
          <a:lstStyle/>
          <a:p>
            <a:fld id="{CF189402-B4F4-B243-A0CF-C8359DED6E6C}" type="slidenum">
              <a:rPr lang="en-US" smtClean="0"/>
              <a:t>15</a:t>
            </a:fld>
            <a:endParaRPr lang="en-US"/>
          </a:p>
        </p:txBody>
      </p:sp>
    </p:spTree>
    <p:extLst>
      <p:ext uri="{BB962C8B-B14F-4D97-AF65-F5344CB8AC3E}">
        <p14:creationId xmlns:p14="http://schemas.microsoft.com/office/powerpoint/2010/main" val="37508913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a:t>
            </a:r>
            <a:r>
              <a:rPr lang="en-US" dirty="0" err="1"/>
              <a:t>www.cs.cornell.edu</a:t>
            </a:r>
            <a:r>
              <a:rPr lang="en-US" dirty="0"/>
              <a:t>/courses/cs513/2000sp/L13.html</a:t>
            </a:r>
          </a:p>
        </p:txBody>
      </p:sp>
      <p:sp>
        <p:nvSpPr>
          <p:cNvPr id="4" name="Slide Number Placeholder 3"/>
          <p:cNvSpPr>
            <a:spLocks noGrp="1"/>
          </p:cNvSpPr>
          <p:nvPr>
            <p:ph type="sldNum" sz="quarter" idx="10"/>
          </p:nvPr>
        </p:nvSpPr>
        <p:spPr/>
        <p:txBody>
          <a:bodyPr/>
          <a:lstStyle/>
          <a:p>
            <a:fld id="{CF189402-B4F4-B243-A0CF-C8359DED6E6C}" type="slidenum">
              <a:rPr lang="en-US" smtClean="0"/>
              <a:t>16</a:t>
            </a:fld>
            <a:endParaRPr lang="en-US"/>
          </a:p>
        </p:txBody>
      </p:sp>
    </p:spTree>
    <p:extLst>
      <p:ext uri="{BB962C8B-B14F-4D97-AF65-F5344CB8AC3E}">
        <p14:creationId xmlns:p14="http://schemas.microsoft.com/office/powerpoint/2010/main" val="9451348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a:t>
            </a:r>
            <a:r>
              <a:rPr lang="en-US" dirty="0" err="1"/>
              <a:t>www.cs.cornell.edu</a:t>
            </a:r>
            <a:r>
              <a:rPr lang="en-US" dirty="0"/>
              <a:t>/courses/cs513/2000sp/L13.html</a:t>
            </a:r>
          </a:p>
        </p:txBody>
      </p:sp>
      <p:sp>
        <p:nvSpPr>
          <p:cNvPr id="4" name="Slide Number Placeholder 3"/>
          <p:cNvSpPr>
            <a:spLocks noGrp="1"/>
          </p:cNvSpPr>
          <p:nvPr>
            <p:ph type="sldNum" sz="quarter" idx="10"/>
          </p:nvPr>
        </p:nvSpPr>
        <p:spPr/>
        <p:txBody>
          <a:bodyPr/>
          <a:lstStyle/>
          <a:p>
            <a:fld id="{CF189402-B4F4-B243-A0CF-C8359DED6E6C}" type="slidenum">
              <a:rPr lang="en-US" smtClean="0"/>
              <a:t>17</a:t>
            </a:fld>
            <a:endParaRPr lang="en-US"/>
          </a:p>
        </p:txBody>
      </p:sp>
    </p:spTree>
    <p:extLst>
      <p:ext uri="{BB962C8B-B14F-4D97-AF65-F5344CB8AC3E}">
        <p14:creationId xmlns:p14="http://schemas.microsoft.com/office/powerpoint/2010/main" val="9451348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intra1 (laptop)</a:t>
            </a:r>
            <a:r>
              <a:rPr lang="en-US" baseline="0" dirty="0"/>
              <a:t> is brought out of the lab, and got infected. When it is brought back to the lab, it tries to access the data stored on other computers in the lab, and leak it. Since this laptop does not need to go through the inner Firewall to access other computers inside the intranet, so it did not go through the complete mediation process. </a:t>
            </a:r>
          </a:p>
          <a:p>
            <a:endParaRPr lang="en-US" baseline="0" dirty="0"/>
          </a:p>
          <a:p>
            <a:r>
              <a:rPr lang="en-US" baseline="0" dirty="0"/>
              <a:t>You can configure the switch inside the intranet to do the mediation. </a:t>
            </a:r>
            <a:endParaRPr lang="en-US" dirty="0"/>
          </a:p>
        </p:txBody>
      </p:sp>
      <p:sp>
        <p:nvSpPr>
          <p:cNvPr id="4" name="Slide Number Placeholder 3"/>
          <p:cNvSpPr>
            <a:spLocks noGrp="1"/>
          </p:cNvSpPr>
          <p:nvPr>
            <p:ph type="sldNum" sz="quarter" idx="10"/>
          </p:nvPr>
        </p:nvSpPr>
        <p:spPr/>
        <p:txBody>
          <a:bodyPr/>
          <a:lstStyle/>
          <a:p>
            <a:fld id="{CF189402-B4F4-B243-A0CF-C8359DED6E6C}" type="slidenum">
              <a:rPr lang="en-US" smtClean="0"/>
              <a:t>18</a:t>
            </a:fld>
            <a:endParaRPr lang="en-US"/>
          </a:p>
        </p:txBody>
      </p:sp>
    </p:spTree>
    <p:extLst>
      <p:ext uri="{BB962C8B-B14F-4D97-AF65-F5344CB8AC3E}">
        <p14:creationId xmlns:p14="http://schemas.microsoft.com/office/powerpoint/2010/main" val="4041896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Granularity of information:</a:t>
            </a:r>
            <a:r>
              <a:rPr lang="en-US" baseline="0" dirty="0"/>
              <a:t>  bit, or byte, or page, or a file? </a:t>
            </a:r>
          </a:p>
          <a:p>
            <a:endParaRPr lang="en-US" baseline="0" dirty="0"/>
          </a:p>
          <a:p>
            <a:r>
              <a:rPr lang="en-US" baseline="0" dirty="0"/>
              <a:t>If the granularity of information is in the bit level, it is too expensive. </a:t>
            </a:r>
            <a:endParaRPr lang="en-US" dirty="0"/>
          </a:p>
        </p:txBody>
      </p:sp>
      <p:sp>
        <p:nvSpPr>
          <p:cNvPr id="4" name="Slide Number Placeholder 3"/>
          <p:cNvSpPr>
            <a:spLocks noGrp="1"/>
          </p:cNvSpPr>
          <p:nvPr>
            <p:ph type="sldNum" sz="quarter" idx="10"/>
          </p:nvPr>
        </p:nvSpPr>
        <p:spPr/>
        <p:txBody>
          <a:bodyPr/>
          <a:lstStyle/>
          <a:p>
            <a:fld id="{CF189402-B4F4-B243-A0CF-C8359DED6E6C}" type="slidenum">
              <a:rPr lang="en-US" smtClean="0"/>
              <a:t>21</a:t>
            </a:fld>
            <a:endParaRPr lang="en-US"/>
          </a:p>
        </p:txBody>
      </p:sp>
    </p:spTree>
    <p:extLst>
      <p:ext uri="{BB962C8B-B14F-4D97-AF65-F5344CB8AC3E}">
        <p14:creationId xmlns:p14="http://schemas.microsoft.com/office/powerpoint/2010/main" val="6454759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F189402-B4F4-B243-A0CF-C8359DED6E6C}" type="slidenum">
              <a:rPr lang="en-US" smtClean="0"/>
              <a:t>22</a:t>
            </a:fld>
            <a:endParaRPr lang="en-US"/>
          </a:p>
        </p:txBody>
      </p:sp>
    </p:spTree>
    <p:extLst>
      <p:ext uri="{BB962C8B-B14F-4D97-AF65-F5344CB8AC3E}">
        <p14:creationId xmlns:p14="http://schemas.microsoft.com/office/powerpoint/2010/main" val="32920982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The weaknesses found on a Windows system, can be used by the attacker to attack all the other systems with the same windows OS systems.</a:t>
            </a:r>
          </a:p>
          <a:p>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Introduce diversity, i.e., use different OS systems.</a:t>
            </a:r>
          </a:p>
          <a:p>
            <a:endParaRPr lang="en-US" dirty="0"/>
          </a:p>
          <a:p>
            <a:r>
              <a:rPr lang="en-US" dirty="0"/>
              <a:t>If different computer systems use different OS systems, then the attacker’s job would be much harder, since it cannot reuse the same attacks against different systems with different OS systems. The maintenance of the computing systems will be more expensive. </a:t>
            </a:r>
          </a:p>
          <a:p>
            <a:endParaRPr lang="en-US" dirty="0"/>
          </a:p>
          <a:p>
            <a:r>
              <a:rPr lang="en-US" dirty="0"/>
              <a:t>Security</a:t>
            </a:r>
            <a:r>
              <a:rPr lang="en-US" baseline="0" dirty="0"/>
              <a:t>/performance trade off. </a:t>
            </a:r>
            <a:endParaRPr lang="en-US" dirty="0"/>
          </a:p>
        </p:txBody>
      </p:sp>
      <p:sp>
        <p:nvSpPr>
          <p:cNvPr id="4" name="Slide Number Placeholder 3"/>
          <p:cNvSpPr>
            <a:spLocks noGrp="1"/>
          </p:cNvSpPr>
          <p:nvPr>
            <p:ph type="sldNum" sz="quarter" idx="10"/>
          </p:nvPr>
        </p:nvSpPr>
        <p:spPr/>
        <p:txBody>
          <a:bodyPr/>
          <a:lstStyle/>
          <a:p>
            <a:fld id="{CF189402-B4F4-B243-A0CF-C8359DED6E6C}" type="slidenum">
              <a:rPr lang="en-US" smtClean="0"/>
              <a:t>25</a:t>
            </a:fld>
            <a:endParaRPr lang="en-US"/>
          </a:p>
        </p:txBody>
      </p:sp>
    </p:spTree>
    <p:extLst>
      <p:ext uri="{BB962C8B-B14F-4D97-AF65-F5344CB8AC3E}">
        <p14:creationId xmlns:p14="http://schemas.microsoft.com/office/powerpoint/2010/main" val="36169531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users are still using the same browser, i.e., the same software. – violation of the least common mechanism. </a:t>
            </a:r>
          </a:p>
        </p:txBody>
      </p:sp>
      <p:sp>
        <p:nvSpPr>
          <p:cNvPr id="4" name="Slide Number Placeholder 3"/>
          <p:cNvSpPr>
            <a:spLocks noGrp="1"/>
          </p:cNvSpPr>
          <p:nvPr>
            <p:ph type="sldNum" sz="quarter" idx="5"/>
          </p:nvPr>
        </p:nvSpPr>
        <p:spPr/>
        <p:txBody>
          <a:bodyPr/>
          <a:lstStyle/>
          <a:p>
            <a:fld id="{CF189402-B4F4-B243-A0CF-C8359DED6E6C}" type="slidenum">
              <a:rPr lang="en-US" smtClean="0"/>
              <a:t>26</a:t>
            </a:fld>
            <a:endParaRPr lang="en-US"/>
          </a:p>
        </p:txBody>
      </p:sp>
    </p:spTree>
    <p:extLst>
      <p:ext uri="{BB962C8B-B14F-4D97-AF65-F5344CB8AC3E}">
        <p14:creationId xmlns:p14="http://schemas.microsoft.com/office/powerpoint/2010/main" val="9680152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Wordpress</a:t>
            </a:r>
            <a:r>
              <a:rPr lang="en-US" dirty="0"/>
              <a:t>: content</a:t>
            </a:r>
            <a:r>
              <a:rPr lang="en-US" baseline="0" dirty="0"/>
              <a:t> publishing platform, and it welcomes plugins, and the plugins are not verified. </a:t>
            </a:r>
          </a:p>
          <a:p>
            <a:endParaRPr lang="en-US" baseline="0" dirty="0"/>
          </a:p>
          <a:p>
            <a:r>
              <a:rPr lang="en-US" baseline="0" dirty="0"/>
              <a:t>If a plugin of </a:t>
            </a:r>
            <a:r>
              <a:rPr lang="en-US" baseline="0" dirty="0" err="1"/>
              <a:t>wordpress</a:t>
            </a:r>
            <a:r>
              <a:rPr lang="en-US" baseline="0" dirty="0"/>
              <a:t> has weaknesses, then all the users who are using </a:t>
            </a:r>
            <a:r>
              <a:rPr lang="en-US" baseline="0" dirty="0" err="1"/>
              <a:t>wordpress</a:t>
            </a:r>
            <a:r>
              <a:rPr lang="en-US" baseline="0" dirty="0"/>
              <a:t> will have the same weaknesses. Since roughly 52% of the users use </a:t>
            </a:r>
            <a:r>
              <a:rPr lang="en-US" baseline="0" dirty="0" err="1"/>
              <a:t>wordpress</a:t>
            </a:r>
            <a:r>
              <a:rPr lang="en-US" baseline="0" dirty="0"/>
              <a:t>, so it would be a problem. –violation of the least common mechanism. </a:t>
            </a:r>
          </a:p>
          <a:p>
            <a:endParaRPr lang="en-US" baseline="0" dirty="0"/>
          </a:p>
          <a:p>
            <a:r>
              <a:rPr lang="en-US" baseline="0" dirty="0"/>
              <a:t>Again, introduce more diversity. </a:t>
            </a:r>
            <a:endParaRPr lang="en-US" dirty="0"/>
          </a:p>
        </p:txBody>
      </p:sp>
      <p:sp>
        <p:nvSpPr>
          <p:cNvPr id="4" name="Slide Number Placeholder 3"/>
          <p:cNvSpPr>
            <a:spLocks noGrp="1"/>
          </p:cNvSpPr>
          <p:nvPr>
            <p:ph type="sldNum" sz="quarter" idx="10"/>
          </p:nvPr>
        </p:nvSpPr>
        <p:spPr/>
        <p:txBody>
          <a:bodyPr/>
          <a:lstStyle/>
          <a:p>
            <a:fld id="{CF189402-B4F4-B243-A0CF-C8359DED6E6C}" type="slidenum">
              <a:rPr lang="en-US" smtClean="0"/>
              <a:t>27</a:t>
            </a:fld>
            <a:endParaRPr lang="en-US"/>
          </a:p>
        </p:txBody>
      </p:sp>
    </p:spTree>
    <p:extLst>
      <p:ext uri="{BB962C8B-B14F-4D97-AF65-F5344CB8AC3E}">
        <p14:creationId xmlns:p14="http://schemas.microsoft.com/office/powerpoint/2010/main" val="27149110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How to introduce more diversity: </a:t>
            </a:r>
          </a:p>
          <a:p>
            <a:endParaRPr lang="en-US" dirty="0"/>
          </a:p>
          <a:p>
            <a:r>
              <a:rPr lang="en-US" dirty="0"/>
              <a:t>You want the process of introducing diversity to be systematic, and automatic. </a:t>
            </a:r>
          </a:p>
          <a:p>
            <a:endParaRPr lang="en-US" dirty="0"/>
          </a:p>
          <a:p>
            <a:r>
              <a:rPr lang="en-US" dirty="0"/>
              <a:t>Editing Source</a:t>
            </a:r>
            <a:r>
              <a:rPr lang="en-US" baseline="0" dirty="0"/>
              <a:t> code </a:t>
            </a:r>
            <a:r>
              <a:rPr lang="en-US" baseline="0" dirty="0">
                <a:sym typeface="Wingdings" panose="05000000000000000000" pitchFamily="2" charset="2"/>
              </a:rPr>
              <a:t> Compiling  Linking (Library functions)  Loading and Running</a:t>
            </a:r>
          </a:p>
          <a:p>
            <a:endParaRPr lang="en-US" baseline="0" dirty="0">
              <a:sym typeface="Wingdings" panose="05000000000000000000" pitchFamily="2" charset="2"/>
            </a:endParaRPr>
          </a:p>
          <a:p>
            <a:r>
              <a:rPr lang="en-US" baseline="0" dirty="0">
                <a:sym typeface="Wingdings" panose="05000000000000000000" pitchFamily="2" charset="2"/>
              </a:rPr>
              <a:t>Source code with different languages.</a:t>
            </a:r>
          </a:p>
          <a:p>
            <a:endParaRPr lang="en-US" baseline="0" dirty="0">
              <a:sym typeface="Wingdings" panose="05000000000000000000" pitchFamily="2" charset="2"/>
            </a:endParaRPr>
          </a:p>
          <a:p>
            <a:r>
              <a:rPr lang="en-US" baseline="0" dirty="0">
                <a:sym typeface="Wingdings" panose="05000000000000000000" pitchFamily="2" charset="2"/>
              </a:rPr>
              <a:t>Compiling phase: Adding boundary checks, with different boundary check values if it is too hard to change the programming language. </a:t>
            </a:r>
          </a:p>
          <a:p>
            <a:endParaRPr lang="en-US" baseline="0" dirty="0">
              <a:sym typeface="Wingdings" panose="05000000000000000000" pitchFamily="2" charset="2"/>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aseline="0" dirty="0">
                <a:sym typeface="Wingdings" panose="05000000000000000000" pitchFamily="2" charset="2"/>
              </a:rPr>
              <a:t>Calling library functions from different vendors – some library functions might have weaknesses.  </a:t>
            </a:r>
          </a:p>
          <a:p>
            <a:endParaRPr lang="en-US" baseline="0" dirty="0">
              <a:sym typeface="Wingdings" panose="05000000000000000000" pitchFamily="2" charset="2"/>
            </a:endParaRPr>
          </a:p>
          <a:p>
            <a:r>
              <a:rPr lang="en-US" baseline="0" dirty="0">
                <a:sym typeface="Wingdings" panose="05000000000000000000" pitchFamily="2" charset="2"/>
              </a:rPr>
              <a:t>OS systems can encrypt the programs, with different keys.</a:t>
            </a:r>
          </a:p>
          <a:p>
            <a:endParaRPr lang="en-US" baseline="0" dirty="0">
              <a:sym typeface="Wingdings" panose="05000000000000000000" pitchFamily="2" charset="2"/>
            </a:endParaRPr>
          </a:p>
          <a:p>
            <a:endParaRPr lang="en-US" baseline="0" dirty="0">
              <a:sym typeface="Wingdings" panose="05000000000000000000" pitchFamily="2" charset="2"/>
            </a:endParaRPr>
          </a:p>
          <a:p>
            <a:endParaRPr lang="en-US" dirty="0"/>
          </a:p>
        </p:txBody>
      </p:sp>
      <p:sp>
        <p:nvSpPr>
          <p:cNvPr id="4" name="Slide Number Placeholder 3"/>
          <p:cNvSpPr>
            <a:spLocks noGrp="1"/>
          </p:cNvSpPr>
          <p:nvPr>
            <p:ph type="sldNum" sz="quarter" idx="10"/>
          </p:nvPr>
        </p:nvSpPr>
        <p:spPr/>
        <p:txBody>
          <a:bodyPr/>
          <a:lstStyle/>
          <a:p>
            <a:fld id="{CF189402-B4F4-B243-A0CF-C8359DED6E6C}" type="slidenum">
              <a:rPr lang="en-US" smtClean="0"/>
              <a:t>28</a:t>
            </a:fld>
            <a:endParaRPr lang="en-US"/>
          </a:p>
        </p:txBody>
      </p:sp>
    </p:spTree>
    <p:extLst>
      <p:ext uri="{BB962C8B-B14F-4D97-AF65-F5344CB8AC3E}">
        <p14:creationId xmlns:p14="http://schemas.microsoft.com/office/powerpoint/2010/main" val="40280475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Aim to substantially increase the cost of attacks by deploying and operating networks/systems to makes them less deterministic, less homogeneous, and less static.</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•Continually shift and change over time to increase complexity and cost for attackers, limit the exposure of vulnerabilities and opportunities for attack, and increase system resiliency. </a:t>
            </a:r>
          </a:p>
          <a:p>
            <a:r>
              <a:rPr lang="en-US" sz="1200" b="0" i="0" u="none" strike="noStrike" kern="1200" baseline="0" dirty="0">
                <a:solidFill>
                  <a:schemeClr val="tx1"/>
                </a:solidFill>
                <a:latin typeface="+mn-lt"/>
                <a:ea typeface="+mn-ea"/>
                <a:cs typeface="+mn-cs"/>
              </a:rPr>
              <a:t>•Dynamically altered in ways that are manageable by the defender yet make the attack space appear unpredictable to the attacker. </a:t>
            </a:r>
          </a:p>
          <a:p>
            <a:r>
              <a:rPr lang="en-US" sz="1200" b="0" i="0" u="none" strike="noStrike" kern="1200" baseline="0" dirty="0">
                <a:solidFill>
                  <a:schemeClr val="tx1"/>
                </a:solidFill>
                <a:latin typeface="+mn-lt"/>
                <a:ea typeface="+mn-ea"/>
                <a:cs typeface="+mn-cs"/>
              </a:rPr>
              <a:t>•Also known as “Cyber Maneuver”, “Adaptive Cyber Defense”</a:t>
            </a:r>
          </a:p>
          <a:p>
            <a:r>
              <a:rPr lang="en-US" sz="1200" b="0" i="0" u="none" strike="noStrike" kern="1200" baseline="0" dirty="0">
                <a:solidFill>
                  <a:schemeClr val="tx1"/>
                </a:solidFill>
                <a:latin typeface="+mn-lt"/>
                <a:ea typeface="+mn-ea"/>
                <a:cs typeface="+mn-cs"/>
              </a:rPr>
              <a:t>	Reactive </a:t>
            </a:r>
            <a:r>
              <a:rPr lang="en-US" sz="1200" b="0" i="0" u="none" strike="noStrike" kern="1200" baseline="0" dirty="0">
                <a:solidFill>
                  <a:schemeClr val="tx1"/>
                </a:solidFill>
                <a:latin typeface="+mn-lt"/>
                <a:ea typeface="+mn-ea"/>
                <a:cs typeface="+mn-cs"/>
                <a:sym typeface="Wingdings" panose="05000000000000000000" pitchFamily="2" charset="2"/>
              </a:rPr>
              <a:t> </a:t>
            </a:r>
            <a:r>
              <a:rPr lang="en-US" sz="1200" b="0" i="0" u="none" strike="noStrike" kern="1200" baseline="0" dirty="0">
                <a:solidFill>
                  <a:schemeClr val="tx1"/>
                </a:solidFill>
                <a:latin typeface="+mn-lt"/>
                <a:ea typeface="+mn-ea"/>
                <a:cs typeface="+mn-cs"/>
              </a:rPr>
              <a:t>Proactive</a:t>
            </a:r>
          </a:p>
          <a:p>
            <a:r>
              <a:rPr lang="en-US" sz="1200" b="0" i="0" u="none" strike="noStrike" kern="1200" baseline="0" dirty="0">
                <a:solidFill>
                  <a:schemeClr val="tx1"/>
                </a:solidFill>
                <a:latin typeface="+mn-lt"/>
                <a:ea typeface="+mn-ea"/>
                <a:cs typeface="+mn-cs"/>
              </a:rPr>
              <a:t>	Static </a:t>
            </a:r>
            <a:r>
              <a:rPr lang="en-US" sz="1200" b="0" i="0" u="none" strike="noStrike" kern="1200" baseline="0" dirty="0">
                <a:solidFill>
                  <a:schemeClr val="tx1"/>
                </a:solidFill>
                <a:latin typeface="+mn-lt"/>
                <a:ea typeface="+mn-ea"/>
                <a:cs typeface="+mn-cs"/>
                <a:sym typeface="Wingdings" panose="05000000000000000000" pitchFamily="2" charset="2"/>
              </a:rPr>
              <a:t> </a:t>
            </a:r>
            <a:r>
              <a:rPr lang="en-US" sz="1200" b="0" i="0" u="none" strike="noStrike" kern="1200" baseline="0" dirty="0">
                <a:solidFill>
                  <a:schemeClr val="tx1"/>
                </a:solidFill>
                <a:latin typeface="+mn-lt"/>
                <a:ea typeface="+mn-ea"/>
                <a:cs typeface="+mn-cs"/>
              </a:rPr>
              <a:t>Dynamic</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•Enables defenders to create, analyze, evaluate, and deploy mechanisms and strategies that continually shift and change over time to increase complexity and cost for attackers</a:t>
            </a:r>
          </a:p>
          <a:p>
            <a:r>
              <a:rPr lang="en-US" sz="1200" b="0" i="0" u="none" strike="noStrike" kern="1200" baseline="0" dirty="0">
                <a:solidFill>
                  <a:schemeClr val="tx1"/>
                </a:solidFill>
                <a:latin typeface="+mn-lt"/>
                <a:ea typeface="+mn-ea"/>
                <a:cs typeface="+mn-cs"/>
              </a:rPr>
              <a:t>limit the exposure of vulnerabilities and opportunities for attack, increase system resiliency and establish foundation for “fighting thru the attack”</a:t>
            </a:r>
          </a:p>
          <a:p>
            <a:endParaRPr lang="en-US" sz="1200" b="0" i="0" u="none" strike="noStrike" kern="1200" baseline="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CF189402-B4F4-B243-A0CF-C8359DED6E6C}" type="slidenum">
              <a:rPr lang="en-US" smtClean="0"/>
              <a:t>29</a:t>
            </a:fld>
            <a:endParaRPr lang="en-US"/>
          </a:p>
        </p:txBody>
      </p:sp>
    </p:spTree>
    <p:extLst>
      <p:ext uri="{BB962C8B-B14F-4D97-AF65-F5344CB8AC3E}">
        <p14:creationId xmlns:p14="http://schemas.microsoft.com/office/powerpoint/2010/main" val="41120078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Kerckhoffs</a:t>
            </a:r>
            <a:r>
              <a:rPr lang="en-US" baseline="0" dirty="0"/>
              <a:t> principle</a:t>
            </a:r>
            <a:endParaRPr lang="en-US" dirty="0"/>
          </a:p>
        </p:txBody>
      </p:sp>
      <p:sp>
        <p:nvSpPr>
          <p:cNvPr id="4" name="Slide Number Placeholder 3"/>
          <p:cNvSpPr>
            <a:spLocks noGrp="1"/>
          </p:cNvSpPr>
          <p:nvPr>
            <p:ph type="sldNum" sz="quarter" idx="10"/>
          </p:nvPr>
        </p:nvSpPr>
        <p:spPr/>
        <p:txBody>
          <a:bodyPr/>
          <a:lstStyle/>
          <a:p>
            <a:fld id="{CF189402-B4F4-B243-A0CF-C8359DED6E6C}" type="slidenum">
              <a:rPr lang="en-US" smtClean="0"/>
              <a:t>30</a:t>
            </a:fld>
            <a:endParaRPr lang="en-US"/>
          </a:p>
        </p:txBody>
      </p:sp>
    </p:spTree>
    <p:extLst>
      <p:ext uri="{BB962C8B-B14F-4D97-AF65-F5344CB8AC3E}">
        <p14:creationId xmlns:p14="http://schemas.microsoft.com/office/powerpoint/2010/main" val="11642250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log files should not</a:t>
            </a:r>
            <a:r>
              <a:rPr lang="en-US" baseline="0" dirty="0"/>
              <a:t> be compromised. </a:t>
            </a:r>
            <a:endParaRPr lang="en-US" dirty="0"/>
          </a:p>
        </p:txBody>
      </p:sp>
      <p:sp>
        <p:nvSpPr>
          <p:cNvPr id="4" name="Slide Number Placeholder 3"/>
          <p:cNvSpPr>
            <a:spLocks noGrp="1"/>
          </p:cNvSpPr>
          <p:nvPr>
            <p:ph type="sldNum" sz="quarter" idx="10"/>
          </p:nvPr>
        </p:nvSpPr>
        <p:spPr/>
        <p:txBody>
          <a:bodyPr/>
          <a:lstStyle/>
          <a:p>
            <a:fld id="{CF189402-B4F4-B243-A0CF-C8359DED6E6C}" type="slidenum">
              <a:rPr lang="en-US" smtClean="0"/>
              <a:t>32</a:t>
            </a:fld>
            <a:endParaRPr lang="en-US"/>
          </a:p>
        </p:txBody>
      </p:sp>
    </p:spTree>
    <p:extLst>
      <p:ext uri="{BB962C8B-B14F-4D97-AF65-F5344CB8AC3E}">
        <p14:creationId xmlns:p14="http://schemas.microsoft.com/office/powerpoint/2010/main" val="31267469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Modularity: Cryptographic functions as common cryptographic</a:t>
            </a:r>
            <a:r>
              <a:rPr lang="en-US" baseline="0" dirty="0"/>
              <a:t> modules, can be invoked by many security protocols and applications. </a:t>
            </a:r>
            <a:endParaRPr lang="en-US" dirty="0"/>
          </a:p>
        </p:txBody>
      </p:sp>
      <p:sp>
        <p:nvSpPr>
          <p:cNvPr id="4" name="Slide Number Placeholder 3"/>
          <p:cNvSpPr>
            <a:spLocks noGrp="1"/>
          </p:cNvSpPr>
          <p:nvPr>
            <p:ph type="sldNum" sz="quarter" idx="10"/>
          </p:nvPr>
        </p:nvSpPr>
        <p:spPr/>
        <p:txBody>
          <a:bodyPr/>
          <a:lstStyle/>
          <a:p>
            <a:fld id="{CF189402-B4F4-B243-A0CF-C8359DED6E6C}" type="slidenum">
              <a:rPr lang="en-US" smtClean="0"/>
              <a:t>33</a:t>
            </a:fld>
            <a:endParaRPr lang="en-US"/>
          </a:p>
        </p:txBody>
      </p:sp>
    </p:spTree>
    <p:extLst>
      <p:ext uri="{BB962C8B-B14F-4D97-AF65-F5344CB8AC3E}">
        <p14:creationId xmlns:p14="http://schemas.microsoft.com/office/powerpoint/2010/main" val="25246675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Layering (defense in depth): </a:t>
            </a:r>
            <a:r>
              <a:rPr lang="en-US" dirty="0"/>
              <a:t> the failure of any individual</a:t>
            </a:r>
            <a:r>
              <a:rPr lang="en-US" baseline="0" dirty="0"/>
              <a:t> protection approach will not leave the system unprotected. </a:t>
            </a:r>
          </a:p>
          <a:p>
            <a:r>
              <a:rPr lang="en-US" altLang="en-US" dirty="0"/>
              <a:t>Layering (defense in depth): requires</a:t>
            </a:r>
            <a:r>
              <a:rPr lang="en-US" altLang="en-US" baseline="0" dirty="0"/>
              <a:t> an understanding to the specific threats</a:t>
            </a:r>
            <a:endParaRPr lang="en-US" dirty="0"/>
          </a:p>
        </p:txBody>
      </p:sp>
      <p:sp>
        <p:nvSpPr>
          <p:cNvPr id="4" name="Slide Number Placeholder 3"/>
          <p:cNvSpPr>
            <a:spLocks noGrp="1"/>
          </p:cNvSpPr>
          <p:nvPr>
            <p:ph type="sldNum" sz="quarter" idx="10"/>
          </p:nvPr>
        </p:nvSpPr>
        <p:spPr/>
        <p:txBody>
          <a:bodyPr/>
          <a:lstStyle/>
          <a:p>
            <a:fld id="{CF189402-B4F4-B243-A0CF-C8359DED6E6C}" type="slidenum">
              <a:rPr lang="en-US" smtClean="0"/>
              <a:t>34</a:t>
            </a:fld>
            <a:endParaRPr lang="en-US"/>
          </a:p>
        </p:txBody>
      </p:sp>
    </p:spTree>
    <p:extLst>
      <p:ext uri="{BB962C8B-B14F-4D97-AF65-F5344CB8AC3E}">
        <p14:creationId xmlns:p14="http://schemas.microsoft.com/office/powerpoint/2010/main" val="25273707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Software</a:t>
            </a:r>
            <a:r>
              <a:rPr lang="en-US" baseline="0" dirty="0"/>
              <a:t> attack surface: this refers to vulnerabilities in application, utility, or operating system code. A particular focus in this category is web server software. </a:t>
            </a:r>
          </a:p>
          <a:p>
            <a:endParaRPr lang="en-US" baseline="0" dirty="0"/>
          </a:p>
          <a:p>
            <a:r>
              <a:rPr lang="en-US" baseline="0" dirty="0"/>
              <a:t>Find ways to make the attack surface smaller, to make the attacker’s jobs harder. </a:t>
            </a:r>
          </a:p>
          <a:p>
            <a:endParaRPr lang="en-US" baseline="0" dirty="0"/>
          </a:p>
          <a:p>
            <a:r>
              <a:rPr lang="en-US" baseline="0" dirty="0"/>
              <a:t>Network attack surface: vulnerabilities in the enterprise network, wide area network, or the Internet, like open ports, network protocol vulnerabilities.</a:t>
            </a:r>
          </a:p>
          <a:p>
            <a:endParaRPr lang="en-US" baseline="0" dirty="0"/>
          </a:p>
          <a:p>
            <a:r>
              <a:rPr lang="en-US" baseline="0" dirty="0"/>
              <a:t>Human attack surface: vulnerabilities created by personnel or outsiders, such as social engineering, human error, and trusted insiders.</a:t>
            </a:r>
          </a:p>
          <a:p>
            <a:endParaRPr lang="en-US" baseline="0" dirty="0"/>
          </a:p>
          <a:p>
            <a:endParaRPr lang="en-US" baseline="0" dirty="0"/>
          </a:p>
          <a:p>
            <a:endParaRPr lang="en-US" dirty="0"/>
          </a:p>
        </p:txBody>
      </p:sp>
      <p:sp>
        <p:nvSpPr>
          <p:cNvPr id="4" name="Slide Number Placeholder 3"/>
          <p:cNvSpPr>
            <a:spLocks noGrp="1"/>
          </p:cNvSpPr>
          <p:nvPr>
            <p:ph type="sldNum" sz="quarter" idx="10"/>
          </p:nvPr>
        </p:nvSpPr>
        <p:spPr/>
        <p:txBody>
          <a:bodyPr/>
          <a:lstStyle/>
          <a:p>
            <a:fld id="{CF189402-B4F4-B243-A0CF-C8359DED6E6C}" type="slidenum">
              <a:rPr lang="en-US" smtClean="0"/>
              <a:t>49</a:t>
            </a:fld>
            <a:endParaRPr lang="en-US"/>
          </a:p>
        </p:txBody>
      </p:sp>
    </p:spTree>
    <p:extLst>
      <p:ext uri="{BB962C8B-B14F-4D97-AF65-F5344CB8AC3E}">
        <p14:creationId xmlns:p14="http://schemas.microsoft.com/office/powerpoint/2010/main" val="40859056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99CD348-04CF-0241-ACEC-5E4649DF5F68}" type="datetimeFigureOut">
              <a:rPr lang="en-US" smtClean="0"/>
              <a:t>9/7/2023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B65303-9EA1-8647-A36C-7BC2D1387EC7}" type="slidenum">
              <a:rPr lang="en-US" smtClean="0"/>
              <a:t>‹#›</a:t>
            </a:fld>
            <a:endParaRPr lang="en-US"/>
          </a:p>
        </p:txBody>
      </p:sp>
    </p:spTree>
    <p:extLst>
      <p:ext uri="{BB962C8B-B14F-4D97-AF65-F5344CB8AC3E}">
        <p14:creationId xmlns:p14="http://schemas.microsoft.com/office/powerpoint/2010/main" val="403197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9CD348-04CF-0241-ACEC-5E4649DF5F68}" type="datetimeFigureOut">
              <a:rPr lang="en-US" smtClean="0"/>
              <a:t>9/7/2023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B65303-9EA1-8647-A36C-7BC2D1387EC7}" type="slidenum">
              <a:rPr lang="en-US" smtClean="0"/>
              <a:t>‹#›</a:t>
            </a:fld>
            <a:endParaRPr lang="en-US"/>
          </a:p>
        </p:txBody>
      </p:sp>
    </p:spTree>
    <p:extLst>
      <p:ext uri="{BB962C8B-B14F-4D97-AF65-F5344CB8AC3E}">
        <p14:creationId xmlns:p14="http://schemas.microsoft.com/office/powerpoint/2010/main" val="41244896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9CD348-04CF-0241-ACEC-5E4649DF5F68}" type="datetimeFigureOut">
              <a:rPr lang="en-US" smtClean="0"/>
              <a:t>9/7/2023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B65303-9EA1-8647-A36C-7BC2D1387EC7}" type="slidenum">
              <a:rPr lang="en-US" smtClean="0"/>
              <a:t>‹#›</a:t>
            </a:fld>
            <a:endParaRPr lang="en-US"/>
          </a:p>
        </p:txBody>
      </p:sp>
    </p:spTree>
    <p:extLst>
      <p:ext uri="{BB962C8B-B14F-4D97-AF65-F5344CB8AC3E}">
        <p14:creationId xmlns:p14="http://schemas.microsoft.com/office/powerpoint/2010/main" val="10241416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99CD348-04CF-0241-ACEC-5E4649DF5F68}" type="datetimeFigureOut">
              <a:rPr lang="en-US" smtClean="0"/>
              <a:t>9/7/2023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B65303-9EA1-8647-A36C-7BC2D1387EC7}" type="slidenum">
              <a:rPr lang="en-US" smtClean="0"/>
              <a:t>‹#›</a:t>
            </a:fld>
            <a:endParaRPr lang="en-US"/>
          </a:p>
        </p:txBody>
      </p:sp>
    </p:spTree>
    <p:extLst>
      <p:ext uri="{BB962C8B-B14F-4D97-AF65-F5344CB8AC3E}">
        <p14:creationId xmlns:p14="http://schemas.microsoft.com/office/powerpoint/2010/main" val="34824538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99CD348-04CF-0241-ACEC-5E4649DF5F68}" type="datetimeFigureOut">
              <a:rPr lang="en-US" smtClean="0"/>
              <a:t>9/7/2023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6B65303-9EA1-8647-A36C-7BC2D1387EC7}" type="slidenum">
              <a:rPr lang="en-US" smtClean="0"/>
              <a:t>‹#›</a:t>
            </a:fld>
            <a:endParaRPr lang="en-US"/>
          </a:p>
        </p:txBody>
      </p:sp>
    </p:spTree>
    <p:extLst>
      <p:ext uri="{BB962C8B-B14F-4D97-AF65-F5344CB8AC3E}">
        <p14:creationId xmlns:p14="http://schemas.microsoft.com/office/powerpoint/2010/main" val="27518286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99CD348-04CF-0241-ACEC-5E4649DF5F68}" type="datetimeFigureOut">
              <a:rPr lang="en-US" smtClean="0"/>
              <a:t>9/7/2023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6B65303-9EA1-8647-A36C-7BC2D1387EC7}" type="slidenum">
              <a:rPr lang="en-US" smtClean="0"/>
              <a:t>‹#›</a:t>
            </a:fld>
            <a:endParaRPr lang="en-US"/>
          </a:p>
        </p:txBody>
      </p:sp>
    </p:spTree>
    <p:extLst>
      <p:ext uri="{BB962C8B-B14F-4D97-AF65-F5344CB8AC3E}">
        <p14:creationId xmlns:p14="http://schemas.microsoft.com/office/powerpoint/2010/main" val="26794539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9CD348-04CF-0241-ACEC-5E4649DF5F68}" type="datetimeFigureOut">
              <a:rPr lang="en-US" smtClean="0"/>
              <a:t>9/7/2023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6B65303-9EA1-8647-A36C-7BC2D1387EC7}" type="slidenum">
              <a:rPr lang="en-US" smtClean="0"/>
              <a:t>‹#›</a:t>
            </a:fld>
            <a:endParaRPr lang="en-US"/>
          </a:p>
        </p:txBody>
      </p:sp>
    </p:spTree>
    <p:extLst>
      <p:ext uri="{BB962C8B-B14F-4D97-AF65-F5344CB8AC3E}">
        <p14:creationId xmlns:p14="http://schemas.microsoft.com/office/powerpoint/2010/main" val="42315876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99CD348-04CF-0241-ACEC-5E4649DF5F68}" type="datetimeFigureOut">
              <a:rPr lang="en-US" smtClean="0"/>
              <a:t>9/7/2023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B65303-9EA1-8647-A36C-7BC2D1387EC7}" type="slidenum">
              <a:rPr lang="en-US" smtClean="0"/>
              <a:t>‹#›</a:t>
            </a:fld>
            <a:endParaRPr lang="en-US"/>
          </a:p>
        </p:txBody>
      </p:sp>
    </p:spTree>
    <p:extLst>
      <p:ext uri="{BB962C8B-B14F-4D97-AF65-F5344CB8AC3E}">
        <p14:creationId xmlns:p14="http://schemas.microsoft.com/office/powerpoint/2010/main" val="29120923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99CD348-04CF-0241-ACEC-5E4649DF5F68}" type="datetimeFigureOut">
              <a:rPr lang="en-US" smtClean="0"/>
              <a:t>9/7/2023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B65303-9EA1-8647-A36C-7BC2D1387EC7}" type="slidenum">
              <a:rPr lang="en-US" smtClean="0"/>
              <a:t>‹#›</a:t>
            </a:fld>
            <a:endParaRPr lang="en-US"/>
          </a:p>
        </p:txBody>
      </p:sp>
    </p:spTree>
    <p:extLst>
      <p:ext uri="{BB962C8B-B14F-4D97-AF65-F5344CB8AC3E}">
        <p14:creationId xmlns:p14="http://schemas.microsoft.com/office/powerpoint/2010/main" val="25041172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9CD348-04CF-0241-ACEC-5E4649DF5F68}" type="datetimeFigureOut">
              <a:rPr lang="en-US" smtClean="0"/>
              <a:t>9/7/2023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B65303-9EA1-8647-A36C-7BC2D1387EC7}" type="slidenum">
              <a:rPr lang="en-US" smtClean="0"/>
              <a:t>‹#›</a:t>
            </a:fld>
            <a:endParaRPr lang="en-US"/>
          </a:p>
        </p:txBody>
      </p:sp>
    </p:spTree>
    <p:extLst>
      <p:ext uri="{BB962C8B-B14F-4D97-AF65-F5344CB8AC3E}">
        <p14:creationId xmlns:p14="http://schemas.microsoft.com/office/powerpoint/2010/main" val="27134364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9CD348-04CF-0241-ACEC-5E4649DF5F68}" type="datetimeFigureOut">
              <a:rPr lang="en-US" smtClean="0"/>
              <a:t>9/7/2023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B65303-9EA1-8647-A36C-7BC2D1387EC7}" type="slidenum">
              <a:rPr lang="en-US" smtClean="0"/>
              <a:t>‹#›</a:t>
            </a:fld>
            <a:endParaRPr lang="en-US"/>
          </a:p>
        </p:txBody>
      </p:sp>
    </p:spTree>
    <p:extLst>
      <p:ext uri="{BB962C8B-B14F-4D97-AF65-F5344CB8AC3E}">
        <p14:creationId xmlns:p14="http://schemas.microsoft.com/office/powerpoint/2010/main" val="40593208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99CD348-04CF-0241-ACEC-5E4649DF5F68}" type="datetimeFigureOut">
              <a:rPr lang="en-US" smtClean="0"/>
              <a:t>9/7/2023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B65303-9EA1-8647-A36C-7BC2D1387EC7}" type="slidenum">
              <a:rPr lang="en-US" smtClean="0"/>
              <a:t>‹#›</a:t>
            </a:fld>
            <a:endParaRPr lang="en-US"/>
          </a:p>
        </p:txBody>
      </p:sp>
    </p:spTree>
    <p:extLst>
      <p:ext uri="{BB962C8B-B14F-4D97-AF65-F5344CB8AC3E}">
        <p14:creationId xmlns:p14="http://schemas.microsoft.com/office/powerpoint/2010/main" val="40700786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17" Type="http://schemas.openxmlformats.org/officeDocument/2006/relationships/image" Target="../media/image117.emf"/><Relationship Id="rId21" Type="http://schemas.openxmlformats.org/officeDocument/2006/relationships/image" Target="../media/image21.emf"/><Relationship Id="rId42" Type="http://schemas.openxmlformats.org/officeDocument/2006/relationships/image" Target="../media/image42.emf"/><Relationship Id="rId63" Type="http://schemas.openxmlformats.org/officeDocument/2006/relationships/image" Target="../media/image63.emf"/><Relationship Id="rId84" Type="http://schemas.openxmlformats.org/officeDocument/2006/relationships/image" Target="../media/image84.emf"/><Relationship Id="rId138" Type="http://schemas.openxmlformats.org/officeDocument/2006/relationships/image" Target="../media/image138.emf"/><Relationship Id="rId107" Type="http://schemas.openxmlformats.org/officeDocument/2006/relationships/image" Target="../media/image107.emf"/><Relationship Id="rId11" Type="http://schemas.openxmlformats.org/officeDocument/2006/relationships/image" Target="../media/image11.emf"/><Relationship Id="rId32" Type="http://schemas.openxmlformats.org/officeDocument/2006/relationships/image" Target="../media/image32.emf"/><Relationship Id="rId37" Type="http://schemas.openxmlformats.org/officeDocument/2006/relationships/image" Target="../media/image37.emf"/><Relationship Id="rId53" Type="http://schemas.openxmlformats.org/officeDocument/2006/relationships/image" Target="../media/image53.emf"/><Relationship Id="rId58" Type="http://schemas.openxmlformats.org/officeDocument/2006/relationships/image" Target="../media/image58.emf"/><Relationship Id="rId74" Type="http://schemas.openxmlformats.org/officeDocument/2006/relationships/image" Target="../media/image74.bmp"/><Relationship Id="rId79" Type="http://schemas.openxmlformats.org/officeDocument/2006/relationships/image" Target="../media/image79.emf"/><Relationship Id="rId102" Type="http://schemas.openxmlformats.org/officeDocument/2006/relationships/image" Target="../media/image102.emf"/><Relationship Id="rId123" Type="http://schemas.openxmlformats.org/officeDocument/2006/relationships/image" Target="../media/image123.emf"/><Relationship Id="rId128" Type="http://schemas.openxmlformats.org/officeDocument/2006/relationships/image" Target="../media/image128.emf"/><Relationship Id="rId5" Type="http://schemas.openxmlformats.org/officeDocument/2006/relationships/image" Target="../media/image5.emf"/><Relationship Id="rId90" Type="http://schemas.openxmlformats.org/officeDocument/2006/relationships/image" Target="../media/image90.emf"/><Relationship Id="rId95" Type="http://schemas.openxmlformats.org/officeDocument/2006/relationships/image" Target="../media/image95.emf"/><Relationship Id="rId22" Type="http://schemas.openxmlformats.org/officeDocument/2006/relationships/image" Target="../media/image22.emf"/><Relationship Id="rId27" Type="http://schemas.openxmlformats.org/officeDocument/2006/relationships/image" Target="../media/image27.emf"/><Relationship Id="rId43" Type="http://schemas.openxmlformats.org/officeDocument/2006/relationships/image" Target="../media/image43.emf"/><Relationship Id="rId48" Type="http://schemas.openxmlformats.org/officeDocument/2006/relationships/image" Target="../media/image48.emf"/><Relationship Id="rId64" Type="http://schemas.openxmlformats.org/officeDocument/2006/relationships/image" Target="../media/image64.bmp"/><Relationship Id="rId69" Type="http://schemas.openxmlformats.org/officeDocument/2006/relationships/image" Target="../media/image69.emf"/><Relationship Id="rId113" Type="http://schemas.openxmlformats.org/officeDocument/2006/relationships/image" Target="../media/image113.emf"/><Relationship Id="rId118" Type="http://schemas.openxmlformats.org/officeDocument/2006/relationships/image" Target="../media/image118.emf"/><Relationship Id="rId134" Type="http://schemas.openxmlformats.org/officeDocument/2006/relationships/image" Target="../media/image134.emf"/><Relationship Id="rId139" Type="http://schemas.openxmlformats.org/officeDocument/2006/relationships/image" Target="../media/image139.bmp"/><Relationship Id="rId80" Type="http://schemas.openxmlformats.org/officeDocument/2006/relationships/image" Target="../media/image80.emf"/><Relationship Id="rId85" Type="http://schemas.openxmlformats.org/officeDocument/2006/relationships/image" Target="../media/image85.emf"/><Relationship Id="rId12" Type="http://schemas.openxmlformats.org/officeDocument/2006/relationships/image" Target="../media/image12.emf"/><Relationship Id="rId17" Type="http://schemas.openxmlformats.org/officeDocument/2006/relationships/image" Target="../media/image17.bmp"/><Relationship Id="rId33" Type="http://schemas.openxmlformats.org/officeDocument/2006/relationships/image" Target="../media/image33.emf"/><Relationship Id="rId38" Type="http://schemas.openxmlformats.org/officeDocument/2006/relationships/image" Target="../media/image38.emf"/><Relationship Id="rId59" Type="http://schemas.openxmlformats.org/officeDocument/2006/relationships/image" Target="../media/image59.bmp"/><Relationship Id="rId103" Type="http://schemas.openxmlformats.org/officeDocument/2006/relationships/image" Target="../media/image103.emf"/><Relationship Id="rId108" Type="http://schemas.openxmlformats.org/officeDocument/2006/relationships/image" Target="../media/image108.emf"/><Relationship Id="rId124" Type="http://schemas.openxmlformats.org/officeDocument/2006/relationships/image" Target="../media/image124.emf"/><Relationship Id="rId129" Type="http://schemas.openxmlformats.org/officeDocument/2006/relationships/image" Target="../media/image129.emf"/><Relationship Id="rId54" Type="http://schemas.openxmlformats.org/officeDocument/2006/relationships/image" Target="../media/image54.emf"/><Relationship Id="rId70" Type="http://schemas.openxmlformats.org/officeDocument/2006/relationships/image" Target="../media/image70.emf"/><Relationship Id="rId75" Type="http://schemas.openxmlformats.org/officeDocument/2006/relationships/image" Target="../media/image75.emf"/><Relationship Id="rId91" Type="http://schemas.openxmlformats.org/officeDocument/2006/relationships/image" Target="../media/image91.emf"/><Relationship Id="rId96" Type="http://schemas.openxmlformats.org/officeDocument/2006/relationships/image" Target="../media/image96.emf"/><Relationship Id="rId140" Type="http://schemas.openxmlformats.org/officeDocument/2006/relationships/image" Target="../media/image140.bmp"/><Relationship Id="rId1" Type="http://schemas.openxmlformats.org/officeDocument/2006/relationships/slideLayout" Target="../slideLayouts/slideLayout2.xml"/><Relationship Id="rId6" Type="http://schemas.openxmlformats.org/officeDocument/2006/relationships/image" Target="../media/image6.emf"/><Relationship Id="rId23" Type="http://schemas.openxmlformats.org/officeDocument/2006/relationships/image" Target="../media/image23.bmp"/><Relationship Id="rId28" Type="http://schemas.openxmlformats.org/officeDocument/2006/relationships/image" Target="../media/image28.bmp"/><Relationship Id="rId49" Type="http://schemas.openxmlformats.org/officeDocument/2006/relationships/image" Target="../media/image49.emf"/><Relationship Id="rId114" Type="http://schemas.openxmlformats.org/officeDocument/2006/relationships/image" Target="../media/image114.emf"/><Relationship Id="rId119" Type="http://schemas.openxmlformats.org/officeDocument/2006/relationships/image" Target="../media/image119.bmp"/><Relationship Id="rId44" Type="http://schemas.openxmlformats.org/officeDocument/2006/relationships/image" Target="../media/image44.emf"/><Relationship Id="rId60" Type="http://schemas.openxmlformats.org/officeDocument/2006/relationships/image" Target="../media/image60.emf"/><Relationship Id="rId65" Type="http://schemas.openxmlformats.org/officeDocument/2006/relationships/image" Target="../media/image65.bmp"/><Relationship Id="rId81" Type="http://schemas.openxmlformats.org/officeDocument/2006/relationships/image" Target="../media/image81.emf"/><Relationship Id="rId86" Type="http://schemas.openxmlformats.org/officeDocument/2006/relationships/image" Target="../media/image86.emf"/><Relationship Id="rId130" Type="http://schemas.openxmlformats.org/officeDocument/2006/relationships/image" Target="../media/image130.emf"/><Relationship Id="rId135" Type="http://schemas.openxmlformats.org/officeDocument/2006/relationships/image" Target="../media/image135.emf"/><Relationship Id="rId13" Type="http://schemas.openxmlformats.org/officeDocument/2006/relationships/image" Target="../media/image13.emf"/><Relationship Id="rId18" Type="http://schemas.openxmlformats.org/officeDocument/2006/relationships/image" Target="../media/image18.emf"/><Relationship Id="rId39" Type="http://schemas.openxmlformats.org/officeDocument/2006/relationships/image" Target="../media/image39.emf"/><Relationship Id="rId109" Type="http://schemas.openxmlformats.org/officeDocument/2006/relationships/image" Target="../media/image109.emf"/><Relationship Id="rId34" Type="http://schemas.openxmlformats.org/officeDocument/2006/relationships/image" Target="../media/image34.emf"/><Relationship Id="rId50" Type="http://schemas.openxmlformats.org/officeDocument/2006/relationships/image" Target="../media/image50.emf"/><Relationship Id="rId55" Type="http://schemas.openxmlformats.org/officeDocument/2006/relationships/image" Target="../media/image55.emf"/><Relationship Id="rId76" Type="http://schemas.openxmlformats.org/officeDocument/2006/relationships/image" Target="../media/image76.emf"/><Relationship Id="rId97" Type="http://schemas.openxmlformats.org/officeDocument/2006/relationships/image" Target="../media/image97.emf"/><Relationship Id="rId104" Type="http://schemas.openxmlformats.org/officeDocument/2006/relationships/image" Target="../media/image104.emf"/><Relationship Id="rId120" Type="http://schemas.openxmlformats.org/officeDocument/2006/relationships/image" Target="../media/image120.emf"/><Relationship Id="rId125" Type="http://schemas.openxmlformats.org/officeDocument/2006/relationships/image" Target="../media/image125.emf"/><Relationship Id="rId141" Type="http://schemas.openxmlformats.org/officeDocument/2006/relationships/image" Target="../media/image141.emf"/><Relationship Id="rId7" Type="http://schemas.openxmlformats.org/officeDocument/2006/relationships/image" Target="../media/image7.bmp"/><Relationship Id="rId71" Type="http://schemas.openxmlformats.org/officeDocument/2006/relationships/image" Target="../media/image71.emf"/><Relationship Id="rId92" Type="http://schemas.openxmlformats.org/officeDocument/2006/relationships/image" Target="../media/image92.emf"/><Relationship Id="rId2" Type="http://schemas.openxmlformats.org/officeDocument/2006/relationships/notesSlide" Target="../notesSlides/notesSlide7.xml"/><Relationship Id="rId29" Type="http://schemas.openxmlformats.org/officeDocument/2006/relationships/image" Target="../media/image29.emf"/><Relationship Id="rId24" Type="http://schemas.openxmlformats.org/officeDocument/2006/relationships/image" Target="../media/image24.bmp"/><Relationship Id="rId40" Type="http://schemas.openxmlformats.org/officeDocument/2006/relationships/image" Target="../media/image40.emf"/><Relationship Id="rId45" Type="http://schemas.openxmlformats.org/officeDocument/2006/relationships/image" Target="../media/image45.emf"/><Relationship Id="rId66" Type="http://schemas.openxmlformats.org/officeDocument/2006/relationships/image" Target="../media/image66.bmp"/><Relationship Id="rId87" Type="http://schemas.openxmlformats.org/officeDocument/2006/relationships/image" Target="../media/image87.emf"/><Relationship Id="rId110" Type="http://schemas.openxmlformats.org/officeDocument/2006/relationships/image" Target="../media/image110.emf"/><Relationship Id="rId115" Type="http://schemas.openxmlformats.org/officeDocument/2006/relationships/image" Target="../media/image115.emf"/><Relationship Id="rId131" Type="http://schemas.openxmlformats.org/officeDocument/2006/relationships/image" Target="../media/image131.emf"/><Relationship Id="rId136" Type="http://schemas.openxmlformats.org/officeDocument/2006/relationships/image" Target="../media/image136.emf"/><Relationship Id="rId61" Type="http://schemas.openxmlformats.org/officeDocument/2006/relationships/image" Target="../media/image61.emf"/><Relationship Id="rId82" Type="http://schemas.openxmlformats.org/officeDocument/2006/relationships/image" Target="../media/image82.emf"/><Relationship Id="rId19" Type="http://schemas.openxmlformats.org/officeDocument/2006/relationships/image" Target="../media/image19.emf"/><Relationship Id="rId14" Type="http://schemas.openxmlformats.org/officeDocument/2006/relationships/image" Target="../media/image14.emf"/><Relationship Id="rId30" Type="http://schemas.openxmlformats.org/officeDocument/2006/relationships/image" Target="../media/image30.emf"/><Relationship Id="rId35" Type="http://schemas.openxmlformats.org/officeDocument/2006/relationships/image" Target="../media/image35.emf"/><Relationship Id="rId56" Type="http://schemas.openxmlformats.org/officeDocument/2006/relationships/image" Target="../media/image56.bmp"/><Relationship Id="rId77" Type="http://schemas.openxmlformats.org/officeDocument/2006/relationships/image" Target="../media/image77.emf"/><Relationship Id="rId100" Type="http://schemas.openxmlformats.org/officeDocument/2006/relationships/image" Target="../media/image100.emf"/><Relationship Id="rId105" Type="http://schemas.openxmlformats.org/officeDocument/2006/relationships/image" Target="../media/image105.emf"/><Relationship Id="rId126" Type="http://schemas.openxmlformats.org/officeDocument/2006/relationships/image" Target="../media/image126.bmp"/><Relationship Id="rId8" Type="http://schemas.openxmlformats.org/officeDocument/2006/relationships/image" Target="../media/image8.bmp"/><Relationship Id="rId51" Type="http://schemas.openxmlformats.org/officeDocument/2006/relationships/image" Target="../media/image51.emf"/><Relationship Id="rId72" Type="http://schemas.openxmlformats.org/officeDocument/2006/relationships/image" Target="../media/image72.emf"/><Relationship Id="rId93" Type="http://schemas.openxmlformats.org/officeDocument/2006/relationships/image" Target="../media/image93.emf"/><Relationship Id="rId98" Type="http://schemas.openxmlformats.org/officeDocument/2006/relationships/image" Target="../media/image98.emf"/><Relationship Id="rId121" Type="http://schemas.openxmlformats.org/officeDocument/2006/relationships/image" Target="../media/image121.emf"/><Relationship Id="rId142" Type="http://schemas.openxmlformats.org/officeDocument/2006/relationships/image" Target="../media/image142.emf"/><Relationship Id="rId3" Type="http://schemas.openxmlformats.org/officeDocument/2006/relationships/image" Target="../media/image3.emf"/><Relationship Id="rId25" Type="http://schemas.openxmlformats.org/officeDocument/2006/relationships/image" Target="../media/image25.bmp"/><Relationship Id="rId46" Type="http://schemas.openxmlformats.org/officeDocument/2006/relationships/image" Target="../media/image46.emf"/><Relationship Id="rId67" Type="http://schemas.openxmlformats.org/officeDocument/2006/relationships/image" Target="../media/image67.bmp"/><Relationship Id="rId116" Type="http://schemas.openxmlformats.org/officeDocument/2006/relationships/image" Target="../media/image116.emf"/><Relationship Id="rId137" Type="http://schemas.openxmlformats.org/officeDocument/2006/relationships/image" Target="../media/image137.emf"/><Relationship Id="rId20" Type="http://schemas.openxmlformats.org/officeDocument/2006/relationships/image" Target="../media/image20.bmp"/><Relationship Id="rId41" Type="http://schemas.openxmlformats.org/officeDocument/2006/relationships/image" Target="../media/image41.emf"/><Relationship Id="rId62" Type="http://schemas.openxmlformats.org/officeDocument/2006/relationships/image" Target="../media/image62.emf"/><Relationship Id="rId83" Type="http://schemas.openxmlformats.org/officeDocument/2006/relationships/image" Target="../media/image83.emf"/><Relationship Id="rId88" Type="http://schemas.openxmlformats.org/officeDocument/2006/relationships/image" Target="../media/image88.emf"/><Relationship Id="rId111" Type="http://schemas.openxmlformats.org/officeDocument/2006/relationships/image" Target="../media/image111.emf"/><Relationship Id="rId132" Type="http://schemas.openxmlformats.org/officeDocument/2006/relationships/image" Target="../media/image132.emf"/><Relationship Id="rId15" Type="http://schemas.openxmlformats.org/officeDocument/2006/relationships/image" Target="../media/image15.emf"/><Relationship Id="rId36" Type="http://schemas.openxmlformats.org/officeDocument/2006/relationships/image" Target="../media/image36.emf"/><Relationship Id="rId57" Type="http://schemas.openxmlformats.org/officeDocument/2006/relationships/image" Target="../media/image57.emf"/><Relationship Id="rId106" Type="http://schemas.openxmlformats.org/officeDocument/2006/relationships/image" Target="../media/image106.emf"/><Relationship Id="rId127" Type="http://schemas.openxmlformats.org/officeDocument/2006/relationships/image" Target="../media/image127.emf"/><Relationship Id="rId10" Type="http://schemas.openxmlformats.org/officeDocument/2006/relationships/image" Target="../media/image10.emf"/><Relationship Id="rId31" Type="http://schemas.openxmlformats.org/officeDocument/2006/relationships/image" Target="../media/image31.bmp"/><Relationship Id="rId52" Type="http://schemas.openxmlformats.org/officeDocument/2006/relationships/image" Target="../media/image52.emf"/><Relationship Id="rId73" Type="http://schemas.openxmlformats.org/officeDocument/2006/relationships/image" Target="../media/image73.emf"/><Relationship Id="rId78" Type="http://schemas.openxmlformats.org/officeDocument/2006/relationships/image" Target="../media/image78.emf"/><Relationship Id="rId94" Type="http://schemas.openxmlformats.org/officeDocument/2006/relationships/image" Target="../media/image94.emf"/><Relationship Id="rId99" Type="http://schemas.openxmlformats.org/officeDocument/2006/relationships/image" Target="../media/image99.emf"/><Relationship Id="rId101" Type="http://schemas.openxmlformats.org/officeDocument/2006/relationships/image" Target="../media/image101.emf"/><Relationship Id="rId122" Type="http://schemas.openxmlformats.org/officeDocument/2006/relationships/image" Target="../media/image122.emf"/><Relationship Id="rId4" Type="http://schemas.openxmlformats.org/officeDocument/2006/relationships/image" Target="../media/image4.emf"/><Relationship Id="rId9" Type="http://schemas.openxmlformats.org/officeDocument/2006/relationships/image" Target="../media/image9.emf"/><Relationship Id="rId26" Type="http://schemas.openxmlformats.org/officeDocument/2006/relationships/image" Target="../media/image26.emf"/><Relationship Id="rId47" Type="http://schemas.openxmlformats.org/officeDocument/2006/relationships/image" Target="../media/image47.emf"/><Relationship Id="rId68" Type="http://schemas.openxmlformats.org/officeDocument/2006/relationships/image" Target="../media/image68.emf"/><Relationship Id="rId89" Type="http://schemas.openxmlformats.org/officeDocument/2006/relationships/image" Target="../media/image89.emf"/><Relationship Id="rId112" Type="http://schemas.openxmlformats.org/officeDocument/2006/relationships/image" Target="../media/image112.emf"/><Relationship Id="rId133" Type="http://schemas.openxmlformats.org/officeDocument/2006/relationships/image" Target="../media/image133.emf"/><Relationship Id="rId16" Type="http://schemas.openxmlformats.org/officeDocument/2006/relationships/image" Target="../media/image16.emf"/></Relationships>
</file>

<file path=ppt/slides/_rels/slide19.xml.rels><?xml version="1.0" encoding="UTF-8" standalone="yes"?>
<Relationships xmlns="http://schemas.openxmlformats.org/package/2006/relationships"><Relationship Id="rId117" Type="http://schemas.openxmlformats.org/officeDocument/2006/relationships/image" Target="../media/image126.bmp"/><Relationship Id="rId21" Type="http://schemas.openxmlformats.org/officeDocument/2006/relationships/image" Target="../media/image30.emf"/><Relationship Id="rId42" Type="http://schemas.openxmlformats.org/officeDocument/2006/relationships/image" Target="../media/image51.emf"/><Relationship Id="rId63" Type="http://schemas.openxmlformats.org/officeDocument/2006/relationships/image" Target="../media/image72.emf"/><Relationship Id="rId84" Type="http://schemas.openxmlformats.org/officeDocument/2006/relationships/image" Target="../media/image93.emf"/><Relationship Id="rId138" Type="http://schemas.openxmlformats.org/officeDocument/2006/relationships/image" Target="../media/image22.emf"/><Relationship Id="rId16" Type="http://schemas.openxmlformats.org/officeDocument/2006/relationships/image" Target="../media/image17.bmp"/><Relationship Id="rId107" Type="http://schemas.openxmlformats.org/officeDocument/2006/relationships/image" Target="../media/image116.emf"/><Relationship Id="rId11" Type="http://schemas.openxmlformats.org/officeDocument/2006/relationships/image" Target="../media/image12.emf"/><Relationship Id="rId32" Type="http://schemas.openxmlformats.org/officeDocument/2006/relationships/image" Target="../media/image41.emf"/><Relationship Id="rId37" Type="http://schemas.openxmlformats.org/officeDocument/2006/relationships/image" Target="../media/image46.emf"/><Relationship Id="rId53" Type="http://schemas.openxmlformats.org/officeDocument/2006/relationships/image" Target="../media/image62.emf"/><Relationship Id="rId58" Type="http://schemas.openxmlformats.org/officeDocument/2006/relationships/image" Target="../media/image67.bmp"/><Relationship Id="rId74" Type="http://schemas.openxmlformats.org/officeDocument/2006/relationships/image" Target="../media/image83.emf"/><Relationship Id="rId79" Type="http://schemas.openxmlformats.org/officeDocument/2006/relationships/image" Target="../media/image88.emf"/><Relationship Id="rId102" Type="http://schemas.openxmlformats.org/officeDocument/2006/relationships/image" Target="../media/image111.emf"/><Relationship Id="rId123" Type="http://schemas.openxmlformats.org/officeDocument/2006/relationships/image" Target="../media/image132.emf"/><Relationship Id="rId128" Type="http://schemas.openxmlformats.org/officeDocument/2006/relationships/image" Target="../media/image137.emf"/><Relationship Id="rId5" Type="http://schemas.openxmlformats.org/officeDocument/2006/relationships/image" Target="../media/image6.emf"/><Relationship Id="rId90" Type="http://schemas.openxmlformats.org/officeDocument/2006/relationships/image" Target="../media/image99.emf"/><Relationship Id="rId95" Type="http://schemas.openxmlformats.org/officeDocument/2006/relationships/image" Target="../media/image104.emf"/><Relationship Id="rId22" Type="http://schemas.openxmlformats.org/officeDocument/2006/relationships/image" Target="../media/image31.bmp"/><Relationship Id="rId27" Type="http://schemas.openxmlformats.org/officeDocument/2006/relationships/image" Target="../media/image36.emf"/><Relationship Id="rId43" Type="http://schemas.openxmlformats.org/officeDocument/2006/relationships/image" Target="../media/image52.emf"/><Relationship Id="rId48" Type="http://schemas.openxmlformats.org/officeDocument/2006/relationships/image" Target="../media/image57.emf"/><Relationship Id="rId64" Type="http://schemas.openxmlformats.org/officeDocument/2006/relationships/image" Target="../media/image73.emf"/><Relationship Id="rId69" Type="http://schemas.openxmlformats.org/officeDocument/2006/relationships/image" Target="../media/image78.emf"/><Relationship Id="rId113" Type="http://schemas.openxmlformats.org/officeDocument/2006/relationships/image" Target="../media/image122.emf"/><Relationship Id="rId118" Type="http://schemas.openxmlformats.org/officeDocument/2006/relationships/image" Target="../media/image127.emf"/><Relationship Id="rId134" Type="http://schemas.openxmlformats.org/officeDocument/2006/relationships/image" Target="../media/image18.emf"/><Relationship Id="rId139" Type="http://schemas.openxmlformats.org/officeDocument/2006/relationships/image" Target="../media/image143.png"/><Relationship Id="rId80" Type="http://schemas.openxmlformats.org/officeDocument/2006/relationships/image" Target="../media/image89.emf"/><Relationship Id="rId85" Type="http://schemas.openxmlformats.org/officeDocument/2006/relationships/image" Target="../media/image94.emf"/><Relationship Id="rId12" Type="http://schemas.openxmlformats.org/officeDocument/2006/relationships/image" Target="../media/image13.emf"/><Relationship Id="rId17" Type="http://schemas.openxmlformats.org/officeDocument/2006/relationships/image" Target="../media/image26.emf"/><Relationship Id="rId33" Type="http://schemas.openxmlformats.org/officeDocument/2006/relationships/image" Target="../media/image42.emf"/><Relationship Id="rId38" Type="http://schemas.openxmlformats.org/officeDocument/2006/relationships/image" Target="../media/image47.emf"/><Relationship Id="rId59" Type="http://schemas.openxmlformats.org/officeDocument/2006/relationships/image" Target="../media/image68.emf"/><Relationship Id="rId103" Type="http://schemas.openxmlformats.org/officeDocument/2006/relationships/image" Target="../media/image112.emf"/><Relationship Id="rId108" Type="http://schemas.openxmlformats.org/officeDocument/2006/relationships/image" Target="../media/image117.emf"/><Relationship Id="rId124" Type="http://schemas.openxmlformats.org/officeDocument/2006/relationships/image" Target="../media/image133.emf"/><Relationship Id="rId129" Type="http://schemas.openxmlformats.org/officeDocument/2006/relationships/image" Target="../media/image138.emf"/><Relationship Id="rId54" Type="http://schemas.openxmlformats.org/officeDocument/2006/relationships/image" Target="../media/image63.emf"/><Relationship Id="rId70" Type="http://schemas.openxmlformats.org/officeDocument/2006/relationships/image" Target="../media/image79.emf"/><Relationship Id="rId75" Type="http://schemas.openxmlformats.org/officeDocument/2006/relationships/image" Target="../media/image84.emf"/><Relationship Id="rId91" Type="http://schemas.openxmlformats.org/officeDocument/2006/relationships/image" Target="../media/image100.emf"/><Relationship Id="rId96" Type="http://schemas.openxmlformats.org/officeDocument/2006/relationships/image" Target="../media/image105.emf"/><Relationship Id="rId1" Type="http://schemas.openxmlformats.org/officeDocument/2006/relationships/slideLayout" Target="../slideLayouts/slideLayout2.xml"/><Relationship Id="rId6" Type="http://schemas.openxmlformats.org/officeDocument/2006/relationships/image" Target="../media/image7.bmp"/><Relationship Id="rId23" Type="http://schemas.openxmlformats.org/officeDocument/2006/relationships/image" Target="../media/image32.emf"/><Relationship Id="rId28" Type="http://schemas.openxmlformats.org/officeDocument/2006/relationships/image" Target="../media/image37.emf"/><Relationship Id="rId49" Type="http://schemas.openxmlformats.org/officeDocument/2006/relationships/image" Target="../media/image58.emf"/><Relationship Id="rId114" Type="http://schemas.openxmlformats.org/officeDocument/2006/relationships/image" Target="../media/image123.emf"/><Relationship Id="rId119" Type="http://schemas.openxmlformats.org/officeDocument/2006/relationships/image" Target="../media/image128.emf"/><Relationship Id="rId44" Type="http://schemas.openxmlformats.org/officeDocument/2006/relationships/image" Target="../media/image53.emf"/><Relationship Id="rId60" Type="http://schemas.openxmlformats.org/officeDocument/2006/relationships/image" Target="../media/image69.emf"/><Relationship Id="rId65" Type="http://schemas.openxmlformats.org/officeDocument/2006/relationships/image" Target="../media/image74.bmp"/><Relationship Id="rId81" Type="http://schemas.openxmlformats.org/officeDocument/2006/relationships/image" Target="../media/image90.emf"/><Relationship Id="rId86" Type="http://schemas.openxmlformats.org/officeDocument/2006/relationships/image" Target="../media/image95.emf"/><Relationship Id="rId130" Type="http://schemas.openxmlformats.org/officeDocument/2006/relationships/image" Target="../media/image139.bmp"/><Relationship Id="rId135" Type="http://schemas.openxmlformats.org/officeDocument/2006/relationships/image" Target="../media/image19.emf"/><Relationship Id="rId13" Type="http://schemas.openxmlformats.org/officeDocument/2006/relationships/image" Target="../media/image14.emf"/><Relationship Id="rId18" Type="http://schemas.openxmlformats.org/officeDocument/2006/relationships/image" Target="../media/image27.emf"/><Relationship Id="rId39" Type="http://schemas.openxmlformats.org/officeDocument/2006/relationships/image" Target="../media/image48.emf"/><Relationship Id="rId109" Type="http://schemas.openxmlformats.org/officeDocument/2006/relationships/image" Target="../media/image118.emf"/><Relationship Id="rId34" Type="http://schemas.openxmlformats.org/officeDocument/2006/relationships/image" Target="../media/image43.emf"/><Relationship Id="rId50" Type="http://schemas.openxmlformats.org/officeDocument/2006/relationships/image" Target="../media/image59.bmp"/><Relationship Id="rId55" Type="http://schemas.openxmlformats.org/officeDocument/2006/relationships/image" Target="../media/image64.bmp"/><Relationship Id="rId76" Type="http://schemas.openxmlformats.org/officeDocument/2006/relationships/image" Target="../media/image85.emf"/><Relationship Id="rId97" Type="http://schemas.openxmlformats.org/officeDocument/2006/relationships/image" Target="../media/image106.emf"/><Relationship Id="rId104" Type="http://schemas.openxmlformats.org/officeDocument/2006/relationships/image" Target="../media/image113.emf"/><Relationship Id="rId120" Type="http://schemas.openxmlformats.org/officeDocument/2006/relationships/image" Target="../media/image129.emf"/><Relationship Id="rId125" Type="http://schemas.openxmlformats.org/officeDocument/2006/relationships/image" Target="../media/image134.emf"/><Relationship Id="rId7" Type="http://schemas.openxmlformats.org/officeDocument/2006/relationships/image" Target="../media/image8.bmp"/><Relationship Id="rId71" Type="http://schemas.openxmlformats.org/officeDocument/2006/relationships/image" Target="../media/image80.emf"/><Relationship Id="rId92" Type="http://schemas.openxmlformats.org/officeDocument/2006/relationships/image" Target="../media/image101.emf"/><Relationship Id="rId2" Type="http://schemas.openxmlformats.org/officeDocument/2006/relationships/image" Target="../media/image3.emf"/><Relationship Id="rId29" Type="http://schemas.openxmlformats.org/officeDocument/2006/relationships/image" Target="../media/image38.emf"/><Relationship Id="rId24" Type="http://schemas.openxmlformats.org/officeDocument/2006/relationships/image" Target="../media/image33.emf"/><Relationship Id="rId40" Type="http://schemas.openxmlformats.org/officeDocument/2006/relationships/image" Target="../media/image49.emf"/><Relationship Id="rId45" Type="http://schemas.openxmlformats.org/officeDocument/2006/relationships/image" Target="../media/image54.emf"/><Relationship Id="rId66" Type="http://schemas.openxmlformats.org/officeDocument/2006/relationships/image" Target="../media/image75.emf"/><Relationship Id="rId87" Type="http://schemas.openxmlformats.org/officeDocument/2006/relationships/image" Target="../media/image96.emf"/><Relationship Id="rId110" Type="http://schemas.openxmlformats.org/officeDocument/2006/relationships/image" Target="../media/image119.bmp"/><Relationship Id="rId115" Type="http://schemas.openxmlformats.org/officeDocument/2006/relationships/image" Target="../media/image124.emf"/><Relationship Id="rId131" Type="http://schemas.openxmlformats.org/officeDocument/2006/relationships/image" Target="../media/image140.bmp"/><Relationship Id="rId136" Type="http://schemas.openxmlformats.org/officeDocument/2006/relationships/image" Target="../media/image20.bmp"/><Relationship Id="rId61" Type="http://schemas.openxmlformats.org/officeDocument/2006/relationships/image" Target="../media/image70.emf"/><Relationship Id="rId82" Type="http://schemas.openxmlformats.org/officeDocument/2006/relationships/image" Target="../media/image91.emf"/><Relationship Id="rId19" Type="http://schemas.openxmlformats.org/officeDocument/2006/relationships/image" Target="../media/image28.bmp"/><Relationship Id="rId14" Type="http://schemas.openxmlformats.org/officeDocument/2006/relationships/image" Target="../media/image15.emf"/><Relationship Id="rId30" Type="http://schemas.openxmlformats.org/officeDocument/2006/relationships/image" Target="../media/image39.emf"/><Relationship Id="rId35" Type="http://schemas.openxmlformats.org/officeDocument/2006/relationships/image" Target="../media/image44.emf"/><Relationship Id="rId56" Type="http://schemas.openxmlformats.org/officeDocument/2006/relationships/image" Target="../media/image65.bmp"/><Relationship Id="rId77" Type="http://schemas.openxmlformats.org/officeDocument/2006/relationships/image" Target="../media/image86.emf"/><Relationship Id="rId100" Type="http://schemas.openxmlformats.org/officeDocument/2006/relationships/image" Target="../media/image109.emf"/><Relationship Id="rId105" Type="http://schemas.openxmlformats.org/officeDocument/2006/relationships/image" Target="../media/image114.emf"/><Relationship Id="rId126" Type="http://schemas.openxmlformats.org/officeDocument/2006/relationships/image" Target="../media/image135.emf"/><Relationship Id="rId8" Type="http://schemas.openxmlformats.org/officeDocument/2006/relationships/image" Target="../media/image9.emf"/><Relationship Id="rId51" Type="http://schemas.openxmlformats.org/officeDocument/2006/relationships/image" Target="../media/image60.emf"/><Relationship Id="rId72" Type="http://schemas.openxmlformats.org/officeDocument/2006/relationships/image" Target="../media/image81.emf"/><Relationship Id="rId93" Type="http://schemas.openxmlformats.org/officeDocument/2006/relationships/image" Target="../media/image102.emf"/><Relationship Id="rId98" Type="http://schemas.openxmlformats.org/officeDocument/2006/relationships/image" Target="../media/image107.emf"/><Relationship Id="rId121" Type="http://schemas.openxmlformats.org/officeDocument/2006/relationships/image" Target="../media/image130.emf"/><Relationship Id="rId3" Type="http://schemas.openxmlformats.org/officeDocument/2006/relationships/image" Target="../media/image4.emf"/><Relationship Id="rId25" Type="http://schemas.openxmlformats.org/officeDocument/2006/relationships/image" Target="../media/image34.emf"/><Relationship Id="rId46" Type="http://schemas.openxmlformats.org/officeDocument/2006/relationships/image" Target="../media/image55.emf"/><Relationship Id="rId67" Type="http://schemas.openxmlformats.org/officeDocument/2006/relationships/image" Target="../media/image76.emf"/><Relationship Id="rId116" Type="http://schemas.openxmlformats.org/officeDocument/2006/relationships/image" Target="../media/image125.emf"/><Relationship Id="rId137" Type="http://schemas.openxmlformats.org/officeDocument/2006/relationships/image" Target="../media/image21.emf"/><Relationship Id="rId20" Type="http://schemas.openxmlformats.org/officeDocument/2006/relationships/image" Target="../media/image29.emf"/><Relationship Id="rId41" Type="http://schemas.openxmlformats.org/officeDocument/2006/relationships/image" Target="../media/image50.emf"/><Relationship Id="rId62" Type="http://schemas.openxmlformats.org/officeDocument/2006/relationships/image" Target="../media/image71.emf"/><Relationship Id="rId83" Type="http://schemas.openxmlformats.org/officeDocument/2006/relationships/image" Target="../media/image92.emf"/><Relationship Id="rId88" Type="http://schemas.openxmlformats.org/officeDocument/2006/relationships/image" Target="../media/image97.emf"/><Relationship Id="rId111" Type="http://schemas.openxmlformats.org/officeDocument/2006/relationships/image" Target="../media/image120.emf"/><Relationship Id="rId132" Type="http://schemas.openxmlformats.org/officeDocument/2006/relationships/image" Target="../media/image141.emf"/><Relationship Id="rId15" Type="http://schemas.openxmlformats.org/officeDocument/2006/relationships/image" Target="../media/image16.emf"/><Relationship Id="rId36" Type="http://schemas.openxmlformats.org/officeDocument/2006/relationships/image" Target="../media/image45.emf"/><Relationship Id="rId57" Type="http://schemas.openxmlformats.org/officeDocument/2006/relationships/image" Target="../media/image66.bmp"/><Relationship Id="rId106" Type="http://schemas.openxmlformats.org/officeDocument/2006/relationships/image" Target="../media/image115.emf"/><Relationship Id="rId127" Type="http://schemas.openxmlformats.org/officeDocument/2006/relationships/image" Target="../media/image136.emf"/><Relationship Id="rId10" Type="http://schemas.openxmlformats.org/officeDocument/2006/relationships/image" Target="../media/image11.emf"/><Relationship Id="rId31" Type="http://schemas.openxmlformats.org/officeDocument/2006/relationships/image" Target="../media/image40.emf"/><Relationship Id="rId52" Type="http://schemas.openxmlformats.org/officeDocument/2006/relationships/image" Target="../media/image61.emf"/><Relationship Id="rId73" Type="http://schemas.openxmlformats.org/officeDocument/2006/relationships/image" Target="../media/image82.emf"/><Relationship Id="rId78" Type="http://schemas.openxmlformats.org/officeDocument/2006/relationships/image" Target="../media/image87.emf"/><Relationship Id="rId94" Type="http://schemas.openxmlformats.org/officeDocument/2006/relationships/image" Target="../media/image103.emf"/><Relationship Id="rId99" Type="http://schemas.openxmlformats.org/officeDocument/2006/relationships/image" Target="../media/image108.emf"/><Relationship Id="rId101" Type="http://schemas.openxmlformats.org/officeDocument/2006/relationships/image" Target="../media/image110.emf"/><Relationship Id="rId122" Type="http://schemas.openxmlformats.org/officeDocument/2006/relationships/image" Target="../media/image131.emf"/><Relationship Id="rId4" Type="http://schemas.openxmlformats.org/officeDocument/2006/relationships/image" Target="../media/image5.emf"/><Relationship Id="rId9" Type="http://schemas.openxmlformats.org/officeDocument/2006/relationships/image" Target="../media/image10.emf"/><Relationship Id="rId26" Type="http://schemas.openxmlformats.org/officeDocument/2006/relationships/image" Target="../media/image35.emf"/><Relationship Id="rId47" Type="http://schemas.openxmlformats.org/officeDocument/2006/relationships/image" Target="../media/image56.bmp"/><Relationship Id="rId68" Type="http://schemas.openxmlformats.org/officeDocument/2006/relationships/image" Target="../media/image77.emf"/><Relationship Id="rId89" Type="http://schemas.openxmlformats.org/officeDocument/2006/relationships/image" Target="../media/image98.emf"/><Relationship Id="rId112" Type="http://schemas.openxmlformats.org/officeDocument/2006/relationships/image" Target="../media/image121.emf"/><Relationship Id="rId133" Type="http://schemas.openxmlformats.org/officeDocument/2006/relationships/image" Target="../media/image142.e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45.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hyperlink" Target="https://download.microsoft.com/download/3/4/3/343BAFCB-C685-4A70-9639-FF76BCBB609C/Microsoft%20SDL_Version%205.2.docx"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Designing and Engineering Secure Mechanisms</a:t>
            </a:r>
          </a:p>
        </p:txBody>
      </p:sp>
      <p:sp>
        <p:nvSpPr>
          <p:cNvPr id="3" name="Subtitle 2"/>
          <p:cNvSpPr>
            <a:spLocks noGrp="1"/>
          </p:cNvSpPr>
          <p:nvPr>
            <p:ph type="subTitle" idx="1"/>
          </p:nvPr>
        </p:nvSpPr>
        <p:spPr/>
        <p:txBody>
          <a:bodyPr/>
          <a:lstStyle/>
          <a:p>
            <a:pPr algn="l"/>
            <a:r>
              <a:rPr lang="en-US" altLang="en-US" dirty="0">
                <a:solidFill>
                  <a:srgbClr val="00B0F0"/>
                </a:solidFill>
              </a:rPr>
              <a:t>This lecture slide is mainly based on the power point slides by Professor Lawrie Brown, Dr. </a:t>
            </a:r>
            <a:r>
              <a:rPr lang="en-US" altLang="en-US" dirty="0" err="1">
                <a:solidFill>
                  <a:srgbClr val="00B0F0"/>
                </a:solidFill>
              </a:rPr>
              <a:t>Junjie</a:t>
            </a:r>
            <a:r>
              <a:rPr lang="en-US" altLang="en-US" dirty="0">
                <a:solidFill>
                  <a:srgbClr val="00B0F0"/>
                </a:solidFill>
              </a:rPr>
              <a:t> Zhang.</a:t>
            </a:r>
          </a:p>
          <a:p>
            <a:endParaRPr lang="en-US" dirty="0"/>
          </a:p>
        </p:txBody>
      </p:sp>
    </p:spTree>
    <p:extLst>
      <p:ext uri="{BB962C8B-B14F-4D97-AF65-F5344CB8AC3E}">
        <p14:creationId xmlns:p14="http://schemas.microsoft.com/office/powerpoint/2010/main" val="26861085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24A9E-CA1E-6C47-B017-9A69C5232379}"/>
              </a:ext>
            </a:extLst>
          </p:cNvPr>
          <p:cNvSpPr>
            <a:spLocks noGrp="1"/>
          </p:cNvSpPr>
          <p:nvPr>
            <p:ph type="title"/>
          </p:nvPr>
        </p:nvSpPr>
        <p:spPr/>
        <p:txBody>
          <a:bodyPr/>
          <a:lstStyle/>
          <a:p>
            <a:r>
              <a:rPr lang="en-US" dirty="0"/>
              <a:t>Outlines</a:t>
            </a:r>
          </a:p>
        </p:txBody>
      </p:sp>
      <p:sp>
        <p:nvSpPr>
          <p:cNvPr id="3" name="Content Placeholder 2">
            <a:extLst>
              <a:ext uri="{FF2B5EF4-FFF2-40B4-BE49-F238E27FC236}">
                <a16:creationId xmlns:a16="http://schemas.microsoft.com/office/drawing/2014/main" id="{257F4C7A-8A7D-0941-BF5E-1DF75F7FD316}"/>
              </a:ext>
            </a:extLst>
          </p:cNvPr>
          <p:cNvSpPr>
            <a:spLocks noGrp="1"/>
          </p:cNvSpPr>
          <p:nvPr>
            <p:ph idx="1"/>
          </p:nvPr>
        </p:nvSpPr>
        <p:spPr/>
        <p:txBody>
          <a:bodyPr/>
          <a:lstStyle/>
          <a:p>
            <a:r>
              <a:rPr lang="en-US" dirty="0"/>
              <a:t>Design</a:t>
            </a:r>
          </a:p>
          <a:p>
            <a:pPr lvl="1"/>
            <a:r>
              <a:rPr lang="en-US" dirty="0"/>
              <a:t>Principles</a:t>
            </a:r>
          </a:p>
          <a:p>
            <a:pPr lvl="1"/>
            <a:r>
              <a:rPr lang="en-US" dirty="0"/>
              <a:t>Models</a:t>
            </a:r>
          </a:p>
          <a:p>
            <a:r>
              <a:rPr lang="en-US" dirty="0"/>
              <a:t>Engineering</a:t>
            </a:r>
          </a:p>
          <a:p>
            <a:pPr lvl="1"/>
            <a:r>
              <a:rPr lang="en-US" dirty="0"/>
              <a:t>Secure Software Development Process</a:t>
            </a:r>
          </a:p>
        </p:txBody>
      </p:sp>
    </p:spTree>
    <p:extLst>
      <p:ext uri="{BB962C8B-B14F-4D97-AF65-F5344CB8AC3E}">
        <p14:creationId xmlns:p14="http://schemas.microsoft.com/office/powerpoint/2010/main" val="32498727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 Principles</a:t>
            </a:r>
          </a:p>
        </p:txBody>
      </p:sp>
      <p:sp>
        <p:nvSpPr>
          <p:cNvPr id="3" name="Content Placeholder 2"/>
          <p:cNvSpPr>
            <a:spLocks noGrp="1"/>
          </p:cNvSpPr>
          <p:nvPr>
            <p:ph idx="1"/>
          </p:nvPr>
        </p:nvSpPr>
        <p:spPr/>
        <p:txBody>
          <a:bodyPr/>
          <a:lstStyle/>
          <a:p>
            <a:r>
              <a:rPr lang="en-US" dirty="0"/>
              <a:t>“The Protection of Information in Computer Systems”, </a:t>
            </a:r>
            <a:r>
              <a:rPr lang="en-US" dirty="0" err="1"/>
              <a:t>Saltzer</a:t>
            </a:r>
            <a:r>
              <a:rPr lang="en-US" dirty="0"/>
              <a:t> and Schroeder, Section I,A.</a:t>
            </a:r>
          </a:p>
          <a:p>
            <a:pPr lvl="1"/>
            <a:r>
              <a:rPr lang="en-US" dirty="0"/>
              <a:t>Published in 1975</a:t>
            </a:r>
          </a:p>
          <a:p>
            <a:pPr lvl="1"/>
            <a:r>
              <a:rPr lang="en-US" dirty="0"/>
              <a:t>Do these principles still apply today? </a:t>
            </a:r>
          </a:p>
        </p:txBody>
      </p:sp>
      <p:pic>
        <p:nvPicPr>
          <p:cNvPr id="4" name="Picture 3" descr="what_is_viral_marketing-principles_id18432651_300.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35250" y="3794125"/>
            <a:ext cx="3937000" cy="2603500"/>
          </a:xfrm>
          <a:prstGeom prst="rect">
            <a:avLst/>
          </a:prstGeom>
        </p:spPr>
      </p:pic>
    </p:spTree>
    <p:extLst>
      <p:ext uri="{BB962C8B-B14F-4D97-AF65-F5344CB8AC3E}">
        <p14:creationId xmlns:p14="http://schemas.microsoft.com/office/powerpoint/2010/main" val="10445149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Principle of Economy of Mechanism</a:t>
            </a:r>
          </a:p>
        </p:txBody>
      </p:sp>
      <p:sp>
        <p:nvSpPr>
          <p:cNvPr id="3" name="Content Placeholder 2"/>
          <p:cNvSpPr>
            <a:spLocks noGrp="1"/>
          </p:cNvSpPr>
          <p:nvPr>
            <p:ph idx="1"/>
          </p:nvPr>
        </p:nvSpPr>
        <p:spPr/>
        <p:txBody>
          <a:bodyPr/>
          <a:lstStyle/>
          <a:p>
            <a:r>
              <a:rPr lang="en-US" dirty="0"/>
              <a:t>Security mechanisms should be as simple as possible.</a:t>
            </a:r>
          </a:p>
          <a:p>
            <a:r>
              <a:rPr lang="en-US" dirty="0"/>
              <a:t>Fewer errors; less checking and testing</a:t>
            </a:r>
          </a:p>
          <a:p>
            <a:r>
              <a:rPr lang="en-US" dirty="0"/>
              <a:t>KISS: “Keep it Simple, </a:t>
            </a:r>
            <a:r>
              <a:rPr lang="en-US" strike="sngStrike" dirty="0"/>
              <a:t>Stupid</a:t>
            </a:r>
            <a:r>
              <a:rPr lang="en-US" dirty="0"/>
              <a:t>”</a:t>
            </a:r>
          </a:p>
        </p:txBody>
      </p:sp>
    </p:spTree>
    <p:extLst>
      <p:ext uri="{BB962C8B-B14F-4D97-AF65-F5344CB8AC3E}">
        <p14:creationId xmlns:p14="http://schemas.microsoft.com/office/powerpoint/2010/main" val="14156850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Principle of Economy of Mechanism</a:t>
            </a:r>
          </a:p>
        </p:txBody>
      </p:sp>
      <p:sp>
        <p:nvSpPr>
          <p:cNvPr id="3" name="Content Placeholder 2"/>
          <p:cNvSpPr>
            <a:spLocks noGrp="1"/>
          </p:cNvSpPr>
          <p:nvPr>
            <p:ph idx="1"/>
          </p:nvPr>
        </p:nvSpPr>
        <p:spPr/>
        <p:txBody>
          <a:bodyPr>
            <a:normAutofit fontScale="70000" lnSpcReduction="20000"/>
          </a:bodyPr>
          <a:lstStyle/>
          <a:p>
            <a:pPr marL="0" indent="0">
              <a:buNone/>
            </a:pPr>
            <a:r>
              <a:rPr lang="en-US" dirty="0"/>
              <a:t>(a) Industry Average: "about 15 - 50 errors per 1000 lines of delivered code." He further says this is usually representative of code that has some level of structured programming behind it, but probably includes a mix of coding techniques.</a:t>
            </a:r>
          </a:p>
          <a:p>
            <a:endParaRPr lang="en-US" dirty="0"/>
          </a:p>
          <a:p>
            <a:pPr marL="0" indent="0">
              <a:buNone/>
            </a:pPr>
            <a:r>
              <a:rPr lang="en-US" dirty="0"/>
              <a:t>(b) Microsoft Applications: "about 10 - 20 defects per 1000 lines of code during in-house testing, and 0.5 defect per KLOC (KLOC IS CALLED AS 1000 lines of code) in released product (Moore 1992)." He attributes this to a combination of code-reading techniques and independent testing.</a:t>
            </a:r>
          </a:p>
          <a:p>
            <a:pPr marL="0" indent="0">
              <a:buNone/>
            </a:pPr>
            <a:endParaRPr lang="en-US" dirty="0"/>
          </a:p>
          <a:p>
            <a:pPr marL="0" indent="0">
              <a:buNone/>
            </a:pPr>
            <a:r>
              <a:rPr lang="en-US" dirty="0"/>
              <a:t>		--“ratio of bugs per line of code” (</a:t>
            </a:r>
            <a:r>
              <a:rPr lang="en-US" dirty="0" err="1"/>
              <a:t>src</a:t>
            </a:r>
            <a:r>
              <a:rPr lang="en-US" dirty="0"/>
              <a:t>: “http://</a:t>
            </a:r>
            <a:r>
              <a:rPr lang="en-US" dirty="0" err="1"/>
              <a:t>www.mayerdan.com</a:t>
            </a:r>
            <a:r>
              <a:rPr lang="en-US" dirty="0"/>
              <a:t>/ruby/2012/11/11/bugs-per-line-of-code-ratio/”)</a:t>
            </a:r>
          </a:p>
          <a:p>
            <a:endParaRPr lang="en-US" dirty="0"/>
          </a:p>
        </p:txBody>
      </p:sp>
    </p:spTree>
    <p:extLst>
      <p:ext uri="{BB962C8B-B14F-4D97-AF65-F5344CB8AC3E}">
        <p14:creationId xmlns:p14="http://schemas.microsoft.com/office/powerpoint/2010/main" val="12288050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Principle of Economy of Mechanism</a:t>
            </a:r>
          </a:p>
        </p:txBody>
      </p:sp>
      <p:pic>
        <p:nvPicPr>
          <p:cNvPr id="4" name="Content Placeholder 3" descr="mcgraw1.jpg"/>
          <p:cNvPicPr>
            <a:picLocks noGrp="1" noChangeAspect="1"/>
          </p:cNvPicPr>
          <p:nvPr>
            <p:ph idx="1"/>
          </p:nvPr>
        </p:nvPicPr>
        <p:blipFill>
          <a:blip r:embed="rId2">
            <a:extLst>
              <a:ext uri="{28A0092B-C50C-407E-A947-70E740481C1C}">
                <a14:useLocalDpi xmlns:a14="http://schemas.microsoft.com/office/drawing/2010/main" val="0"/>
              </a:ext>
            </a:extLst>
          </a:blip>
          <a:srcRect t="10796" b="10796"/>
          <a:stretch>
            <a:fillRect/>
          </a:stretch>
        </p:blipFill>
        <p:spPr/>
      </p:pic>
    </p:spTree>
    <p:extLst>
      <p:ext uri="{BB962C8B-B14F-4D97-AF65-F5344CB8AC3E}">
        <p14:creationId xmlns:p14="http://schemas.microsoft.com/office/powerpoint/2010/main" val="5577332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Principle of Fail-Safe Defaults</a:t>
            </a:r>
          </a:p>
        </p:txBody>
      </p:sp>
      <p:sp>
        <p:nvSpPr>
          <p:cNvPr id="3" name="Content Placeholder 2"/>
          <p:cNvSpPr>
            <a:spLocks noGrp="1"/>
          </p:cNvSpPr>
          <p:nvPr>
            <p:ph idx="1"/>
          </p:nvPr>
        </p:nvSpPr>
        <p:spPr/>
        <p:txBody>
          <a:bodyPr/>
          <a:lstStyle/>
          <a:p>
            <a:r>
              <a:rPr lang="en-US" dirty="0"/>
              <a:t>If a system fails, it should reach at safe states by default. </a:t>
            </a:r>
          </a:p>
          <a:p>
            <a:pPr lvl="1"/>
            <a:r>
              <a:rPr lang="en-US" dirty="0"/>
              <a:t>Example: unless a subject is given explicit access to an object, it should be denied access to that object.</a:t>
            </a:r>
          </a:p>
        </p:txBody>
      </p:sp>
    </p:spTree>
    <p:extLst>
      <p:ext uri="{BB962C8B-B14F-4D97-AF65-F5344CB8AC3E}">
        <p14:creationId xmlns:p14="http://schemas.microsoft.com/office/powerpoint/2010/main" val="16422742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Fail-Safe Defaults</a:t>
            </a:r>
          </a:p>
        </p:txBody>
      </p:sp>
      <p:sp>
        <p:nvSpPr>
          <p:cNvPr id="3" name="Content Placeholder 2"/>
          <p:cNvSpPr>
            <a:spLocks noGrp="1"/>
          </p:cNvSpPr>
          <p:nvPr>
            <p:ph idx="1"/>
          </p:nvPr>
        </p:nvSpPr>
        <p:spPr>
          <a:xfrm>
            <a:off x="457200" y="1600200"/>
            <a:ext cx="8229600" cy="1475207"/>
          </a:xfrm>
        </p:spPr>
        <p:txBody>
          <a:bodyPr>
            <a:normAutofit/>
          </a:bodyPr>
          <a:lstStyle/>
          <a:p>
            <a:r>
              <a:rPr lang="en-US" dirty="0"/>
              <a:t>Pay Attention to Failure Modes</a:t>
            </a:r>
          </a:p>
          <a:p>
            <a:pPr lvl="1"/>
            <a:r>
              <a:rPr lang="en-US" dirty="0"/>
              <a:t>Do not forget the code that handles errors.</a:t>
            </a:r>
          </a:p>
        </p:txBody>
      </p:sp>
      <p:sp>
        <p:nvSpPr>
          <p:cNvPr id="4" name="Rectangle 3"/>
          <p:cNvSpPr/>
          <p:nvPr/>
        </p:nvSpPr>
        <p:spPr>
          <a:xfrm>
            <a:off x="955069" y="2653564"/>
            <a:ext cx="8028877" cy="3416320"/>
          </a:xfrm>
          <a:prstGeom prst="rect">
            <a:avLst/>
          </a:prstGeom>
        </p:spPr>
        <p:txBody>
          <a:bodyPr wrap="square">
            <a:spAutoFit/>
          </a:bodyPr>
          <a:lstStyle/>
          <a:p>
            <a:r>
              <a:rPr lang="en-US" dirty="0" err="1"/>
              <a:t>bool</a:t>
            </a:r>
            <a:r>
              <a:rPr lang="en-US" dirty="0"/>
              <a:t> </a:t>
            </a:r>
            <a:r>
              <a:rPr lang="en-US" dirty="0" err="1"/>
              <a:t>accessGranted</a:t>
            </a:r>
            <a:r>
              <a:rPr lang="en-US" dirty="0"/>
              <a:t> = true; // optimistic!</a:t>
            </a:r>
          </a:p>
          <a:p>
            <a:r>
              <a:rPr lang="en-US" dirty="0"/>
              <a:t>try {</a:t>
            </a:r>
          </a:p>
          <a:p>
            <a:r>
              <a:rPr lang="en-US" dirty="0"/>
              <a:t>    	// see if we have access to c:\</a:t>
            </a:r>
            <a:r>
              <a:rPr lang="en-US" dirty="0" err="1"/>
              <a:t>test.txt</a:t>
            </a:r>
            <a:endParaRPr lang="en-US" dirty="0"/>
          </a:p>
          <a:p>
            <a:r>
              <a:rPr lang="en-US" dirty="0"/>
              <a:t>    	new </a:t>
            </a:r>
            <a:r>
              <a:rPr lang="en-US" dirty="0" err="1"/>
              <a:t>FileStream</a:t>
            </a:r>
            <a:r>
              <a:rPr lang="en-US" dirty="0"/>
              <a:t>(@"c:\</a:t>
            </a:r>
            <a:r>
              <a:rPr lang="en-US" dirty="0" err="1"/>
              <a:t>test.txt</a:t>
            </a:r>
            <a:r>
              <a:rPr lang="en-US" dirty="0"/>
              <a:t>”, </a:t>
            </a:r>
            <a:r>
              <a:rPr lang="en-US" dirty="0" err="1"/>
              <a:t>FileMode.Open</a:t>
            </a:r>
            <a:r>
              <a:rPr lang="en-US" dirty="0"/>
              <a:t>, </a:t>
            </a:r>
            <a:r>
              <a:rPr lang="en-US" dirty="0" err="1"/>
              <a:t>FileAccess.Read</a:t>
            </a:r>
            <a:r>
              <a:rPr lang="en-US" dirty="0"/>
              <a:t>).Close();</a:t>
            </a:r>
          </a:p>
          <a:p>
            <a:r>
              <a:rPr lang="en-US" dirty="0"/>
              <a:t>}</a:t>
            </a:r>
          </a:p>
          <a:p>
            <a:r>
              <a:rPr lang="en-US" dirty="0"/>
              <a:t>catch (</a:t>
            </a:r>
            <a:r>
              <a:rPr lang="en-US" dirty="0" err="1"/>
              <a:t>SecurityException</a:t>
            </a:r>
            <a:r>
              <a:rPr lang="en-US" dirty="0"/>
              <a:t> x) {</a:t>
            </a:r>
          </a:p>
          <a:p>
            <a:r>
              <a:rPr lang="en-US" dirty="0"/>
              <a:t>    	// access denied</a:t>
            </a:r>
          </a:p>
          <a:p>
            <a:r>
              <a:rPr lang="en-US" dirty="0"/>
              <a:t>    	</a:t>
            </a:r>
            <a:r>
              <a:rPr lang="en-US" dirty="0" err="1"/>
              <a:t>accessGranted</a:t>
            </a:r>
            <a:r>
              <a:rPr lang="en-US" dirty="0"/>
              <a:t> = false;</a:t>
            </a:r>
          </a:p>
          <a:p>
            <a:r>
              <a:rPr lang="en-US" dirty="0"/>
              <a:t>}</a:t>
            </a:r>
          </a:p>
          <a:p>
            <a:r>
              <a:rPr lang="en-US" dirty="0"/>
              <a:t>catch (...) {</a:t>
            </a:r>
          </a:p>
          <a:p>
            <a:r>
              <a:rPr lang="en-US" dirty="0"/>
              <a:t>    	// something else happened</a:t>
            </a:r>
          </a:p>
          <a:p>
            <a:r>
              <a:rPr lang="en-US" dirty="0"/>
              <a:t>}</a:t>
            </a:r>
          </a:p>
        </p:txBody>
      </p:sp>
    </p:spTree>
    <p:extLst>
      <p:ext uri="{BB962C8B-B14F-4D97-AF65-F5344CB8AC3E}">
        <p14:creationId xmlns:p14="http://schemas.microsoft.com/office/powerpoint/2010/main" val="21762259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Fail-Safe Defaults</a:t>
            </a:r>
          </a:p>
        </p:txBody>
      </p:sp>
      <p:sp>
        <p:nvSpPr>
          <p:cNvPr id="3" name="Content Placeholder 2"/>
          <p:cNvSpPr>
            <a:spLocks noGrp="1"/>
          </p:cNvSpPr>
          <p:nvPr>
            <p:ph idx="1"/>
          </p:nvPr>
        </p:nvSpPr>
        <p:spPr>
          <a:xfrm>
            <a:off x="457200" y="1417638"/>
            <a:ext cx="8229600" cy="1149822"/>
          </a:xfrm>
        </p:spPr>
        <p:txBody>
          <a:bodyPr>
            <a:normAutofit fontScale="85000" lnSpcReduction="20000"/>
          </a:bodyPr>
          <a:lstStyle/>
          <a:p>
            <a:r>
              <a:rPr lang="en-US" dirty="0"/>
              <a:t>Fail Intelligently</a:t>
            </a:r>
          </a:p>
          <a:p>
            <a:pPr lvl="1"/>
            <a:r>
              <a:rPr lang="en-US" dirty="0"/>
              <a:t>Be sure that if your code fails, it leaves the system in the most secure state possible.  </a:t>
            </a:r>
          </a:p>
          <a:p>
            <a:endParaRPr lang="en-US" dirty="0"/>
          </a:p>
        </p:txBody>
      </p:sp>
      <p:sp>
        <p:nvSpPr>
          <p:cNvPr id="4" name="Rectangle 3"/>
          <p:cNvSpPr/>
          <p:nvPr/>
        </p:nvSpPr>
        <p:spPr>
          <a:xfrm>
            <a:off x="1070516" y="2722082"/>
            <a:ext cx="7304705" cy="2308324"/>
          </a:xfrm>
          <a:prstGeom prst="rect">
            <a:avLst/>
          </a:prstGeom>
        </p:spPr>
        <p:txBody>
          <a:bodyPr wrap="square">
            <a:spAutoFit/>
          </a:bodyPr>
          <a:lstStyle/>
          <a:p>
            <a:r>
              <a:rPr lang="en-US" dirty="0" err="1"/>
              <a:t>bool</a:t>
            </a:r>
            <a:r>
              <a:rPr lang="en-US" dirty="0"/>
              <a:t> </a:t>
            </a:r>
            <a:r>
              <a:rPr lang="en-US" dirty="0" err="1"/>
              <a:t>accessGranted</a:t>
            </a:r>
            <a:r>
              <a:rPr lang="en-US" dirty="0"/>
              <a:t> = false; // pessimistic!</a:t>
            </a:r>
          </a:p>
          <a:p>
            <a:r>
              <a:rPr lang="en-US" dirty="0"/>
              <a:t>try {</a:t>
            </a:r>
          </a:p>
          <a:p>
            <a:r>
              <a:rPr lang="en-US" dirty="0"/>
              <a:t>    // see if we have access to c:\</a:t>
            </a:r>
            <a:r>
              <a:rPr lang="en-US" dirty="0" err="1"/>
              <a:t>test.txt</a:t>
            </a:r>
            <a:endParaRPr lang="en-US" dirty="0"/>
          </a:p>
          <a:p>
            <a:r>
              <a:rPr lang="en-US" dirty="0"/>
              <a:t>    new </a:t>
            </a:r>
            <a:r>
              <a:rPr lang="en-US" dirty="0" err="1"/>
              <a:t>FileStream</a:t>
            </a:r>
            <a:r>
              <a:rPr lang="en-US" dirty="0"/>
              <a:t>(@"c:\</a:t>
            </a:r>
            <a:r>
              <a:rPr lang="en-US" dirty="0" err="1"/>
              <a:t>test.txt</a:t>
            </a:r>
            <a:r>
              <a:rPr lang="en-US" dirty="0"/>
              <a:t>”, </a:t>
            </a:r>
            <a:r>
              <a:rPr lang="en-US" dirty="0" err="1"/>
              <a:t>FileMode.Open</a:t>
            </a:r>
            <a:r>
              <a:rPr lang="en-US" dirty="0"/>
              <a:t>, </a:t>
            </a:r>
            <a:r>
              <a:rPr lang="en-US" dirty="0" err="1"/>
              <a:t>FileAccess.Read</a:t>
            </a:r>
            <a:r>
              <a:rPr lang="en-US" dirty="0"/>
              <a:t>).Close();</a:t>
            </a:r>
          </a:p>
          <a:p>
            <a:r>
              <a:rPr lang="en-US" dirty="0"/>
              <a:t>     // if we're still here, we're good!</a:t>
            </a:r>
          </a:p>
          <a:p>
            <a:r>
              <a:rPr lang="en-US" dirty="0"/>
              <a:t>     </a:t>
            </a:r>
            <a:r>
              <a:rPr lang="en-US" dirty="0" err="1"/>
              <a:t>accessGranted</a:t>
            </a:r>
            <a:r>
              <a:rPr lang="en-US" dirty="0"/>
              <a:t> = true;</a:t>
            </a:r>
          </a:p>
          <a:p>
            <a:r>
              <a:rPr lang="en-US" dirty="0"/>
              <a:t>}</a:t>
            </a:r>
          </a:p>
          <a:p>
            <a:r>
              <a:rPr lang="en-US" dirty="0"/>
              <a:t>catch (...) {}</a:t>
            </a:r>
          </a:p>
        </p:txBody>
      </p:sp>
    </p:spTree>
    <p:extLst>
      <p:ext uri="{BB962C8B-B14F-4D97-AF65-F5344CB8AC3E}">
        <p14:creationId xmlns:p14="http://schemas.microsoft.com/office/powerpoint/2010/main" val="36916409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Fail-Safe Defaults</a:t>
            </a:r>
          </a:p>
        </p:txBody>
      </p:sp>
      <p:sp>
        <p:nvSpPr>
          <p:cNvPr id="3" name="Content Placeholder 2"/>
          <p:cNvSpPr>
            <a:spLocks noGrp="1"/>
          </p:cNvSpPr>
          <p:nvPr>
            <p:ph idx="1"/>
          </p:nvPr>
        </p:nvSpPr>
        <p:spPr>
          <a:xfrm>
            <a:off x="457200" y="1417638"/>
            <a:ext cx="8229600" cy="1149822"/>
          </a:xfrm>
        </p:spPr>
        <p:txBody>
          <a:bodyPr>
            <a:normAutofit fontScale="85000" lnSpcReduction="20000"/>
          </a:bodyPr>
          <a:lstStyle/>
          <a:p>
            <a:r>
              <a:rPr lang="en-US" dirty="0"/>
              <a:t>Fail Intelligently</a:t>
            </a:r>
          </a:p>
          <a:p>
            <a:pPr lvl="1"/>
            <a:r>
              <a:rPr lang="en-US" dirty="0"/>
              <a:t>Be sure that if your code fails, it leaves the system in the most secure state possible.  </a:t>
            </a:r>
          </a:p>
          <a:p>
            <a:endParaRPr lang="en-US" dirty="0"/>
          </a:p>
        </p:txBody>
      </p:sp>
      <p:sp>
        <p:nvSpPr>
          <p:cNvPr id="5" name="Rectangle 4"/>
          <p:cNvSpPr>
            <a:spLocks noChangeArrowheads="1"/>
          </p:cNvSpPr>
          <p:nvPr/>
        </p:nvSpPr>
        <p:spPr bwMode="auto">
          <a:xfrm>
            <a:off x="1135490" y="2669760"/>
            <a:ext cx="7105650" cy="3605553"/>
          </a:xfrm>
          <a:prstGeom prst="rect">
            <a:avLst/>
          </a:prstGeom>
          <a:solidFill>
            <a:schemeClr val="bg1">
              <a:lumMod val="85000"/>
            </a:schemeClr>
          </a:solidFill>
          <a:ln w="9525">
            <a:solidFill>
              <a:schemeClr val="tx1"/>
            </a:solidFill>
            <a:miter lim="800000"/>
            <a:headEnd/>
            <a:tailEnd/>
          </a:ln>
          <a:effectLst/>
        </p:spPr>
        <p:txBody>
          <a:bodyPr wrap="none" anchor="ctr"/>
          <a:lstStyle/>
          <a:p>
            <a:pPr eaLnBrk="0" hangingPunct="0">
              <a:lnSpc>
                <a:spcPct val="90000"/>
              </a:lnSpc>
              <a:spcBef>
                <a:spcPct val="60000"/>
              </a:spcBef>
              <a:buClr>
                <a:srgbClr val="D60093"/>
              </a:buClr>
              <a:buSzPct val="65000"/>
              <a:buFont typeface="Wingdings" charset="0"/>
              <a:buNone/>
            </a:pPr>
            <a:r>
              <a:rPr lang="en-US" sz="2000" b="0">
                <a:effectLst/>
                <a:latin typeface="Lucida Sans Typewriter" charset="0"/>
              </a:rPr>
              <a:t>DWORD dwRet = IsAccessAllowed(…);</a:t>
            </a:r>
          </a:p>
          <a:p>
            <a:pPr eaLnBrk="0" hangingPunct="0">
              <a:lnSpc>
                <a:spcPct val="90000"/>
              </a:lnSpc>
              <a:spcBef>
                <a:spcPct val="60000"/>
              </a:spcBef>
              <a:buClr>
                <a:srgbClr val="D60093"/>
              </a:buClr>
              <a:buSzPct val="65000"/>
              <a:buFont typeface="Wingdings" charset="0"/>
              <a:buNone/>
            </a:pPr>
            <a:r>
              <a:rPr lang="en-US" sz="2000" b="0">
                <a:effectLst/>
                <a:latin typeface="Lucida Sans Typewriter" charset="0"/>
              </a:rPr>
              <a:t>if (dwRet == ERROR_ACCESS_DENIED) {</a:t>
            </a:r>
          </a:p>
          <a:p>
            <a:pPr eaLnBrk="0" hangingPunct="0">
              <a:lnSpc>
                <a:spcPct val="90000"/>
              </a:lnSpc>
              <a:spcBef>
                <a:spcPct val="60000"/>
              </a:spcBef>
              <a:buClr>
                <a:srgbClr val="D60093"/>
              </a:buClr>
              <a:buSzPct val="65000"/>
              <a:buFont typeface="Wingdings" charset="0"/>
              <a:buNone/>
            </a:pPr>
            <a:r>
              <a:rPr lang="en-US" sz="2000" b="0">
                <a:effectLst/>
                <a:latin typeface="Lucida Sans Typewriter" charset="0"/>
              </a:rPr>
              <a:t>	// Security check failed.</a:t>
            </a:r>
          </a:p>
          <a:p>
            <a:pPr eaLnBrk="0" hangingPunct="0">
              <a:lnSpc>
                <a:spcPct val="90000"/>
              </a:lnSpc>
              <a:spcBef>
                <a:spcPct val="60000"/>
              </a:spcBef>
              <a:buClr>
                <a:srgbClr val="D60093"/>
              </a:buClr>
              <a:buSzPct val="65000"/>
              <a:buFont typeface="Wingdings" charset="0"/>
              <a:buNone/>
            </a:pPr>
            <a:r>
              <a:rPr lang="en-US" sz="2000" b="0">
                <a:effectLst/>
                <a:latin typeface="Lucida Sans Typewriter" charset="0"/>
              </a:rPr>
              <a:t>      // Inform user that access is denied</a:t>
            </a:r>
          </a:p>
          <a:p>
            <a:pPr eaLnBrk="0" hangingPunct="0">
              <a:lnSpc>
                <a:spcPct val="90000"/>
              </a:lnSpc>
              <a:spcBef>
                <a:spcPct val="60000"/>
              </a:spcBef>
              <a:buClr>
                <a:srgbClr val="D60093"/>
              </a:buClr>
              <a:buSzPct val="65000"/>
              <a:buFont typeface="Wingdings" charset="0"/>
              <a:buNone/>
            </a:pPr>
            <a:r>
              <a:rPr lang="en-US" sz="2000" b="0">
                <a:effectLst/>
                <a:latin typeface="Lucida Sans Typewriter" charset="0"/>
              </a:rPr>
              <a:t>} else {</a:t>
            </a:r>
          </a:p>
          <a:p>
            <a:pPr eaLnBrk="0" hangingPunct="0">
              <a:lnSpc>
                <a:spcPct val="90000"/>
              </a:lnSpc>
              <a:spcBef>
                <a:spcPct val="60000"/>
              </a:spcBef>
              <a:buClr>
                <a:srgbClr val="D60093"/>
              </a:buClr>
              <a:buSzPct val="65000"/>
              <a:buFont typeface="Wingdings" charset="0"/>
              <a:buNone/>
            </a:pPr>
            <a:r>
              <a:rPr lang="en-US" sz="2000" b="0">
                <a:effectLst/>
                <a:latin typeface="Lucida Sans Typewriter" charset="0"/>
              </a:rPr>
              <a:t>	// Security check OK.</a:t>
            </a:r>
          </a:p>
          <a:p>
            <a:pPr eaLnBrk="0" hangingPunct="0">
              <a:lnSpc>
                <a:spcPct val="90000"/>
              </a:lnSpc>
              <a:spcBef>
                <a:spcPct val="60000"/>
              </a:spcBef>
              <a:buClr>
                <a:srgbClr val="D60093"/>
              </a:buClr>
              <a:buSzPct val="65000"/>
              <a:buFont typeface="Wingdings" charset="0"/>
              <a:buNone/>
            </a:pPr>
            <a:r>
              <a:rPr lang="en-US" sz="2000" b="0">
                <a:effectLst/>
                <a:latin typeface="Lucida Sans Typewriter" charset="0"/>
              </a:rPr>
              <a:t>      // Perform task…</a:t>
            </a:r>
          </a:p>
          <a:p>
            <a:pPr eaLnBrk="0" hangingPunct="0">
              <a:lnSpc>
                <a:spcPct val="90000"/>
              </a:lnSpc>
              <a:spcBef>
                <a:spcPct val="60000"/>
              </a:spcBef>
              <a:buClr>
                <a:srgbClr val="D60093"/>
              </a:buClr>
              <a:buSzPct val="65000"/>
              <a:buFont typeface="Wingdings" charset="0"/>
              <a:buNone/>
            </a:pPr>
            <a:r>
              <a:rPr lang="en-US" sz="2000" b="0">
                <a:effectLst/>
                <a:latin typeface="Lucida Sans Typewriter" charset="0"/>
              </a:rPr>
              <a:t>}</a:t>
            </a:r>
          </a:p>
        </p:txBody>
      </p:sp>
      <p:sp>
        <p:nvSpPr>
          <p:cNvPr id="6" name="Rectangle 5"/>
          <p:cNvSpPr>
            <a:spLocks noChangeArrowheads="1"/>
          </p:cNvSpPr>
          <p:nvPr/>
        </p:nvSpPr>
        <p:spPr bwMode="auto">
          <a:xfrm>
            <a:off x="5912797" y="4420575"/>
            <a:ext cx="2838450" cy="1714500"/>
          </a:xfrm>
          <a:prstGeom prst="rect">
            <a:avLst/>
          </a:prstGeom>
          <a:solidFill>
            <a:schemeClr val="bg2">
              <a:lumMod val="75000"/>
            </a:schemeClr>
          </a:solidFill>
          <a:ln w="9525">
            <a:solidFill>
              <a:schemeClr val="tx1"/>
            </a:solidFill>
            <a:miter lim="800000"/>
            <a:headEnd/>
            <a:tailEnd/>
          </a:ln>
          <a:effectLst>
            <a:outerShdw blurRad="63500" dist="107763" dir="2700000" algn="ctr" rotWithShape="0">
              <a:schemeClr val="bg2">
                <a:alpha val="50000"/>
              </a:schemeClr>
            </a:outerShdw>
          </a:effectLst>
        </p:spPr>
        <p:txBody>
          <a:bodyPr wrap="none" anchor="ctr"/>
          <a:lstStyle/>
          <a:p>
            <a:pPr algn="ctr"/>
            <a:r>
              <a:rPr lang="en-GB" sz="1800" dirty="0">
                <a:effectLst/>
              </a:rPr>
              <a:t>What if </a:t>
            </a:r>
          </a:p>
          <a:p>
            <a:pPr algn="ctr"/>
            <a:r>
              <a:rPr lang="en-GB" sz="1800" dirty="0" err="1">
                <a:effectLst/>
              </a:rPr>
              <a:t>IsAccessAllowed</a:t>
            </a:r>
            <a:r>
              <a:rPr lang="en-GB" sz="1800" dirty="0">
                <a:effectLst/>
              </a:rPr>
              <a:t>()</a:t>
            </a:r>
          </a:p>
          <a:p>
            <a:pPr algn="ctr"/>
            <a:r>
              <a:rPr lang="en-GB" sz="1800" dirty="0">
                <a:effectLst/>
              </a:rPr>
              <a:t> returns </a:t>
            </a:r>
          </a:p>
          <a:p>
            <a:pPr algn="ctr"/>
            <a:r>
              <a:rPr lang="en-GB" sz="1800" dirty="0">
                <a:effectLst/>
              </a:rPr>
              <a:t>ERROR_NOT_</a:t>
            </a:r>
            <a:br>
              <a:rPr lang="en-GB" sz="1800" dirty="0">
                <a:effectLst/>
              </a:rPr>
            </a:br>
            <a:r>
              <a:rPr lang="en-GB" sz="1800" dirty="0">
                <a:effectLst/>
              </a:rPr>
              <a:t>ENOUGH_MEMORY?</a:t>
            </a:r>
          </a:p>
        </p:txBody>
      </p:sp>
    </p:spTree>
    <p:extLst>
      <p:ext uri="{BB962C8B-B14F-4D97-AF65-F5344CB8AC3E}">
        <p14:creationId xmlns:p14="http://schemas.microsoft.com/office/powerpoint/2010/main" val="3624341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5"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decel="50000" fill="hold">
                                          <p:stCondLst>
                                            <p:cond delay="0"/>
                                          </p:stCondLst>
                                        </p:cTn>
                                        <p:tgtEl>
                                          <p:spTgt spid="6"/>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6"/>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6"/>
                                        </p:tgtEl>
                                        <p:attrNameLst>
                                          <p:attrName>ppt_w</p:attrName>
                                        </p:attrNameLst>
                                      </p:cBhvr>
                                      <p:tavLst>
                                        <p:tav tm="0">
                                          <p:val>
                                            <p:strVal val="#ppt_w*.05"/>
                                          </p:val>
                                        </p:tav>
                                        <p:tav tm="100000">
                                          <p:val>
                                            <p:strVal val="#ppt_w"/>
                                          </p:val>
                                        </p:tav>
                                      </p:tavLst>
                                    </p:anim>
                                    <p:anim calcmode="lin" valueType="num">
                                      <p:cBhvr>
                                        <p:cTn id="10" dur="1000" fill="hold"/>
                                        <p:tgtEl>
                                          <p:spTgt spid="6"/>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6"/>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6"/>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6"/>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Fail-Safe Defaults</a:t>
            </a:r>
          </a:p>
        </p:txBody>
      </p:sp>
      <p:sp>
        <p:nvSpPr>
          <p:cNvPr id="3" name="Content Placeholder 2"/>
          <p:cNvSpPr>
            <a:spLocks noGrp="1"/>
          </p:cNvSpPr>
          <p:nvPr>
            <p:ph idx="1"/>
          </p:nvPr>
        </p:nvSpPr>
        <p:spPr>
          <a:xfrm>
            <a:off x="457200" y="1417638"/>
            <a:ext cx="8229600" cy="4405722"/>
          </a:xfrm>
        </p:spPr>
        <p:txBody>
          <a:bodyPr>
            <a:normAutofit fontScale="92500" lnSpcReduction="20000"/>
          </a:bodyPr>
          <a:lstStyle/>
          <a:p>
            <a:r>
              <a:rPr lang="en-US" dirty="0"/>
              <a:t>Fail Intelligently</a:t>
            </a:r>
          </a:p>
          <a:p>
            <a:r>
              <a:rPr lang="en-US" dirty="0"/>
              <a:t>Do not:</a:t>
            </a:r>
          </a:p>
          <a:p>
            <a:pPr lvl="1"/>
            <a:r>
              <a:rPr lang="en-US" dirty="0"/>
              <a:t>Reveal information in error messages</a:t>
            </a:r>
          </a:p>
          <a:p>
            <a:pPr lvl="2"/>
            <a:r>
              <a:rPr lang="en-US" dirty="0"/>
              <a:t>Accidently reveal your debug information to users?</a:t>
            </a:r>
          </a:p>
          <a:p>
            <a:pPr lvl="2"/>
            <a:r>
              <a:rPr lang="en-US" dirty="0"/>
              <a:t>E.g., passing SQL exceptions to a </a:t>
            </a:r>
            <a:r>
              <a:rPr lang="en-US" dirty="0" err="1"/>
              <a:t>WebUser</a:t>
            </a:r>
            <a:r>
              <a:rPr lang="en-US" dirty="0"/>
              <a:t> without filtering.</a:t>
            </a:r>
          </a:p>
          <a:p>
            <a:pPr lvl="1"/>
            <a:r>
              <a:rPr lang="en-US" dirty="0"/>
              <a:t>Consume resources for lengthy periods of time after a failure</a:t>
            </a:r>
          </a:p>
          <a:p>
            <a:r>
              <a:rPr lang="en-US" dirty="0"/>
              <a:t>Do:</a:t>
            </a:r>
          </a:p>
          <a:p>
            <a:pPr lvl="1"/>
            <a:r>
              <a:rPr lang="en-US" dirty="0"/>
              <a:t>Use exception handling blocks to avoid propagating errors back to the caller</a:t>
            </a:r>
          </a:p>
          <a:p>
            <a:pPr lvl="1"/>
            <a:r>
              <a:rPr lang="en-US" dirty="0"/>
              <a:t>Write suspicious failures to an event log</a:t>
            </a:r>
          </a:p>
          <a:p>
            <a:endParaRPr lang="en-US" dirty="0"/>
          </a:p>
        </p:txBody>
      </p:sp>
    </p:spTree>
    <p:extLst>
      <p:ext uri="{BB962C8B-B14F-4D97-AF65-F5344CB8AC3E}">
        <p14:creationId xmlns:p14="http://schemas.microsoft.com/office/powerpoint/2010/main" val="36649234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Complete Mediation</a:t>
            </a:r>
          </a:p>
        </p:txBody>
      </p:sp>
      <p:sp>
        <p:nvSpPr>
          <p:cNvPr id="3" name="Content Placeholder 2"/>
          <p:cNvSpPr>
            <a:spLocks noGrp="1"/>
          </p:cNvSpPr>
          <p:nvPr>
            <p:ph idx="1"/>
          </p:nvPr>
        </p:nvSpPr>
        <p:spPr/>
        <p:txBody>
          <a:bodyPr/>
          <a:lstStyle/>
          <a:p>
            <a:r>
              <a:rPr lang="en-US" dirty="0"/>
              <a:t>All accesses to objects be checked to ensure that they are allowed.</a:t>
            </a:r>
          </a:p>
          <a:p>
            <a:pPr lvl="1"/>
            <a:r>
              <a:rPr lang="en-US" sz="2000" dirty="0"/>
              <a:t>When you log into an email system, if you want to modify your email password, the email system will check if you can modify the password by authenticating you again.  </a:t>
            </a:r>
          </a:p>
          <a:p>
            <a:endParaRPr lang="en-US" dirty="0"/>
          </a:p>
        </p:txBody>
      </p:sp>
    </p:spTree>
    <p:extLst>
      <p:ext uri="{BB962C8B-B14F-4D97-AF65-F5344CB8AC3E}">
        <p14:creationId xmlns:p14="http://schemas.microsoft.com/office/powerpoint/2010/main" val="13278062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Complete Mediation</a:t>
            </a:r>
          </a:p>
        </p:txBody>
      </p:sp>
      <p:sp>
        <p:nvSpPr>
          <p:cNvPr id="3" name="Content Placeholder 2"/>
          <p:cNvSpPr>
            <a:spLocks noGrp="1"/>
          </p:cNvSpPr>
          <p:nvPr>
            <p:ph idx="1"/>
          </p:nvPr>
        </p:nvSpPr>
        <p:spPr/>
        <p:txBody>
          <a:bodyPr>
            <a:normAutofit fontScale="92500" lnSpcReduction="10000"/>
          </a:bodyPr>
          <a:lstStyle/>
          <a:p>
            <a:r>
              <a:rPr lang="en-US" dirty="0"/>
              <a:t>All User Inputs are evil!</a:t>
            </a:r>
          </a:p>
          <a:p>
            <a:pPr lvl="1"/>
            <a:r>
              <a:rPr lang="en-US" dirty="0"/>
              <a:t>Do not trust user input</a:t>
            </a:r>
          </a:p>
          <a:p>
            <a:pPr lvl="2"/>
            <a:r>
              <a:rPr lang="en-US" dirty="0"/>
              <a:t>Malicious input can lead to buffer overruns, cross-site scripting attacks, SQL injection attacks, and more</a:t>
            </a:r>
          </a:p>
          <a:p>
            <a:pPr lvl="2"/>
            <a:r>
              <a:rPr lang="en-US" dirty="0"/>
              <a:t>Assume all input is harmful until proven otherwise</a:t>
            </a:r>
          </a:p>
          <a:p>
            <a:pPr lvl="2"/>
            <a:r>
              <a:rPr lang="en-US" dirty="0"/>
              <a:t>Look for valid data and reject everything else</a:t>
            </a:r>
          </a:p>
          <a:p>
            <a:pPr lvl="1"/>
            <a:r>
              <a:rPr lang="en-US" dirty="0"/>
              <a:t>Constrain, reject, and sanitize user input with</a:t>
            </a:r>
          </a:p>
          <a:p>
            <a:pPr lvl="2"/>
            <a:r>
              <a:rPr lang="en-US" dirty="0"/>
              <a:t>Type checks</a:t>
            </a:r>
          </a:p>
          <a:p>
            <a:pPr lvl="2"/>
            <a:r>
              <a:rPr lang="en-US" dirty="0"/>
              <a:t>Length checks</a:t>
            </a:r>
          </a:p>
          <a:p>
            <a:pPr lvl="2"/>
            <a:r>
              <a:rPr lang="en-US" dirty="0"/>
              <a:t>Range checks</a:t>
            </a:r>
          </a:p>
          <a:p>
            <a:pPr lvl="2"/>
            <a:r>
              <a:rPr lang="en-US" dirty="0"/>
              <a:t>Format checks</a:t>
            </a:r>
          </a:p>
          <a:p>
            <a:endParaRPr lang="en-US" dirty="0"/>
          </a:p>
        </p:txBody>
      </p:sp>
    </p:spTree>
    <p:extLst>
      <p:ext uri="{BB962C8B-B14F-4D97-AF65-F5344CB8AC3E}">
        <p14:creationId xmlns:p14="http://schemas.microsoft.com/office/powerpoint/2010/main" val="18671856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Complete Mediation</a:t>
            </a:r>
          </a:p>
        </p:txBody>
      </p:sp>
      <p:sp>
        <p:nvSpPr>
          <p:cNvPr id="5" name="Rounded Rectangle 4"/>
          <p:cNvSpPr/>
          <p:nvPr/>
        </p:nvSpPr>
        <p:spPr>
          <a:xfrm>
            <a:off x="260214" y="1712908"/>
            <a:ext cx="3141054" cy="4799731"/>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r>
              <a:rPr lang="en-US" sz="1600" dirty="0">
                <a:latin typeface="Courier New"/>
                <a:cs typeface="Courier New"/>
              </a:rPr>
              <a:t>………</a:t>
            </a:r>
          </a:p>
          <a:p>
            <a:r>
              <a:rPr lang="en-US" sz="1600" dirty="0">
                <a:latin typeface="Courier New"/>
                <a:cs typeface="Courier New"/>
              </a:rPr>
              <a:t>F=</a:t>
            </a:r>
            <a:r>
              <a:rPr lang="en-US" sz="1600" b="1" dirty="0">
                <a:latin typeface="Courier New"/>
                <a:cs typeface="Courier New"/>
              </a:rPr>
              <a:t>open</a:t>
            </a:r>
            <a:r>
              <a:rPr lang="en-US" sz="1600" dirty="0">
                <a:latin typeface="Courier New"/>
                <a:cs typeface="Courier New"/>
              </a:rPr>
              <a:t>(“./</a:t>
            </a:r>
            <a:r>
              <a:rPr lang="en-US" sz="1600" dirty="0" err="1">
                <a:latin typeface="Courier New"/>
                <a:cs typeface="Courier New"/>
              </a:rPr>
              <a:t>t.txt</a:t>
            </a:r>
            <a:r>
              <a:rPr lang="en-US" sz="1600" dirty="0">
                <a:latin typeface="Courier New"/>
                <a:cs typeface="Courier New"/>
              </a:rPr>
              <a:t>”);</a:t>
            </a:r>
          </a:p>
          <a:p>
            <a:r>
              <a:rPr lang="en-US" sz="1600" dirty="0">
                <a:latin typeface="Courier New"/>
                <a:cs typeface="Courier New"/>
              </a:rPr>
              <a:t>for(</a:t>
            </a:r>
            <a:r>
              <a:rPr lang="en-US" sz="1600" dirty="0" err="1">
                <a:latin typeface="Courier New"/>
                <a:cs typeface="Courier New"/>
              </a:rPr>
              <a:t>i</a:t>
            </a:r>
            <a:r>
              <a:rPr lang="en-US" sz="1600" dirty="0">
                <a:latin typeface="Courier New"/>
                <a:cs typeface="Courier New"/>
              </a:rPr>
              <a:t>=0; </a:t>
            </a:r>
            <a:r>
              <a:rPr lang="en-US" sz="1600" dirty="0" err="1">
                <a:latin typeface="Courier New"/>
                <a:cs typeface="Courier New"/>
              </a:rPr>
              <a:t>i</a:t>
            </a:r>
            <a:r>
              <a:rPr lang="en-US" sz="1600" dirty="0">
                <a:latin typeface="Courier New"/>
                <a:cs typeface="Courier New"/>
              </a:rPr>
              <a:t>&lt;1; </a:t>
            </a:r>
            <a:r>
              <a:rPr lang="en-US" sz="1600" dirty="0" err="1">
                <a:latin typeface="Courier New"/>
                <a:cs typeface="Courier New"/>
              </a:rPr>
              <a:t>i</a:t>
            </a:r>
            <a:r>
              <a:rPr lang="en-US" sz="1600" dirty="0">
                <a:latin typeface="Courier New"/>
                <a:cs typeface="Courier New"/>
              </a:rPr>
              <a:t>++)</a:t>
            </a:r>
          </a:p>
          <a:p>
            <a:r>
              <a:rPr lang="en-US" sz="1600" dirty="0">
                <a:latin typeface="Courier New"/>
                <a:cs typeface="Courier New"/>
              </a:rPr>
              <a:t>{</a:t>
            </a:r>
          </a:p>
          <a:p>
            <a:r>
              <a:rPr lang="en-US" sz="1600" dirty="0">
                <a:latin typeface="Courier New"/>
                <a:cs typeface="Courier New"/>
              </a:rPr>
              <a:t>	</a:t>
            </a:r>
            <a:r>
              <a:rPr lang="en-US" sz="1600" dirty="0" err="1">
                <a:latin typeface="Courier New"/>
                <a:cs typeface="Courier New"/>
              </a:rPr>
              <a:t>buf</a:t>
            </a:r>
            <a:r>
              <a:rPr lang="en-US" sz="1600" dirty="0">
                <a:latin typeface="Courier New"/>
                <a:cs typeface="Courier New"/>
              </a:rPr>
              <a:t>=</a:t>
            </a:r>
            <a:r>
              <a:rPr lang="en-US" sz="1600" b="1" dirty="0">
                <a:latin typeface="Courier New"/>
                <a:cs typeface="Courier New"/>
              </a:rPr>
              <a:t>read</a:t>
            </a:r>
            <a:r>
              <a:rPr lang="en-US" sz="1600" dirty="0">
                <a:latin typeface="Courier New"/>
                <a:cs typeface="Courier New"/>
              </a:rPr>
              <a:t>(F);</a:t>
            </a:r>
          </a:p>
          <a:p>
            <a:r>
              <a:rPr lang="en-US" sz="1600" dirty="0">
                <a:latin typeface="Courier New"/>
                <a:cs typeface="Courier New"/>
              </a:rPr>
              <a:t>	Z=</a:t>
            </a:r>
            <a:r>
              <a:rPr lang="en-US" sz="1600" b="1" dirty="0" err="1">
                <a:latin typeface="Courier New"/>
                <a:cs typeface="Courier New"/>
              </a:rPr>
              <a:t>mmap</a:t>
            </a:r>
            <a:r>
              <a:rPr lang="en-US" sz="1600" dirty="0">
                <a:latin typeface="Courier New"/>
                <a:cs typeface="Courier New"/>
              </a:rPr>
              <a:t>(</a:t>
            </a:r>
            <a:r>
              <a:rPr lang="en-US" sz="1600" dirty="0" err="1">
                <a:latin typeface="Courier New"/>
                <a:cs typeface="Courier New"/>
              </a:rPr>
              <a:t>buf</a:t>
            </a:r>
            <a:r>
              <a:rPr lang="en-US" sz="1600" dirty="0">
                <a:latin typeface="Courier New"/>
                <a:cs typeface="Courier New"/>
              </a:rPr>
              <a:t>);</a:t>
            </a:r>
          </a:p>
          <a:p>
            <a:r>
              <a:rPr lang="en-US" sz="1600" dirty="0">
                <a:latin typeface="Courier New"/>
                <a:cs typeface="Courier New"/>
              </a:rPr>
              <a:t>	foo(</a:t>
            </a:r>
            <a:r>
              <a:rPr lang="en-US" sz="1600" dirty="0" err="1">
                <a:latin typeface="Courier New"/>
                <a:cs typeface="Courier New"/>
              </a:rPr>
              <a:t>buf</a:t>
            </a:r>
            <a:r>
              <a:rPr lang="en-US" sz="1600" dirty="0">
                <a:latin typeface="Courier New"/>
                <a:cs typeface="Courier New"/>
              </a:rPr>
              <a:t>)</a:t>
            </a:r>
          </a:p>
          <a:p>
            <a:r>
              <a:rPr lang="en-US" sz="1600" dirty="0">
                <a:latin typeface="Courier New"/>
                <a:cs typeface="Courier New"/>
              </a:rPr>
              <a:t>}</a:t>
            </a:r>
          </a:p>
          <a:p>
            <a:r>
              <a:rPr lang="en-US" sz="1600" b="1" dirty="0" err="1">
                <a:latin typeface="Courier New"/>
                <a:cs typeface="Courier New"/>
              </a:rPr>
              <a:t>clsoe</a:t>
            </a:r>
            <a:r>
              <a:rPr lang="en-US" sz="1600" dirty="0">
                <a:latin typeface="Courier New"/>
                <a:cs typeface="Courier New"/>
              </a:rPr>
              <a:t>(F);</a:t>
            </a:r>
          </a:p>
          <a:p>
            <a:r>
              <a:rPr lang="en-US" sz="1600" dirty="0">
                <a:latin typeface="Courier New"/>
                <a:cs typeface="Courier New"/>
              </a:rPr>
              <a:t>……</a:t>
            </a:r>
          </a:p>
          <a:p>
            <a:endParaRPr lang="en-US" sz="1600" dirty="0">
              <a:latin typeface="Courier New"/>
              <a:cs typeface="Courier New"/>
            </a:endParaRPr>
          </a:p>
          <a:p>
            <a:r>
              <a:rPr lang="en-US" sz="1600" dirty="0">
                <a:latin typeface="Courier New"/>
                <a:cs typeface="Courier New"/>
              </a:rPr>
              <a:t>void foo (char *bar)</a:t>
            </a:r>
          </a:p>
          <a:p>
            <a:r>
              <a:rPr lang="en-US" sz="1600" dirty="0">
                <a:latin typeface="Courier New"/>
                <a:cs typeface="Courier New"/>
              </a:rPr>
              <a:t>{</a:t>
            </a:r>
          </a:p>
          <a:p>
            <a:r>
              <a:rPr lang="en-US" sz="1600" dirty="0">
                <a:latin typeface="Courier New"/>
                <a:cs typeface="Courier New"/>
              </a:rPr>
              <a:t>   char c[12];</a:t>
            </a:r>
          </a:p>
          <a:p>
            <a:r>
              <a:rPr lang="en-US" sz="1600" dirty="0">
                <a:latin typeface="Courier New"/>
                <a:cs typeface="Courier New"/>
              </a:rPr>
              <a:t>   </a:t>
            </a:r>
            <a:r>
              <a:rPr lang="en-US" sz="1600" b="1" dirty="0" err="1">
                <a:latin typeface="Courier New"/>
                <a:cs typeface="Courier New"/>
              </a:rPr>
              <a:t>strcpy</a:t>
            </a:r>
            <a:r>
              <a:rPr lang="en-US" sz="1600" dirty="0">
                <a:latin typeface="Courier New"/>
                <a:cs typeface="Courier New"/>
              </a:rPr>
              <a:t> (c, bar); </a:t>
            </a:r>
          </a:p>
          <a:p>
            <a:r>
              <a:rPr lang="en-US" sz="1600" dirty="0">
                <a:latin typeface="Courier New"/>
                <a:cs typeface="Courier New"/>
              </a:rPr>
              <a:t>}</a:t>
            </a:r>
          </a:p>
          <a:p>
            <a:endParaRPr lang="en-US" sz="1600" dirty="0">
              <a:latin typeface="Courier New"/>
              <a:cs typeface="Courier New"/>
            </a:endParaRPr>
          </a:p>
        </p:txBody>
      </p:sp>
      <p:sp>
        <p:nvSpPr>
          <p:cNvPr id="6" name="Rectangle 5"/>
          <p:cNvSpPr/>
          <p:nvPr/>
        </p:nvSpPr>
        <p:spPr>
          <a:xfrm>
            <a:off x="3850836" y="1911635"/>
            <a:ext cx="996845" cy="2485129"/>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t>Process</a:t>
            </a:r>
          </a:p>
        </p:txBody>
      </p:sp>
      <p:sp>
        <p:nvSpPr>
          <p:cNvPr id="7" name="Rectangle 6"/>
          <p:cNvSpPr/>
          <p:nvPr/>
        </p:nvSpPr>
        <p:spPr>
          <a:xfrm>
            <a:off x="3850836" y="4410419"/>
            <a:ext cx="996845" cy="846583"/>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a:t>System</a:t>
            </a:r>
          </a:p>
        </p:txBody>
      </p:sp>
      <p:cxnSp>
        <p:nvCxnSpPr>
          <p:cNvPr id="8" name="Straight Arrow Connector 7"/>
          <p:cNvCxnSpPr/>
          <p:nvPr/>
        </p:nvCxnSpPr>
        <p:spPr>
          <a:xfrm>
            <a:off x="3401268" y="3427293"/>
            <a:ext cx="449568" cy="0"/>
          </a:xfrm>
          <a:prstGeom prst="straightConnector1">
            <a:avLst/>
          </a:prstGeom>
          <a:ln>
            <a:tailEnd type="none"/>
          </a:ln>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p:nvPr/>
        </p:nvCxnSpPr>
        <p:spPr>
          <a:xfrm flipV="1">
            <a:off x="4662664" y="3427293"/>
            <a:ext cx="649306" cy="91441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aphicFrame>
        <p:nvGraphicFramePr>
          <p:cNvPr id="10" name="Table 9"/>
          <p:cNvGraphicFramePr>
            <a:graphicFrameLocks noGrp="1"/>
          </p:cNvGraphicFramePr>
          <p:nvPr>
            <p:extLst>
              <p:ext uri="{D42A27DB-BD31-4B8C-83A1-F6EECF244321}">
                <p14:modId xmlns:p14="http://schemas.microsoft.com/office/powerpoint/2010/main" val="2735590083"/>
              </p:ext>
            </p:extLst>
          </p:nvPr>
        </p:nvGraphicFramePr>
        <p:xfrm>
          <a:off x="5311970" y="2821383"/>
          <a:ext cx="3727925" cy="755315"/>
        </p:xfrm>
        <a:graphic>
          <a:graphicData uri="http://schemas.openxmlformats.org/drawingml/2006/table">
            <a:tbl>
              <a:tblPr firstRow="1" bandRow="1">
                <a:tableStyleId>{5C22544A-7EE6-4342-B048-85BDC9FD1C3A}</a:tableStyleId>
              </a:tblPr>
              <a:tblGrid>
                <a:gridCol w="3727925">
                  <a:extLst>
                    <a:ext uri="{9D8B030D-6E8A-4147-A177-3AD203B41FA5}">
                      <a16:colId xmlns:a16="http://schemas.microsoft.com/office/drawing/2014/main" val="20000"/>
                    </a:ext>
                  </a:extLst>
                </a:gridCol>
              </a:tblGrid>
              <a:tr h="420035">
                <a:tc>
                  <a:txBody>
                    <a:bodyPr/>
                    <a:lstStyle/>
                    <a:p>
                      <a:pPr algn="ctr"/>
                      <a:r>
                        <a:rPr lang="en-US" sz="1600" dirty="0"/>
                        <a:t>System Call Sequence</a:t>
                      </a:r>
                    </a:p>
                  </a:txBody>
                  <a:tcPr/>
                </a:tc>
                <a:extLst>
                  <a:ext uri="{0D108BD9-81ED-4DB2-BD59-A6C34878D82A}">
                    <a16:rowId xmlns:a16="http://schemas.microsoft.com/office/drawing/2014/main" val="10000"/>
                  </a:ext>
                </a:extLst>
              </a:tr>
              <a:tr h="307105">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600" dirty="0"/>
                        <a:t>open, read, </a:t>
                      </a:r>
                      <a:r>
                        <a:rPr lang="en-US" sz="1600" dirty="0" err="1"/>
                        <a:t>mmap</a:t>
                      </a:r>
                      <a:r>
                        <a:rPr lang="en-US" sz="1600" dirty="0"/>
                        <a:t>, read, </a:t>
                      </a:r>
                      <a:r>
                        <a:rPr lang="en-US" sz="1600" dirty="0" err="1"/>
                        <a:t>mmap</a:t>
                      </a:r>
                      <a:r>
                        <a:rPr lang="en-US" sz="1600" dirty="0"/>
                        <a:t>, close</a:t>
                      </a:r>
                    </a:p>
                  </a:txBody>
                  <a:tcPr/>
                </a:tc>
                <a:extLst>
                  <a:ext uri="{0D108BD9-81ED-4DB2-BD59-A6C34878D82A}">
                    <a16:rowId xmlns:a16="http://schemas.microsoft.com/office/drawing/2014/main" val="10001"/>
                  </a:ext>
                </a:extLst>
              </a:tr>
            </a:tbl>
          </a:graphicData>
        </a:graphic>
      </p:graphicFrame>
      <p:sp>
        <p:nvSpPr>
          <p:cNvPr id="12" name="Rounded Rectangle 11"/>
          <p:cNvSpPr/>
          <p:nvPr/>
        </p:nvSpPr>
        <p:spPr>
          <a:xfrm>
            <a:off x="4141932" y="4322063"/>
            <a:ext cx="406723" cy="149402"/>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Rounded Rectangular Callout 12"/>
          <p:cNvSpPr/>
          <p:nvPr/>
        </p:nvSpPr>
        <p:spPr>
          <a:xfrm>
            <a:off x="5311970" y="5353597"/>
            <a:ext cx="1519314" cy="612648"/>
          </a:xfrm>
          <a:prstGeom prst="wedgeRoundRectCallout">
            <a:avLst>
              <a:gd name="adj1" fmla="val -113383"/>
              <a:gd name="adj2" fmla="val -193557"/>
              <a:gd name="adj3" fmla="val 16667"/>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600" dirty="0"/>
              <a:t>System Calls</a:t>
            </a:r>
          </a:p>
        </p:txBody>
      </p:sp>
      <p:sp>
        <p:nvSpPr>
          <p:cNvPr id="17" name="TextBox 16"/>
          <p:cNvSpPr txBox="1"/>
          <p:nvPr/>
        </p:nvSpPr>
        <p:spPr>
          <a:xfrm>
            <a:off x="4971978" y="3685269"/>
            <a:ext cx="1047808" cy="369332"/>
          </a:xfrm>
          <a:prstGeom prst="rect">
            <a:avLst/>
          </a:prstGeom>
          <a:noFill/>
        </p:spPr>
        <p:txBody>
          <a:bodyPr wrap="none" rtlCol="0">
            <a:spAutoFit/>
          </a:bodyPr>
          <a:lstStyle/>
          <a:p>
            <a:r>
              <a:rPr lang="en-US" dirty="0"/>
              <a:t>Intercept</a:t>
            </a:r>
          </a:p>
        </p:txBody>
      </p:sp>
      <p:grpSp>
        <p:nvGrpSpPr>
          <p:cNvPr id="21" name="Group 20"/>
          <p:cNvGrpSpPr/>
          <p:nvPr/>
        </p:nvGrpSpPr>
        <p:grpSpPr>
          <a:xfrm>
            <a:off x="3245482" y="1125645"/>
            <a:ext cx="5794414" cy="1605105"/>
            <a:chOff x="3245482" y="1125645"/>
            <a:chExt cx="5794414" cy="1605105"/>
          </a:xfrm>
        </p:grpSpPr>
        <p:sp>
          <p:nvSpPr>
            <p:cNvPr id="19" name="Freeform 18"/>
            <p:cNvSpPr/>
            <p:nvPr/>
          </p:nvSpPr>
          <p:spPr>
            <a:xfrm>
              <a:off x="3245482" y="1448811"/>
              <a:ext cx="3378289" cy="1281939"/>
            </a:xfrm>
            <a:custGeom>
              <a:avLst/>
              <a:gdLst>
                <a:gd name="connsiteX0" fmla="*/ 0 w 3378289"/>
                <a:gd name="connsiteY0" fmla="*/ 335722 h 1281939"/>
                <a:gd name="connsiteX1" fmla="*/ 2174722 w 3378289"/>
                <a:gd name="connsiteY1" fmla="*/ 53516 h 1281939"/>
                <a:gd name="connsiteX2" fmla="*/ 3378289 w 3378289"/>
                <a:gd name="connsiteY2" fmla="*/ 1281939 h 1281939"/>
              </a:gdLst>
              <a:ahLst/>
              <a:cxnLst>
                <a:cxn ang="0">
                  <a:pos x="connsiteX0" y="connsiteY0"/>
                </a:cxn>
                <a:cxn ang="0">
                  <a:pos x="connsiteX1" y="connsiteY1"/>
                </a:cxn>
                <a:cxn ang="0">
                  <a:pos x="connsiteX2" y="connsiteY2"/>
                </a:cxn>
              </a:cxnLst>
              <a:rect l="l" t="t" r="r" b="b"/>
              <a:pathLst>
                <a:path w="3378289" h="1281939">
                  <a:moveTo>
                    <a:pt x="0" y="335722"/>
                  </a:moveTo>
                  <a:cubicBezTo>
                    <a:pt x="805837" y="115767"/>
                    <a:pt x="1611674" y="-104187"/>
                    <a:pt x="2174722" y="53516"/>
                  </a:cubicBezTo>
                  <a:cubicBezTo>
                    <a:pt x="2737770" y="211219"/>
                    <a:pt x="3378289" y="1281939"/>
                    <a:pt x="3378289" y="1281939"/>
                  </a:cubicBezTo>
                </a:path>
              </a:pathLst>
            </a:custGeom>
            <a:ln>
              <a:solidFill>
                <a:schemeClr val="tx2"/>
              </a:solidFill>
              <a:tailEnd type="arrow" w="lg" len="lg"/>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0" name="TextBox 19"/>
            <p:cNvSpPr txBox="1"/>
            <p:nvPr/>
          </p:nvSpPr>
          <p:spPr>
            <a:xfrm>
              <a:off x="5706534" y="1125645"/>
              <a:ext cx="3333362" cy="646331"/>
            </a:xfrm>
            <a:prstGeom prst="rect">
              <a:avLst/>
            </a:prstGeom>
            <a:noFill/>
          </p:spPr>
          <p:txBody>
            <a:bodyPr wrap="square" rtlCol="0">
              <a:spAutoFit/>
            </a:bodyPr>
            <a:lstStyle/>
            <a:p>
              <a:r>
                <a:rPr lang="en-US" b="1" dirty="0"/>
                <a:t>Use system call sequence to profile the behavior of a process</a:t>
              </a:r>
            </a:p>
          </p:txBody>
        </p:sp>
      </p:grpSp>
      <p:sp>
        <p:nvSpPr>
          <p:cNvPr id="16" name="Rounded Rectangular Callout 15"/>
          <p:cNvSpPr/>
          <p:nvPr/>
        </p:nvSpPr>
        <p:spPr>
          <a:xfrm>
            <a:off x="7167486" y="4529712"/>
            <a:ext cx="1519314" cy="612648"/>
          </a:xfrm>
          <a:prstGeom prst="wedgeRoundRectCallout">
            <a:avLst>
              <a:gd name="adj1" fmla="val -218790"/>
              <a:gd name="adj2" fmla="val -61376"/>
              <a:gd name="adj3" fmla="val 16667"/>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600" dirty="0"/>
              <a:t>Reference monitor</a:t>
            </a:r>
          </a:p>
        </p:txBody>
      </p:sp>
    </p:spTree>
    <p:extLst>
      <p:ext uri="{BB962C8B-B14F-4D97-AF65-F5344CB8AC3E}">
        <p14:creationId xmlns:p14="http://schemas.microsoft.com/office/powerpoint/2010/main" val="1724262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Complete Mediation</a:t>
            </a:r>
          </a:p>
        </p:txBody>
      </p:sp>
      <p:sp>
        <p:nvSpPr>
          <p:cNvPr id="5" name="Rectangle 4"/>
          <p:cNvSpPr/>
          <p:nvPr/>
        </p:nvSpPr>
        <p:spPr>
          <a:xfrm>
            <a:off x="3850836" y="1911635"/>
            <a:ext cx="996845" cy="2485129"/>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t>Process</a:t>
            </a:r>
          </a:p>
        </p:txBody>
      </p:sp>
      <p:sp>
        <p:nvSpPr>
          <p:cNvPr id="6" name="Rectangle 5"/>
          <p:cNvSpPr/>
          <p:nvPr/>
        </p:nvSpPr>
        <p:spPr>
          <a:xfrm>
            <a:off x="3850836" y="4410419"/>
            <a:ext cx="996845" cy="846583"/>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a:t>System</a:t>
            </a:r>
          </a:p>
        </p:txBody>
      </p:sp>
      <p:cxnSp>
        <p:nvCxnSpPr>
          <p:cNvPr id="8" name="Straight Arrow Connector 7"/>
          <p:cNvCxnSpPr/>
          <p:nvPr/>
        </p:nvCxnSpPr>
        <p:spPr>
          <a:xfrm flipV="1">
            <a:off x="4662664" y="3427293"/>
            <a:ext cx="649306" cy="91441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aphicFrame>
        <p:nvGraphicFramePr>
          <p:cNvPr id="9" name="Table 8"/>
          <p:cNvGraphicFramePr>
            <a:graphicFrameLocks noGrp="1"/>
          </p:cNvGraphicFramePr>
          <p:nvPr>
            <p:extLst>
              <p:ext uri="{D42A27DB-BD31-4B8C-83A1-F6EECF244321}">
                <p14:modId xmlns:p14="http://schemas.microsoft.com/office/powerpoint/2010/main" val="2891320405"/>
              </p:ext>
            </p:extLst>
          </p:nvPr>
        </p:nvGraphicFramePr>
        <p:xfrm>
          <a:off x="5311970" y="2821383"/>
          <a:ext cx="3727925" cy="755315"/>
        </p:xfrm>
        <a:graphic>
          <a:graphicData uri="http://schemas.openxmlformats.org/drawingml/2006/table">
            <a:tbl>
              <a:tblPr firstRow="1" bandRow="1">
                <a:tableStyleId>{5C22544A-7EE6-4342-B048-85BDC9FD1C3A}</a:tableStyleId>
              </a:tblPr>
              <a:tblGrid>
                <a:gridCol w="3727925">
                  <a:extLst>
                    <a:ext uri="{9D8B030D-6E8A-4147-A177-3AD203B41FA5}">
                      <a16:colId xmlns:a16="http://schemas.microsoft.com/office/drawing/2014/main" val="20000"/>
                    </a:ext>
                  </a:extLst>
                </a:gridCol>
              </a:tblGrid>
              <a:tr h="420035">
                <a:tc>
                  <a:txBody>
                    <a:bodyPr/>
                    <a:lstStyle/>
                    <a:p>
                      <a:pPr algn="ctr"/>
                      <a:r>
                        <a:rPr lang="en-US" sz="1600" dirty="0"/>
                        <a:t>System Call Sequence</a:t>
                      </a:r>
                    </a:p>
                  </a:txBody>
                  <a:tcPr/>
                </a:tc>
                <a:extLst>
                  <a:ext uri="{0D108BD9-81ED-4DB2-BD59-A6C34878D82A}">
                    <a16:rowId xmlns:a16="http://schemas.microsoft.com/office/drawing/2014/main" val="10000"/>
                  </a:ext>
                </a:extLst>
              </a:tr>
              <a:tr h="307105">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600" dirty="0"/>
                        <a:t>open, read, </a:t>
                      </a:r>
                      <a:r>
                        <a:rPr lang="en-US" sz="1600" dirty="0" err="1"/>
                        <a:t>mmap</a:t>
                      </a:r>
                      <a:r>
                        <a:rPr lang="en-US" sz="1600" dirty="0"/>
                        <a:t>, read, </a:t>
                      </a:r>
                      <a:r>
                        <a:rPr lang="en-US" sz="1600" dirty="0" err="1"/>
                        <a:t>mmap</a:t>
                      </a:r>
                      <a:r>
                        <a:rPr lang="en-US" sz="1600" dirty="0"/>
                        <a:t>, close</a:t>
                      </a:r>
                    </a:p>
                  </a:txBody>
                  <a:tcPr/>
                </a:tc>
                <a:extLst>
                  <a:ext uri="{0D108BD9-81ED-4DB2-BD59-A6C34878D82A}">
                    <a16:rowId xmlns:a16="http://schemas.microsoft.com/office/drawing/2014/main" val="10001"/>
                  </a:ext>
                </a:extLst>
              </a:tr>
            </a:tbl>
          </a:graphicData>
        </a:graphic>
      </p:graphicFrame>
      <p:sp>
        <p:nvSpPr>
          <p:cNvPr id="10" name="Rounded Rectangle 9"/>
          <p:cNvSpPr/>
          <p:nvPr/>
        </p:nvSpPr>
        <p:spPr>
          <a:xfrm>
            <a:off x="4141932" y="4322063"/>
            <a:ext cx="406723" cy="149402"/>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1" name="Rounded Rectangular Callout 10"/>
          <p:cNvSpPr/>
          <p:nvPr/>
        </p:nvSpPr>
        <p:spPr>
          <a:xfrm>
            <a:off x="5311970" y="5353597"/>
            <a:ext cx="1519314" cy="612648"/>
          </a:xfrm>
          <a:prstGeom prst="wedgeRoundRectCallout">
            <a:avLst>
              <a:gd name="adj1" fmla="val -113383"/>
              <a:gd name="adj2" fmla="val -193557"/>
              <a:gd name="adj3" fmla="val 16667"/>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600" dirty="0"/>
              <a:t>System Calls</a:t>
            </a:r>
          </a:p>
        </p:txBody>
      </p:sp>
      <p:sp>
        <p:nvSpPr>
          <p:cNvPr id="12" name="TextBox 11"/>
          <p:cNvSpPr txBox="1"/>
          <p:nvPr/>
        </p:nvSpPr>
        <p:spPr>
          <a:xfrm>
            <a:off x="4971978" y="3685269"/>
            <a:ext cx="1047808" cy="369332"/>
          </a:xfrm>
          <a:prstGeom prst="rect">
            <a:avLst/>
          </a:prstGeom>
          <a:noFill/>
        </p:spPr>
        <p:txBody>
          <a:bodyPr wrap="none" rtlCol="0">
            <a:spAutoFit/>
          </a:bodyPr>
          <a:lstStyle/>
          <a:p>
            <a:r>
              <a:rPr lang="en-US" dirty="0"/>
              <a:t>Intercept</a:t>
            </a:r>
          </a:p>
        </p:txBody>
      </p:sp>
      <p:sp>
        <p:nvSpPr>
          <p:cNvPr id="13" name="Rectangle 12"/>
          <p:cNvSpPr/>
          <p:nvPr/>
        </p:nvSpPr>
        <p:spPr>
          <a:xfrm>
            <a:off x="3961284" y="2024500"/>
            <a:ext cx="697819" cy="838684"/>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00" dirty="0"/>
              <a:t>Untrusted code</a:t>
            </a:r>
          </a:p>
        </p:txBody>
      </p:sp>
    </p:spTree>
    <p:extLst>
      <p:ext uri="{BB962C8B-B14F-4D97-AF65-F5344CB8AC3E}">
        <p14:creationId xmlns:p14="http://schemas.microsoft.com/office/powerpoint/2010/main" val="15642282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Complete Mediation</a:t>
            </a:r>
          </a:p>
        </p:txBody>
      </p:sp>
      <p:sp>
        <p:nvSpPr>
          <p:cNvPr id="3" name="Content Placeholder 2"/>
          <p:cNvSpPr>
            <a:spLocks noGrp="1"/>
          </p:cNvSpPr>
          <p:nvPr>
            <p:ph idx="1"/>
          </p:nvPr>
        </p:nvSpPr>
        <p:spPr/>
        <p:txBody>
          <a:bodyPr>
            <a:normAutofit fontScale="85000" lnSpcReduction="20000"/>
          </a:bodyPr>
          <a:lstStyle/>
          <a:p>
            <a:r>
              <a:rPr lang="en-US" dirty="0"/>
              <a:t>Software-Based Fault Isolation</a:t>
            </a:r>
          </a:p>
          <a:p>
            <a:endParaRPr lang="en-US" dirty="0"/>
          </a:p>
          <a:p>
            <a:r>
              <a:rPr lang="en-US" dirty="0"/>
              <a:t>Logical fault domain for untrusted code “0300” to “03FF”</a:t>
            </a:r>
          </a:p>
          <a:p>
            <a:r>
              <a:rPr lang="en-US" dirty="0"/>
              <a:t>The original instruction “write x” will be translated to</a:t>
            </a:r>
          </a:p>
          <a:p>
            <a:pPr lvl="1"/>
            <a:r>
              <a:rPr lang="fr-FR" dirty="0" err="1"/>
              <a:t>cmp</a:t>
            </a:r>
            <a:r>
              <a:rPr lang="fr-FR" dirty="0"/>
              <a:t> x 0300 </a:t>
            </a:r>
          </a:p>
          <a:p>
            <a:pPr lvl="1"/>
            <a:r>
              <a:rPr lang="fr-FR" dirty="0"/>
              <a:t>if </a:t>
            </a:r>
            <a:r>
              <a:rPr lang="fr-FR" dirty="0" err="1"/>
              <a:t>less</a:t>
            </a:r>
            <a:r>
              <a:rPr lang="fr-FR" dirty="0"/>
              <a:t> </a:t>
            </a:r>
            <a:r>
              <a:rPr lang="fr-FR" dirty="0" err="1"/>
              <a:t>Error</a:t>
            </a:r>
            <a:r>
              <a:rPr lang="fr-FR" dirty="0"/>
              <a:t> </a:t>
            </a:r>
          </a:p>
          <a:p>
            <a:pPr lvl="1"/>
            <a:r>
              <a:rPr lang="fr-FR" dirty="0" err="1"/>
              <a:t>cmp</a:t>
            </a:r>
            <a:r>
              <a:rPr lang="fr-FR" dirty="0"/>
              <a:t> x 03FF </a:t>
            </a:r>
          </a:p>
          <a:p>
            <a:pPr lvl="1"/>
            <a:r>
              <a:rPr lang="fr-FR" dirty="0"/>
              <a:t>if </a:t>
            </a:r>
            <a:r>
              <a:rPr lang="fr-FR" dirty="0" err="1"/>
              <a:t>greater</a:t>
            </a:r>
            <a:r>
              <a:rPr lang="fr-FR" dirty="0"/>
              <a:t> </a:t>
            </a:r>
            <a:r>
              <a:rPr lang="fr-FR" dirty="0" err="1"/>
              <a:t>Error</a:t>
            </a:r>
            <a:r>
              <a:rPr lang="fr-FR" dirty="0"/>
              <a:t> </a:t>
            </a:r>
          </a:p>
          <a:p>
            <a:pPr lvl="1"/>
            <a:r>
              <a:rPr lang="fr-FR" dirty="0" err="1"/>
              <a:t>write</a:t>
            </a:r>
            <a:r>
              <a:rPr lang="fr-FR" dirty="0"/>
              <a:t> x</a:t>
            </a:r>
          </a:p>
          <a:p>
            <a:pPr marL="457200" lvl="1" indent="0">
              <a:buNone/>
            </a:pPr>
            <a:r>
              <a:rPr lang="fr-FR" dirty="0"/>
              <a:t>					-</a:t>
            </a:r>
            <a:r>
              <a:rPr lang="en-US" dirty="0"/>
              <a:t>http://</a:t>
            </a:r>
            <a:r>
              <a:rPr lang="en-US" dirty="0" err="1"/>
              <a:t>www.cs.cornell.edu</a:t>
            </a:r>
            <a:r>
              <a:rPr lang="en-US" dirty="0"/>
              <a:t>/courses/cs513/2000sp/L13.html</a:t>
            </a:r>
          </a:p>
          <a:p>
            <a:pPr lvl="1"/>
            <a:endParaRPr lang="en-US" dirty="0"/>
          </a:p>
        </p:txBody>
      </p:sp>
    </p:spTree>
    <p:extLst>
      <p:ext uri="{BB962C8B-B14F-4D97-AF65-F5344CB8AC3E}">
        <p14:creationId xmlns:p14="http://schemas.microsoft.com/office/powerpoint/2010/main" val="42646064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Complete Mediation</a:t>
            </a:r>
          </a:p>
        </p:txBody>
      </p:sp>
      <p:sp>
        <p:nvSpPr>
          <p:cNvPr id="3" name="Content Placeholder 2"/>
          <p:cNvSpPr>
            <a:spLocks noGrp="1"/>
          </p:cNvSpPr>
          <p:nvPr>
            <p:ph idx="1"/>
          </p:nvPr>
        </p:nvSpPr>
        <p:spPr/>
        <p:txBody>
          <a:bodyPr>
            <a:normAutofit/>
          </a:bodyPr>
          <a:lstStyle/>
          <a:p>
            <a:r>
              <a:rPr lang="en-US" dirty="0"/>
              <a:t>Access control models of Linux/Windows/Mac</a:t>
            </a:r>
          </a:p>
          <a:p>
            <a:pPr lvl="1"/>
            <a:r>
              <a:rPr lang="en-US" dirty="0"/>
              <a:t>A user (identified by UID) will start multiple processes/apps</a:t>
            </a:r>
          </a:p>
          <a:p>
            <a:pPr lvl="1"/>
            <a:r>
              <a:rPr lang="en-US" dirty="0"/>
              <a:t>App1 creates a file and app2 reads the file. Is it allowed?</a:t>
            </a:r>
          </a:p>
          <a:p>
            <a:endParaRPr lang="en-US" dirty="0"/>
          </a:p>
          <a:p>
            <a:r>
              <a:rPr lang="en-US" dirty="0"/>
              <a:t>Android</a:t>
            </a:r>
          </a:p>
          <a:p>
            <a:pPr lvl="1"/>
            <a:r>
              <a:rPr lang="en-US" dirty="0"/>
              <a:t>Each process has its own UID</a:t>
            </a:r>
          </a:p>
          <a:p>
            <a:pPr lvl="1"/>
            <a:endParaRPr lang="en-US" dirty="0"/>
          </a:p>
        </p:txBody>
      </p:sp>
    </p:spTree>
    <p:extLst>
      <p:ext uri="{BB962C8B-B14F-4D97-AF65-F5344CB8AC3E}">
        <p14:creationId xmlns:p14="http://schemas.microsoft.com/office/powerpoint/2010/main" val="5870133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Complete Mediation</a:t>
            </a:r>
          </a:p>
        </p:txBody>
      </p:sp>
      <p:sp>
        <p:nvSpPr>
          <p:cNvPr id="4" name="Rectangle 2"/>
          <p:cNvSpPr>
            <a:spLocks noChangeArrowheads="1"/>
          </p:cNvSpPr>
          <p:nvPr/>
        </p:nvSpPr>
        <p:spPr bwMode="auto">
          <a:xfrm>
            <a:off x="3086100" y="2070100"/>
            <a:ext cx="2374900" cy="2900363"/>
          </a:xfrm>
          <a:prstGeom prst="rect">
            <a:avLst/>
          </a:prstGeom>
          <a:solidFill>
            <a:srgbClr val="FFCC99"/>
          </a:solidFill>
          <a:ln w="9525">
            <a:solidFill>
              <a:schemeClr val="tx1"/>
            </a:solidFill>
            <a:miter lim="800000"/>
            <a:headEnd/>
            <a:tailEnd/>
          </a:ln>
        </p:spPr>
        <p:txBody>
          <a:bodyPr wrap="none" anchor="ctr"/>
          <a:lstStyle/>
          <a:p>
            <a:endParaRPr lang="en-US"/>
          </a:p>
        </p:txBody>
      </p:sp>
      <p:sp>
        <p:nvSpPr>
          <p:cNvPr id="5" name="Rectangle 4"/>
          <p:cNvSpPr>
            <a:spLocks noChangeArrowheads="1"/>
          </p:cNvSpPr>
          <p:nvPr/>
        </p:nvSpPr>
        <p:spPr bwMode="auto">
          <a:xfrm>
            <a:off x="6527800" y="2032000"/>
            <a:ext cx="2400300" cy="38862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6" name="Rectangle 7"/>
          <p:cNvSpPr>
            <a:spLocks noChangeArrowheads="1"/>
          </p:cNvSpPr>
          <p:nvPr/>
        </p:nvSpPr>
        <p:spPr bwMode="auto">
          <a:xfrm>
            <a:off x="7339013" y="4222750"/>
            <a:ext cx="119062" cy="990600"/>
          </a:xfrm>
          <a:prstGeom prst="rect">
            <a:avLst/>
          </a:prstGeom>
          <a:solidFill>
            <a:srgbClr val="FFFF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7" name="Rectangle 9"/>
          <p:cNvSpPr>
            <a:spLocks noChangeArrowheads="1"/>
          </p:cNvSpPr>
          <p:nvPr/>
        </p:nvSpPr>
        <p:spPr bwMode="auto">
          <a:xfrm>
            <a:off x="7351713" y="3232150"/>
            <a:ext cx="119062" cy="990600"/>
          </a:xfrm>
          <a:prstGeom prst="rect">
            <a:avLst/>
          </a:prstGeom>
          <a:solidFill>
            <a:srgbClr val="FFFF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8" name="Rectangle 10"/>
          <p:cNvSpPr>
            <a:spLocks noChangeArrowheads="1"/>
          </p:cNvSpPr>
          <p:nvPr/>
        </p:nvSpPr>
        <p:spPr bwMode="auto">
          <a:xfrm>
            <a:off x="6159500" y="4159250"/>
            <a:ext cx="788988" cy="122238"/>
          </a:xfrm>
          <a:prstGeom prst="rect">
            <a:avLst/>
          </a:prstGeom>
          <a:solidFill>
            <a:srgbClr val="FFFF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9" name="Freeform 11"/>
          <p:cNvSpPr>
            <a:spLocks/>
          </p:cNvSpPr>
          <p:nvPr/>
        </p:nvSpPr>
        <p:spPr bwMode="auto">
          <a:xfrm>
            <a:off x="6951663" y="5408613"/>
            <a:ext cx="631825" cy="82550"/>
          </a:xfrm>
          <a:custGeom>
            <a:avLst/>
            <a:gdLst>
              <a:gd name="T0" fmla="*/ 0 w 398"/>
              <a:gd name="T1" fmla="*/ 52 h 52"/>
              <a:gd name="T2" fmla="*/ 99 w 398"/>
              <a:gd name="T3" fmla="*/ 0 h 52"/>
              <a:gd name="T4" fmla="*/ 398 w 398"/>
              <a:gd name="T5" fmla="*/ 0 h 52"/>
              <a:gd name="T6" fmla="*/ 299 w 398"/>
              <a:gd name="T7" fmla="*/ 52 h 52"/>
              <a:gd name="T8" fmla="*/ 0 w 398"/>
              <a:gd name="T9" fmla="*/ 52 h 52"/>
              <a:gd name="T10" fmla="*/ 0 60000 65536"/>
              <a:gd name="T11" fmla="*/ 0 60000 65536"/>
              <a:gd name="T12" fmla="*/ 0 60000 65536"/>
              <a:gd name="T13" fmla="*/ 0 60000 65536"/>
              <a:gd name="T14" fmla="*/ 0 60000 65536"/>
              <a:gd name="T15" fmla="*/ 0 w 398"/>
              <a:gd name="T16" fmla="*/ 0 h 52"/>
              <a:gd name="T17" fmla="*/ 398 w 398"/>
              <a:gd name="T18" fmla="*/ 52 h 52"/>
            </a:gdLst>
            <a:ahLst/>
            <a:cxnLst>
              <a:cxn ang="T10">
                <a:pos x="T0" y="T1"/>
              </a:cxn>
              <a:cxn ang="T11">
                <a:pos x="T2" y="T3"/>
              </a:cxn>
              <a:cxn ang="T12">
                <a:pos x="T4" y="T5"/>
              </a:cxn>
              <a:cxn ang="T13">
                <a:pos x="T6" y="T7"/>
              </a:cxn>
              <a:cxn ang="T14">
                <a:pos x="T8" y="T9"/>
              </a:cxn>
            </a:cxnLst>
            <a:rect l="T15" t="T16" r="T17" b="T18"/>
            <a:pathLst>
              <a:path w="398" h="52">
                <a:moveTo>
                  <a:pt x="0" y="52"/>
                </a:moveTo>
                <a:lnTo>
                  <a:pt x="99" y="0"/>
                </a:lnTo>
                <a:lnTo>
                  <a:pt x="398" y="0"/>
                </a:lnTo>
                <a:lnTo>
                  <a:pt x="299" y="52"/>
                </a:lnTo>
                <a:lnTo>
                  <a:pt x="0" y="52"/>
                </a:lnTo>
                <a:close/>
              </a:path>
            </a:pathLst>
          </a:custGeom>
          <a:solidFill>
            <a:srgbClr val="9A9A9A"/>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0" name="Freeform 12"/>
          <p:cNvSpPr>
            <a:spLocks/>
          </p:cNvSpPr>
          <p:nvPr/>
        </p:nvSpPr>
        <p:spPr bwMode="auto">
          <a:xfrm>
            <a:off x="6951663" y="5408613"/>
            <a:ext cx="631825" cy="82550"/>
          </a:xfrm>
          <a:custGeom>
            <a:avLst/>
            <a:gdLst>
              <a:gd name="T0" fmla="*/ 0 w 398"/>
              <a:gd name="T1" fmla="*/ 52 h 52"/>
              <a:gd name="T2" fmla="*/ 99 w 398"/>
              <a:gd name="T3" fmla="*/ 0 h 52"/>
              <a:gd name="T4" fmla="*/ 398 w 398"/>
              <a:gd name="T5" fmla="*/ 0 h 52"/>
              <a:gd name="T6" fmla="*/ 299 w 398"/>
              <a:gd name="T7" fmla="*/ 52 h 52"/>
              <a:gd name="T8" fmla="*/ 0 w 398"/>
              <a:gd name="T9" fmla="*/ 52 h 52"/>
              <a:gd name="T10" fmla="*/ 0 60000 65536"/>
              <a:gd name="T11" fmla="*/ 0 60000 65536"/>
              <a:gd name="T12" fmla="*/ 0 60000 65536"/>
              <a:gd name="T13" fmla="*/ 0 60000 65536"/>
              <a:gd name="T14" fmla="*/ 0 60000 65536"/>
              <a:gd name="T15" fmla="*/ 0 w 398"/>
              <a:gd name="T16" fmla="*/ 0 h 52"/>
              <a:gd name="T17" fmla="*/ 398 w 398"/>
              <a:gd name="T18" fmla="*/ 52 h 52"/>
            </a:gdLst>
            <a:ahLst/>
            <a:cxnLst>
              <a:cxn ang="T10">
                <a:pos x="T0" y="T1"/>
              </a:cxn>
              <a:cxn ang="T11">
                <a:pos x="T2" y="T3"/>
              </a:cxn>
              <a:cxn ang="T12">
                <a:pos x="T4" y="T5"/>
              </a:cxn>
              <a:cxn ang="T13">
                <a:pos x="T6" y="T7"/>
              </a:cxn>
              <a:cxn ang="T14">
                <a:pos x="T8" y="T9"/>
              </a:cxn>
            </a:cxnLst>
            <a:rect l="T15" t="T16" r="T17" b="T18"/>
            <a:pathLst>
              <a:path w="398" h="52">
                <a:moveTo>
                  <a:pt x="0" y="52"/>
                </a:moveTo>
                <a:lnTo>
                  <a:pt x="99" y="0"/>
                </a:lnTo>
                <a:lnTo>
                  <a:pt x="398" y="0"/>
                </a:lnTo>
                <a:lnTo>
                  <a:pt x="299" y="52"/>
                </a:lnTo>
                <a:lnTo>
                  <a:pt x="0" y="52"/>
                </a:lnTo>
                <a:close/>
              </a:path>
            </a:pathLst>
          </a:cu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11" name="Freeform 13"/>
          <p:cNvSpPr>
            <a:spLocks/>
          </p:cNvSpPr>
          <p:nvPr/>
        </p:nvSpPr>
        <p:spPr bwMode="auto">
          <a:xfrm>
            <a:off x="7426325" y="5408613"/>
            <a:ext cx="157163" cy="122237"/>
          </a:xfrm>
          <a:custGeom>
            <a:avLst/>
            <a:gdLst>
              <a:gd name="T0" fmla="*/ 0 w 99"/>
              <a:gd name="T1" fmla="*/ 77 h 77"/>
              <a:gd name="T2" fmla="*/ 99 w 99"/>
              <a:gd name="T3" fmla="*/ 26 h 77"/>
              <a:gd name="T4" fmla="*/ 99 w 99"/>
              <a:gd name="T5" fmla="*/ 0 h 77"/>
              <a:gd name="T6" fmla="*/ 0 w 99"/>
              <a:gd name="T7" fmla="*/ 52 h 77"/>
              <a:gd name="T8" fmla="*/ 0 w 99"/>
              <a:gd name="T9" fmla="*/ 77 h 77"/>
              <a:gd name="T10" fmla="*/ 0 60000 65536"/>
              <a:gd name="T11" fmla="*/ 0 60000 65536"/>
              <a:gd name="T12" fmla="*/ 0 60000 65536"/>
              <a:gd name="T13" fmla="*/ 0 60000 65536"/>
              <a:gd name="T14" fmla="*/ 0 60000 65536"/>
              <a:gd name="T15" fmla="*/ 0 w 99"/>
              <a:gd name="T16" fmla="*/ 0 h 77"/>
              <a:gd name="T17" fmla="*/ 99 w 99"/>
              <a:gd name="T18" fmla="*/ 77 h 77"/>
            </a:gdLst>
            <a:ahLst/>
            <a:cxnLst>
              <a:cxn ang="T10">
                <a:pos x="T0" y="T1"/>
              </a:cxn>
              <a:cxn ang="T11">
                <a:pos x="T2" y="T3"/>
              </a:cxn>
              <a:cxn ang="T12">
                <a:pos x="T4" y="T5"/>
              </a:cxn>
              <a:cxn ang="T13">
                <a:pos x="T6" y="T7"/>
              </a:cxn>
              <a:cxn ang="T14">
                <a:pos x="T8" y="T9"/>
              </a:cxn>
            </a:cxnLst>
            <a:rect l="T15" t="T16" r="T17" b="T18"/>
            <a:pathLst>
              <a:path w="99" h="77">
                <a:moveTo>
                  <a:pt x="0" y="77"/>
                </a:moveTo>
                <a:lnTo>
                  <a:pt x="99" y="26"/>
                </a:lnTo>
                <a:lnTo>
                  <a:pt x="99" y="0"/>
                </a:lnTo>
                <a:lnTo>
                  <a:pt x="0" y="52"/>
                </a:lnTo>
                <a:lnTo>
                  <a:pt x="0" y="77"/>
                </a:lnTo>
                <a:close/>
              </a:path>
            </a:pathLst>
          </a:custGeom>
          <a:solidFill>
            <a:srgbClr val="666666"/>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2" name="Freeform 14"/>
          <p:cNvSpPr>
            <a:spLocks/>
          </p:cNvSpPr>
          <p:nvPr/>
        </p:nvSpPr>
        <p:spPr bwMode="auto">
          <a:xfrm>
            <a:off x="7426325" y="5408613"/>
            <a:ext cx="157163" cy="122237"/>
          </a:xfrm>
          <a:custGeom>
            <a:avLst/>
            <a:gdLst>
              <a:gd name="T0" fmla="*/ 0 w 99"/>
              <a:gd name="T1" fmla="*/ 77 h 77"/>
              <a:gd name="T2" fmla="*/ 99 w 99"/>
              <a:gd name="T3" fmla="*/ 26 h 77"/>
              <a:gd name="T4" fmla="*/ 99 w 99"/>
              <a:gd name="T5" fmla="*/ 0 h 77"/>
              <a:gd name="T6" fmla="*/ 0 w 99"/>
              <a:gd name="T7" fmla="*/ 52 h 77"/>
              <a:gd name="T8" fmla="*/ 0 w 99"/>
              <a:gd name="T9" fmla="*/ 77 h 77"/>
              <a:gd name="T10" fmla="*/ 0 60000 65536"/>
              <a:gd name="T11" fmla="*/ 0 60000 65536"/>
              <a:gd name="T12" fmla="*/ 0 60000 65536"/>
              <a:gd name="T13" fmla="*/ 0 60000 65536"/>
              <a:gd name="T14" fmla="*/ 0 60000 65536"/>
              <a:gd name="T15" fmla="*/ 0 w 99"/>
              <a:gd name="T16" fmla="*/ 0 h 77"/>
              <a:gd name="T17" fmla="*/ 99 w 99"/>
              <a:gd name="T18" fmla="*/ 77 h 77"/>
            </a:gdLst>
            <a:ahLst/>
            <a:cxnLst>
              <a:cxn ang="T10">
                <a:pos x="T0" y="T1"/>
              </a:cxn>
              <a:cxn ang="T11">
                <a:pos x="T2" y="T3"/>
              </a:cxn>
              <a:cxn ang="T12">
                <a:pos x="T4" y="T5"/>
              </a:cxn>
              <a:cxn ang="T13">
                <a:pos x="T6" y="T7"/>
              </a:cxn>
              <a:cxn ang="T14">
                <a:pos x="T8" y="T9"/>
              </a:cxn>
            </a:cxnLst>
            <a:rect l="T15" t="T16" r="T17" b="T18"/>
            <a:pathLst>
              <a:path w="99" h="77">
                <a:moveTo>
                  <a:pt x="0" y="77"/>
                </a:moveTo>
                <a:lnTo>
                  <a:pt x="99" y="26"/>
                </a:lnTo>
                <a:lnTo>
                  <a:pt x="99" y="0"/>
                </a:lnTo>
                <a:lnTo>
                  <a:pt x="0" y="52"/>
                </a:lnTo>
                <a:lnTo>
                  <a:pt x="0" y="77"/>
                </a:lnTo>
                <a:close/>
              </a:path>
            </a:pathLst>
          </a:cu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13" name="Freeform 15"/>
          <p:cNvSpPr>
            <a:spLocks/>
          </p:cNvSpPr>
          <p:nvPr/>
        </p:nvSpPr>
        <p:spPr bwMode="auto">
          <a:xfrm>
            <a:off x="7116763" y="5124450"/>
            <a:ext cx="592137" cy="265113"/>
          </a:xfrm>
          <a:custGeom>
            <a:avLst/>
            <a:gdLst>
              <a:gd name="T0" fmla="*/ 0 w 373"/>
              <a:gd name="T1" fmla="*/ 167 h 167"/>
              <a:gd name="T2" fmla="*/ 81 w 373"/>
              <a:gd name="T3" fmla="*/ 0 h 167"/>
              <a:gd name="T4" fmla="*/ 373 w 373"/>
              <a:gd name="T5" fmla="*/ 0 h 167"/>
              <a:gd name="T6" fmla="*/ 292 w 373"/>
              <a:gd name="T7" fmla="*/ 167 h 167"/>
              <a:gd name="T8" fmla="*/ 0 w 373"/>
              <a:gd name="T9" fmla="*/ 167 h 167"/>
              <a:gd name="T10" fmla="*/ 0 60000 65536"/>
              <a:gd name="T11" fmla="*/ 0 60000 65536"/>
              <a:gd name="T12" fmla="*/ 0 60000 65536"/>
              <a:gd name="T13" fmla="*/ 0 60000 65536"/>
              <a:gd name="T14" fmla="*/ 0 60000 65536"/>
              <a:gd name="T15" fmla="*/ 0 w 373"/>
              <a:gd name="T16" fmla="*/ 0 h 167"/>
              <a:gd name="T17" fmla="*/ 373 w 373"/>
              <a:gd name="T18" fmla="*/ 167 h 167"/>
            </a:gdLst>
            <a:ahLst/>
            <a:cxnLst>
              <a:cxn ang="T10">
                <a:pos x="T0" y="T1"/>
              </a:cxn>
              <a:cxn ang="T11">
                <a:pos x="T2" y="T3"/>
              </a:cxn>
              <a:cxn ang="T12">
                <a:pos x="T4" y="T5"/>
              </a:cxn>
              <a:cxn ang="T13">
                <a:pos x="T6" y="T7"/>
              </a:cxn>
              <a:cxn ang="T14">
                <a:pos x="T8" y="T9"/>
              </a:cxn>
            </a:cxnLst>
            <a:rect l="T15" t="T16" r="T17" b="T18"/>
            <a:pathLst>
              <a:path w="373" h="167">
                <a:moveTo>
                  <a:pt x="0" y="167"/>
                </a:moveTo>
                <a:lnTo>
                  <a:pt x="81" y="0"/>
                </a:lnTo>
                <a:lnTo>
                  <a:pt x="373" y="0"/>
                </a:lnTo>
                <a:lnTo>
                  <a:pt x="292" y="167"/>
                </a:lnTo>
                <a:lnTo>
                  <a:pt x="0" y="167"/>
                </a:lnTo>
                <a:close/>
              </a:path>
            </a:pathLst>
          </a:custGeom>
          <a:solidFill>
            <a:srgbClr val="9A9A9A"/>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4" name="Freeform 16"/>
          <p:cNvSpPr>
            <a:spLocks/>
          </p:cNvSpPr>
          <p:nvPr/>
        </p:nvSpPr>
        <p:spPr bwMode="auto">
          <a:xfrm>
            <a:off x="7116763" y="5124450"/>
            <a:ext cx="592137" cy="265113"/>
          </a:xfrm>
          <a:custGeom>
            <a:avLst/>
            <a:gdLst>
              <a:gd name="T0" fmla="*/ 0 w 373"/>
              <a:gd name="T1" fmla="*/ 167 h 167"/>
              <a:gd name="T2" fmla="*/ 81 w 373"/>
              <a:gd name="T3" fmla="*/ 0 h 167"/>
              <a:gd name="T4" fmla="*/ 373 w 373"/>
              <a:gd name="T5" fmla="*/ 0 h 167"/>
              <a:gd name="T6" fmla="*/ 292 w 373"/>
              <a:gd name="T7" fmla="*/ 167 h 167"/>
              <a:gd name="T8" fmla="*/ 0 w 373"/>
              <a:gd name="T9" fmla="*/ 167 h 167"/>
              <a:gd name="T10" fmla="*/ 0 60000 65536"/>
              <a:gd name="T11" fmla="*/ 0 60000 65536"/>
              <a:gd name="T12" fmla="*/ 0 60000 65536"/>
              <a:gd name="T13" fmla="*/ 0 60000 65536"/>
              <a:gd name="T14" fmla="*/ 0 60000 65536"/>
              <a:gd name="T15" fmla="*/ 0 w 373"/>
              <a:gd name="T16" fmla="*/ 0 h 167"/>
              <a:gd name="T17" fmla="*/ 373 w 373"/>
              <a:gd name="T18" fmla="*/ 167 h 167"/>
            </a:gdLst>
            <a:ahLst/>
            <a:cxnLst>
              <a:cxn ang="T10">
                <a:pos x="T0" y="T1"/>
              </a:cxn>
              <a:cxn ang="T11">
                <a:pos x="T2" y="T3"/>
              </a:cxn>
              <a:cxn ang="T12">
                <a:pos x="T4" y="T5"/>
              </a:cxn>
              <a:cxn ang="T13">
                <a:pos x="T6" y="T7"/>
              </a:cxn>
              <a:cxn ang="T14">
                <a:pos x="T8" y="T9"/>
              </a:cxn>
            </a:cxnLst>
            <a:rect l="T15" t="T16" r="T17" b="T18"/>
            <a:pathLst>
              <a:path w="373" h="167">
                <a:moveTo>
                  <a:pt x="0" y="167"/>
                </a:moveTo>
                <a:lnTo>
                  <a:pt x="81" y="0"/>
                </a:lnTo>
                <a:lnTo>
                  <a:pt x="373" y="0"/>
                </a:lnTo>
                <a:lnTo>
                  <a:pt x="292" y="167"/>
                </a:lnTo>
                <a:lnTo>
                  <a:pt x="0" y="167"/>
                </a:lnTo>
                <a:close/>
              </a:path>
            </a:pathLst>
          </a:cu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15" name="Rectangle 17"/>
          <p:cNvSpPr>
            <a:spLocks noChangeArrowheads="1"/>
          </p:cNvSpPr>
          <p:nvPr/>
        </p:nvSpPr>
        <p:spPr bwMode="auto">
          <a:xfrm>
            <a:off x="7175500" y="5391150"/>
            <a:ext cx="74613" cy="15875"/>
          </a:xfrm>
          <a:prstGeom prst="rect">
            <a:avLst/>
          </a:prstGeom>
          <a:solidFill>
            <a:srgbClr val="9A9A9A"/>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6" name="Rectangle 18"/>
          <p:cNvSpPr>
            <a:spLocks noChangeArrowheads="1"/>
          </p:cNvSpPr>
          <p:nvPr/>
        </p:nvSpPr>
        <p:spPr bwMode="auto">
          <a:xfrm>
            <a:off x="7175500" y="5391150"/>
            <a:ext cx="74613" cy="15875"/>
          </a:xfrm>
          <a:prstGeom prst="rect">
            <a:avLst/>
          </a:pr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17" name="Rectangle 19"/>
          <p:cNvSpPr>
            <a:spLocks noChangeArrowheads="1"/>
          </p:cNvSpPr>
          <p:nvPr/>
        </p:nvSpPr>
        <p:spPr bwMode="auto">
          <a:xfrm>
            <a:off x="7445375" y="5391150"/>
            <a:ext cx="73025" cy="15875"/>
          </a:xfrm>
          <a:prstGeom prst="rect">
            <a:avLst/>
          </a:prstGeom>
          <a:solidFill>
            <a:srgbClr val="9A9A9A"/>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8" name="Rectangle 20"/>
          <p:cNvSpPr>
            <a:spLocks noChangeArrowheads="1"/>
          </p:cNvSpPr>
          <p:nvPr/>
        </p:nvSpPr>
        <p:spPr bwMode="auto">
          <a:xfrm>
            <a:off x="7445375" y="5391150"/>
            <a:ext cx="73025" cy="15875"/>
          </a:xfrm>
          <a:prstGeom prst="rect">
            <a:avLst/>
          </a:pr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19" name="Freeform 21"/>
          <p:cNvSpPr>
            <a:spLocks/>
          </p:cNvSpPr>
          <p:nvPr/>
        </p:nvSpPr>
        <p:spPr bwMode="auto">
          <a:xfrm>
            <a:off x="7050088" y="5424488"/>
            <a:ext cx="463550" cy="34925"/>
          </a:xfrm>
          <a:custGeom>
            <a:avLst/>
            <a:gdLst>
              <a:gd name="T0" fmla="*/ 44 w 292"/>
              <a:gd name="T1" fmla="*/ 0 h 22"/>
              <a:gd name="T2" fmla="*/ 292 w 292"/>
              <a:gd name="T3" fmla="*/ 0 h 22"/>
              <a:gd name="T4" fmla="*/ 249 w 292"/>
              <a:gd name="T5" fmla="*/ 22 h 22"/>
              <a:gd name="T6" fmla="*/ 0 w 292"/>
              <a:gd name="T7" fmla="*/ 22 h 22"/>
              <a:gd name="T8" fmla="*/ 44 w 292"/>
              <a:gd name="T9" fmla="*/ 0 h 22"/>
              <a:gd name="T10" fmla="*/ 0 60000 65536"/>
              <a:gd name="T11" fmla="*/ 0 60000 65536"/>
              <a:gd name="T12" fmla="*/ 0 60000 65536"/>
              <a:gd name="T13" fmla="*/ 0 60000 65536"/>
              <a:gd name="T14" fmla="*/ 0 60000 65536"/>
              <a:gd name="T15" fmla="*/ 0 w 292"/>
              <a:gd name="T16" fmla="*/ 0 h 22"/>
              <a:gd name="T17" fmla="*/ 292 w 292"/>
              <a:gd name="T18" fmla="*/ 22 h 22"/>
            </a:gdLst>
            <a:ahLst/>
            <a:cxnLst>
              <a:cxn ang="T10">
                <a:pos x="T0" y="T1"/>
              </a:cxn>
              <a:cxn ang="T11">
                <a:pos x="T2" y="T3"/>
              </a:cxn>
              <a:cxn ang="T12">
                <a:pos x="T4" y="T5"/>
              </a:cxn>
              <a:cxn ang="T13">
                <a:pos x="T6" y="T7"/>
              </a:cxn>
              <a:cxn ang="T14">
                <a:pos x="T8" y="T9"/>
              </a:cxn>
            </a:cxnLst>
            <a:rect l="T15" t="T16" r="T17" b="T18"/>
            <a:pathLst>
              <a:path w="292" h="22">
                <a:moveTo>
                  <a:pt x="44" y="0"/>
                </a:moveTo>
                <a:lnTo>
                  <a:pt x="292" y="0"/>
                </a:lnTo>
                <a:lnTo>
                  <a:pt x="249" y="22"/>
                </a:lnTo>
                <a:lnTo>
                  <a:pt x="0" y="22"/>
                </a:lnTo>
                <a:lnTo>
                  <a:pt x="44" y="0"/>
                </a:lnTo>
                <a:close/>
              </a:path>
            </a:pathLst>
          </a:custGeom>
          <a:solidFill>
            <a:srgbClr val="666666"/>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0" name="Freeform 22"/>
          <p:cNvSpPr>
            <a:spLocks/>
          </p:cNvSpPr>
          <p:nvPr/>
        </p:nvSpPr>
        <p:spPr bwMode="auto">
          <a:xfrm>
            <a:off x="7050088" y="5424488"/>
            <a:ext cx="463550" cy="34925"/>
          </a:xfrm>
          <a:custGeom>
            <a:avLst/>
            <a:gdLst>
              <a:gd name="T0" fmla="*/ 44 w 292"/>
              <a:gd name="T1" fmla="*/ 0 h 22"/>
              <a:gd name="T2" fmla="*/ 292 w 292"/>
              <a:gd name="T3" fmla="*/ 0 h 22"/>
              <a:gd name="T4" fmla="*/ 249 w 292"/>
              <a:gd name="T5" fmla="*/ 22 h 22"/>
              <a:gd name="T6" fmla="*/ 0 w 292"/>
              <a:gd name="T7" fmla="*/ 22 h 22"/>
              <a:gd name="T8" fmla="*/ 44 w 292"/>
              <a:gd name="T9" fmla="*/ 0 h 22"/>
              <a:gd name="T10" fmla="*/ 0 60000 65536"/>
              <a:gd name="T11" fmla="*/ 0 60000 65536"/>
              <a:gd name="T12" fmla="*/ 0 60000 65536"/>
              <a:gd name="T13" fmla="*/ 0 60000 65536"/>
              <a:gd name="T14" fmla="*/ 0 60000 65536"/>
              <a:gd name="T15" fmla="*/ 0 w 292"/>
              <a:gd name="T16" fmla="*/ 0 h 22"/>
              <a:gd name="T17" fmla="*/ 292 w 292"/>
              <a:gd name="T18" fmla="*/ 22 h 22"/>
            </a:gdLst>
            <a:ahLst/>
            <a:cxnLst>
              <a:cxn ang="T10">
                <a:pos x="T0" y="T1"/>
              </a:cxn>
              <a:cxn ang="T11">
                <a:pos x="T2" y="T3"/>
              </a:cxn>
              <a:cxn ang="T12">
                <a:pos x="T4" y="T5"/>
              </a:cxn>
              <a:cxn ang="T13">
                <a:pos x="T6" y="T7"/>
              </a:cxn>
              <a:cxn ang="T14">
                <a:pos x="T8" y="T9"/>
              </a:cxn>
            </a:cxnLst>
            <a:rect l="T15" t="T16" r="T17" b="T18"/>
            <a:pathLst>
              <a:path w="292" h="22">
                <a:moveTo>
                  <a:pt x="44" y="0"/>
                </a:moveTo>
                <a:lnTo>
                  <a:pt x="292" y="0"/>
                </a:lnTo>
                <a:lnTo>
                  <a:pt x="249" y="22"/>
                </a:lnTo>
                <a:lnTo>
                  <a:pt x="0" y="22"/>
                </a:lnTo>
                <a:lnTo>
                  <a:pt x="44" y="0"/>
                </a:lnTo>
                <a:close/>
              </a:path>
            </a:pathLst>
          </a:cu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21" name="Rectangle 23"/>
          <p:cNvSpPr>
            <a:spLocks noChangeArrowheads="1"/>
          </p:cNvSpPr>
          <p:nvPr/>
        </p:nvSpPr>
        <p:spPr bwMode="auto">
          <a:xfrm>
            <a:off x="6951663" y="5491163"/>
            <a:ext cx="474662" cy="39687"/>
          </a:xfrm>
          <a:prstGeom prst="rect">
            <a:avLst/>
          </a:prstGeom>
          <a:solidFill>
            <a:srgbClr val="66666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2" name="Rectangle 24"/>
          <p:cNvSpPr>
            <a:spLocks noChangeArrowheads="1"/>
          </p:cNvSpPr>
          <p:nvPr/>
        </p:nvSpPr>
        <p:spPr bwMode="auto">
          <a:xfrm>
            <a:off x="6951663" y="5491163"/>
            <a:ext cx="474662" cy="39687"/>
          </a:xfrm>
          <a:prstGeom prst="rect">
            <a:avLst/>
          </a:pr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23" name="Freeform 25"/>
          <p:cNvSpPr>
            <a:spLocks/>
          </p:cNvSpPr>
          <p:nvPr/>
        </p:nvSpPr>
        <p:spPr bwMode="auto">
          <a:xfrm>
            <a:off x="7183438" y="5468938"/>
            <a:ext cx="79375" cy="11112"/>
          </a:xfrm>
          <a:custGeom>
            <a:avLst/>
            <a:gdLst>
              <a:gd name="T0" fmla="*/ 0 w 50"/>
              <a:gd name="T1" fmla="*/ 7 h 7"/>
              <a:gd name="T2" fmla="*/ 12 w 50"/>
              <a:gd name="T3" fmla="*/ 0 h 7"/>
              <a:gd name="T4" fmla="*/ 50 w 50"/>
              <a:gd name="T5" fmla="*/ 0 h 7"/>
              <a:gd name="T6" fmla="*/ 37 w 50"/>
              <a:gd name="T7" fmla="*/ 7 h 7"/>
              <a:gd name="T8" fmla="*/ 0 w 50"/>
              <a:gd name="T9" fmla="*/ 7 h 7"/>
              <a:gd name="T10" fmla="*/ 0 60000 65536"/>
              <a:gd name="T11" fmla="*/ 0 60000 65536"/>
              <a:gd name="T12" fmla="*/ 0 60000 65536"/>
              <a:gd name="T13" fmla="*/ 0 60000 65536"/>
              <a:gd name="T14" fmla="*/ 0 60000 65536"/>
              <a:gd name="T15" fmla="*/ 0 w 50"/>
              <a:gd name="T16" fmla="*/ 0 h 7"/>
              <a:gd name="T17" fmla="*/ 50 w 50"/>
              <a:gd name="T18" fmla="*/ 7 h 7"/>
            </a:gdLst>
            <a:ahLst/>
            <a:cxnLst>
              <a:cxn ang="T10">
                <a:pos x="T0" y="T1"/>
              </a:cxn>
              <a:cxn ang="T11">
                <a:pos x="T2" y="T3"/>
              </a:cxn>
              <a:cxn ang="T12">
                <a:pos x="T4" y="T5"/>
              </a:cxn>
              <a:cxn ang="T13">
                <a:pos x="T6" y="T7"/>
              </a:cxn>
              <a:cxn ang="T14">
                <a:pos x="T8" y="T9"/>
              </a:cxn>
            </a:cxnLst>
            <a:rect l="T15" t="T16" r="T17" b="T18"/>
            <a:pathLst>
              <a:path w="50" h="7">
                <a:moveTo>
                  <a:pt x="0" y="7"/>
                </a:moveTo>
                <a:lnTo>
                  <a:pt x="12" y="0"/>
                </a:lnTo>
                <a:lnTo>
                  <a:pt x="50" y="0"/>
                </a:lnTo>
                <a:lnTo>
                  <a:pt x="37" y="7"/>
                </a:lnTo>
                <a:lnTo>
                  <a:pt x="0" y="7"/>
                </a:lnTo>
              </a:path>
            </a:pathLst>
          </a:cu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pic>
        <p:nvPicPr>
          <p:cNvPr id="24" name="Picture 2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1188" y="5507038"/>
            <a:ext cx="38100" cy="127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25" name="Picture 2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61188" y="5507038"/>
            <a:ext cx="38100" cy="127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26" name="Picture 2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99288" y="5507038"/>
            <a:ext cx="38100" cy="127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27" name="Picture 2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99288" y="5507038"/>
            <a:ext cx="38100" cy="127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28" name="Picture 3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037388" y="5507038"/>
            <a:ext cx="38100" cy="127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9" name="Rectangle 31"/>
          <p:cNvSpPr>
            <a:spLocks noChangeArrowheads="1"/>
          </p:cNvSpPr>
          <p:nvPr/>
        </p:nvSpPr>
        <p:spPr bwMode="auto">
          <a:xfrm>
            <a:off x="7010400" y="5513388"/>
            <a:ext cx="11113" cy="4762"/>
          </a:xfrm>
          <a:prstGeom prst="rect">
            <a:avLst/>
          </a:prstGeom>
          <a:solidFill>
            <a:srgbClr val="00FF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0" name="Rectangle 32"/>
          <p:cNvSpPr>
            <a:spLocks noChangeArrowheads="1"/>
          </p:cNvSpPr>
          <p:nvPr/>
        </p:nvSpPr>
        <p:spPr bwMode="auto">
          <a:xfrm>
            <a:off x="7050088" y="5513388"/>
            <a:ext cx="9525" cy="4762"/>
          </a:xfrm>
          <a:prstGeom prst="rect">
            <a:avLst/>
          </a:prstGeom>
          <a:solidFill>
            <a:srgbClr val="00FF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1" name="Rectangle 33"/>
          <p:cNvSpPr>
            <a:spLocks noChangeArrowheads="1"/>
          </p:cNvSpPr>
          <p:nvPr/>
        </p:nvSpPr>
        <p:spPr bwMode="auto">
          <a:xfrm>
            <a:off x="6972300" y="5513388"/>
            <a:ext cx="9525" cy="4762"/>
          </a:xfrm>
          <a:prstGeom prst="rect">
            <a:avLst/>
          </a:prstGeom>
          <a:solidFill>
            <a:srgbClr val="FF00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2" name="Freeform 34"/>
          <p:cNvSpPr>
            <a:spLocks/>
          </p:cNvSpPr>
          <p:nvPr/>
        </p:nvSpPr>
        <p:spPr bwMode="auto">
          <a:xfrm>
            <a:off x="7534275" y="5429250"/>
            <a:ext cx="28575" cy="25400"/>
          </a:xfrm>
          <a:custGeom>
            <a:avLst/>
            <a:gdLst>
              <a:gd name="T0" fmla="*/ 0 w 18"/>
              <a:gd name="T1" fmla="*/ 10 h 16"/>
              <a:gd name="T2" fmla="*/ 18 w 18"/>
              <a:gd name="T3" fmla="*/ 0 h 16"/>
              <a:gd name="T4" fmla="*/ 18 w 18"/>
              <a:gd name="T5" fmla="*/ 7 h 16"/>
              <a:gd name="T6" fmla="*/ 0 w 18"/>
              <a:gd name="T7" fmla="*/ 16 h 16"/>
              <a:gd name="T8" fmla="*/ 0 w 18"/>
              <a:gd name="T9" fmla="*/ 10 h 16"/>
              <a:gd name="T10" fmla="*/ 0 60000 65536"/>
              <a:gd name="T11" fmla="*/ 0 60000 65536"/>
              <a:gd name="T12" fmla="*/ 0 60000 65536"/>
              <a:gd name="T13" fmla="*/ 0 60000 65536"/>
              <a:gd name="T14" fmla="*/ 0 60000 65536"/>
              <a:gd name="T15" fmla="*/ 0 w 18"/>
              <a:gd name="T16" fmla="*/ 0 h 16"/>
              <a:gd name="T17" fmla="*/ 18 w 18"/>
              <a:gd name="T18" fmla="*/ 16 h 16"/>
            </a:gdLst>
            <a:ahLst/>
            <a:cxnLst>
              <a:cxn ang="T10">
                <a:pos x="T0" y="T1"/>
              </a:cxn>
              <a:cxn ang="T11">
                <a:pos x="T2" y="T3"/>
              </a:cxn>
              <a:cxn ang="T12">
                <a:pos x="T4" y="T5"/>
              </a:cxn>
              <a:cxn ang="T13">
                <a:pos x="T6" y="T7"/>
              </a:cxn>
              <a:cxn ang="T14">
                <a:pos x="T8" y="T9"/>
              </a:cxn>
            </a:cxnLst>
            <a:rect l="T15" t="T16" r="T17" b="T18"/>
            <a:pathLst>
              <a:path w="18" h="16">
                <a:moveTo>
                  <a:pt x="0" y="10"/>
                </a:moveTo>
                <a:lnTo>
                  <a:pt x="18" y="0"/>
                </a:lnTo>
                <a:lnTo>
                  <a:pt x="18" y="7"/>
                </a:lnTo>
                <a:lnTo>
                  <a:pt x="0" y="16"/>
                </a:lnTo>
                <a:lnTo>
                  <a:pt x="0" y="10"/>
                </a:lnTo>
                <a:close/>
              </a:path>
            </a:pathLst>
          </a:custGeom>
          <a:solidFill>
            <a:srgbClr val="00000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pic>
        <p:nvPicPr>
          <p:cNvPr id="33" name="Picture 3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278688" y="5494338"/>
            <a:ext cx="12700" cy="127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4" name="Picture 3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151688" y="5138738"/>
            <a:ext cx="508000" cy="228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5" name="Picture 3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151688" y="5138738"/>
            <a:ext cx="508000" cy="228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36" name="Freeform 38"/>
          <p:cNvSpPr>
            <a:spLocks/>
          </p:cNvSpPr>
          <p:nvPr/>
        </p:nvSpPr>
        <p:spPr bwMode="auto">
          <a:xfrm>
            <a:off x="7153275" y="5145088"/>
            <a:ext cx="500063" cy="223837"/>
          </a:xfrm>
          <a:custGeom>
            <a:avLst/>
            <a:gdLst>
              <a:gd name="T0" fmla="*/ 0 w 315"/>
              <a:gd name="T1" fmla="*/ 141 h 141"/>
              <a:gd name="T2" fmla="*/ 68 w 315"/>
              <a:gd name="T3" fmla="*/ 0 h 141"/>
              <a:gd name="T4" fmla="*/ 315 w 315"/>
              <a:gd name="T5" fmla="*/ 0 h 141"/>
              <a:gd name="T6" fmla="*/ 247 w 315"/>
              <a:gd name="T7" fmla="*/ 141 h 141"/>
              <a:gd name="T8" fmla="*/ 0 w 315"/>
              <a:gd name="T9" fmla="*/ 141 h 141"/>
              <a:gd name="T10" fmla="*/ 0 60000 65536"/>
              <a:gd name="T11" fmla="*/ 0 60000 65536"/>
              <a:gd name="T12" fmla="*/ 0 60000 65536"/>
              <a:gd name="T13" fmla="*/ 0 60000 65536"/>
              <a:gd name="T14" fmla="*/ 0 60000 65536"/>
              <a:gd name="T15" fmla="*/ 0 w 315"/>
              <a:gd name="T16" fmla="*/ 0 h 141"/>
              <a:gd name="T17" fmla="*/ 315 w 315"/>
              <a:gd name="T18" fmla="*/ 141 h 141"/>
            </a:gdLst>
            <a:ahLst/>
            <a:cxnLst>
              <a:cxn ang="T10">
                <a:pos x="T0" y="T1"/>
              </a:cxn>
              <a:cxn ang="T11">
                <a:pos x="T2" y="T3"/>
              </a:cxn>
              <a:cxn ang="T12">
                <a:pos x="T4" y="T5"/>
              </a:cxn>
              <a:cxn ang="T13">
                <a:pos x="T6" y="T7"/>
              </a:cxn>
              <a:cxn ang="T14">
                <a:pos x="T8" y="T9"/>
              </a:cxn>
            </a:cxnLst>
            <a:rect l="T15" t="T16" r="T17" b="T18"/>
            <a:pathLst>
              <a:path w="315" h="141">
                <a:moveTo>
                  <a:pt x="0" y="141"/>
                </a:moveTo>
                <a:lnTo>
                  <a:pt x="68" y="0"/>
                </a:lnTo>
                <a:lnTo>
                  <a:pt x="315" y="0"/>
                </a:lnTo>
                <a:lnTo>
                  <a:pt x="247" y="141"/>
                </a:lnTo>
                <a:lnTo>
                  <a:pt x="0" y="141"/>
                </a:lnTo>
              </a:path>
            </a:pathLst>
          </a:cu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37" name="Rectangle 39"/>
          <p:cNvSpPr>
            <a:spLocks noChangeArrowheads="1"/>
          </p:cNvSpPr>
          <p:nvPr/>
        </p:nvSpPr>
        <p:spPr bwMode="auto">
          <a:xfrm>
            <a:off x="7646988" y="5138738"/>
            <a:ext cx="12700" cy="25400"/>
          </a:xfrm>
          <a:prstGeom prst="rect">
            <a:avLst/>
          </a:prstGeom>
          <a:solidFill>
            <a:srgbClr val="FF3C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8" name="Rectangle 40"/>
          <p:cNvSpPr>
            <a:spLocks noChangeArrowheads="1"/>
          </p:cNvSpPr>
          <p:nvPr/>
        </p:nvSpPr>
        <p:spPr bwMode="auto">
          <a:xfrm>
            <a:off x="7659688" y="5138738"/>
            <a:ext cx="12700" cy="25400"/>
          </a:xfrm>
          <a:prstGeom prst="rect">
            <a:avLst/>
          </a:prstGeom>
          <a:solidFill>
            <a:srgbClr val="FFCD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9" name="Rectangle 41"/>
          <p:cNvSpPr>
            <a:spLocks noChangeArrowheads="1"/>
          </p:cNvSpPr>
          <p:nvPr/>
        </p:nvSpPr>
        <p:spPr bwMode="auto">
          <a:xfrm>
            <a:off x="7672388" y="5138738"/>
            <a:ext cx="12700" cy="25400"/>
          </a:xfrm>
          <a:prstGeom prst="rect">
            <a:avLst/>
          </a:prstGeom>
          <a:solidFill>
            <a:srgbClr val="FF60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0" name="Freeform 42"/>
          <p:cNvSpPr>
            <a:spLocks/>
          </p:cNvSpPr>
          <p:nvPr/>
        </p:nvSpPr>
        <p:spPr bwMode="auto">
          <a:xfrm>
            <a:off x="6950075" y="5124450"/>
            <a:ext cx="758825" cy="406400"/>
          </a:xfrm>
          <a:custGeom>
            <a:avLst/>
            <a:gdLst>
              <a:gd name="T0" fmla="*/ 0 w 478"/>
              <a:gd name="T1" fmla="*/ 256 h 256"/>
              <a:gd name="T2" fmla="*/ 0 w 478"/>
              <a:gd name="T3" fmla="*/ 231 h 256"/>
              <a:gd name="T4" fmla="*/ 99 w 478"/>
              <a:gd name="T5" fmla="*/ 179 h 256"/>
              <a:gd name="T6" fmla="*/ 142 w 478"/>
              <a:gd name="T7" fmla="*/ 179 h 256"/>
              <a:gd name="T8" fmla="*/ 142 w 478"/>
              <a:gd name="T9" fmla="*/ 167 h 256"/>
              <a:gd name="T10" fmla="*/ 105 w 478"/>
              <a:gd name="T11" fmla="*/ 167 h 256"/>
              <a:gd name="T12" fmla="*/ 186 w 478"/>
              <a:gd name="T13" fmla="*/ 0 h 256"/>
              <a:gd name="T14" fmla="*/ 478 w 478"/>
              <a:gd name="T15" fmla="*/ 0 h 256"/>
              <a:gd name="T16" fmla="*/ 397 w 478"/>
              <a:gd name="T17" fmla="*/ 167 h 256"/>
              <a:gd name="T18" fmla="*/ 360 w 478"/>
              <a:gd name="T19" fmla="*/ 167 h 256"/>
              <a:gd name="T20" fmla="*/ 360 w 478"/>
              <a:gd name="T21" fmla="*/ 179 h 256"/>
              <a:gd name="T22" fmla="*/ 397 w 478"/>
              <a:gd name="T23" fmla="*/ 179 h 256"/>
              <a:gd name="T24" fmla="*/ 397 w 478"/>
              <a:gd name="T25" fmla="*/ 205 h 256"/>
              <a:gd name="T26" fmla="*/ 298 w 478"/>
              <a:gd name="T27" fmla="*/ 256 h 256"/>
              <a:gd name="T28" fmla="*/ 0 w 478"/>
              <a:gd name="T29" fmla="*/ 256 h 25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78"/>
              <a:gd name="T46" fmla="*/ 0 h 256"/>
              <a:gd name="T47" fmla="*/ 478 w 478"/>
              <a:gd name="T48" fmla="*/ 256 h 25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78" h="256">
                <a:moveTo>
                  <a:pt x="0" y="256"/>
                </a:moveTo>
                <a:lnTo>
                  <a:pt x="0" y="231"/>
                </a:lnTo>
                <a:lnTo>
                  <a:pt x="99" y="179"/>
                </a:lnTo>
                <a:lnTo>
                  <a:pt x="142" y="179"/>
                </a:lnTo>
                <a:lnTo>
                  <a:pt x="142" y="167"/>
                </a:lnTo>
                <a:lnTo>
                  <a:pt x="105" y="167"/>
                </a:lnTo>
                <a:lnTo>
                  <a:pt x="186" y="0"/>
                </a:lnTo>
                <a:lnTo>
                  <a:pt x="478" y="0"/>
                </a:lnTo>
                <a:lnTo>
                  <a:pt x="397" y="167"/>
                </a:lnTo>
                <a:lnTo>
                  <a:pt x="360" y="167"/>
                </a:lnTo>
                <a:lnTo>
                  <a:pt x="360" y="179"/>
                </a:lnTo>
                <a:lnTo>
                  <a:pt x="397" y="179"/>
                </a:lnTo>
                <a:lnTo>
                  <a:pt x="397" y="205"/>
                </a:lnTo>
                <a:lnTo>
                  <a:pt x="298" y="256"/>
                </a:lnTo>
                <a:lnTo>
                  <a:pt x="0" y="256"/>
                </a:lnTo>
              </a:path>
            </a:pathLst>
          </a:custGeom>
          <a:noFill/>
          <a:ln w="11113"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41" name="Rectangle 43"/>
          <p:cNvSpPr>
            <a:spLocks noChangeArrowheads="1"/>
          </p:cNvSpPr>
          <p:nvPr/>
        </p:nvSpPr>
        <p:spPr bwMode="auto">
          <a:xfrm>
            <a:off x="6672263" y="5557838"/>
            <a:ext cx="1143000" cy="2746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800">
                <a:latin typeface="Arial" charset="0"/>
              </a:rPr>
              <a:t>Intra1 (XP)</a:t>
            </a:r>
            <a:endParaRPr lang="en-US" sz="1800"/>
          </a:p>
        </p:txBody>
      </p:sp>
      <p:grpSp>
        <p:nvGrpSpPr>
          <p:cNvPr id="42" name="Group 44"/>
          <p:cNvGrpSpPr>
            <a:grpSpLocks/>
          </p:cNvGrpSpPr>
          <p:nvPr/>
        </p:nvGrpSpPr>
        <p:grpSpPr bwMode="auto">
          <a:xfrm>
            <a:off x="482600" y="2112963"/>
            <a:ext cx="1144588" cy="1322387"/>
            <a:chOff x="1208" y="979"/>
            <a:chExt cx="1265" cy="977"/>
          </a:xfrm>
        </p:grpSpPr>
        <p:sp>
          <p:nvSpPr>
            <p:cNvPr id="43" name="Freeform 45"/>
            <p:cNvSpPr>
              <a:spLocks noEditPoints="1"/>
            </p:cNvSpPr>
            <p:nvPr/>
          </p:nvSpPr>
          <p:spPr bwMode="auto">
            <a:xfrm>
              <a:off x="1368" y="1108"/>
              <a:ext cx="943" cy="706"/>
            </a:xfrm>
            <a:custGeom>
              <a:avLst/>
              <a:gdLst>
                <a:gd name="T0" fmla="*/ 157 w 943"/>
                <a:gd name="T1" fmla="*/ 609 h 706"/>
                <a:gd name="T2" fmla="*/ 471 w 943"/>
                <a:gd name="T3" fmla="*/ 366 h 706"/>
                <a:gd name="T4" fmla="*/ 471 w 943"/>
                <a:gd name="T5" fmla="*/ 706 h 706"/>
                <a:gd name="T6" fmla="*/ 471 w 943"/>
                <a:gd name="T7" fmla="*/ 366 h 706"/>
                <a:gd name="T8" fmla="*/ 516 w 943"/>
                <a:gd name="T9" fmla="*/ 620 h 706"/>
                <a:gd name="T10" fmla="*/ 471 w 943"/>
                <a:gd name="T11" fmla="*/ 366 h 706"/>
                <a:gd name="T12" fmla="*/ 943 w 943"/>
                <a:gd name="T13" fmla="*/ 366 h 706"/>
                <a:gd name="T14" fmla="*/ 471 w 943"/>
                <a:gd name="T15" fmla="*/ 366 h 706"/>
                <a:gd name="T16" fmla="*/ 786 w 943"/>
                <a:gd name="T17" fmla="*/ 122 h 706"/>
                <a:gd name="T18" fmla="*/ 471 w 943"/>
                <a:gd name="T19" fmla="*/ 366 h 706"/>
                <a:gd name="T20" fmla="*/ 471 w 943"/>
                <a:gd name="T21" fmla="*/ 0 h 706"/>
                <a:gd name="T22" fmla="*/ 471 w 943"/>
                <a:gd name="T23" fmla="*/ 366 h 706"/>
                <a:gd name="T24" fmla="*/ 255 w 943"/>
                <a:gd name="T25" fmla="*/ 163 h 706"/>
                <a:gd name="T26" fmla="*/ 471 w 943"/>
                <a:gd name="T27" fmla="*/ 366 h 706"/>
                <a:gd name="T28" fmla="*/ 0 w 943"/>
                <a:gd name="T29" fmla="*/ 366 h 706"/>
                <a:gd name="T30" fmla="*/ 471 w 943"/>
                <a:gd name="T31" fmla="*/ 366 h 70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43"/>
                <a:gd name="T49" fmla="*/ 0 h 706"/>
                <a:gd name="T50" fmla="*/ 943 w 943"/>
                <a:gd name="T51" fmla="*/ 706 h 70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43" h="706">
                  <a:moveTo>
                    <a:pt x="157" y="609"/>
                  </a:moveTo>
                  <a:lnTo>
                    <a:pt x="471" y="366"/>
                  </a:lnTo>
                  <a:moveTo>
                    <a:pt x="471" y="706"/>
                  </a:moveTo>
                  <a:lnTo>
                    <a:pt x="471" y="366"/>
                  </a:lnTo>
                  <a:moveTo>
                    <a:pt x="516" y="620"/>
                  </a:moveTo>
                  <a:lnTo>
                    <a:pt x="471" y="366"/>
                  </a:lnTo>
                  <a:moveTo>
                    <a:pt x="943" y="366"/>
                  </a:moveTo>
                  <a:lnTo>
                    <a:pt x="471" y="366"/>
                  </a:lnTo>
                  <a:moveTo>
                    <a:pt x="786" y="122"/>
                  </a:moveTo>
                  <a:lnTo>
                    <a:pt x="471" y="366"/>
                  </a:lnTo>
                  <a:moveTo>
                    <a:pt x="471" y="0"/>
                  </a:moveTo>
                  <a:lnTo>
                    <a:pt x="471" y="366"/>
                  </a:lnTo>
                  <a:moveTo>
                    <a:pt x="255" y="163"/>
                  </a:moveTo>
                  <a:lnTo>
                    <a:pt x="471" y="366"/>
                  </a:lnTo>
                  <a:moveTo>
                    <a:pt x="0" y="366"/>
                  </a:moveTo>
                  <a:lnTo>
                    <a:pt x="471" y="366"/>
                  </a:lnTo>
                </a:path>
              </a:pathLst>
            </a:cu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pic>
          <p:nvPicPr>
            <p:cNvPr id="44" name="Picture 4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208" y="979"/>
              <a:ext cx="1265" cy="9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5" name="Picture 4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208" y="979"/>
              <a:ext cx="1265" cy="9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6" name="Picture 4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280" y="1332"/>
              <a:ext cx="961" cy="4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7" name="Picture 4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280" y="1332"/>
              <a:ext cx="961" cy="4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8" name="Picture 5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800" y="1043"/>
              <a:ext cx="489" cy="43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9" name="Picture 5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800" y="1043"/>
              <a:ext cx="489" cy="43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50" name="Picture 5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912" y="1444"/>
              <a:ext cx="473" cy="25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1" name="Rectangle 53"/>
            <p:cNvSpPr>
              <a:spLocks noChangeArrowheads="1"/>
            </p:cNvSpPr>
            <p:nvPr/>
          </p:nvSpPr>
          <p:spPr bwMode="auto">
            <a:xfrm>
              <a:off x="1394" y="1404"/>
              <a:ext cx="949" cy="2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2000" b="0">
                  <a:solidFill>
                    <a:srgbClr val="00FF00"/>
                  </a:solidFill>
                  <a:latin typeface="Arial" charset="0"/>
                </a:rPr>
                <a:t>Internet</a:t>
              </a:r>
              <a:endParaRPr lang="en-US"/>
            </a:p>
          </p:txBody>
        </p:sp>
      </p:grpSp>
      <p:sp>
        <p:nvSpPr>
          <p:cNvPr id="52" name="Rectangle 54"/>
          <p:cNvSpPr>
            <a:spLocks noChangeArrowheads="1"/>
          </p:cNvSpPr>
          <p:nvPr/>
        </p:nvSpPr>
        <p:spPr bwMode="auto">
          <a:xfrm>
            <a:off x="1362075" y="4119563"/>
            <a:ext cx="1103313" cy="122237"/>
          </a:xfrm>
          <a:prstGeom prst="rect">
            <a:avLst/>
          </a:prstGeom>
          <a:solidFill>
            <a:srgbClr val="FFFF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53" name="Rectangle 55"/>
          <p:cNvSpPr>
            <a:spLocks noChangeArrowheads="1"/>
          </p:cNvSpPr>
          <p:nvPr/>
        </p:nvSpPr>
        <p:spPr bwMode="auto">
          <a:xfrm>
            <a:off x="2401888" y="4157663"/>
            <a:ext cx="1184275" cy="122237"/>
          </a:xfrm>
          <a:prstGeom prst="rect">
            <a:avLst/>
          </a:prstGeom>
          <a:solidFill>
            <a:srgbClr val="FFFF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grpSp>
        <p:nvGrpSpPr>
          <p:cNvPr id="54" name="Group 56"/>
          <p:cNvGrpSpPr>
            <a:grpSpLocks/>
          </p:cNvGrpSpPr>
          <p:nvPr/>
        </p:nvGrpSpPr>
        <p:grpSpPr bwMode="auto">
          <a:xfrm>
            <a:off x="1687513" y="2997200"/>
            <a:ext cx="1276350" cy="1776413"/>
            <a:chOff x="2839" y="680"/>
            <a:chExt cx="804" cy="1119"/>
          </a:xfrm>
        </p:grpSpPr>
        <p:sp>
          <p:nvSpPr>
            <p:cNvPr id="55" name="Freeform 57"/>
            <p:cNvSpPr>
              <a:spLocks noEditPoints="1"/>
            </p:cNvSpPr>
            <p:nvPr/>
          </p:nvSpPr>
          <p:spPr bwMode="auto">
            <a:xfrm>
              <a:off x="3061" y="1563"/>
              <a:ext cx="304" cy="64"/>
            </a:xfrm>
            <a:custGeom>
              <a:avLst/>
              <a:gdLst>
                <a:gd name="T0" fmla="*/ 0 w 304"/>
                <a:gd name="T1" fmla="*/ 64 h 64"/>
                <a:gd name="T2" fmla="*/ 254 w 304"/>
                <a:gd name="T3" fmla="*/ 64 h 64"/>
                <a:gd name="T4" fmla="*/ 254 w 304"/>
                <a:gd name="T5" fmla="*/ 51 h 64"/>
                <a:gd name="T6" fmla="*/ 0 w 304"/>
                <a:gd name="T7" fmla="*/ 51 h 64"/>
                <a:gd name="T8" fmla="*/ 0 w 304"/>
                <a:gd name="T9" fmla="*/ 64 h 64"/>
                <a:gd name="T10" fmla="*/ 254 w 304"/>
                <a:gd name="T11" fmla="*/ 64 h 64"/>
                <a:gd name="T12" fmla="*/ 304 w 304"/>
                <a:gd name="T13" fmla="*/ 13 h 64"/>
                <a:gd name="T14" fmla="*/ 304 w 304"/>
                <a:gd name="T15" fmla="*/ 0 h 64"/>
                <a:gd name="T16" fmla="*/ 254 w 304"/>
                <a:gd name="T17" fmla="*/ 51 h 64"/>
                <a:gd name="T18" fmla="*/ 254 w 304"/>
                <a:gd name="T19" fmla="*/ 64 h 6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04"/>
                <a:gd name="T31" fmla="*/ 0 h 64"/>
                <a:gd name="T32" fmla="*/ 304 w 304"/>
                <a:gd name="T33" fmla="*/ 64 h 6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04" h="64">
                  <a:moveTo>
                    <a:pt x="0" y="64"/>
                  </a:moveTo>
                  <a:lnTo>
                    <a:pt x="254" y="64"/>
                  </a:lnTo>
                  <a:lnTo>
                    <a:pt x="254" y="51"/>
                  </a:lnTo>
                  <a:lnTo>
                    <a:pt x="0" y="51"/>
                  </a:lnTo>
                  <a:lnTo>
                    <a:pt x="0" y="64"/>
                  </a:lnTo>
                  <a:close/>
                  <a:moveTo>
                    <a:pt x="254" y="64"/>
                  </a:moveTo>
                  <a:lnTo>
                    <a:pt x="304" y="13"/>
                  </a:lnTo>
                  <a:lnTo>
                    <a:pt x="304" y="0"/>
                  </a:lnTo>
                  <a:lnTo>
                    <a:pt x="254" y="51"/>
                  </a:lnTo>
                  <a:lnTo>
                    <a:pt x="254" y="64"/>
                  </a:lnTo>
                  <a:close/>
                </a:path>
              </a:pathLst>
            </a:custGeom>
            <a:solidFill>
              <a:srgbClr val="9A9A9A"/>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6" name="Freeform 58"/>
            <p:cNvSpPr>
              <a:spLocks/>
            </p:cNvSpPr>
            <p:nvPr/>
          </p:nvSpPr>
          <p:spPr bwMode="auto">
            <a:xfrm>
              <a:off x="3321" y="1166"/>
              <a:ext cx="51" cy="448"/>
            </a:xfrm>
            <a:custGeom>
              <a:avLst/>
              <a:gdLst>
                <a:gd name="T0" fmla="*/ 0 w 51"/>
                <a:gd name="T1" fmla="*/ 448 h 448"/>
                <a:gd name="T2" fmla="*/ 51 w 51"/>
                <a:gd name="T3" fmla="*/ 397 h 448"/>
                <a:gd name="T4" fmla="*/ 51 w 51"/>
                <a:gd name="T5" fmla="*/ 0 h 448"/>
                <a:gd name="T6" fmla="*/ 0 w 51"/>
                <a:gd name="T7" fmla="*/ 52 h 448"/>
                <a:gd name="T8" fmla="*/ 0 w 51"/>
                <a:gd name="T9" fmla="*/ 448 h 448"/>
                <a:gd name="T10" fmla="*/ 0 60000 65536"/>
                <a:gd name="T11" fmla="*/ 0 60000 65536"/>
                <a:gd name="T12" fmla="*/ 0 60000 65536"/>
                <a:gd name="T13" fmla="*/ 0 60000 65536"/>
                <a:gd name="T14" fmla="*/ 0 60000 65536"/>
                <a:gd name="T15" fmla="*/ 0 w 51"/>
                <a:gd name="T16" fmla="*/ 0 h 448"/>
                <a:gd name="T17" fmla="*/ 51 w 51"/>
                <a:gd name="T18" fmla="*/ 448 h 448"/>
              </a:gdLst>
              <a:ahLst/>
              <a:cxnLst>
                <a:cxn ang="T10">
                  <a:pos x="T0" y="T1"/>
                </a:cxn>
                <a:cxn ang="T11">
                  <a:pos x="T2" y="T3"/>
                </a:cxn>
                <a:cxn ang="T12">
                  <a:pos x="T4" y="T5"/>
                </a:cxn>
                <a:cxn ang="T13">
                  <a:pos x="T6" y="T7"/>
                </a:cxn>
                <a:cxn ang="T14">
                  <a:pos x="T8" y="T9"/>
                </a:cxn>
              </a:cxnLst>
              <a:rect l="T15" t="T16" r="T17" b="T18"/>
              <a:pathLst>
                <a:path w="51" h="448">
                  <a:moveTo>
                    <a:pt x="0" y="448"/>
                  </a:moveTo>
                  <a:lnTo>
                    <a:pt x="51" y="397"/>
                  </a:lnTo>
                  <a:lnTo>
                    <a:pt x="51" y="0"/>
                  </a:lnTo>
                  <a:lnTo>
                    <a:pt x="0" y="52"/>
                  </a:lnTo>
                  <a:lnTo>
                    <a:pt x="0" y="448"/>
                  </a:lnTo>
                  <a:close/>
                </a:path>
              </a:pathLst>
            </a:custGeom>
            <a:solidFill>
              <a:srgbClr val="9A9A9A"/>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7" name="Freeform 59"/>
            <p:cNvSpPr>
              <a:spLocks/>
            </p:cNvSpPr>
            <p:nvPr/>
          </p:nvSpPr>
          <p:spPr bwMode="auto">
            <a:xfrm>
              <a:off x="3048" y="1166"/>
              <a:ext cx="324" cy="52"/>
            </a:xfrm>
            <a:custGeom>
              <a:avLst/>
              <a:gdLst>
                <a:gd name="T0" fmla="*/ 0 w 324"/>
                <a:gd name="T1" fmla="*/ 52 h 52"/>
                <a:gd name="T2" fmla="*/ 50 w 324"/>
                <a:gd name="T3" fmla="*/ 0 h 52"/>
                <a:gd name="T4" fmla="*/ 324 w 324"/>
                <a:gd name="T5" fmla="*/ 0 h 52"/>
                <a:gd name="T6" fmla="*/ 273 w 324"/>
                <a:gd name="T7" fmla="*/ 52 h 52"/>
                <a:gd name="T8" fmla="*/ 0 w 324"/>
                <a:gd name="T9" fmla="*/ 52 h 52"/>
                <a:gd name="T10" fmla="*/ 0 60000 65536"/>
                <a:gd name="T11" fmla="*/ 0 60000 65536"/>
                <a:gd name="T12" fmla="*/ 0 60000 65536"/>
                <a:gd name="T13" fmla="*/ 0 60000 65536"/>
                <a:gd name="T14" fmla="*/ 0 60000 65536"/>
                <a:gd name="T15" fmla="*/ 0 w 324"/>
                <a:gd name="T16" fmla="*/ 0 h 52"/>
                <a:gd name="T17" fmla="*/ 324 w 324"/>
                <a:gd name="T18" fmla="*/ 52 h 52"/>
              </a:gdLst>
              <a:ahLst/>
              <a:cxnLst>
                <a:cxn ang="T10">
                  <a:pos x="T0" y="T1"/>
                </a:cxn>
                <a:cxn ang="T11">
                  <a:pos x="T2" y="T3"/>
                </a:cxn>
                <a:cxn ang="T12">
                  <a:pos x="T4" y="T5"/>
                </a:cxn>
                <a:cxn ang="T13">
                  <a:pos x="T6" y="T7"/>
                </a:cxn>
                <a:cxn ang="T14">
                  <a:pos x="T8" y="T9"/>
                </a:cxn>
              </a:cxnLst>
              <a:rect l="T15" t="T16" r="T17" b="T18"/>
              <a:pathLst>
                <a:path w="324" h="52">
                  <a:moveTo>
                    <a:pt x="0" y="52"/>
                  </a:moveTo>
                  <a:lnTo>
                    <a:pt x="50" y="0"/>
                  </a:lnTo>
                  <a:lnTo>
                    <a:pt x="324" y="0"/>
                  </a:lnTo>
                  <a:lnTo>
                    <a:pt x="273" y="52"/>
                  </a:lnTo>
                  <a:lnTo>
                    <a:pt x="0" y="52"/>
                  </a:lnTo>
                  <a:close/>
                </a:path>
              </a:pathLst>
            </a:custGeom>
            <a:solidFill>
              <a:srgbClr val="E6E6E6"/>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8" name="Rectangle 60"/>
            <p:cNvSpPr>
              <a:spLocks noChangeArrowheads="1"/>
            </p:cNvSpPr>
            <p:nvPr/>
          </p:nvSpPr>
          <p:spPr bwMode="auto">
            <a:xfrm>
              <a:off x="3048" y="1218"/>
              <a:ext cx="273" cy="396"/>
            </a:xfrm>
            <a:prstGeom prst="rect">
              <a:avLst/>
            </a:prstGeom>
            <a:solidFill>
              <a:srgbClr val="C0C0C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59" name="Rectangle 61"/>
            <p:cNvSpPr>
              <a:spLocks noChangeArrowheads="1"/>
            </p:cNvSpPr>
            <p:nvPr/>
          </p:nvSpPr>
          <p:spPr bwMode="auto">
            <a:xfrm>
              <a:off x="3048" y="1218"/>
              <a:ext cx="273" cy="396"/>
            </a:xfrm>
            <a:prstGeom prst="rect">
              <a:avLst/>
            </a:pr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60" name="Rectangle 62"/>
            <p:cNvSpPr>
              <a:spLocks noChangeArrowheads="1"/>
            </p:cNvSpPr>
            <p:nvPr/>
          </p:nvSpPr>
          <p:spPr bwMode="auto">
            <a:xfrm>
              <a:off x="3065" y="1332"/>
              <a:ext cx="232" cy="8"/>
            </a:xfrm>
            <a:prstGeom prst="rect">
              <a:avLst/>
            </a:prstGeom>
            <a:solidFill>
              <a:srgbClr val="E5E5E5"/>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61" name="Rectangle 63"/>
            <p:cNvSpPr>
              <a:spLocks noChangeArrowheads="1"/>
            </p:cNvSpPr>
            <p:nvPr/>
          </p:nvSpPr>
          <p:spPr bwMode="auto">
            <a:xfrm>
              <a:off x="3065" y="1340"/>
              <a:ext cx="232" cy="8"/>
            </a:xfrm>
            <a:prstGeom prst="rect">
              <a:avLst/>
            </a:prstGeom>
            <a:solidFill>
              <a:srgbClr val="C0C0C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62" name="Rectangle 64"/>
            <p:cNvSpPr>
              <a:spLocks noChangeArrowheads="1"/>
            </p:cNvSpPr>
            <p:nvPr/>
          </p:nvSpPr>
          <p:spPr bwMode="auto">
            <a:xfrm>
              <a:off x="3065" y="1348"/>
              <a:ext cx="232" cy="8"/>
            </a:xfrm>
            <a:prstGeom prst="rect">
              <a:avLst/>
            </a:prstGeom>
            <a:solidFill>
              <a:srgbClr val="C1C1C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63" name="Rectangle 65"/>
            <p:cNvSpPr>
              <a:spLocks noChangeArrowheads="1"/>
            </p:cNvSpPr>
            <p:nvPr/>
          </p:nvSpPr>
          <p:spPr bwMode="auto">
            <a:xfrm>
              <a:off x="3065" y="1356"/>
              <a:ext cx="232" cy="8"/>
            </a:xfrm>
            <a:prstGeom prst="rect">
              <a:avLst/>
            </a:prstGeom>
            <a:solidFill>
              <a:srgbClr val="C3C3C3"/>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64" name="Rectangle 66"/>
            <p:cNvSpPr>
              <a:spLocks noChangeArrowheads="1"/>
            </p:cNvSpPr>
            <p:nvPr/>
          </p:nvSpPr>
          <p:spPr bwMode="auto">
            <a:xfrm>
              <a:off x="3065" y="1364"/>
              <a:ext cx="232" cy="8"/>
            </a:xfrm>
            <a:prstGeom prst="rect">
              <a:avLst/>
            </a:prstGeom>
            <a:solidFill>
              <a:srgbClr val="C4C4C4"/>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65" name="Rectangle 67"/>
            <p:cNvSpPr>
              <a:spLocks noChangeArrowheads="1"/>
            </p:cNvSpPr>
            <p:nvPr/>
          </p:nvSpPr>
          <p:spPr bwMode="auto">
            <a:xfrm>
              <a:off x="3065" y="1372"/>
              <a:ext cx="232" cy="8"/>
            </a:xfrm>
            <a:prstGeom prst="rect">
              <a:avLst/>
            </a:prstGeom>
            <a:solidFill>
              <a:srgbClr val="C5C5C5"/>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66" name="Rectangle 68"/>
            <p:cNvSpPr>
              <a:spLocks noChangeArrowheads="1"/>
            </p:cNvSpPr>
            <p:nvPr/>
          </p:nvSpPr>
          <p:spPr bwMode="auto">
            <a:xfrm>
              <a:off x="3065" y="1380"/>
              <a:ext cx="232" cy="8"/>
            </a:xfrm>
            <a:prstGeom prst="rect">
              <a:avLst/>
            </a:prstGeom>
            <a:solidFill>
              <a:srgbClr val="C6C6C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67" name="Rectangle 69"/>
            <p:cNvSpPr>
              <a:spLocks noChangeArrowheads="1"/>
            </p:cNvSpPr>
            <p:nvPr/>
          </p:nvSpPr>
          <p:spPr bwMode="auto">
            <a:xfrm>
              <a:off x="3065" y="1388"/>
              <a:ext cx="232" cy="8"/>
            </a:xfrm>
            <a:prstGeom prst="rect">
              <a:avLst/>
            </a:prstGeom>
            <a:solidFill>
              <a:srgbClr val="C8C8C8"/>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68" name="Rectangle 70"/>
            <p:cNvSpPr>
              <a:spLocks noChangeArrowheads="1"/>
            </p:cNvSpPr>
            <p:nvPr/>
          </p:nvSpPr>
          <p:spPr bwMode="auto">
            <a:xfrm>
              <a:off x="3065" y="1396"/>
              <a:ext cx="232" cy="8"/>
            </a:xfrm>
            <a:prstGeom prst="rect">
              <a:avLst/>
            </a:prstGeom>
            <a:solidFill>
              <a:srgbClr val="C9C9C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69" name="Rectangle 71"/>
            <p:cNvSpPr>
              <a:spLocks noChangeArrowheads="1"/>
            </p:cNvSpPr>
            <p:nvPr/>
          </p:nvSpPr>
          <p:spPr bwMode="auto">
            <a:xfrm>
              <a:off x="3065" y="1404"/>
              <a:ext cx="232" cy="8"/>
            </a:xfrm>
            <a:prstGeom prst="rect">
              <a:avLst/>
            </a:prstGeom>
            <a:solidFill>
              <a:srgbClr val="CACACA"/>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70" name="Rectangle 72"/>
            <p:cNvSpPr>
              <a:spLocks noChangeArrowheads="1"/>
            </p:cNvSpPr>
            <p:nvPr/>
          </p:nvSpPr>
          <p:spPr bwMode="auto">
            <a:xfrm>
              <a:off x="3065" y="1412"/>
              <a:ext cx="232" cy="8"/>
            </a:xfrm>
            <a:prstGeom prst="rect">
              <a:avLst/>
            </a:prstGeom>
            <a:solidFill>
              <a:srgbClr val="CBCBCB"/>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71" name="Rectangle 73"/>
            <p:cNvSpPr>
              <a:spLocks noChangeArrowheads="1"/>
            </p:cNvSpPr>
            <p:nvPr/>
          </p:nvSpPr>
          <p:spPr bwMode="auto">
            <a:xfrm>
              <a:off x="3065" y="1420"/>
              <a:ext cx="232" cy="8"/>
            </a:xfrm>
            <a:prstGeom prst="rect">
              <a:avLst/>
            </a:prstGeom>
            <a:solidFill>
              <a:srgbClr val="CCCCCC"/>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72" name="Rectangle 74"/>
            <p:cNvSpPr>
              <a:spLocks noChangeArrowheads="1"/>
            </p:cNvSpPr>
            <p:nvPr/>
          </p:nvSpPr>
          <p:spPr bwMode="auto">
            <a:xfrm>
              <a:off x="3065" y="1428"/>
              <a:ext cx="232" cy="8"/>
            </a:xfrm>
            <a:prstGeom prst="rect">
              <a:avLst/>
            </a:prstGeom>
            <a:solidFill>
              <a:srgbClr val="CDCDCD"/>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73" name="Rectangle 75"/>
            <p:cNvSpPr>
              <a:spLocks noChangeArrowheads="1"/>
            </p:cNvSpPr>
            <p:nvPr/>
          </p:nvSpPr>
          <p:spPr bwMode="auto">
            <a:xfrm>
              <a:off x="3065" y="1436"/>
              <a:ext cx="232" cy="8"/>
            </a:xfrm>
            <a:prstGeom prst="rect">
              <a:avLst/>
            </a:prstGeom>
            <a:solidFill>
              <a:srgbClr val="CFCFC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74" name="Rectangle 76"/>
            <p:cNvSpPr>
              <a:spLocks noChangeArrowheads="1"/>
            </p:cNvSpPr>
            <p:nvPr/>
          </p:nvSpPr>
          <p:spPr bwMode="auto">
            <a:xfrm>
              <a:off x="3065" y="1444"/>
              <a:ext cx="232" cy="8"/>
            </a:xfrm>
            <a:prstGeom prst="rect">
              <a:avLst/>
            </a:prstGeom>
            <a:solidFill>
              <a:srgbClr val="D0D0D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75" name="Rectangle 77"/>
            <p:cNvSpPr>
              <a:spLocks noChangeArrowheads="1"/>
            </p:cNvSpPr>
            <p:nvPr/>
          </p:nvSpPr>
          <p:spPr bwMode="auto">
            <a:xfrm>
              <a:off x="3065" y="1452"/>
              <a:ext cx="232" cy="8"/>
            </a:xfrm>
            <a:prstGeom prst="rect">
              <a:avLst/>
            </a:prstGeom>
            <a:solidFill>
              <a:srgbClr val="D1D1D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76" name="Rectangle 78"/>
            <p:cNvSpPr>
              <a:spLocks noChangeArrowheads="1"/>
            </p:cNvSpPr>
            <p:nvPr/>
          </p:nvSpPr>
          <p:spPr bwMode="auto">
            <a:xfrm>
              <a:off x="3065" y="1460"/>
              <a:ext cx="232" cy="8"/>
            </a:xfrm>
            <a:prstGeom prst="rect">
              <a:avLst/>
            </a:prstGeom>
            <a:solidFill>
              <a:srgbClr val="D2D2D2"/>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77" name="Rectangle 79"/>
            <p:cNvSpPr>
              <a:spLocks noChangeArrowheads="1"/>
            </p:cNvSpPr>
            <p:nvPr/>
          </p:nvSpPr>
          <p:spPr bwMode="auto">
            <a:xfrm>
              <a:off x="3065" y="1468"/>
              <a:ext cx="232" cy="8"/>
            </a:xfrm>
            <a:prstGeom prst="rect">
              <a:avLst/>
            </a:prstGeom>
            <a:solidFill>
              <a:srgbClr val="D3D3D3"/>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78" name="Rectangle 80"/>
            <p:cNvSpPr>
              <a:spLocks noChangeArrowheads="1"/>
            </p:cNvSpPr>
            <p:nvPr/>
          </p:nvSpPr>
          <p:spPr bwMode="auto">
            <a:xfrm>
              <a:off x="3065" y="1476"/>
              <a:ext cx="232" cy="8"/>
            </a:xfrm>
            <a:prstGeom prst="rect">
              <a:avLst/>
            </a:prstGeom>
            <a:solidFill>
              <a:srgbClr val="D4D4D4"/>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79" name="Rectangle 81"/>
            <p:cNvSpPr>
              <a:spLocks noChangeArrowheads="1"/>
            </p:cNvSpPr>
            <p:nvPr/>
          </p:nvSpPr>
          <p:spPr bwMode="auto">
            <a:xfrm>
              <a:off x="3065" y="1484"/>
              <a:ext cx="232" cy="8"/>
            </a:xfrm>
            <a:prstGeom prst="rect">
              <a:avLst/>
            </a:prstGeom>
            <a:solidFill>
              <a:srgbClr val="D6D6D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80" name="Rectangle 82"/>
            <p:cNvSpPr>
              <a:spLocks noChangeArrowheads="1"/>
            </p:cNvSpPr>
            <p:nvPr/>
          </p:nvSpPr>
          <p:spPr bwMode="auto">
            <a:xfrm>
              <a:off x="3065" y="1492"/>
              <a:ext cx="232" cy="8"/>
            </a:xfrm>
            <a:prstGeom prst="rect">
              <a:avLst/>
            </a:prstGeom>
            <a:solidFill>
              <a:srgbClr val="D7D7D7"/>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81" name="Rectangle 83"/>
            <p:cNvSpPr>
              <a:spLocks noChangeArrowheads="1"/>
            </p:cNvSpPr>
            <p:nvPr/>
          </p:nvSpPr>
          <p:spPr bwMode="auto">
            <a:xfrm>
              <a:off x="3065" y="1500"/>
              <a:ext cx="232" cy="8"/>
            </a:xfrm>
            <a:prstGeom prst="rect">
              <a:avLst/>
            </a:prstGeom>
            <a:solidFill>
              <a:srgbClr val="D8D8D8"/>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82" name="Rectangle 84"/>
            <p:cNvSpPr>
              <a:spLocks noChangeArrowheads="1"/>
            </p:cNvSpPr>
            <p:nvPr/>
          </p:nvSpPr>
          <p:spPr bwMode="auto">
            <a:xfrm>
              <a:off x="3065" y="1508"/>
              <a:ext cx="232" cy="8"/>
            </a:xfrm>
            <a:prstGeom prst="rect">
              <a:avLst/>
            </a:prstGeom>
            <a:solidFill>
              <a:srgbClr val="D9D9D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83" name="Rectangle 85"/>
            <p:cNvSpPr>
              <a:spLocks noChangeArrowheads="1"/>
            </p:cNvSpPr>
            <p:nvPr/>
          </p:nvSpPr>
          <p:spPr bwMode="auto">
            <a:xfrm>
              <a:off x="3065" y="1516"/>
              <a:ext cx="232" cy="8"/>
            </a:xfrm>
            <a:prstGeom prst="rect">
              <a:avLst/>
            </a:prstGeom>
            <a:solidFill>
              <a:srgbClr val="DBDBDB"/>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84" name="Rectangle 86"/>
            <p:cNvSpPr>
              <a:spLocks noChangeArrowheads="1"/>
            </p:cNvSpPr>
            <p:nvPr/>
          </p:nvSpPr>
          <p:spPr bwMode="auto">
            <a:xfrm>
              <a:off x="3065" y="1524"/>
              <a:ext cx="232" cy="8"/>
            </a:xfrm>
            <a:prstGeom prst="rect">
              <a:avLst/>
            </a:prstGeom>
            <a:solidFill>
              <a:srgbClr val="DCDCDC"/>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85" name="Rectangle 87"/>
            <p:cNvSpPr>
              <a:spLocks noChangeArrowheads="1"/>
            </p:cNvSpPr>
            <p:nvPr/>
          </p:nvSpPr>
          <p:spPr bwMode="auto">
            <a:xfrm>
              <a:off x="3065" y="1532"/>
              <a:ext cx="232" cy="8"/>
            </a:xfrm>
            <a:prstGeom prst="rect">
              <a:avLst/>
            </a:prstGeom>
            <a:solidFill>
              <a:srgbClr val="DDDDDD"/>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86" name="Rectangle 88"/>
            <p:cNvSpPr>
              <a:spLocks noChangeArrowheads="1"/>
            </p:cNvSpPr>
            <p:nvPr/>
          </p:nvSpPr>
          <p:spPr bwMode="auto">
            <a:xfrm>
              <a:off x="3065" y="1540"/>
              <a:ext cx="232" cy="8"/>
            </a:xfrm>
            <a:prstGeom prst="rect">
              <a:avLst/>
            </a:prstGeom>
            <a:solidFill>
              <a:srgbClr val="DEDEDE"/>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87" name="Rectangle 89"/>
            <p:cNvSpPr>
              <a:spLocks noChangeArrowheads="1"/>
            </p:cNvSpPr>
            <p:nvPr/>
          </p:nvSpPr>
          <p:spPr bwMode="auto">
            <a:xfrm>
              <a:off x="3065" y="1548"/>
              <a:ext cx="232" cy="8"/>
            </a:xfrm>
            <a:prstGeom prst="rect">
              <a:avLst/>
            </a:prstGeom>
            <a:solidFill>
              <a:srgbClr val="DFDFD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88" name="Rectangle 90"/>
            <p:cNvSpPr>
              <a:spLocks noChangeArrowheads="1"/>
            </p:cNvSpPr>
            <p:nvPr/>
          </p:nvSpPr>
          <p:spPr bwMode="auto">
            <a:xfrm>
              <a:off x="3065" y="1556"/>
              <a:ext cx="232" cy="8"/>
            </a:xfrm>
            <a:prstGeom prst="rect">
              <a:avLst/>
            </a:prstGeom>
            <a:solidFill>
              <a:srgbClr val="E0E0E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89" name="Rectangle 91"/>
            <p:cNvSpPr>
              <a:spLocks noChangeArrowheads="1"/>
            </p:cNvSpPr>
            <p:nvPr/>
          </p:nvSpPr>
          <p:spPr bwMode="auto">
            <a:xfrm>
              <a:off x="3065" y="1564"/>
              <a:ext cx="232" cy="8"/>
            </a:xfrm>
            <a:prstGeom prst="rect">
              <a:avLst/>
            </a:prstGeom>
            <a:solidFill>
              <a:srgbClr val="E2E2E2"/>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90" name="Rectangle 92"/>
            <p:cNvSpPr>
              <a:spLocks noChangeArrowheads="1"/>
            </p:cNvSpPr>
            <p:nvPr/>
          </p:nvSpPr>
          <p:spPr bwMode="auto">
            <a:xfrm>
              <a:off x="3065" y="1572"/>
              <a:ext cx="232" cy="8"/>
            </a:xfrm>
            <a:prstGeom prst="rect">
              <a:avLst/>
            </a:prstGeom>
            <a:solidFill>
              <a:srgbClr val="E3E3E3"/>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91" name="Rectangle 93"/>
            <p:cNvSpPr>
              <a:spLocks noChangeArrowheads="1"/>
            </p:cNvSpPr>
            <p:nvPr/>
          </p:nvSpPr>
          <p:spPr bwMode="auto">
            <a:xfrm>
              <a:off x="3065" y="1580"/>
              <a:ext cx="232" cy="8"/>
            </a:xfrm>
            <a:prstGeom prst="rect">
              <a:avLst/>
            </a:prstGeom>
            <a:solidFill>
              <a:srgbClr val="E4E4E4"/>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92" name="Rectangle 94"/>
            <p:cNvSpPr>
              <a:spLocks noChangeArrowheads="1"/>
            </p:cNvSpPr>
            <p:nvPr/>
          </p:nvSpPr>
          <p:spPr bwMode="auto">
            <a:xfrm>
              <a:off x="3065" y="1460"/>
              <a:ext cx="8" cy="80"/>
            </a:xfrm>
            <a:prstGeom prst="rect">
              <a:avLst/>
            </a:prstGeom>
            <a:solidFill>
              <a:srgbClr val="E5E5E5"/>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93" name="Rectangle 95"/>
            <p:cNvSpPr>
              <a:spLocks noChangeArrowheads="1"/>
            </p:cNvSpPr>
            <p:nvPr/>
          </p:nvSpPr>
          <p:spPr bwMode="auto">
            <a:xfrm>
              <a:off x="3073" y="1460"/>
              <a:ext cx="8" cy="80"/>
            </a:xfrm>
            <a:prstGeom prst="rect">
              <a:avLst/>
            </a:prstGeom>
            <a:solidFill>
              <a:srgbClr val="C1C1C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94" name="Rectangle 96"/>
            <p:cNvSpPr>
              <a:spLocks noChangeArrowheads="1"/>
            </p:cNvSpPr>
            <p:nvPr/>
          </p:nvSpPr>
          <p:spPr bwMode="auto">
            <a:xfrm>
              <a:off x="3081" y="1460"/>
              <a:ext cx="8" cy="80"/>
            </a:xfrm>
            <a:prstGeom prst="rect">
              <a:avLst/>
            </a:prstGeom>
            <a:solidFill>
              <a:srgbClr val="C2C2C2"/>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95" name="Rectangle 97"/>
            <p:cNvSpPr>
              <a:spLocks noChangeArrowheads="1"/>
            </p:cNvSpPr>
            <p:nvPr/>
          </p:nvSpPr>
          <p:spPr bwMode="auto">
            <a:xfrm>
              <a:off x="3089" y="1460"/>
              <a:ext cx="8" cy="80"/>
            </a:xfrm>
            <a:prstGeom prst="rect">
              <a:avLst/>
            </a:prstGeom>
            <a:solidFill>
              <a:srgbClr val="C3C3C3"/>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96" name="Rectangle 98"/>
            <p:cNvSpPr>
              <a:spLocks noChangeArrowheads="1"/>
            </p:cNvSpPr>
            <p:nvPr/>
          </p:nvSpPr>
          <p:spPr bwMode="auto">
            <a:xfrm>
              <a:off x="3097" y="1460"/>
              <a:ext cx="8" cy="80"/>
            </a:xfrm>
            <a:prstGeom prst="rect">
              <a:avLst/>
            </a:prstGeom>
            <a:solidFill>
              <a:srgbClr val="C5C5C5"/>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97" name="Rectangle 99"/>
            <p:cNvSpPr>
              <a:spLocks noChangeArrowheads="1"/>
            </p:cNvSpPr>
            <p:nvPr/>
          </p:nvSpPr>
          <p:spPr bwMode="auto">
            <a:xfrm>
              <a:off x="3105" y="1460"/>
              <a:ext cx="8" cy="80"/>
            </a:xfrm>
            <a:prstGeom prst="rect">
              <a:avLst/>
            </a:prstGeom>
            <a:solidFill>
              <a:srgbClr val="C6C6C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98" name="Rectangle 100"/>
            <p:cNvSpPr>
              <a:spLocks noChangeArrowheads="1"/>
            </p:cNvSpPr>
            <p:nvPr/>
          </p:nvSpPr>
          <p:spPr bwMode="auto">
            <a:xfrm>
              <a:off x="3113" y="1460"/>
              <a:ext cx="8" cy="80"/>
            </a:xfrm>
            <a:prstGeom prst="rect">
              <a:avLst/>
            </a:prstGeom>
            <a:solidFill>
              <a:srgbClr val="C8C8C8"/>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99" name="Rectangle 101"/>
            <p:cNvSpPr>
              <a:spLocks noChangeArrowheads="1"/>
            </p:cNvSpPr>
            <p:nvPr/>
          </p:nvSpPr>
          <p:spPr bwMode="auto">
            <a:xfrm>
              <a:off x="3121" y="1460"/>
              <a:ext cx="8" cy="80"/>
            </a:xfrm>
            <a:prstGeom prst="rect">
              <a:avLst/>
            </a:prstGeom>
            <a:solidFill>
              <a:srgbClr val="CACACA"/>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00" name="Rectangle 102"/>
            <p:cNvSpPr>
              <a:spLocks noChangeArrowheads="1"/>
            </p:cNvSpPr>
            <p:nvPr/>
          </p:nvSpPr>
          <p:spPr bwMode="auto">
            <a:xfrm>
              <a:off x="3129" y="1460"/>
              <a:ext cx="8" cy="80"/>
            </a:xfrm>
            <a:prstGeom prst="rect">
              <a:avLst/>
            </a:prstGeom>
            <a:solidFill>
              <a:srgbClr val="CBCBCB"/>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01" name="Rectangle 103"/>
            <p:cNvSpPr>
              <a:spLocks noChangeArrowheads="1"/>
            </p:cNvSpPr>
            <p:nvPr/>
          </p:nvSpPr>
          <p:spPr bwMode="auto">
            <a:xfrm>
              <a:off x="3137" y="1460"/>
              <a:ext cx="8" cy="80"/>
            </a:xfrm>
            <a:prstGeom prst="rect">
              <a:avLst/>
            </a:prstGeom>
            <a:solidFill>
              <a:srgbClr val="CCCCCC"/>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02" name="Rectangle 104"/>
            <p:cNvSpPr>
              <a:spLocks noChangeArrowheads="1"/>
            </p:cNvSpPr>
            <p:nvPr/>
          </p:nvSpPr>
          <p:spPr bwMode="auto">
            <a:xfrm>
              <a:off x="3145" y="1460"/>
              <a:ext cx="8" cy="80"/>
            </a:xfrm>
            <a:prstGeom prst="rect">
              <a:avLst/>
            </a:prstGeom>
            <a:solidFill>
              <a:srgbClr val="CDCDCD"/>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03" name="Rectangle 105"/>
            <p:cNvSpPr>
              <a:spLocks noChangeArrowheads="1"/>
            </p:cNvSpPr>
            <p:nvPr/>
          </p:nvSpPr>
          <p:spPr bwMode="auto">
            <a:xfrm>
              <a:off x="3153" y="1460"/>
              <a:ext cx="8" cy="80"/>
            </a:xfrm>
            <a:prstGeom prst="rect">
              <a:avLst/>
            </a:prstGeom>
            <a:solidFill>
              <a:srgbClr val="CFCFC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04" name="Rectangle 106"/>
            <p:cNvSpPr>
              <a:spLocks noChangeArrowheads="1"/>
            </p:cNvSpPr>
            <p:nvPr/>
          </p:nvSpPr>
          <p:spPr bwMode="auto">
            <a:xfrm>
              <a:off x="3161" y="1460"/>
              <a:ext cx="8" cy="80"/>
            </a:xfrm>
            <a:prstGeom prst="rect">
              <a:avLst/>
            </a:prstGeom>
            <a:solidFill>
              <a:srgbClr val="D1D1D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05" name="Rectangle 107"/>
            <p:cNvSpPr>
              <a:spLocks noChangeArrowheads="1"/>
            </p:cNvSpPr>
            <p:nvPr/>
          </p:nvSpPr>
          <p:spPr bwMode="auto">
            <a:xfrm>
              <a:off x="3169" y="1460"/>
              <a:ext cx="8" cy="80"/>
            </a:xfrm>
            <a:prstGeom prst="rect">
              <a:avLst/>
            </a:prstGeom>
            <a:solidFill>
              <a:srgbClr val="D2D2D2"/>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06" name="Rectangle 108"/>
            <p:cNvSpPr>
              <a:spLocks noChangeArrowheads="1"/>
            </p:cNvSpPr>
            <p:nvPr/>
          </p:nvSpPr>
          <p:spPr bwMode="auto">
            <a:xfrm>
              <a:off x="3177" y="1460"/>
              <a:ext cx="8" cy="80"/>
            </a:xfrm>
            <a:prstGeom prst="rect">
              <a:avLst/>
            </a:prstGeom>
            <a:solidFill>
              <a:srgbClr val="D3D3D3"/>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07" name="Rectangle 109"/>
            <p:cNvSpPr>
              <a:spLocks noChangeArrowheads="1"/>
            </p:cNvSpPr>
            <p:nvPr/>
          </p:nvSpPr>
          <p:spPr bwMode="auto">
            <a:xfrm>
              <a:off x="3185" y="1460"/>
              <a:ext cx="8" cy="80"/>
            </a:xfrm>
            <a:prstGeom prst="rect">
              <a:avLst/>
            </a:prstGeom>
            <a:solidFill>
              <a:srgbClr val="D5D5D5"/>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08" name="Rectangle 110"/>
            <p:cNvSpPr>
              <a:spLocks noChangeArrowheads="1"/>
            </p:cNvSpPr>
            <p:nvPr/>
          </p:nvSpPr>
          <p:spPr bwMode="auto">
            <a:xfrm>
              <a:off x="3193" y="1460"/>
              <a:ext cx="8" cy="80"/>
            </a:xfrm>
            <a:prstGeom prst="rect">
              <a:avLst/>
            </a:prstGeom>
            <a:solidFill>
              <a:srgbClr val="D6D6D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09" name="Rectangle 111"/>
            <p:cNvSpPr>
              <a:spLocks noChangeArrowheads="1"/>
            </p:cNvSpPr>
            <p:nvPr/>
          </p:nvSpPr>
          <p:spPr bwMode="auto">
            <a:xfrm>
              <a:off x="3201" y="1460"/>
              <a:ext cx="8" cy="80"/>
            </a:xfrm>
            <a:prstGeom prst="rect">
              <a:avLst/>
            </a:prstGeom>
            <a:solidFill>
              <a:srgbClr val="D8D8D8"/>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10" name="Rectangle 112"/>
            <p:cNvSpPr>
              <a:spLocks noChangeArrowheads="1"/>
            </p:cNvSpPr>
            <p:nvPr/>
          </p:nvSpPr>
          <p:spPr bwMode="auto">
            <a:xfrm>
              <a:off x="3209" y="1460"/>
              <a:ext cx="8" cy="80"/>
            </a:xfrm>
            <a:prstGeom prst="rect">
              <a:avLst/>
            </a:prstGeom>
            <a:solidFill>
              <a:srgbClr val="D9D9D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11" name="Rectangle 113"/>
            <p:cNvSpPr>
              <a:spLocks noChangeArrowheads="1"/>
            </p:cNvSpPr>
            <p:nvPr/>
          </p:nvSpPr>
          <p:spPr bwMode="auto">
            <a:xfrm>
              <a:off x="3217" y="1460"/>
              <a:ext cx="8" cy="80"/>
            </a:xfrm>
            <a:prstGeom prst="rect">
              <a:avLst/>
            </a:prstGeom>
            <a:solidFill>
              <a:srgbClr val="DBDBDB"/>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12" name="Rectangle 114"/>
            <p:cNvSpPr>
              <a:spLocks noChangeArrowheads="1"/>
            </p:cNvSpPr>
            <p:nvPr/>
          </p:nvSpPr>
          <p:spPr bwMode="auto">
            <a:xfrm>
              <a:off x="3225" y="1460"/>
              <a:ext cx="8" cy="80"/>
            </a:xfrm>
            <a:prstGeom prst="rect">
              <a:avLst/>
            </a:prstGeom>
            <a:solidFill>
              <a:srgbClr val="DCDCDC"/>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13" name="Rectangle 115"/>
            <p:cNvSpPr>
              <a:spLocks noChangeArrowheads="1"/>
            </p:cNvSpPr>
            <p:nvPr/>
          </p:nvSpPr>
          <p:spPr bwMode="auto">
            <a:xfrm>
              <a:off x="3233" y="1460"/>
              <a:ext cx="8" cy="80"/>
            </a:xfrm>
            <a:prstGeom prst="rect">
              <a:avLst/>
            </a:prstGeom>
            <a:solidFill>
              <a:srgbClr val="DEDEDE"/>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14" name="Rectangle 116"/>
            <p:cNvSpPr>
              <a:spLocks noChangeArrowheads="1"/>
            </p:cNvSpPr>
            <p:nvPr/>
          </p:nvSpPr>
          <p:spPr bwMode="auto">
            <a:xfrm>
              <a:off x="3241" y="1460"/>
              <a:ext cx="8" cy="80"/>
            </a:xfrm>
            <a:prstGeom prst="rect">
              <a:avLst/>
            </a:prstGeom>
            <a:solidFill>
              <a:srgbClr val="DFDFD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15" name="Rectangle 117"/>
            <p:cNvSpPr>
              <a:spLocks noChangeArrowheads="1"/>
            </p:cNvSpPr>
            <p:nvPr/>
          </p:nvSpPr>
          <p:spPr bwMode="auto">
            <a:xfrm>
              <a:off x="3249" y="1460"/>
              <a:ext cx="8" cy="80"/>
            </a:xfrm>
            <a:prstGeom prst="rect">
              <a:avLst/>
            </a:prstGeom>
            <a:solidFill>
              <a:srgbClr val="E0E0E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16" name="Rectangle 118"/>
            <p:cNvSpPr>
              <a:spLocks noChangeArrowheads="1"/>
            </p:cNvSpPr>
            <p:nvPr/>
          </p:nvSpPr>
          <p:spPr bwMode="auto">
            <a:xfrm>
              <a:off x="3257" y="1460"/>
              <a:ext cx="8" cy="80"/>
            </a:xfrm>
            <a:prstGeom prst="rect">
              <a:avLst/>
            </a:prstGeom>
            <a:solidFill>
              <a:srgbClr val="E2E2E2"/>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17" name="Rectangle 119"/>
            <p:cNvSpPr>
              <a:spLocks noChangeArrowheads="1"/>
            </p:cNvSpPr>
            <p:nvPr/>
          </p:nvSpPr>
          <p:spPr bwMode="auto">
            <a:xfrm>
              <a:off x="3265" y="1460"/>
              <a:ext cx="8" cy="80"/>
            </a:xfrm>
            <a:prstGeom prst="rect">
              <a:avLst/>
            </a:prstGeom>
            <a:solidFill>
              <a:srgbClr val="E3E3E3"/>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18" name="Rectangle 120"/>
            <p:cNvSpPr>
              <a:spLocks noChangeArrowheads="1"/>
            </p:cNvSpPr>
            <p:nvPr/>
          </p:nvSpPr>
          <p:spPr bwMode="auto">
            <a:xfrm>
              <a:off x="3273" y="1460"/>
              <a:ext cx="8" cy="80"/>
            </a:xfrm>
            <a:prstGeom prst="rect">
              <a:avLst/>
            </a:prstGeom>
            <a:solidFill>
              <a:srgbClr val="E5E5E5"/>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19" name="Rectangle 121"/>
            <p:cNvSpPr>
              <a:spLocks noChangeArrowheads="1"/>
            </p:cNvSpPr>
            <p:nvPr/>
          </p:nvSpPr>
          <p:spPr bwMode="auto">
            <a:xfrm>
              <a:off x="3065" y="1236"/>
              <a:ext cx="232" cy="8"/>
            </a:xfrm>
            <a:prstGeom prst="rect">
              <a:avLst/>
            </a:prstGeom>
            <a:solidFill>
              <a:srgbClr val="A8A8A8"/>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20" name="Rectangle 122"/>
            <p:cNvSpPr>
              <a:spLocks noChangeArrowheads="1"/>
            </p:cNvSpPr>
            <p:nvPr/>
          </p:nvSpPr>
          <p:spPr bwMode="auto">
            <a:xfrm>
              <a:off x="3065" y="1244"/>
              <a:ext cx="232" cy="8"/>
            </a:xfrm>
            <a:prstGeom prst="rect">
              <a:avLst/>
            </a:prstGeom>
            <a:solidFill>
              <a:srgbClr val="C1C1C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21" name="Rectangle 123"/>
            <p:cNvSpPr>
              <a:spLocks noChangeArrowheads="1"/>
            </p:cNvSpPr>
            <p:nvPr/>
          </p:nvSpPr>
          <p:spPr bwMode="auto">
            <a:xfrm>
              <a:off x="3070" y="1237"/>
              <a:ext cx="230" cy="9"/>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122" name="Rectangle 124"/>
            <p:cNvSpPr>
              <a:spLocks noChangeArrowheads="1"/>
            </p:cNvSpPr>
            <p:nvPr/>
          </p:nvSpPr>
          <p:spPr bwMode="auto">
            <a:xfrm>
              <a:off x="3065" y="1244"/>
              <a:ext cx="8" cy="40"/>
            </a:xfrm>
            <a:prstGeom prst="rect">
              <a:avLst/>
            </a:prstGeom>
            <a:solidFill>
              <a:srgbClr val="9D9D9D"/>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23" name="Rectangle 125"/>
            <p:cNvSpPr>
              <a:spLocks noChangeArrowheads="1"/>
            </p:cNvSpPr>
            <p:nvPr/>
          </p:nvSpPr>
          <p:spPr bwMode="auto">
            <a:xfrm>
              <a:off x="3073" y="1244"/>
              <a:ext cx="8" cy="40"/>
            </a:xfrm>
            <a:prstGeom prst="rect">
              <a:avLst/>
            </a:prstGeom>
            <a:solidFill>
              <a:srgbClr val="9C9C9C"/>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24" name="Rectangle 126"/>
            <p:cNvSpPr>
              <a:spLocks noChangeArrowheads="1"/>
            </p:cNvSpPr>
            <p:nvPr/>
          </p:nvSpPr>
          <p:spPr bwMode="auto">
            <a:xfrm>
              <a:off x="3081" y="1244"/>
              <a:ext cx="8" cy="40"/>
            </a:xfrm>
            <a:prstGeom prst="rect">
              <a:avLst/>
            </a:prstGeom>
            <a:solidFill>
              <a:srgbClr val="A2A2A2"/>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25" name="Rectangle 127"/>
            <p:cNvSpPr>
              <a:spLocks noChangeArrowheads="1"/>
            </p:cNvSpPr>
            <p:nvPr/>
          </p:nvSpPr>
          <p:spPr bwMode="auto">
            <a:xfrm>
              <a:off x="3089" y="1244"/>
              <a:ext cx="8" cy="40"/>
            </a:xfrm>
            <a:prstGeom prst="rect">
              <a:avLst/>
            </a:prstGeom>
            <a:solidFill>
              <a:srgbClr val="A7A7A7"/>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26" name="Rectangle 128"/>
            <p:cNvSpPr>
              <a:spLocks noChangeArrowheads="1"/>
            </p:cNvSpPr>
            <p:nvPr/>
          </p:nvSpPr>
          <p:spPr bwMode="auto">
            <a:xfrm>
              <a:off x="3097" y="1244"/>
              <a:ext cx="8" cy="40"/>
            </a:xfrm>
            <a:prstGeom prst="rect">
              <a:avLst/>
            </a:prstGeom>
            <a:solidFill>
              <a:srgbClr val="ACACAC"/>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27" name="Rectangle 129"/>
            <p:cNvSpPr>
              <a:spLocks noChangeArrowheads="1"/>
            </p:cNvSpPr>
            <p:nvPr/>
          </p:nvSpPr>
          <p:spPr bwMode="auto">
            <a:xfrm>
              <a:off x="3105" y="1244"/>
              <a:ext cx="8" cy="40"/>
            </a:xfrm>
            <a:prstGeom prst="rect">
              <a:avLst/>
            </a:prstGeom>
            <a:solidFill>
              <a:srgbClr val="B2B2B2"/>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28" name="Rectangle 130"/>
            <p:cNvSpPr>
              <a:spLocks noChangeArrowheads="1"/>
            </p:cNvSpPr>
            <p:nvPr/>
          </p:nvSpPr>
          <p:spPr bwMode="auto">
            <a:xfrm>
              <a:off x="3113" y="1244"/>
              <a:ext cx="8" cy="40"/>
            </a:xfrm>
            <a:prstGeom prst="rect">
              <a:avLst/>
            </a:prstGeom>
            <a:solidFill>
              <a:srgbClr val="B7B7B7"/>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29" name="Rectangle 131"/>
            <p:cNvSpPr>
              <a:spLocks noChangeArrowheads="1"/>
            </p:cNvSpPr>
            <p:nvPr/>
          </p:nvSpPr>
          <p:spPr bwMode="auto">
            <a:xfrm>
              <a:off x="3121" y="1244"/>
              <a:ext cx="8" cy="40"/>
            </a:xfrm>
            <a:prstGeom prst="rect">
              <a:avLst/>
            </a:prstGeom>
            <a:solidFill>
              <a:srgbClr val="BCBCBC"/>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30" name="Rectangle 132"/>
            <p:cNvSpPr>
              <a:spLocks noChangeArrowheads="1"/>
            </p:cNvSpPr>
            <p:nvPr/>
          </p:nvSpPr>
          <p:spPr bwMode="auto">
            <a:xfrm>
              <a:off x="3129" y="1244"/>
              <a:ext cx="8" cy="40"/>
            </a:xfrm>
            <a:prstGeom prst="rect">
              <a:avLst/>
            </a:prstGeom>
            <a:solidFill>
              <a:srgbClr val="C1C1C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31" name="Rectangle 133"/>
            <p:cNvSpPr>
              <a:spLocks noChangeArrowheads="1"/>
            </p:cNvSpPr>
            <p:nvPr/>
          </p:nvSpPr>
          <p:spPr bwMode="auto">
            <a:xfrm>
              <a:off x="3137" y="1244"/>
              <a:ext cx="8" cy="40"/>
            </a:xfrm>
            <a:prstGeom prst="rect">
              <a:avLst/>
            </a:prstGeom>
            <a:solidFill>
              <a:srgbClr val="C7C7C7"/>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32" name="Rectangle 134"/>
            <p:cNvSpPr>
              <a:spLocks noChangeArrowheads="1"/>
            </p:cNvSpPr>
            <p:nvPr/>
          </p:nvSpPr>
          <p:spPr bwMode="auto">
            <a:xfrm>
              <a:off x="3145" y="1244"/>
              <a:ext cx="8" cy="40"/>
            </a:xfrm>
            <a:prstGeom prst="rect">
              <a:avLst/>
            </a:prstGeom>
            <a:solidFill>
              <a:srgbClr val="CCCCCC"/>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33" name="Rectangle 135"/>
            <p:cNvSpPr>
              <a:spLocks noChangeArrowheads="1"/>
            </p:cNvSpPr>
            <p:nvPr/>
          </p:nvSpPr>
          <p:spPr bwMode="auto">
            <a:xfrm>
              <a:off x="3153" y="1244"/>
              <a:ext cx="8" cy="40"/>
            </a:xfrm>
            <a:prstGeom prst="rect">
              <a:avLst/>
            </a:prstGeom>
            <a:solidFill>
              <a:srgbClr val="D1D1D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34" name="Rectangle 136"/>
            <p:cNvSpPr>
              <a:spLocks noChangeArrowheads="1"/>
            </p:cNvSpPr>
            <p:nvPr/>
          </p:nvSpPr>
          <p:spPr bwMode="auto">
            <a:xfrm>
              <a:off x="3161" y="1244"/>
              <a:ext cx="8" cy="40"/>
            </a:xfrm>
            <a:prstGeom prst="rect">
              <a:avLst/>
            </a:prstGeom>
            <a:solidFill>
              <a:srgbClr val="D7D7D7"/>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35" name="Rectangle 137"/>
            <p:cNvSpPr>
              <a:spLocks noChangeArrowheads="1"/>
            </p:cNvSpPr>
            <p:nvPr/>
          </p:nvSpPr>
          <p:spPr bwMode="auto">
            <a:xfrm>
              <a:off x="3169" y="1244"/>
              <a:ext cx="8" cy="40"/>
            </a:xfrm>
            <a:prstGeom prst="rect">
              <a:avLst/>
            </a:prstGeom>
            <a:solidFill>
              <a:srgbClr val="DCDCDC"/>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36" name="Rectangle 138"/>
            <p:cNvSpPr>
              <a:spLocks noChangeArrowheads="1"/>
            </p:cNvSpPr>
            <p:nvPr/>
          </p:nvSpPr>
          <p:spPr bwMode="auto">
            <a:xfrm>
              <a:off x="3177" y="1244"/>
              <a:ext cx="8" cy="40"/>
            </a:xfrm>
            <a:prstGeom prst="rect">
              <a:avLst/>
            </a:prstGeom>
            <a:solidFill>
              <a:srgbClr val="E1E1E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37" name="Rectangle 139"/>
            <p:cNvSpPr>
              <a:spLocks noChangeArrowheads="1"/>
            </p:cNvSpPr>
            <p:nvPr/>
          </p:nvSpPr>
          <p:spPr bwMode="auto">
            <a:xfrm>
              <a:off x="3185" y="1244"/>
              <a:ext cx="8" cy="40"/>
            </a:xfrm>
            <a:prstGeom prst="rect">
              <a:avLst/>
            </a:prstGeom>
            <a:solidFill>
              <a:srgbClr val="E6E6E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38" name="Rectangle 140"/>
            <p:cNvSpPr>
              <a:spLocks noChangeArrowheads="1"/>
            </p:cNvSpPr>
            <p:nvPr/>
          </p:nvSpPr>
          <p:spPr bwMode="auto">
            <a:xfrm>
              <a:off x="3193" y="1244"/>
              <a:ext cx="8" cy="40"/>
            </a:xfrm>
            <a:prstGeom prst="rect">
              <a:avLst/>
            </a:prstGeom>
            <a:solidFill>
              <a:srgbClr val="E1E1E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39" name="Rectangle 141"/>
            <p:cNvSpPr>
              <a:spLocks noChangeArrowheads="1"/>
            </p:cNvSpPr>
            <p:nvPr/>
          </p:nvSpPr>
          <p:spPr bwMode="auto">
            <a:xfrm>
              <a:off x="3201" y="1244"/>
              <a:ext cx="8" cy="40"/>
            </a:xfrm>
            <a:prstGeom prst="rect">
              <a:avLst/>
            </a:prstGeom>
            <a:solidFill>
              <a:srgbClr val="DBDBDB"/>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40" name="Rectangle 142"/>
            <p:cNvSpPr>
              <a:spLocks noChangeArrowheads="1"/>
            </p:cNvSpPr>
            <p:nvPr/>
          </p:nvSpPr>
          <p:spPr bwMode="auto">
            <a:xfrm>
              <a:off x="3209" y="1244"/>
              <a:ext cx="8" cy="40"/>
            </a:xfrm>
            <a:prstGeom prst="rect">
              <a:avLst/>
            </a:prstGeom>
            <a:solidFill>
              <a:srgbClr val="D6D6D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41" name="Rectangle 143"/>
            <p:cNvSpPr>
              <a:spLocks noChangeArrowheads="1"/>
            </p:cNvSpPr>
            <p:nvPr/>
          </p:nvSpPr>
          <p:spPr bwMode="auto">
            <a:xfrm>
              <a:off x="3217" y="1244"/>
              <a:ext cx="8" cy="40"/>
            </a:xfrm>
            <a:prstGeom prst="rect">
              <a:avLst/>
            </a:prstGeom>
            <a:solidFill>
              <a:srgbClr val="D1D1D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42" name="Rectangle 144"/>
            <p:cNvSpPr>
              <a:spLocks noChangeArrowheads="1"/>
            </p:cNvSpPr>
            <p:nvPr/>
          </p:nvSpPr>
          <p:spPr bwMode="auto">
            <a:xfrm>
              <a:off x="3225" y="1244"/>
              <a:ext cx="8" cy="40"/>
            </a:xfrm>
            <a:prstGeom prst="rect">
              <a:avLst/>
            </a:prstGeom>
            <a:solidFill>
              <a:srgbClr val="CCCCCC"/>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43" name="Rectangle 145"/>
            <p:cNvSpPr>
              <a:spLocks noChangeArrowheads="1"/>
            </p:cNvSpPr>
            <p:nvPr/>
          </p:nvSpPr>
          <p:spPr bwMode="auto">
            <a:xfrm>
              <a:off x="3233" y="1244"/>
              <a:ext cx="8" cy="40"/>
            </a:xfrm>
            <a:prstGeom prst="rect">
              <a:avLst/>
            </a:prstGeom>
            <a:solidFill>
              <a:srgbClr val="C6C6C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44" name="Rectangle 146"/>
            <p:cNvSpPr>
              <a:spLocks noChangeArrowheads="1"/>
            </p:cNvSpPr>
            <p:nvPr/>
          </p:nvSpPr>
          <p:spPr bwMode="auto">
            <a:xfrm>
              <a:off x="3241" y="1244"/>
              <a:ext cx="8" cy="40"/>
            </a:xfrm>
            <a:prstGeom prst="rect">
              <a:avLst/>
            </a:prstGeom>
            <a:solidFill>
              <a:srgbClr val="C1C1C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45" name="Rectangle 147"/>
            <p:cNvSpPr>
              <a:spLocks noChangeArrowheads="1"/>
            </p:cNvSpPr>
            <p:nvPr/>
          </p:nvSpPr>
          <p:spPr bwMode="auto">
            <a:xfrm>
              <a:off x="3249" y="1244"/>
              <a:ext cx="8" cy="40"/>
            </a:xfrm>
            <a:prstGeom prst="rect">
              <a:avLst/>
            </a:prstGeom>
            <a:solidFill>
              <a:srgbClr val="BCBCBC"/>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46" name="Rectangle 148"/>
            <p:cNvSpPr>
              <a:spLocks noChangeArrowheads="1"/>
            </p:cNvSpPr>
            <p:nvPr/>
          </p:nvSpPr>
          <p:spPr bwMode="auto">
            <a:xfrm>
              <a:off x="3257" y="1244"/>
              <a:ext cx="8" cy="40"/>
            </a:xfrm>
            <a:prstGeom prst="rect">
              <a:avLst/>
            </a:prstGeom>
            <a:solidFill>
              <a:srgbClr val="B6B6B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47" name="Rectangle 149"/>
            <p:cNvSpPr>
              <a:spLocks noChangeArrowheads="1"/>
            </p:cNvSpPr>
            <p:nvPr/>
          </p:nvSpPr>
          <p:spPr bwMode="auto">
            <a:xfrm>
              <a:off x="3265" y="1244"/>
              <a:ext cx="8" cy="40"/>
            </a:xfrm>
            <a:prstGeom prst="rect">
              <a:avLst/>
            </a:prstGeom>
            <a:solidFill>
              <a:srgbClr val="B1B1B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48" name="Rectangle 150"/>
            <p:cNvSpPr>
              <a:spLocks noChangeArrowheads="1"/>
            </p:cNvSpPr>
            <p:nvPr/>
          </p:nvSpPr>
          <p:spPr bwMode="auto">
            <a:xfrm>
              <a:off x="3273" y="1244"/>
              <a:ext cx="8" cy="40"/>
            </a:xfrm>
            <a:prstGeom prst="rect">
              <a:avLst/>
            </a:prstGeom>
            <a:solidFill>
              <a:srgbClr val="ABABAB"/>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49" name="Rectangle 151"/>
            <p:cNvSpPr>
              <a:spLocks noChangeArrowheads="1"/>
            </p:cNvSpPr>
            <p:nvPr/>
          </p:nvSpPr>
          <p:spPr bwMode="auto">
            <a:xfrm>
              <a:off x="3281" y="1244"/>
              <a:ext cx="8" cy="40"/>
            </a:xfrm>
            <a:prstGeom prst="rect">
              <a:avLst/>
            </a:prstGeom>
            <a:solidFill>
              <a:srgbClr val="A6A6A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50" name="Rectangle 152"/>
            <p:cNvSpPr>
              <a:spLocks noChangeArrowheads="1"/>
            </p:cNvSpPr>
            <p:nvPr/>
          </p:nvSpPr>
          <p:spPr bwMode="auto">
            <a:xfrm>
              <a:off x="3289" y="1244"/>
              <a:ext cx="8" cy="40"/>
            </a:xfrm>
            <a:prstGeom prst="rect">
              <a:avLst/>
            </a:prstGeom>
            <a:solidFill>
              <a:srgbClr val="A1A1A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51" name="Rectangle 153"/>
            <p:cNvSpPr>
              <a:spLocks noChangeArrowheads="1"/>
            </p:cNvSpPr>
            <p:nvPr/>
          </p:nvSpPr>
          <p:spPr bwMode="auto">
            <a:xfrm>
              <a:off x="3070" y="1246"/>
              <a:ext cx="230" cy="36"/>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152" name="Rectangle 154"/>
            <p:cNvSpPr>
              <a:spLocks noChangeArrowheads="1"/>
            </p:cNvSpPr>
            <p:nvPr/>
          </p:nvSpPr>
          <p:spPr bwMode="auto">
            <a:xfrm>
              <a:off x="3076" y="1253"/>
              <a:ext cx="50" cy="22"/>
            </a:xfrm>
            <a:prstGeom prst="rect">
              <a:avLst/>
            </a:prstGeom>
            <a:solidFill>
              <a:srgbClr val="66666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53" name="Rectangle 155"/>
            <p:cNvSpPr>
              <a:spLocks noChangeArrowheads="1"/>
            </p:cNvSpPr>
            <p:nvPr/>
          </p:nvSpPr>
          <p:spPr bwMode="auto">
            <a:xfrm>
              <a:off x="3076" y="1253"/>
              <a:ext cx="50" cy="22"/>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154" name="Rectangle 156"/>
            <p:cNvSpPr>
              <a:spLocks noChangeArrowheads="1"/>
            </p:cNvSpPr>
            <p:nvPr/>
          </p:nvSpPr>
          <p:spPr bwMode="auto">
            <a:xfrm>
              <a:off x="3079" y="1256"/>
              <a:ext cx="13" cy="6"/>
            </a:xfrm>
            <a:prstGeom prst="rect">
              <a:avLst/>
            </a:prstGeom>
            <a:solidFill>
              <a:srgbClr val="FF00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55" name="Rectangle 157"/>
            <p:cNvSpPr>
              <a:spLocks noChangeArrowheads="1"/>
            </p:cNvSpPr>
            <p:nvPr/>
          </p:nvSpPr>
          <p:spPr bwMode="auto">
            <a:xfrm>
              <a:off x="3110" y="1256"/>
              <a:ext cx="13" cy="6"/>
            </a:xfrm>
            <a:prstGeom prst="rect">
              <a:avLst/>
            </a:prstGeom>
            <a:solidFill>
              <a:srgbClr val="00FF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56" name="Rectangle 158"/>
            <p:cNvSpPr>
              <a:spLocks noChangeArrowheads="1"/>
            </p:cNvSpPr>
            <p:nvPr/>
          </p:nvSpPr>
          <p:spPr bwMode="auto">
            <a:xfrm>
              <a:off x="3079" y="1266"/>
              <a:ext cx="13" cy="6"/>
            </a:xfrm>
            <a:prstGeom prst="rect">
              <a:avLst/>
            </a:prstGeom>
            <a:solidFill>
              <a:srgbClr val="00FF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57" name="Rectangle 159"/>
            <p:cNvSpPr>
              <a:spLocks noChangeArrowheads="1"/>
            </p:cNvSpPr>
            <p:nvPr/>
          </p:nvSpPr>
          <p:spPr bwMode="auto">
            <a:xfrm>
              <a:off x="3095" y="1266"/>
              <a:ext cx="12" cy="6"/>
            </a:xfrm>
            <a:prstGeom prst="rect">
              <a:avLst/>
            </a:prstGeom>
            <a:solidFill>
              <a:srgbClr val="FF00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58" name="Rectangle 160"/>
            <p:cNvSpPr>
              <a:spLocks noChangeArrowheads="1"/>
            </p:cNvSpPr>
            <p:nvPr/>
          </p:nvSpPr>
          <p:spPr bwMode="auto">
            <a:xfrm>
              <a:off x="3095" y="1256"/>
              <a:ext cx="12" cy="6"/>
            </a:xfrm>
            <a:prstGeom prst="rect">
              <a:avLst/>
            </a:prstGeom>
            <a:solidFill>
              <a:srgbClr val="FF00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59" name="Rectangle 161"/>
            <p:cNvSpPr>
              <a:spLocks noChangeArrowheads="1"/>
            </p:cNvSpPr>
            <p:nvPr/>
          </p:nvSpPr>
          <p:spPr bwMode="auto">
            <a:xfrm>
              <a:off x="3110" y="1266"/>
              <a:ext cx="13" cy="6"/>
            </a:xfrm>
            <a:prstGeom prst="rect">
              <a:avLst/>
            </a:prstGeom>
            <a:solidFill>
              <a:srgbClr val="00FF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60" name="Freeform 162"/>
            <p:cNvSpPr>
              <a:spLocks noEditPoints="1"/>
            </p:cNvSpPr>
            <p:nvPr/>
          </p:nvSpPr>
          <p:spPr bwMode="auto">
            <a:xfrm>
              <a:off x="3070" y="1336"/>
              <a:ext cx="230" cy="259"/>
            </a:xfrm>
            <a:custGeom>
              <a:avLst/>
              <a:gdLst>
                <a:gd name="T0" fmla="*/ 230 w 230"/>
                <a:gd name="T1" fmla="*/ 128 h 259"/>
                <a:gd name="T2" fmla="*/ 230 w 230"/>
                <a:gd name="T3" fmla="*/ 131 h 259"/>
                <a:gd name="T4" fmla="*/ 0 w 230"/>
                <a:gd name="T5" fmla="*/ 131 h 259"/>
                <a:gd name="T6" fmla="*/ 0 w 230"/>
                <a:gd name="T7" fmla="*/ 128 h 259"/>
                <a:gd name="T8" fmla="*/ 230 w 230"/>
                <a:gd name="T9" fmla="*/ 128 h 259"/>
                <a:gd name="T10" fmla="*/ 230 w 230"/>
                <a:gd name="T11" fmla="*/ 102 h 259"/>
                <a:gd name="T12" fmla="*/ 230 w 230"/>
                <a:gd name="T13" fmla="*/ 106 h 259"/>
                <a:gd name="T14" fmla="*/ 0 w 230"/>
                <a:gd name="T15" fmla="*/ 106 h 259"/>
                <a:gd name="T16" fmla="*/ 0 w 230"/>
                <a:gd name="T17" fmla="*/ 102 h 259"/>
                <a:gd name="T18" fmla="*/ 230 w 230"/>
                <a:gd name="T19" fmla="*/ 102 h 259"/>
                <a:gd name="T20" fmla="*/ 230 w 230"/>
                <a:gd name="T21" fmla="*/ 77 h 259"/>
                <a:gd name="T22" fmla="*/ 230 w 230"/>
                <a:gd name="T23" fmla="*/ 80 h 259"/>
                <a:gd name="T24" fmla="*/ 0 w 230"/>
                <a:gd name="T25" fmla="*/ 80 h 259"/>
                <a:gd name="T26" fmla="*/ 0 w 230"/>
                <a:gd name="T27" fmla="*/ 77 h 259"/>
                <a:gd name="T28" fmla="*/ 230 w 230"/>
                <a:gd name="T29" fmla="*/ 77 h 259"/>
                <a:gd name="T30" fmla="*/ 230 w 230"/>
                <a:gd name="T31" fmla="*/ 51 h 259"/>
                <a:gd name="T32" fmla="*/ 230 w 230"/>
                <a:gd name="T33" fmla="*/ 54 h 259"/>
                <a:gd name="T34" fmla="*/ 0 w 230"/>
                <a:gd name="T35" fmla="*/ 54 h 259"/>
                <a:gd name="T36" fmla="*/ 0 w 230"/>
                <a:gd name="T37" fmla="*/ 51 h 259"/>
                <a:gd name="T38" fmla="*/ 230 w 230"/>
                <a:gd name="T39" fmla="*/ 51 h 259"/>
                <a:gd name="T40" fmla="*/ 230 w 230"/>
                <a:gd name="T41" fmla="*/ 26 h 259"/>
                <a:gd name="T42" fmla="*/ 230 w 230"/>
                <a:gd name="T43" fmla="*/ 29 h 259"/>
                <a:gd name="T44" fmla="*/ 0 w 230"/>
                <a:gd name="T45" fmla="*/ 29 h 259"/>
                <a:gd name="T46" fmla="*/ 0 w 230"/>
                <a:gd name="T47" fmla="*/ 26 h 259"/>
                <a:gd name="T48" fmla="*/ 230 w 230"/>
                <a:gd name="T49" fmla="*/ 26 h 259"/>
                <a:gd name="T50" fmla="*/ 230 w 230"/>
                <a:gd name="T51" fmla="*/ 0 h 259"/>
                <a:gd name="T52" fmla="*/ 230 w 230"/>
                <a:gd name="T53" fmla="*/ 3 h 259"/>
                <a:gd name="T54" fmla="*/ 0 w 230"/>
                <a:gd name="T55" fmla="*/ 3 h 259"/>
                <a:gd name="T56" fmla="*/ 0 w 230"/>
                <a:gd name="T57" fmla="*/ 0 h 259"/>
                <a:gd name="T58" fmla="*/ 230 w 230"/>
                <a:gd name="T59" fmla="*/ 0 h 259"/>
                <a:gd name="T60" fmla="*/ 230 w 230"/>
                <a:gd name="T61" fmla="*/ 179 h 259"/>
                <a:gd name="T62" fmla="*/ 230 w 230"/>
                <a:gd name="T63" fmla="*/ 182 h 259"/>
                <a:gd name="T64" fmla="*/ 205 w 230"/>
                <a:gd name="T65" fmla="*/ 182 h 259"/>
                <a:gd name="T66" fmla="*/ 205 w 230"/>
                <a:gd name="T67" fmla="*/ 179 h 259"/>
                <a:gd name="T68" fmla="*/ 230 w 230"/>
                <a:gd name="T69" fmla="*/ 179 h 259"/>
                <a:gd name="T70" fmla="*/ 230 w 230"/>
                <a:gd name="T71" fmla="*/ 154 h 259"/>
                <a:gd name="T72" fmla="*/ 230 w 230"/>
                <a:gd name="T73" fmla="*/ 157 h 259"/>
                <a:gd name="T74" fmla="*/ 205 w 230"/>
                <a:gd name="T75" fmla="*/ 157 h 259"/>
                <a:gd name="T76" fmla="*/ 205 w 230"/>
                <a:gd name="T77" fmla="*/ 154 h 259"/>
                <a:gd name="T78" fmla="*/ 230 w 230"/>
                <a:gd name="T79" fmla="*/ 154 h 259"/>
                <a:gd name="T80" fmla="*/ 230 w 230"/>
                <a:gd name="T81" fmla="*/ 205 h 259"/>
                <a:gd name="T82" fmla="*/ 230 w 230"/>
                <a:gd name="T83" fmla="*/ 208 h 259"/>
                <a:gd name="T84" fmla="*/ 0 w 230"/>
                <a:gd name="T85" fmla="*/ 208 h 259"/>
                <a:gd name="T86" fmla="*/ 0 w 230"/>
                <a:gd name="T87" fmla="*/ 205 h 259"/>
                <a:gd name="T88" fmla="*/ 230 w 230"/>
                <a:gd name="T89" fmla="*/ 205 h 259"/>
                <a:gd name="T90" fmla="*/ 230 w 230"/>
                <a:gd name="T91" fmla="*/ 230 h 259"/>
                <a:gd name="T92" fmla="*/ 230 w 230"/>
                <a:gd name="T93" fmla="*/ 234 h 259"/>
                <a:gd name="T94" fmla="*/ 0 w 230"/>
                <a:gd name="T95" fmla="*/ 234 h 259"/>
                <a:gd name="T96" fmla="*/ 0 w 230"/>
                <a:gd name="T97" fmla="*/ 230 h 259"/>
                <a:gd name="T98" fmla="*/ 230 w 230"/>
                <a:gd name="T99" fmla="*/ 230 h 259"/>
                <a:gd name="T100" fmla="*/ 230 w 230"/>
                <a:gd name="T101" fmla="*/ 256 h 259"/>
                <a:gd name="T102" fmla="*/ 230 w 230"/>
                <a:gd name="T103" fmla="*/ 259 h 259"/>
                <a:gd name="T104" fmla="*/ 0 w 230"/>
                <a:gd name="T105" fmla="*/ 259 h 259"/>
                <a:gd name="T106" fmla="*/ 0 w 230"/>
                <a:gd name="T107" fmla="*/ 256 h 259"/>
                <a:gd name="T108" fmla="*/ 230 w 230"/>
                <a:gd name="T109" fmla="*/ 256 h 25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30"/>
                <a:gd name="T166" fmla="*/ 0 h 259"/>
                <a:gd name="T167" fmla="*/ 230 w 230"/>
                <a:gd name="T168" fmla="*/ 259 h 25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30" h="259">
                  <a:moveTo>
                    <a:pt x="230" y="128"/>
                  </a:moveTo>
                  <a:lnTo>
                    <a:pt x="230" y="131"/>
                  </a:lnTo>
                  <a:lnTo>
                    <a:pt x="0" y="131"/>
                  </a:lnTo>
                  <a:lnTo>
                    <a:pt x="0" y="128"/>
                  </a:lnTo>
                  <a:lnTo>
                    <a:pt x="230" y="128"/>
                  </a:lnTo>
                  <a:close/>
                  <a:moveTo>
                    <a:pt x="230" y="102"/>
                  </a:moveTo>
                  <a:lnTo>
                    <a:pt x="230" y="106"/>
                  </a:lnTo>
                  <a:lnTo>
                    <a:pt x="0" y="106"/>
                  </a:lnTo>
                  <a:lnTo>
                    <a:pt x="0" y="102"/>
                  </a:lnTo>
                  <a:lnTo>
                    <a:pt x="230" y="102"/>
                  </a:lnTo>
                  <a:close/>
                  <a:moveTo>
                    <a:pt x="230" y="77"/>
                  </a:moveTo>
                  <a:lnTo>
                    <a:pt x="230" y="80"/>
                  </a:lnTo>
                  <a:lnTo>
                    <a:pt x="0" y="80"/>
                  </a:lnTo>
                  <a:lnTo>
                    <a:pt x="0" y="77"/>
                  </a:lnTo>
                  <a:lnTo>
                    <a:pt x="230" y="77"/>
                  </a:lnTo>
                  <a:close/>
                  <a:moveTo>
                    <a:pt x="230" y="51"/>
                  </a:moveTo>
                  <a:lnTo>
                    <a:pt x="230" y="54"/>
                  </a:lnTo>
                  <a:lnTo>
                    <a:pt x="0" y="54"/>
                  </a:lnTo>
                  <a:lnTo>
                    <a:pt x="0" y="51"/>
                  </a:lnTo>
                  <a:lnTo>
                    <a:pt x="230" y="51"/>
                  </a:lnTo>
                  <a:close/>
                  <a:moveTo>
                    <a:pt x="230" y="26"/>
                  </a:moveTo>
                  <a:lnTo>
                    <a:pt x="230" y="29"/>
                  </a:lnTo>
                  <a:lnTo>
                    <a:pt x="0" y="29"/>
                  </a:lnTo>
                  <a:lnTo>
                    <a:pt x="0" y="26"/>
                  </a:lnTo>
                  <a:lnTo>
                    <a:pt x="230" y="26"/>
                  </a:lnTo>
                  <a:close/>
                  <a:moveTo>
                    <a:pt x="230" y="0"/>
                  </a:moveTo>
                  <a:lnTo>
                    <a:pt x="230" y="3"/>
                  </a:lnTo>
                  <a:lnTo>
                    <a:pt x="0" y="3"/>
                  </a:lnTo>
                  <a:lnTo>
                    <a:pt x="0" y="0"/>
                  </a:lnTo>
                  <a:lnTo>
                    <a:pt x="230" y="0"/>
                  </a:lnTo>
                  <a:close/>
                  <a:moveTo>
                    <a:pt x="230" y="179"/>
                  </a:moveTo>
                  <a:lnTo>
                    <a:pt x="230" y="182"/>
                  </a:lnTo>
                  <a:lnTo>
                    <a:pt x="205" y="182"/>
                  </a:lnTo>
                  <a:lnTo>
                    <a:pt x="205" y="179"/>
                  </a:lnTo>
                  <a:lnTo>
                    <a:pt x="230" y="179"/>
                  </a:lnTo>
                  <a:close/>
                  <a:moveTo>
                    <a:pt x="230" y="154"/>
                  </a:moveTo>
                  <a:lnTo>
                    <a:pt x="230" y="157"/>
                  </a:lnTo>
                  <a:lnTo>
                    <a:pt x="205" y="157"/>
                  </a:lnTo>
                  <a:lnTo>
                    <a:pt x="205" y="154"/>
                  </a:lnTo>
                  <a:lnTo>
                    <a:pt x="230" y="154"/>
                  </a:lnTo>
                  <a:close/>
                  <a:moveTo>
                    <a:pt x="230" y="205"/>
                  </a:moveTo>
                  <a:lnTo>
                    <a:pt x="230" y="208"/>
                  </a:lnTo>
                  <a:lnTo>
                    <a:pt x="0" y="208"/>
                  </a:lnTo>
                  <a:lnTo>
                    <a:pt x="0" y="205"/>
                  </a:lnTo>
                  <a:lnTo>
                    <a:pt x="230" y="205"/>
                  </a:lnTo>
                  <a:close/>
                  <a:moveTo>
                    <a:pt x="230" y="230"/>
                  </a:moveTo>
                  <a:lnTo>
                    <a:pt x="230" y="234"/>
                  </a:lnTo>
                  <a:lnTo>
                    <a:pt x="0" y="234"/>
                  </a:lnTo>
                  <a:lnTo>
                    <a:pt x="0" y="230"/>
                  </a:lnTo>
                  <a:lnTo>
                    <a:pt x="230" y="230"/>
                  </a:lnTo>
                  <a:close/>
                  <a:moveTo>
                    <a:pt x="230" y="256"/>
                  </a:moveTo>
                  <a:lnTo>
                    <a:pt x="230" y="259"/>
                  </a:lnTo>
                  <a:lnTo>
                    <a:pt x="0" y="259"/>
                  </a:lnTo>
                  <a:lnTo>
                    <a:pt x="0" y="256"/>
                  </a:lnTo>
                  <a:lnTo>
                    <a:pt x="230" y="256"/>
                  </a:lnTo>
                  <a:close/>
                </a:path>
              </a:pathLst>
            </a:custGeom>
            <a:solidFill>
              <a:srgbClr val="666666"/>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pic>
          <p:nvPicPr>
            <p:cNvPr id="161" name="Picture 16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249" y="1468"/>
              <a:ext cx="40" cy="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62" name="Picture 164"/>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249" y="1468"/>
              <a:ext cx="40" cy="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63" name="Rectangle 165"/>
            <p:cNvSpPr>
              <a:spLocks noChangeArrowheads="1"/>
            </p:cNvSpPr>
            <p:nvPr/>
          </p:nvSpPr>
          <p:spPr bwMode="auto">
            <a:xfrm>
              <a:off x="3275" y="1282"/>
              <a:ext cx="6" cy="332"/>
            </a:xfrm>
            <a:prstGeom prst="rect">
              <a:avLst/>
            </a:prstGeom>
            <a:solidFill>
              <a:srgbClr val="66666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64" name="Rectangle 166"/>
            <p:cNvSpPr>
              <a:spLocks noChangeArrowheads="1"/>
            </p:cNvSpPr>
            <p:nvPr/>
          </p:nvSpPr>
          <p:spPr bwMode="auto">
            <a:xfrm>
              <a:off x="3272" y="1282"/>
              <a:ext cx="6" cy="332"/>
            </a:xfrm>
            <a:prstGeom prst="rect">
              <a:avLst/>
            </a:prstGeom>
            <a:solidFill>
              <a:srgbClr val="9A9A9A"/>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pic>
          <p:nvPicPr>
            <p:cNvPr id="165" name="Picture 167"/>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257" y="1556"/>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66" name="Picture 168"/>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265" y="1556"/>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67" name="Picture 169"/>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265" y="1556"/>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68" name="Freeform 170"/>
            <p:cNvSpPr>
              <a:spLocks/>
            </p:cNvSpPr>
            <p:nvPr/>
          </p:nvSpPr>
          <p:spPr bwMode="auto">
            <a:xfrm>
              <a:off x="3273" y="1565"/>
              <a:ext cx="4" cy="5"/>
            </a:xfrm>
            <a:custGeom>
              <a:avLst/>
              <a:gdLst>
                <a:gd name="T0" fmla="*/ 0 w 8"/>
                <a:gd name="T1" fmla="*/ 5 h 9"/>
                <a:gd name="T2" fmla="*/ 4 w 8"/>
                <a:gd name="T3" fmla="*/ 0 h 9"/>
                <a:gd name="T4" fmla="*/ 8 w 8"/>
                <a:gd name="T5" fmla="*/ 5 h 9"/>
                <a:gd name="T6" fmla="*/ 8 w 8"/>
                <a:gd name="T7" fmla="*/ 5 h 9"/>
                <a:gd name="T8" fmla="*/ 4 w 8"/>
                <a:gd name="T9" fmla="*/ 9 h 9"/>
                <a:gd name="T10" fmla="*/ 0 w 8"/>
                <a:gd name="T11" fmla="*/ 5 h 9"/>
                <a:gd name="T12" fmla="*/ 0 60000 65536"/>
                <a:gd name="T13" fmla="*/ 0 60000 65536"/>
                <a:gd name="T14" fmla="*/ 0 60000 65536"/>
                <a:gd name="T15" fmla="*/ 0 60000 65536"/>
                <a:gd name="T16" fmla="*/ 0 60000 65536"/>
                <a:gd name="T17" fmla="*/ 0 60000 65536"/>
                <a:gd name="T18" fmla="*/ 0 w 8"/>
                <a:gd name="T19" fmla="*/ 0 h 9"/>
                <a:gd name="T20" fmla="*/ 8 w 8"/>
                <a:gd name="T21" fmla="*/ 9 h 9"/>
              </a:gdLst>
              <a:ahLst/>
              <a:cxnLst>
                <a:cxn ang="T12">
                  <a:pos x="T0" y="T1"/>
                </a:cxn>
                <a:cxn ang="T13">
                  <a:pos x="T2" y="T3"/>
                </a:cxn>
                <a:cxn ang="T14">
                  <a:pos x="T4" y="T5"/>
                </a:cxn>
                <a:cxn ang="T15">
                  <a:pos x="T6" y="T7"/>
                </a:cxn>
                <a:cxn ang="T16">
                  <a:pos x="T8" y="T9"/>
                </a:cxn>
                <a:cxn ang="T17">
                  <a:pos x="T10" y="T11"/>
                </a:cxn>
              </a:cxnLst>
              <a:rect l="T18" t="T19" r="T20" b="T21"/>
              <a:pathLst>
                <a:path w="8" h="9">
                  <a:moveTo>
                    <a:pt x="0" y="5"/>
                  </a:moveTo>
                  <a:cubicBezTo>
                    <a:pt x="0" y="2"/>
                    <a:pt x="2" y="0"/>
                    <a:pt x="4" y="0"/>
                  </a:cubicBezTo>
                  <a:cubicBezTo>
                    <a:pt x="6" y="0"/>
                    <a:pt x="8" y="2"/>
                    <a:pt x="8" y="5"/>
                  </a:cubicBezTo>
                  <a:cubicBezTo>
                    <a:pt x="8" y="5"/>
                    <a:pt x="8" y="5"/>
                    <a:pt x="8" y="5"/>
                  </a:cubicBezTo>
                  <a:cubicBezTo>
                    <a:pt x="8" y="7"/>
                    <a:pt x="6" y="9"/>
                    <a:pt x="4" y="9"/>
                  </a:cubicBezTo>
                  <a:cubicBezTo>
                    <a:pt x="2" y="9"/>
                    <a:pt x="0" y="7"/>
                    <a:pt x="0" y="5"/>
                  </a:cubicBezTo>
                </a:path>
              </a:pathLst>
            </a:custGeom>
            <a:solidFill>
              <a:srgbClr val="00FF00"/>
            </a:solidFill>
            <a:ln w="0">
              <a:solidFill>
                <a:srgbClr val="000000"/>
              </a:solidFill>
              <a:round/>
              <a:headEnd/>
              <a:tailEnd/>
            </a:ln>
          </p:spPr>
          <p:txBody>
            <a:bodyPr/>
            <a:lstStyle/>
            <a:p>
              <a:endParaRPr lang="en-US"/>
            </a:p>
          </p:txBody>
        </p:sp>
        <p:sp>
          <p:nvSpPr>
            <p:cNvPr id="169" name="Freeform 171"/>
            <p:cNvSpPr>
              <a:spLocks/>
            </p:cNvSpPr>
            <p:nvPr/>
          </p:nvSpPr>
          <p:spPr bwMode="auto">
            <a:xfrm>
              <a:off x="3273" y="1565"/>
              <a:ext cx="4" cy="5"/>
            </a:xfrm>
            <a:custGeom>
              <a:avLst/>
              <a:gdLst>
                <a:gd name="T0" fmla="*/ 0 w 4"/>
                <a:gd name="T1" fmla="*/ 3 h 5"/>
                <a:gd name="T2" fmla="*/ 2 w 4"/>
                <a:gd name="T3" fmla="*/ 0 h 5"/>
                <a:gd name="T4" fmla="*/ 4 w 4"/>
                <a:gd name="T5" fmla="*/ 3 h 5"/>
                <a:gd name="T6" fmla="*/ 4 w 4"/>
                <a:gd name="T7" fmla="*/ 3 h 5"/>
                <a:gd name="T8" fmla="*/ 2 w 4"/>
                <a:gd name="T9" fmla="*/ 5 h 5"/>
                <a:gd name="T10" fmla="*/ 0 w 4"/>
                <a:gd name="T11" fmla="*/ 3 h 5"/>
                <a:gd name="T12" fmla="*/ 0 60000 65536"/>
                <a:gd name="T13" fmla="*/ 0 60000 65536"/>
                <a:gd name="T14" fmla="*/ 0 60000 65536"/>
                <a:gd name="T15" fmla="*/ 0 60000 65536"/>
                <a:gd name="T16" fmla="*/ 0 60000 65536"/>
                <a:gd name="T17" fmla="*/ 0 60000 65536"/>
                <a:gd name="T18" fmla="*/ 0 w 4"/>
                <a:gd name="T19" fmla="*/ 0 h 5"/>
                <a:gd name="T20" fmla="*/ 4 w 4"/>
                <a:gd name="T21" fmla="*/ 5 h 5"/>
              </a:gdLst>
              <a:ahLst/>
              <a:cxnLst>
                <a:cxn ang="T12">
                  <a:pos x="T0" y="T1"/>
                </a:cxn>
                <a:cxn ang="T13">
                  <a:pos x="T2" y="T3"/>
                </a:cxn>
                <a:cxn ang="T14">
                  <a:pos x="T4" y="T5"/>
                </a:cxn>
                <a:cxn ang="T15">
                  <a:pos x="T6" y="T7"/>
                </a:cxn>
                <a:cxn ang="T16">
                  <a:pos x="T8" y="T9"/>
                </a:cxn>
                <a:cxn ang="T17">
                  <a:pos x="T10" y="T11"/>
                </a:cxn>
              </a:cxnLst>
              <a:rect l="T18" t="T19" r="T20" b="T21"/>
              <a:pathLst>
                <a:path w="4" h="5">
                  <a:moveTo>
                    <a:pt x="0" y="3"/>
                  </a:moveTo>
                  <a:cubicBezTo>
                    <a:pt x="0" y="1"/>
                    <a:pt x="1" y="0"/>
                    <a:pt x="2" y="0"/>
                  </a:cubicBezTo>
                  <a:cubicBezTo>
                    <a:pt x="3" y="0"/>
                    <a:pt x="4" y="1"/>
                    <a:pt x="4" y="3"/>
                  </a:cubicBezTo>
                  <a:cubicBezTo>
                    <a:pt x="4" y="3"/>
                    <a:pt x="4" y="3"/>
                    <a:pt x="4" y="3"/>
                  </a:cubicBezTo>
                  <a:cubicBezTo>
                    <a:pt x="4" y="4"/>
                    <a:pt x="3" y="5"/>
                    <a:pt x="2" y="5"/>
                  </a:cubicBezTo>
                  <a:cubicBezTo>
                    <a:pt x="1" y="5"/>
                    <a:pt x="0" y="4"/>
                    <a:pt x="0" y="3"/>
                  </a:cubicBezTo>
                </a:path>
              </a:pathLst>
            </a:custGeom>
            <a:noFill/>
            <a:ln w="3175" cap="sq">
              <a:solidFill>
                <a:srgbClr val="00FF00"/>
              </a:solidFill>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170" name="Freeform 172"/>
            <p:cNvSpPr>
              <a:spLocks/>
            </p:cNvSpPr>
            <p:nvPr/>
          </p:nvSpPr>
          <p:spPr bwMode="auto">
            <a:xfrm>
              <a:off x="3048" y="1166"/>
              <a:ext cx="324" cy="461"/>
            </a:xfrm>
            <a:custGeom>
              <a:avLst/>
              <a:gdLst>
                <a:gd name="T0" fmla="*/ 13 w 324"/>
                <a:gd name="T1" fmla="*/ 461 h 461"/>
                <a:gd name="T2" fmla="*/ 13 w 324"/>
                <a:gd name="T3" fmla="*/ 448 h 461"/>
                <a:gd name="T4" fmla="*/ 0 w 324"/>
                <a:gd name="T5" fmla="*/ 448 h 461"/>
                <a:gd name="T6" fmla="*/ 0 w 324"/>
                <a:gd name="T7" fmla="*/ 52 h 461"/>
                <a:gd name="T8" fmla="*/ 50 w 324"/>
                <a:gd name="T9" fmla="*/ 0 h 461"/>
                <a:gd name="T10" fmla="*/ 324 w 324"/>
                <a:gd name="T11" fmla="*/ 0 h 461"/>
                <a:gd name="T12" fmla="*/ 324 w 324"/>
                <a:gd name="T13" fmla="*/ 397 h 461"/>
                <a:gd name="T14" fmla="*/ 317 w 324"/>
                <a:gd name="T15" fmla="*/ 404 h 461"/>
                <a:gd name="T16" fmla="*/ 317 w 324"/>
                <a:gd name="T17" fmla="*/ 410 h 461"/>
                <a:gd name="T18" fmla="*/ 267 w 324"/>
                <a:gd name="T19" fmla="*/ 461 h 461"/>
                <a:gd name="T20" fmla="*/ 13 w 324"/>
                <a:gd name="T21" fmla="*/ 461 h 46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24"/>
                <a:gd name="T34" fmla="*/ 0 h 461"/>
                <a:gd name="T35" fmla="*/ 324 w 324"/>
                <a:gd name="T36" fmla="*/ 461 h 46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24" h="461">
                  <a:moveTo>
                    <a:pt x="13" y="461"/>
                  </a:moveTo>
                  <a:lnTo>
                    <a:pt x="13" y="448"/>
                  </a:lnTo>
                  <a:lnTo>
                    <a:pt x="0" y="448"/>
                  </a:lnTo>
                  <a:lnTo>
                    <a:pt x="0" y="52"/>
                  </a:lnTo>
                  <a:lnTo>
                    <a:pt x="50" y="0"/>
                  </a:lnTo>
                  <a:lnTo>
                    <a:pt x="324" y="0"/>
                  </a:lnTo>
                  <a:lnTo>
                    <a:pt x="324" y="397"/>
                  </a:lnTo>
                  <a:lnTo>
                    <a:pt x="317" y="404"/>
                  </a:lnTo>
                  <a:lnTo>
                    <a:pt x="317" y="410"/>
                  </a:lnTo>
                  <a:lnTo>
                    <a:pt x="267" y="461"/>
                  </a:lnTo>
                  <a:lnTo>
                    <a:pt x="13" y="461"/>
                  </a:lnTo>
                </a:path>
              </a:pathLst>
            </a:custGeom>
            <a:noFill/>
            <a:ln w="11113"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171" name="Rectangle 173"/>
            <p:cNvSpPr>
              <a:spLocks noChangeArrowheads="1"/>
            </p:cNvSpPr>
            <p:nvPr/>
          </p:nvSpPr>
          <p:spPr bwMode="auto">
            <a:xfrm>
              <a:off x="2839" y="1644"/>
              <a:ext cx="804" cy="15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600" b="0" dirty="0">
                  <a:latin typeface="Arial" charset="0"/>
                </a:rPr>
                <a:t>Outer Firewall</a:t>
              </a:r>
              <a:endParaRPr lang="en-US" dirty="0"/>
            </a:p>
          </p:txBody>
        </p:sp>
        <p:sp>
          <p:nvSpPr>
            <p:cNvPr id="172" name="Freeform 174"/>
            <p:cNvSpPr>
              <a:spLocks/>
            </p:cNvSpPr>
            <p:nvPr/>
          </p:nvSpPr>
          <p:spPr bwMode="auto">
            <a:xfrm>
              <a:off x="3176" y="705"/>
              <a:ext cx="233" cy="601"/>
            </a:xfrm>
            <a:custGeom>
              <a:avLst/>
              <a:gdLst>
                <a:gd name="T0" fmla="*/ 0 w 233"/>
                <a:gd name="T1" fmla="*/ 601 h 601"/>
                <a:gd name="T2" fmla="*/ 233 w 233"/>
                <a:gd name="T3" fmla="*/ 360 h 601"/>
                <a:gd name="T4" fmla="*/ 233 w 233"/>
                <a:gd name="T5" fmla="*/ 0 h 601"/>
                <a:gd name="T6" fmla="*/ 0 w 233"/>
                <a:gd name="T7" fmla="*/ 240 h 601"/>
                <a:gd name="T8" fmla="*/ 0 w 233"/>
                <a:gd name="T9" fmla="*/ 601 h 601"/>
                <a:gd name="T10" fmla="*/ 0 60000 65536"/>
                <a:gd name="T11" fmla="*/ 0 60000 65536"/>
                <a:gd name="T12" fmla="*/ 0 60000 65536"/>
                <a:gd name="T13" fmla="*/ 0 60000 65536"/>
                <a:gd name="T14" fmla="*/ 0 60000 65536"/>
                <a:gd name="T15" fmla="*/ 0 w 233"/>
                <a:gd name="T16" fmla="*/ 0 h 601"/>
                <a:gd name="T17" fmla="*/ 233 w 233"/>
                <a:gd name="T18" fmla="*/ 601 h 601"/>
              </a:gdLst>
              <a:ahLst/>
              <a:cxnLst>
                <a:cxn ang="T10">
                  <a:pos x="T0" y="T1"/>
                </a:cxn>
                <a:cxn ang="T11">
                  <a:pos x="T2" y="T3"/>
                </a:cxn>
                <a:cxn ang="T12">
                  <a:pos x="T4" y="T5"/>
                </a:cxn>
                <a:cxn ang="T13">
                  <a:pos x="T6" y="T7"/>
                </a:cxn>
                <a:cxn ang="T14">
                  <a:pos x="T8" y="T9"/>
                </a:cxn>
              </a:cxnLst>
              <a:rect l="T15" t="T16" r="T17" b="T18"/>
              <a:pathLst>
                <a:path w="233" h="601">
                  <a:moveTo>
                    <a:pt x="0" y="601"/>
                  </a:moveTo>
                  <a:lnTo>
                    <a:pt x="233" y="360"/>
                  </a:lnTo>
                  <a:lnTo>
                    <a:pt x="233" y="0"/>
                  </a:lnTo>
                  <a:lnTo>
                    <a:pt x="0" y="240"/>
                  </a:lnTo>
                  <a:lnTo>
                    <a:pt x="0" y="601"/>
                  </a:lnTo>
                  <a:close/>
                </a:path>
              </a:pathLst>
            </a:custGeom>
            <a:solidFill>
              <a:srgbClr val="D0624F"/>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73" name="Freeform 175"/>
            <p:cNvSpPr>
              <a:spLocks/>
            </p:cNvSpPr>
            <p:nvPr/>
          </p:nvSpPr>
          <p:spPr bwMode="auto">
            <a:xfrm>
              <a:off x="3176" y="705"/>
              <a:ext cx="233" cy="601"/>
            </a:xfrm>
            <a:custGeom>
              <a:avLst/>
              <a:gdLst>
                <a:gd name="T0" fmla="*/ 0 w 233"/>
                <a:gd name="T1" fmla="*/ 601 h 601"/>
                <a:gd name="T2" fmla="*/ 233 w 233"/>
                <a:gd name="T3" fmla="*/ 360 h 601"/>
                <a:gd name="T4" fmla="*/ 233 w 233"/>
                <a:gd name="T5" fmla="*/ 0 h 601"/>
                <a:gd name="T6" fmla="*/ 0 w 233"/>
                <a:gd name="T7" fmla="*/ 240 h 601"/>
                <a:gd name="T8" fmla="*/ 0 w 233"/>
                <a:gd name="T9" fmla="*/ 601 h 601"/>
                <a:gd name="T10" fmla="*/ 0 60000 65536"/>
                <a:gd name="T11" fmla="*/ 0 60000 65536"/>
                <a:gd name="T12" fmla="*/ 0 60000 65536"/>
                <a:gd name="T13" fmla="*/ 0 60000 65536"/>
                <a:gd name="T14" fmla="*/ 0 60000 65536"/>
                <a:gd name="T15" fmla="*/ 0 w 233"/>
                <a:gd name="T16" fmla="*/ 0 h 601"/>
                <a:gd name="T17" fmla="*/ 233 w 233"/>
                <a:gd name="T18" fmla="*/ 601 h 601"/>
              </a:gdLst>
              <a:ahLst/>
              <a:cxnLst>
                <a:cxn ang="T10">
                  <a:pos x="T0" y="T1"/>
                </a:cxn>
                <a:cxn ang="T11">
                  <a:pos x="T2" y="T3"/>
                </a:cxn>
                <a:cxn ang="T12">
                  <a:pos x="T4" y="T5"/>
                </a:cxn>
                <a:cxn ang="T13">
                  <a:pos x="T6" y="T7"/>
                </a:cxn>
                <a:cxn ang="T14">
                  <a:pos x="T8" y="T9"/>
                </a:cxn>
              </a:cxnLst>
              <a:rect l="T15" t="T16" r="T17" b="T18"/>
              <a:pathLst>
                <a:path w="233" h="601">
                  <a:moveTo>
                    <a:pt x="0" y="601"/>
                  </a:moveTo>
                  <a:lnTo>
                    <a:pt x="233" y="360"/>
                  </a:lnTo>
                  <a:lnTo>
                    <a:pt x="233" y="0"/>
                  </a:lnTo>
                  <a:lnTo>
                    <a:pt x="0" y="240"/>
                  </a:lnTo>
                  <a:lnTo>
                    <a:pt x="0" y="601"/>
                  </a:lnTo>
                  <a:close/>
                </a:path>
              </a:pathLst>
            </a:custGeom>
            <a:noFill/>
            <a:ln w="11113" cap="rnd">
              <a:solidFill>
                <a:srgbClr val="CDCDCD"/>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174" name="Freeform 176"/>
            <p:cNvSpPr>
              <a:spLocks noEditPoints="1"/>
            </p:cNvSpPr>
            <p:nvPr/>
          </p:nvSpPr>
          <p:spPr bwMode="auto">
            <a:xfrm>
              <a:off x="3176" y="734"/>
              <a:ext cx="233" cy="511"/>
            </a:xfrm>
            <a:custGeom>
              <a:avLst/>
              <a:gdLst>
                <a:gd name="T0" fmla="*/ 29 w 233"/>
                <a:gd name="T1" fmla="*/ 240 h 511"/>
                <a:gd name="T2" fmla="*/ 58 w 233"/>
                <a:gd name="T3" fmla="*/ 210 h 511"/>
                <a:gd name="T4" fmla="*/ 87 w 233"/>
                <a:gd name="T5" fmla="*/ 180 h 511"/>
                <a:gd name="T6" fmla="*/ 116 w 233"/>
                <a:gd name="T7" fmla="*/ 150 h 511"/>
                <a:gd name="T8" fmla="*/ 145 w 233"/>
                <a:gd name="T9" fmla="*/ 120 h 511"/>
                <a:gd name="T10" fmla="*/ 174 w 233"/>
                <a:gd name="T11" fmla="*/ 90 h 511"/>
                <a:gd name="T12" fmla="*/ 204 w 233"/>
                <a:gd name="T13" fmla="*/ 60 h 511"/>
                <a:gd name="T14" fmla="*/ 29 w 233"/>
                <a:gd name="T15" fmla="*/ 300 h 511"/>
                <a:gd name="T16" fmla="*/ 58 w 233"/>
                <a:gd name="T17" fmla="*/ 270 h 511"/>
                <a:gd name="T18" fmla="*/ 87 w 233"/>
                <a:gd name="T19" fmla="*/ 240 h 511"/>
                <a:gd name="T20" fmla="*/ 116 w 233"/>
                <a:gd name="T21" fmla="*/ 210 h 511"/>
                <a:gd name="T22" fmla="*/ 145 w 233"/>
                <a:gd name="T23" fmla="*/ 180 h 511"/>
                <a:gd name="T24" fmla="*/ 174 w 233"/>
                <a:gd name="T25" fmla="*/ 150 h 511"/>
                <a:gd name="T26" fmla="*/ 204 w 233"/>
                <a:gd name="T27" fmla="*/ 120 h 511"/>
                <a:gd name="T28" fmla="*/ 233 w 233"/>
                <a:gd name="T29" fmla="*/ 90 h 511"/>
                <a:gd name="T30" fmla="*/ 29 w 233"/>
                <a:gd name="T31" fmla="*/ 360 h 511"/>
                <a:gd name="T32" fmla="*/ 58 w 233"/>
                <a:gd name="T33" fmla="*/ 330 h 511"/>
                <a:gd name="T34" fmla="*/ 87 w 233"/>
                <a:gd name="T35" fmla="*/ 300 h 511"/>
                <a:gd name="T36" fmla="*/ 116 w 233"/>
                <a:gd name="T37" fmla="*/ 270 h 511"/>
                <a:gd name="T38" fmla="*/ 145 w 233"/>
                <a:gd name="T39" fmla="*/ 240 h 511"/>
                <a:gd name="T40" fmla="*/ 174 w 233"/>
                <a:gd name="T41" fmla="*/ 210 h 511"/>
                <a:gd name="T42" fmla="*/ 204 w 233"/>
                <a:gd name="T43" fmla="*/ 180 h 511"/>
                <a:gd name="T44" fmla="*/ 233 w 233"/>
                <a:gd name="T45" fmla="*/ 150 h 511"/>
                <a:gd name="T46" fmla="*/ 29 w 233"/>
                <a:gd name="T47" fmla="*/ 420 h 511"/>
                <a:gd name="T48" fmla="*/ 58 w 233"/>
                <a:gd name="T49" fmla="*/ 390 h 511"/>
                <a:gd name="T50" fmla="*/ 87 w 233"/>
                <a:gd name="T51" fmla="*/ 360 h 511"/>
                <a:gd name="T52" fmla="*/ 116 w 233"/>
                <a:gd name="T53" fmla="*/ 330 h 511"/>
                <a:gd name="T54" fmla="*/ 145 w 233"/>
                <a:gd name="T55" fmla="*/ 300 h 511"/>
                <a:gd name="T56" fmla="*/ 174 w 233"/>
                <a:gd name="T57" fmla="*/ 270 h 511"/>
                <a:gd name="T58" fmla="*/ 204 w 233"/>
                <a:gd name="T59" fmla="*/ 240 h 511"/>
                <a:gd name="T60" fmla="*/ 233 w 233"/>
                <a:gd name="T61" fmla="*/ 210 h 511"/>
                <a:gd name="T62" fmla="*/ 29 w 233"/>
                <a:gd name="T63" fmla="*/ 481 h 511"/>
                <a:gd name="T64" fmla="*/ 58 w 233"/>
                <a:gd name="T65" fmla="*/ 451 h 511"/>
                <a:gd name="T66" fmla="*/ 87 w 233"/>
                <a:gd name="T67" fmla="*/ 420 h 511"/>
                <a:gd name="T68" fmla="*/ 116 w 233"/>
                <a:gd name="T69" fmla="*/ 390 h 511"/>
                <a:gd name="T70" fmla="*/ 145 w 233"/>
                <a:gd name="T71" fmla="*/ 360 h 511"/>
                <a:gd name="T72" fmla="*/ 174 w 233"/>
                <a:gd name="T73" fmla="*/ 330 h 511"/>
                <a:gd name="T74" fmla="*/ 204 w 233"/>
                <a:gd name="T75" fmla="*/ 300 h 511"/>
                <a:gd name="T76" fmla="*/ 233 w 233"/>
                <a:gd name="T77" fmla="*/ 270 h 511"/>
                <a:gd name="T78" fmla="*/ 29 w 233"/>
                <a:gd name="T79" fmla="*/ 180 h 511"/>
                <a:gd name="T80" fmla="*/ 29 w 233"/>
                <a:gd name="T81" fmla="*/ 300 h 511"/>
                <a:gd name="T82" fmla="*/ 29 w 233"/>
                <a:gd name="T83" fmla="*/ 420 h 511"/>
                <a:gd name="T84" fmla="*/ 58 w 233"/>
                <a:gd name="T85" fmla="*/ 451 h 511"/>
                <a:gd name="T86" fmla="*/ 58 w 233"/>
                <a:gd name="T87" fmla="*/ 210 h 511"/>
                <a:gd name="T88" fmla="*/ 58 w 233"/>
                <a:gd name="T89" fmla="*/ 330 h 511"/>
                <a:gd name="T90" fmla="*/ 87 w 233"/>
                <a:gd name="T91" fmla="*/ 120 h 511"/>
                <a:gd name="T92" fmla="*/ 87 w 233"/>
                <a:gd name="T93" fmla="*/ 240 h 511"/>
                <a:gd name="T94" fmla="*/ 87 w 233"/>
                <a:gd name="T95" fmla="*/ 360 h 511"/>
                <a:gd name="T96" fmla="*/ 116 w 233"/>
                <a:gd name="T97" fmla="*/ 390 h 511"/>
                <a:gd name="T98" fmla="*/ 116 w 233"/>
                <a:gd name="T99" fmla="*/ 150 h 511"/>
                <a:gd name="T100" fmla="*/ 116 w 233"/>
                <a:gd name="T101" fmla="*/ 270 h 511"/>
                <a:gd name="T102" fmla="*/ 145 w 233"/>
                <a:gd name="T103" fmla="*/ 60 h 511"/>
                <a:gd name="T104" fmla="*/ 145 w 233"/>
                <a:gd name="T105" fmla="*/ 180 h 511"/>
                <a:gd name="T106" fmla="*/ 145 w 233"/>
                <a:gd name="T107" fmla="*/ 300 h 511"/>
                <a:gd name="T108" fmla="*/ 174 w 233"/>
                <a:gd name="T109" fmla="*/ 330 h 511"/>
                <a:gd name="T110" fmla="*/ 174 w 233"/>
                <a:gd name="T111" fmla="*/ 90 h 511"/>
                <a:gd name="T112" fmla="*/ 174 w 233"/>
                <a:gd name="T113" fmla="*/ 210 h 511"/>
                <a:gd name="T114" fmla="*/ 204 w 233"/>
                <a:gd name="T115" fmla="*/ 120 h 511"/>
                <a:gd name="T116" fmla="*/ 204 w 233"/>
                <a:gd name="T117" fmla="*/ 240 h 511"/>
                <a:gd name="T118" fmla="*/ 204 w 233"/>
                <a:gd name="T119" fmla="*/ 0 h 511"/>
                <a:gd name="T120" fmla="*/ 233 w 233"/>
                <a:gd name="T121" fmla="*/ 30 h 511"/>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33"/>
                <a:gd name="T184" fmla="*/ 0 h 511"/>
                <a:gd name="T185" fmla="*/ 233 w 233"/>
                <a:gd name="T186" fmla="*/ 511 h 511"/>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33" h="511">
                  <a:moveTo>
                    <a:pt x="0" y="270"/>
                  </a:moveTo>
                  <a:lnTo>
                    <a:pt x="29" y="240"/>
                  </a:lnTo>
                  <a:moveTo>
                    <a:pt x="29" y="240"/>
                  </a:moveTo>
                  <a:lnTo>
                    <a:pt x="58" y="210"/>
                  </a:lnTo>
                  <a:moveTo>
                    <a:pt x="58" y="210"/>
                  </a:moveTo>
                  <a:lnTo>
                    <a:pt x="87" y="180"/>
                  </a:lnTo>
                  <a:moveTo>
                    <a:pt x="87" y="180"/>
                  </a:moveTo>
                  <a:lnTo>
                    <a:pt x="116" y="150"/>
                  </a:lnTo>
                  <a:moveTo>
                    <a:pt x="116" y="150"/>
                  </a:moveTo>
                  <a:lnTo>
                    <a:pt x="145" y="120"/>
                  </a:lnTo>
                  <a:moveTo>
                    <a:pt x="145" y="120"/>
                  </a:moveTo>
                  <a:lnTo>
                    <a:pt x="174" y="90"/>
                  </a:lnTo>
                  <a:moveTo>
                    <a:pt x="174" y="90"/>
                  </a:moveTo>
                  <a:lnTo>
                    <a:pt x="204" y="60"/>
                  </a:lnTo>
                  <a:moveTo>
                    <a:pt x="0" y="330"/>
                  </a:moveTo>
                  <a:lnTo>
                    <a:pt x="29" y="300"/>
                  </a:lnTo>
                  <a:moveTo>
                    <a:pt x="29" y="300"/>
                  </a:moveTo>
                  <a:lnTo>
                    <a:pt x="58" y="270"/>
                  </a:lnTo>
                  <a:moveTo>
                    <a:pt x="58" y="270"/>
                  </a:moveTo>
                  <a:lnTo>
                    <a:pt x="87" y="240"/>
                  </a:lnTo>
                  <a:moveTo>
                    <a:pt x="87" y="240"/>
                  </a:moveTo>
                  <a:lnTo>
                    <a:pt x="116" y="210"/>
                  </a:lnTo>
                  <a:moveTo>
                    <a:pt x="116" y="210"/>
                  </a:moveTo>
                  <a:lnTo>
                    <a:pt x="145" y="180"/>
                  </a:lnTo>
                  <a:moveTo>
                    <a:pt x="145" y="180"/>
                  </a:moveTo>
                  <a:lnTo>
                    <a:pt x="174" y="150"/>
                  </a:lnTo>
                  <a:moveTo>
                    <a:pt x="174" y="150"/>
                  </a:moveTo>
                  <a:lnTo>
                    <a:pt x="204" y="120"/>
                  </a:lnTo>
                  <a:moveTo>
                    <a:pt x="204" y="120"/>
                  </a:moveTo>
                  <a:lnTo>
                    <a:pt x="233" y="90"/>
                  </a:lnTo>
                  <a:moveTo>
                    <a:pt x="0" y="390"/>
                  </a:moveTo>
                  <a:lnTo>
                    <a:pt x="29" y="360"/>
                  </a:lnTo>
                  <a:moveTo>
                    <a:pt x="29" y="360"/>
                  </a:moveTo>
                  <a:lnTo>
                    <a:pt x="58" y="330"/>
                  </a:lnTo>
                  <a:moveTo>
                    <a:pt x="58" y="330"/>
                  </a:moveTo>
                  <a:lnTo>
                    <a:pt x="87" y="300"/>
                  </a:lnTo>
                  <a:moveTo>
                    <a:pt x="87" y="300"/>
                  </a:moveTo>
                  <a:lnTo>
                    <a:pt x="116" y="270"/>
                  </a:lnTo>
                  <a:moveTo>
                    <a:pt x="116" y="270"/>
                  </a:moveTo>
                  <a:lnTo>
                    <a:pt x="145" y="240"/>
                  </a:lnTo>
                  <a:moveTo>
                    <a:pt x="145" y="240"/>
                  </a:moveTo>
                  <a:lnTo>
                    <a:pt x="174" y="210"/>
                  </a:lnTo>
                  <a:moveTo>
                    <a:pt x="174" y="210"/>
                  </a:moveTo>
                  <a:lnTo>
                    <a:pt x="204" y="180"/>
                  </a:lnTo>
                  <a:moveTo>
                    <a:pt x="204" y="180"/>
                  </a:moveTo>
                  <a:lnTo>
                    <a:pt x="233" y="150"/>
                  </a:lnTo>
                  <a:moveTo>
                    <a:pt x="0" y="451"/>
                  </a:moveTo>
                  <a:lnTo>
                    <a:pt x="29" y="420"/>
                  </a:lnTo>
                  <a:moveTo>
                    <a:pt x="29" y="420"/>
                  </a:moveTo>
                  <a:lnTo>
                    <a:pt x="58" y="390"/>
                  </a:lnTo>
                  <a:moveTo>
                    <a:pt x="58" y="390"/>
                  </a:moveTo>
                  <a:lnTo>
                    <a:pt x="87" y="360"/>
                  </a:lnTo>
                  <a:moveTo>
                    <a:pt x="87" y="360"/>
                  </a:moveTo>
                  <a:lnTo>
                    <a:pt x="116" y="330"/>
                  </a:lnTo>
                  <a:moveTo>
                    <a:pt x="116" y="330"/>
                  </a:moveTo>
                  <a:lnTo>
                    <a:pt x="145" y="300"/>
                  </a:lnTo>
                  <a:moveTo>
                    <a:pt x="145" y="300"/>
                  </a:moveTo>
                  <a:lnTo>
                    <a:pt x="174" y="270"/>
                  </a:lnTo>
                  <a:moveTo>
                    <a:pt x="174" y="270"/>
                  </a:moveTo>
                  <a:lnTo>
                    <a:pt x="204" y="240"/>
                  </a:lnTo>
                  <a:moveTo>
                    <a:pt x="204" y="240"/>
                  </a:moveTo>
                  <a:lnTo>
                    <a:pt x="233" y="210"/>
                  </a:lnTo>
                  <a:moveTo>
                    <a:pt x="0" y="511"/>
                  </a:moveTo>
                  <a:lnTo>
                    <a:pt x="29" y="481"/>
                  </a:lnTo>
                  <a:moveTo>
                    <a:pt x="29" y="481"/>
                  </a:moveTo>
                  <a:lnTo>
                    <a:pt x="58" y="451"/>
                  </a:lnTo>
                  <a:moveTo>
                    <a:pt x="58" y="451"/>
                  </a:moveTo>
                  <a:lnTo>
                    <a:pt x="87" y="420"/>
                  </a:lnTo>
                  <a:moveTo>
                    <a:pt x="87" y="420"/>
                  </a:moveTo>
                  <a:lnTo>
                    <a:pt x="116" y="390"/>
                  </a:lnTo>
                  <a:moveTo>
                    <a:pt x="116" y="390"/>
                  </a:moveTo>
                  <a:lnTo>
                    <a:pt x="145" y="360"/>
                  </a:lnTo>
                  <a:moveTo>
                    <a:pt x="145" y="360"/>
                  </a:moveTo>
                  <a:lnTo>
                    <a:pt x="174" y="330"/>
                  </a:lnTo>
                  <a:moveTo>
                    <a:pt x="174" y="330"/>
                  </a:moveTo>
                  <a:lnTo>
                    <a:pt x="204" y="300"/>
                  </a:lnTo>
                  <a:moveTo>
                    <a:pt x="204" y="300"/>
                  </a:moveTo>
                  <a:lnTo>
                    <a:pt x="233" y="270"/>
                  </a:lnTo>
                  <a:moveTo>
                    <a:pt x="29" y="240"/>
                  </a:moveTo>
                  <a:lnTo>
                    <a:pt x="29" y="180"/>
                  </a:lnTo>
                  <a:moveTo>
                    <a:pt x="29" y="360"/>
                  </a:moveTo>
                  <a:lnTo>
                    <a:pt x="29" y="300"/>
                  </a:lnTo>
                  <a:moveTo>
                    <a:pt x="29" y="481"/>
                  </a:moveTo>
                  <a:lnTo>
                    <a:pt x="29" y="420"/>
                  </a:lnTo>
                  <a:moveTo>
                    <a:pt x="58" y="511"/>
                  </a:moveTo>
                  <a:lnTo>
                    <a:pt x="58" y="451"/>
                  </a:lnTo>
                  <a:moveTo>
                    <a:pt x="58" y="270"/>
                  </a:moveTo>
                  <a:lnTo>
                    <a:pt x="58" y="210"/>
                  </a:lnTo>
                  <a:moveTo>
                    <a:pt x="58" y="390"/>
                  </a:moveTo>
                  <a:lnTo>
                    <a:pt x="58" y="330"/>
                  </a:lnTo>
                  <a:moveTo>
                    <a:pt x="87" y="180"/>
                  </a:moveTo>
                  <a:lnTo>
                    <a:pt x="87" y="120"/>
                  </a:lnTo>
                  <a:moveTo>
                    <a:pt x="87" y="300"/>
                  </a:moveTo>
                  <a:lnTo>
                    <a:pt x="87" y="240"/>
                  </a:lnTo>
                  <a:moveTo>
                    <a:pt x="87" y="420"/>
                  </a:moveTo>
                  <a:lnTo>
                    <a:pt x="87" y="360"/>
                  </a:lnTo>
                  <a:moveTo>
                    <a:pt x="116" y="451"/>
                  </a:moveTo>
                  <a:lnTo>
                    <a:pt x="116" y="390"/>
                  </a:lnTo>
                  <a:moveTo>
                    <a:pt x="116" y="210"/>
                  </a:moveTo>
                  <a:lnTo>
                    <a:pt x="116" y="150"/>
                  </a:lnTo>
                  <a:moveTo>
                    <a:pt x="116" y="330"/>
                  </a:moveTo>
                  <a:lnTo>
                    <a:pt x="116" y="270"/>
                  </a:lnTo>
                  <a:moveTo>
                    <a:pt x="145" y="120"/>
                  </a:moveTo>
                  <a:lnTo>
                    <a:pt x="145" y="60"/>
                  </a:lnTo>
                  <a:moveTo>
                    <a:pt x="145" y="240"/>
                  </a:moveTo>
                  <a:lnTo>
                    <a:pt x="145" y="180"/>
                  </a:lnTo>
                  <a:moveTo>
                    <a:pt x="145" y="360"/>
                  </a:moveTo>
                  <a:lnTo>
                    <a:pt x="145" y="300"/>
                  </a:lnTo>
                  <a:moveTo>
                    <a:pt x="174" y="390"/>
                  </a:moveTo>
                  <a:lnTo>
                    <a:pt x="174" y="330"/>
                  </a:lnTo>
                  <a:moveTo>
                    <a:pt x="174" y="150"/>
                  </a:moveTo>
                  <a:lnTo>
                    <a:pt x="174" y="90"/>
                  </a:lnTo>
                  <a:moveTo>
                    <a:pt x="174" y="270"/>
                  </a:moveTo>
                  <a:lnTo>
                    <a:pt x="174" y="210"/>
                  </a:lnTo>
                  <a:moveTo>
                    <a:pt x="204" y="180"/>
                  </a:moveTo>
                  <a:lnTo>
                    <a:pt x="204" y="120"/>
                  </a:lnTo>
                  <a:moveTo>
                    <a:pt x="204" y="300"/>
                  </a:moveTo>
                  <a:lnTo>
                    <a:pt x="204" y="240"/>
                  </a:lnTo>
                  <a:moveTo>
                    <a:pt x="204" y="60"/>
                  </a:moveTo>
                  <a:lnTo>
                    <a:pt x="204" y="0"/>
                  </a:lnTo>
                  <a:moveTo>
                    <a:pt x="204" y="60"/>
                  </a:moveTo>
                  <a:lnTo>
                    <a:pt x="233" y="30"/>
                  </a:lnTo>
                </a:path>
              </a:pathLst>
            </a:custGeom>
            <a:noFill/>
            <a:ln w="11113" cap="sq">
              <a:solidFill>
                <a:srgbClr val="CDCDCD"/>
              </a:solidFill>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175" name="Rectangle 177"/>
            <p:cNvSpPr>
              <a:spLocks noChangeArrowheads="1"/>
            </p:cNvSpPr>
            <p:nvPr/>
          </p:nvSpPr>
          <p:spPr bwMode="auto">
            <a:xfrm>
              <a:off x="3123" y="945"/>
              <a:ext cx="49" cy="361"/>
            </a:xfrm>
            <a:prstGeom prst="rect">
              <a:avLst/>
            </a:prstGeom>
            <a:solidFill>
              <a:srgbClr val="DC7E5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76" name="Rectangle 178"/>
            <p:cNvSpPr>
              <a:spLocks noChangeArrowheads="1"/>
            </p:cNvSpPr>
            <p:nvPr/>
          </p:nvSpPr>
          <p:spPr bwMode="auto">
            <a:xfrm>
              <a:off x="3123" y="945"/>
              <a:ext cx="49" cy="361"/>
            </a:xfrm>
            <a:prstGeom prst="rect">
              <a:avLst/>
            </a:prstGeom>
            <a:noFill/>
            <a:ln w="11113" cap="rnd">
              <a:solidFill>
                <a:srgbClr val="E6E6E6"/>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177" name="Freeform 179"/>
            <p:cNvSpPr>
              <a:spLocks/>
            </p:cNvSpPr>
            <p:nvPr/>
          </p:nvSpPr>
          <p:spPr bwMode="auto">
            <a:xfrm>
              <a:off x="3197" y="680"/>
              <a:ext cx="237" cy="268"/>
            </a:xfrm>
            <a:custGeom>
              <a:avLst/>
              <a:gdLst>
                <a:gd name="T0" fmla="*/ 0 w 237"/>
                <a:gd name="T1" fmla="*/ 268 h 268"/>
                <a:gd name="T2" fmla="*/ 237 w 237"/>
                <a:gd name="T3" fmla="*/ 25 h 268"/>
                <a:gd name="T4" fmla="*/ 237 w 237"/>
                <a:gd name="T5" fmla="*/ 0 h 268"/>
                <a:gd name="T6" fmla="*/ 0 w 237"/>
                <a:gd name="T7" fmla="*/ 243 h 268"/>
                <a:gd name="T8" fmla="*/ 0 w 237"/>
                <a:gd name="T9" fmla="*/ 268 h 268"/>
                <a:gd name="T10" fmla="*/ 0 60000 65536"/>
                <a:gd name="T11" fmla="*/ 0 60000 65536"/>
                <a:gd name="T12" fmla="*/ 0 60000 65536"/>
                <a:gd name="T13" fmla="*/ 0 60000 65536"/>
                <a:gd name="T14" fmla="*/ 0 60000 65536"/>
                <a:gd name="T15" fmla="*/ 0 w 237"/>
                <a:gd name="T16" fmla="*/ 0 h 268"/>
                <a:gd name="T17" fmla="*/ 237 w 237"/>
                <a:gd name="T18" fmla="*/ 268 h 268"/>
              </a:gdLst>
              <a:ahLst/>
              <a:cxnLst>
                <a:cxn ang="T10">
                  <a:pos x="T0" y="T1"/>
                </a:cxn>
                <a:cxn ang="T11">
                  <a:pos x="T2" y="T3"/>
                </a:cxn>
                <a:cxn ang="T12">
                  <a:pos x="T4" y="T5"/>
                </a:cxn>
                <a:cxn ang="T13">
                  <a:pos x="T6" y="T7"/>
                </a:cxn>
                <a:cxn ang="T14">
                  <a:pos x="T8" y="T9"/>
                </a:cxn>
              </a:cxnLst>
              <a:rect l="T15" t="T16" r="T17" b="T18"/>
              <a:pathLst>
                <a:path w="237" h="268">
                  <a:moveTo>
                    <a:pt x="0" y="268"/>
                  </a:moveTo>
                  <a:lnTo>
                    <a:pt x="237" y="25"/>
                  </a:lnTo>
                  <a:lnTo>
                    <a:pt x="237" y="0"/>
                  </a:lnTo>
                  <a:lnTo>
                    <a:pt x="0" y="243"/>
                  </a:lnTo>
                  <a:lnTo>
                    <a:pt x="0" y="268"/>
                  </a:lnTo>
                  <a:close/>
                </a:path>
              </a:pathLst>
            </a:custGeom>
            <a:solidFill>
              <a:srgbClr val="9A9A9A"/>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78" name="Freeform 180"/>
            <p:cNvSpPr>
              <a:spLocks/>
            </p:cNvSpPr>
            <p:nvPr/>
          </p:nvSpPr>
          <p:spPr bwMode="auto">
            <a:xfrm>
              <a:off x="3197" y="680"/>
              <a:ext cx="237" cy="268"/>
            </a:xfrm>
            <a:custGeom>
              <a:avLst/>
              <a:gdLst>
                <a:gd name="T0" fmla="*/ 0 w 237"/>
                <a:gd name="T1" fmla="*/ 268 h 268"/>
                <a:gd name="T2" fmla="*/ 237 w 237"/>
                <a:gd name="T3" fmla="*/ 25 h 268"/>
                <a:gd name="T4" fmla="*/ 237 w 237"/>
                <a:gd name="T5" fmla="*/ 0 h 268"/>
                <a:gd name="T6" fmla="*/ 0 w 237"/>
                <a:gd name="T7" fmla="*/ 243 h 268"/>
                <a:gd name="T8" fmla="*/ 0 w 237"/>
                <a:gd name="T9" fmla="*/ 268 h 268"/>
                <a:gd name="T10" fmla="*/ 0 60000 65536"/>
                <a:gd name="T11" fmla="*/ 0 60000 65536"/>
                <a:gd name="T12" fmla="*/ 0 60000 65536"/>
                <a:gd name="T13" fmla="*/ 0 60000 65536"/>
                <a:gd name="T14" fmla="*/ 0 60000 65536"/>
                <a:gd name="T15" fmla="*/ 0 w 237"/>
                <a:gd name="T16" fmla="*/ 0 h 268"/>
                <a:gd name="T17" fmla="*/ 237 w 237"/>
                <a:gd name="T18" fmla="*/ 268 h 268"/>
              </a:gdLst>
              <a:ahLst/>
              <a:cxnLst>
                <a:cxn ang="T10">
                  <a:pos x="T0" y="T1"/>
                </a:cxn>
                <a:cxn ang="T11">
                  <a:pos x="T2" y="T3"/>
                </a:cxn>
                <a:cxn ang="T12">
                  <a:pos x="T4" y="T5"/>
                </a:cxn>
                <a:cxn ang="T13">
                  <a:pos x="T6" y="T7"/>
                </a:cxn>
                <a:cxn ang="T14">
                  <a:pos x="T8" y="T9"/>
                </a:cxn>
              </a:cxnLst>
              <a:rect l="T15" t="T16" r="T17" b="T18"/>
              <a:pathLst>
                <a:path w="237" h="268">
                  <a:moveTo>
                    <a:pt x="0" y="268"/>
                  </a:moveTo>
                  <a:lnTo>
                    <a:pt x="237" y="25"/>
                  </a:lnTo>
                  <a:lnTo>
                    <a:pt x="237" y="0"/>
                  </a:lnTo>
                  <a:lnTo>
                    <a:pt x="0" y="243"/>
                  </a:lnTo>
                  <a:lnTo>
                    <a:pt x="0" y="268"/>
                  </a:lnTo>
                  <a:close/>
                </a:path>
              </a:pathLst>
            </a:cu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179" name="Rectangle 181"/>
            <p:cNvSpPr>
              <a:spLocks noChangeArrowheads="1"/>
            </p:cNvSpPr>
            <p:nvPr/>
          </p:nvSpPr>
          <p:spPr bwMode="auto">
            <a:xfrm>
              <a:off x="3098" y="923"/>
              <a:ext cx="99" cy="25"/>
            </a:xfrm>
            <a:prstGeom prst="rect">
              <a:avLst/>
            </a:prstGeom>
            <a:solidFill>
              <a:srgbClr val="C0C0C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80" name="Rectangle 182"/>
            <p:cNvSpPr>
              <a:spLocks noChangeArrowheads="1"/>
            </p:cNvSpPr>
            <p:nvPr/>
          </p:nvSpPr>
          <p:spPr bwMode="auto">
            <a:xfrm>
              <a:off x="3098" y="923"/>
              <a:ext cx="99" cy="25"/>
            </a:xfrm>
            <a:prstGeom prst="rect">
              <a:avLst/>
            </a:pr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181" name="Freeform 183"/>
            <p:cNvSpPr>
              <a:spLocks/>
            </p:cNvSpPr>
            <p:nvPr/>
          </p:nvSpPr>
          <p:spPr bwMode="auto">
            <a:xfrm>
              <a:off x="3098" y="680"/>
              <a:ext cx="336" cy="243"/>
            </a:xfrm>
            <a:custGeom>
              <a:avLst/>
              <a:gdLst>
                <a:gd name="T0" fmla="*/ 0 w 336"/>
                <a:gd name="T1" fmla="*/ 243 h 243"/>
                <a:gd name="T2" fmla="*/ 236 w 336"/>
                <a:gd name="T3" fmla="*/ 0 h 243"/>
                <a:gd name="T4" fmla="*/ 336 w 336"/>
                <a:gd name="T5" fmla="*/ 0 h 243"/>
                <a:gd name="T6" fmla="*/ 99 w 336"/>
                <a:gd name="T7" fmla="*/ 243 h 243"/>
                <a:gd name="T8" fmla="*/ 0 w 336"/>
                <a:gd name="T9" fmla="*/ 243 h 243"/>
                <a:gd name="T10" fmla="*/ 0 60000 65536"/>
                <a:gd name="T11" fmla="*/ 0 60000 65536"/>
                <a:gd name="T12" fmla="*/ 0 60000 65536"/>
                <a:gd name="T13" fmla="*/ 0 60000 65536"/>
                <a:gd name="T14" fmla="*/ 0 60000 65536"/>
                <a:gd name="T15" fmla="*/ 0 w 336"/>
                <a:gd name="T16" fmla="*/ 0 h 243"/>
                <a:gd name="T17" fmla="*/ 336 w 336"/>
                <a:gd name="T18" fmla="*/ 243 h 243"/>
              </a:gdLst>
              <a:ahLst/>
              <a:cxnLst>
                <a:cxn ang="T10">
                  <a:pos x="T0" y="T1"/>
                </a:cxn>
                <a:cxn ang="T11">
                  <a:pos x="T2" y="T3"/>
                </a:cxn>
                <a:cxn ang="T12">
                  <a:pos x="T4" y="T5"/>
                </a:cxn>
                <a:cxn ang="T13">
                  <a:pos x="T6" y="T7"/>
                </a:cxn>
                <a:cxn ang="T14">
                  <a:pos x="T8" y="T9"/>
                </a:cxn>
              </a:cxnLst>
              <a:rect l="T15" t="T16" r="T17" b="T18"/>
              <a:pathLst>
                <a:path w="336" h="243">
                  <a:moveTo>
                    <a:pt x="0" y="243"/>
                  </a:moveTo>
                  <a:lnTo>
                    <a:pt x="236" y="0"/>
                  </a:lnTo>
                  <a:lnTo>
                    <a:pt x="336" y="0"/>
                  </a:lnTo>
                  <a:lnTo>
                    <a:pt x="99" y="243"/>
                  </a:lnTo>
                  <a:lnTo>
                    <a:pt x="0" y="243"/>
                  </a:lnTo>
                  <a:close/>
                </a:path>
              </a:pathLst>
            </a:custGeom>
            <a:solidFill>
              <a:srgbClr val="E6E6E6"/>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82" name="Freeform 184"/>
            <p:cNvSpPr>
              <a:spLocks/>
            </p:cNvSpPr>
            <p:nvPr/>
          </p:nvSpPr>
          <p:spPr bwMode="auto">
            <a:xfrm>
              <a:off x="3098" y="680"/>
              <a:ext cx="336" cy="243"/>
            </a:xfrm>
            <a:custGeom>
              <a:avLst/>
              <a:gdLst>
                <a:gd name="T0" fmla="*/ 0 w 336"/>
                <a:gd name="T1" fmla="*/ 243 h 243"/>
                <a:gd name="T2" fmla="*/ 236 w 336"/>
                <a:gd name="T3" fmla="*/ 0 h 243"/>
                <a:gd name="T4" fmla="*/ 336 w 336"/>
                <a:gd name="T5" fmla="*/ 0 h 243"/>
                <a:gd name="T6" fmla="*/ 99 w 336"/>
                <a:gd name="T7" fmla="*/ 243 h 243"/>
                <a:gd name="T8" fmla="*/ 0 w 336"/>
                <a:gd name="T9" fmla="*/ 243 h 243"/>
                <a:gd name="T10" fmla="*/ 0 60000 65536"/>
                <a:gd name="T11" fmla="*/ 0 60000 65536"/>
                <a:gd name="T12" fmla="*/ 0 60000 65536"/>
                <a:gd name="T13" fmla="*/ 0 60000 65536"/>
                <a:gd name="T14" fmla="*/ 0 60000 65536"/>
                <a:gd name="T15" fmla="*/ 0 w 336"/>
                <a:gd name="T16" fmla="*/ 0 h 243"/>
                <a:gd name="T17" fmla="*/ 336 w 336"/>
                <a:gd name="T18" fmla="*/ 243 h 243"/>
              </a:gdLst>
              <a:ahLst/>
              <a:cxnLst>
                <a:cxn ang="T10">
                  <a:pos x="T0" y="T1"/>
                </a:cxn>
                <a:cxn ang="T11">
                  <a:pos x="T2" y="T3"/>
                </a:cxn>
                <a:cxn ang="T12">
                  <a:pos x="T4" y="T5"/>
                </a:cxn>
                <a:cxn ang="T13">
                  <a:pos x="T6" y="T7"/>
                </a:cxn>
                <a:cxn ang="T14">
                  <a:pos x="T8" y="T9"/>
                </a:cxn>
              </a:cxnLst>
              <a:rect l="T15" t="T16" r="T17" b="T18"/>
              <a:pathLst>
                <a:path w="336" h="243">
                  <a:moveTo>
                    <a:pt x="0" y="243"/>
                  </a:moveTo>
                  <a:lnTo>
                    <a:pt x="236" y="0"/>
                  </a:lnTo>
                  <a:lnTo>
                    <a:pt x="336" y="0"/>
                  </a:lnTo>
                  <a:lnTo>
                    <a:pt x="99" y="243"/>
                  </a:lnTo>
                  <a:lnTo>
                    <a:pt x="0" y="243"/>
                  </a:lnTo>
                  <a:close/>
                </a:path>
              </a:pathLst>
            </a:cu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183" name="Freeform 185"/>
            <p:cNvSpPr>
              <a:spLocks noEditPoints="1"/>
            </p:cNvSpPr>
            <p:nvPr/>
          </p:nvSpPr>
          <p:spPr bwMode="auto">
            <a:xfrm>
              <a:off x="3123" y="1005"/>
              <a:ext cx="46" cy="241"/>
            </a:xfrm>
            <a:custGeom>
              <a:avLst/>
              <a:gdLst>
                <a:gd name="T0" fmla="*/ 46 w 46"/>
                <a:gd name="T1" fmla="*/ 0 h 241"/>
                <a:gd name="T2" fmla="*/ 0 w 46"/>
                <a:gd name="T3" fmla="*/ 0 h 241"/>
                <a:gd name="T4" fmla="*/ 46 w 46"/>
                <a:gd name="T5" fmla="*/ 60 h 241"/>
                <a:gd name="T6" fmla="*/ 0 w 46"/>
                <a:gd name="T7" fmla="*/ 60 h 241"/>
                <a:gd name="T8" fmla="*/ 46 w 46"/>
                <a:gd name="T9" fmla="*/ 120 h 241"/>
                <a:gd name="T10" fmla="*/ 0 w 46"/>
                <a:gd name="T11" fmla="*/ 120 h 241"/>
                <a:gd name="T12" fmla="*/ 46 w 46"/>
                <a:gd name="T13" fmla="*/ 181 h 241"/>
                <a:gd name="T14" fmla="*/ 0 w 46"/>
                <a:gd name="T15" fmla="*/ 181 h 241"/>
                <a:gd name="T16" fmla="*/ 46 w 46"/>
                <a:gd name="T17" fmla="*/ 241 h 241"/>
                <a:gd name="T18" fmla="*/ 0 w 46"/>
                <a:gd name="T19" fmla="*/ 241 h 24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6"/>
                <a:gd name="T31" fmla="*/ 0 h 241"/>
                <a:gd name="T32" fmla="*/ 46 w 46"/>
                <a:gd name="T33" fmla="*/ 241 h 24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6" h="241">
                  <a:moveTo>
                    <a:pt x="46" y="0"/>
                  </a:moveTo>
                  <a:lnTo>
                    <a:pt x="0" y="0"/>
                  </a:lnTo>
                  <a:moveTo>
                    <a:pt x="46" y="60"/>
                  </a:moveTo>
                  <a:lnTo>
                    <a:pt x="0" y="60"/>
                  </a:lnTo>
                  <a:moveTo>
                    <a:pt x="46" y="120"/>
                  </a:moveTo>
                  <a:lnTo>
                    <a:pt x="0" y="120"/>
                  </a:lnTo>
                  <a:moveTo>
                    <a:pt x="46" y="181"/>
                  </a:moveTo>
                  <a:lnTo>
                    <a:pt x="0" y="181"/>
                  </a:lnTo>
                  <a:moveTo>
                    <a:pt x="46" y="241"/>
                  </a:moveTo>
                  <a:lnTo>
                    <a:pt x="0" y="241"/>
                  </a:lnTo>
                </a:path>
              </a:pathLst>
            </a:custGeom>
            <a:noFill/>
            <a:ln w="11113" cap="sq">
              <a:solidFill>
                <a:srgbClr val="E6E6E6"/>
              </a:solidFill>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184" name="Freeform 186"/>
            <p:cNvSpPr>
              <a:spLocks/>
            </p:cNvSpPr>
            <p:nvPr/>
          </p:nvSpPr>
          <p:spPr bwMode="auto">
            <a:xfrm>
              <a:off x="3098" y="680"/>
              <a:ext cx="336" cy="627"/>
            </a:xfrm>
            <a:custGeom>
              <a:avLst/>
              <a:gdLst>
                <a:gd name="T0" fmla="*/ 25 w 336"/>
                <a:gd name="T1" fmla="*/ 627 h 627"/>
                <a:gd name="T2" fmla="*/ 25 w 336"/>
                <a:gd name="T3" fmla="*/ 268 h 627"/>
                <a:gd name="T4" fmla="*/ 0 w 336"/>
                <a:gd name="T5" fmla="*/ 268 h 627"/>
                <a:gd name="T6" fmla="*/ 0 w 336"/>
                <a:gd name="T7" fmla="*/ 243 h 627"/>
                <a:gd name="T8" fmla="*/ 236 w 336"/>
                <a:gd name="T9" fmla="*/ 0 h 627"/>
                <a:gd name="T10" fmla="*/ 336 w 336"/>
                <a:gd name="T11" fmla="*/ 0 h 627"/>
                <a:gd name="T12" fmla="*/ 336 w 336"/>
                <a:gd name="T13" fmla="*/ 25 h 627"/>
                <a:gd name="T14" fmla="*/ 311 w 336"/>
                <a:gd name="T15" fmla="*/ 51 h 627"/>
                <a:gd name="T16" fmla="*/ 311 w 336"/>
                <a:gd name="T17" fmla="*/ 384 h 627"/>
                <a:gd name="T18" fmla="*/ 74 w 336"/>
                <a:gd name="T19" fmla="*/ 627 h 627"/>
                <a:gd name="T20" fmla="*/ 25 w 336"/>
                <a:gd name="T21" fmla="*/ 627 h 62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36"/>
                <a:gd name="T34" fmla="*/ 0 h 627"/>
                <a:gd name="T35" fmla="*/ 336 w 336"/>
                <a:gd name="T36" fmla="*/ 627 h 62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36" h="627">
                  <a:moveTo>
                    <a:pt x="25" y="627"/>
                  </a:moveTo>
                  <a:lnTo>
                    <a:pt x="25" y="268"/>
                  </a:lnTo>
                  <a:lnTo>
                    <a:pt x="0" y="268"/>
                  </a:lnTo>
                  <a:lnTo>
                    <a:pt x="0" y="243"/>
                  </a:lnTo>
                  <a:lnTo>
                    <a:pt x="236" y="0"/>
                  </a:lnTo>
                  <a:lnTo>
                    <a:pt x="336" y="0"/>
                  </a:lnTo>
                  <a:lnTo>
                    <a:pt x="336" y="25"/>
                  </a:lnTo>
                  <a:lnTo>
                    <a:pt x="311" y="51"/>
                  </a:lnTo>
                  <a:lnTo>
                    <a:pt x="311" y="384"/>
                  </a:lnTo>
                  <a:lnTo>
                    <a:pt x="74" y="627"/>
                  </a:lnTo>
                  <a:lnTo>
                    <a:pt x="25" y="627"/>
                  </a:lnTo>
                </a:path>
              </a:pathLst>
            </a:custGeom>
            <a:noFill/>
            <a:ln w="17463"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185" name="Rectangle 187"/>
            <p:cNvSpPr>
              <a:spLocks noChangeArrowheads="1"/>
            </p:cNvSpPr>
            <p:nvPr/>
          </p:nvSpPr>
          <p:spPr bwMode="auto">
            <a:xfrm>
              <a:off x="3041" y="1324"/>
              <a:ext cx="248" cy="8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900" b="0">
                  <a:solidFill>
                    <a:srgbClr val="000000"/>
                  </a:solidFill>
                  <a:latin typeface="Arial" charset="0"/>
                </a:rPr>
                <a:t>Firewall</a:t>
              </a:r>
              <a:endParaRPr lang="en-US"/>
            </a:p>
          </p:txBody>
        </p:sp>
      </p:grpSp>
      <p:sp>
        <p:nvSpPr>
          <p:cNvPr id="186" name="Rectangle 188"/>
          <p:cNvSpPr>
            <a:spLocks noChangeArrowheads="1"/>
          </p:cNvSpPr>
          <p:nvPr/>
        </p:nvSpPr>
        <p:spPr bwMode="auto">
          <a:xfrm>
            <a:off x="4957763" y="4164013"/>
            <a:ext cx="1182687" cy="122237"/>
          </a:xfrm>
          <a:prstGeom prst="rect">
            <a:avLst/>
          </a:prstGeom>
          <a:solidFill>
            <a:srgbClr val="FFFF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grpSp>
        <p:nvGrpSpPr>
          <p:cNvPr id="187" name="Group 189"/>
          <p:cNvGrpSpPr>
            <a:grpSpLocks/>
          </p:cNvGrpSpPr>
          <p:nvPr/>
        </p:nvGrpSpPr>
        <p:grpSpPr bwMode="auto">
          <a:xfrm>
            <a:off x="5473702" y="3001963"/>
            <a:ext cx="1289051" cy="1784350"/>
            <a:chOff x="3448" y="787"/>
            <a:chExt cx="812" cy="1124"/>
          </a:xfrm>
        </p:grpSpPr>
        <p:sp>
          <p:nvSpPr>
            <p:cNvPr id="188" name="Freeform 190"/>
            <p:cNvSpPr>
              <a:spLocks noEditPoints="1"/>
            </p:cNvSpPr>
            <p:nvPr/>
          </p:nvSpPr>
          <p:spPr bwMode="auto">
            <a:xfrm>
              <a:off x="3671" y="1671"/>
              <a:ext cx="304" cy="64"/>
            </a:xfrm>
            <a:custGeom>
              <a:avLst/>
              <a:gdLst>
                <a:gd name="T0" fmla="*/ 0 w 304"/>
                <a:gd name="T1" fmla="*/ 64 h 64"/>
                <a:gd name="T2" fmla="*/ 255 w 304"/>
                <a:gd name="T3" fmla="*/ 64 h 64"/>
                <a:gd name="T4" fmla="*/ 255 w 304"/>
                <a:gd name="T5" fmla="*/ 51 h 64"/>
                <a:gd name="T6" fmla="*/ 0 w 304"/>
                <a:gd name="T7" fmla="*/ 51 h 64"/>
                <a:gd name="T8" fmla="*/ 0 w 304"/>
                <a:gd name="T9" fmla="*/ 64 h 64"/>
                <a:gd name="T10" fmla="*/ 255 w 304"/>
                <a:gd name="T11" fmla="*/ 64 h 64"/>
                <a:gd name="T12" fmla="*/ 304 w 304"/>
                <a:gd name="T13" fmla="*/ 13 h 64"/>
                <a:gd name="T14" fmla="*/ 304 w 304"/>
                <a:gd name="T15" fmla="*/ 0 h 64"/>
                <a:gd name="T16" fmla="*/ 255 w 304"/>
                <a:gd name="T17" fmla="*/ 51 h 64"/>
                <a:gd name="T18" fmla="*/ 255 w 304"/>
                <a:gd name="T19" fmla="*/ 64 h 6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04"/>
                <a:gd name="T31" fmla="*/ 0 h 64"/>
                <a:gd name="T32" fmla="*/ 304 w 304"/>
                <a:gd name="T33" fmla="*/ 64 h 6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04" h="64">
                  <a:moveTo>
                    <a:pt x="0" y="64"/>
                  </a:moveTo>
                  <a:lnTo>
                    <a:pt x="255" y="64"/>
                  </a:lnTo>
                  <a:lnTo>
                    <a:pt x="255" y="51"/>
                  </a:lnTo>
                  <a:lnTo>
                    <a:pt x="0" y="51"/>
                  </a:lnTo>
                  <a:lnTo>
                    <a:pt x="0" y="64"/>
                  </a:lnTo>
                  <a:close/>
                  <a:moveTo>
                    <a:pt x="255" y="64"/>
                  </a:moveTo>
                  <a:lnTo>
                    <a:pt x="304" y="13"/>
                  </a:lnTo>
                  <a:lnTo>
                    <a:pt x="304" y="0"/>
                  </a:lnTo>
                  <a:lnTo>
                    <a:pt x="255" y="51"/>
                  </a:lnTo>
                  <a:lnTo>
                    <a:pt x="255" y="64"/>
                  </a:lnTo>
                  <a:close/>
                </a:path>
              </a:pathLst>
            </a:custGeom>
            <a:solidFill>
              <a:srgbClr val="9A9A9A"/>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89" name="Freeform 191"/>
            <p:cNvSpPr>
              <a:spLocks/>
            </p:cNvSpPr>
            <p:nvPr/>
          </p:nvSpPr>
          <p:spPr bwMode="auto">
            <a:xfrm>
              <a:off x="3932" y="1274"/>
              <a:ext cx="49" cy="448"/>
            </a:xfrm>
            <a:custGeom>
              <a:avLst/>
              <a:gdLst>
                <a:gd name="T0" fmla="*/ 0 w 49"/>
                <a:gd name="T1" fmla="*/ 448 h 448"/>
                <a:gd name="T2" fmla="*/ 49 w 49"/>
                <a:gd name="T3" fmla="*/ 397 h 448"/>
                <a:gd name="T4" fmla="*/ 49 w 49"/>
                <a:gd name="T5" fmla="*/ 0 h 448"/>
                <a:gd name="T6" fmla="*/ 0 w 49"/>
                <a:gd name="T7" fmla="*/ 51 h 448"/>
                <a:gd name="T8" fmla="*/ 0 w 49"/>
                <a:gd name="T9" fmla="*/ 448 h 448"/>
                <a:gd name="T10" fmla="*/ 0 60000 65536"/>
                <a:gd name="T11" fmla="*/ 0 60000 65536"/>
                <a:gd name="T12" fmla="*/ 0 60000 65536"/>
                <a:gd name="T13" fmla="*/ 0 60000 65536"/>
                <a:gd name="T14" fmla="*/ 0 60000 65536"/>
                <a:gd name="T15" fmla="*/ 0 w 49"/>
                <a:gd name="T16" fmla="*/ 0 h 448"/>
                <a:gd name="T17" fmla="*/ 49 w 49"/>
                <a:gd name="T18" fmla="*/ 448 h 448"/>
              </a:gdLst>
              <a:ahLst/>
              <a:cxnLst>
                <a:cxn ang="T10">
                  <a:pos x="T0" y="T1"/>
                </a:cxn>
                <a:cxn ang="T11">
                  <a:pos x="T2" y="T3"/>
                </a:cxn>
                <a:cxn ang="T12">
                  <a:pos x="T4" y="T5"/>
                </a:cxn>
                <a:cxn ang="T13">
                  <a:pos x="T6" y="T7"/>
                </a:cxn>
                <a:cxn ang="T14">
                  <a:pos x="T8" y="T9"/>
                </a:cxn>
              </a:cxnLst>
              <a:rect l="T15" t="T16" r="T17" b="T18"/>
              <a:pathLst>
                <a:path w="49" h="448">
                  <a:moveTo>
                    <a:pt x="0" y="448"/>
                  </a:moveTo>
                  <a:lnTo>
                    <a:pt x="49" y="397"/>
                  </a:lnTo>
                  <a:lnTo>
                    <a:pt x="49" y="0"/>
                  </a:lnTo>
                  <a:lnTo>
                    <a:pt x="0" y="51"/>
                  </a:lnTo>
                  <a:lnTo>
                    <a:pt x="0" y="448"/>
                  </a:lnTo>
                  <a:close/>
                </a:path>
              </a:pathLst>
            </a:custGeom>
            <a:solidFill>
              <a:srgbClr val="9A9A9A"/>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90" name="Freeform 192"/>
            <p:cNvSpPr>
              <a:spLocks/>
            </p:cNvSpPr>
            <p:nvPr/>
          </p:nvSpPr>
          <p:spPr bwMode="auto">
            <a:xfrm>
              <a:off x="3658" y="1274"/>
              <a:ext cx="323" cy="51"/>
            </a:xfrm>
            <a:custGeom>
              <a:avLst/>
              <a:gdLst>
                <a:gd name="T0" fmla="*/ 0 w 323"/>
                <a:gd name="T1" fmla="*/ 51 h 51"/>
                <a:gd name="T2" fmla="*/ 50 w 323"/>
                <a:gd name="T3" fmla="*/ 0 h 51"/>
                <a:gd name="T4" fmla="*/ 323 w 323"/>
                <a:gd name="T5" fmla="*/ 0 h 51"/>
                <a:gd name="T6" fmla="*/ 274 w 323"/>
                <a:gd name="T7" fmla="*/ 51 h 51"/>
                <a:gd name="T8" fmla="*/ 0 w 323"/>
                <a:gd name="T9" fmla="*/ 51 h 51"/>
                <a:gd name="T10" fmla="*/ 0 60000 65536"/>
                <a:gd name="T11" fmla="*/ 0 60000 65536"/>
                <a:gd name="T12" fmla="*/ 0 60000 65536"/>
                <a:gd name="T13" fmla="*/ 0 60000 65536"/>
                <a:gd name="T14" fmla="*/ 0 60000 65536"/>
                <a:gd name="T15" fmla="*/ 0 w 323"/>
                <a:gd name="T16" fmla="*/ 0 h 51"/>
                <a:gd name="T17" fmla="*/ 323 w 323"/>
                <a:gd name="T18" fmla="*/ 51 h 51"/>
              </a:gdLst>
              <a:ahLst/>
              <a:cxnLst>
                <a:cxn ang="T10">
                  <a:pos x="T0" y="T1"/>
                </a:cxn>
                <a:cxn ang="T11">
                  <a:pos x="T2" y="T3"/>
                </a:cxn>
                <a:cxn ang="T12">
                  <a:pos x="T4" y="T5"/>
                </a:cxn>
                <a:cxn ang="T13">
                  <a:pos x="T6" y="T7"/>
                </a:cxn>
                <a:cxn ang="T14">
                  <a:pos x="T8" y="T9"/>
                </a:cxn>
              </a:cxnLst>
              <a:rect l="T15" t="T16" r="T17" b="T18"/>
              <a:pathLst>
                <a:path w="323" h="51">
                  <a:moveTo>
                    <a:pt x="0" y="51"/>
                  </a:moveTo>
                  <a:lnTo>
                    <a:pt x="50" y="0"/>
                  </a:lnTo>
                  <a:lnTo>
                    <a:pt x="323" y="0"/>
                  </a:lnTo>
                  <a:lnTo>
                    <a:pt x="274" y="51"/>
                  </a:lnTo>
                  <a:lnTo>
                    <a:pt x="0" y="51"/>
                  </a:lnTo>
                  <a:close/>
                </a:path>
              </a:pathLst>
            </a:custGeom>
            <a:solidFill>
              <a:srgbClr val="E6E6E6"/>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91" name="Rectangle 193"/>
            <p:cNvSpPr>
              <a:spLocks noChangeArrowheads="1"/>
            </p:cNvSpPr>
            <p:nvPr/>
          </p:nvSpPr>
          <p:spPr bwMode="auto">
            <a:xfrm>
              <a:off x="3658" y="1325"/>
              <a:ext cx="274" cy="397"/>
            </a:xfrm>
            <a:prstGeom prst="rect">
              <a:avLst/>
            </a:prstGeom>
            <a:solidFill>
              <a:srgbClr val="C0C0C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92" name="Rectangle 194"/>
            <p:cNvSpPr>
              <a:spLocks noChangeArrowheads="1"/>
            </p:cNvSpPr>
            <p:nvPr/>
          </p:nvSpPr>
          <p:spPr bwMode="auto">
            <a:xfrm>
              <a:off x="3658" y="1325"/>
              <a:ext cx="274" cy="397"/>
            </a:xfrm>
            <a:prstGeom prst="rect">
              <a:avLst/>
            </a:pr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193" name="Rectangle 195"/>
            <p:cNvSpPr>
              <a:spLocks noChangeArrowheads="1"/>
            </p:cNvSpPr>
            <p:nvPr/>
          </p:nvSpPr>
          <p:spPr bwMode="auto">
            <a:xfrm>
              <a:off x="3673" y="1436"/>
              <a:ext cx="233" cy="8"/>
            </a:xfrm>
            <a:prstGeom prst="rect">
              <a:avLst/>
            </a:prstGeom>
            <a:solidFill>
              <a:srgbClr val="E5E5E5"/>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94" name="Rectangle 196"/>
            <p:cNvSpPr>
              <a:spLocks noChangeArrowheads="1"/>
            </p:cNvSpPr>
            <p:nvPr/>
          </p:nvSpPr>
          <p:spPr bwMode="auto">
            <a:xfrm>
              <a:off x="3673" y="1444"/>
              <a:ext cx="233" cy="8"/>
            </a:xfrm>
            <a:prstGeom prst="rect">
              <a:avLst/>
            </a:prstGeom>
            <a:solidFill>
              <a:srgbClr val="C0C0C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95" name="Rectangle 197"/>
            <p:cNvSpPr>
              <a:spLocks noChangeArrowheads="1"/>
            </p:cNvSpPr>
            <p:nvPr/>
          </p:nvSpPr>
          <p:spPr bwMode="auto">
            <a:xfrm>
              <a:off x="3673" y="1452"/>
              <a:ext cx="233" cy="8"/>
            </a:xfrm>
            <a:prstGeom prst="rect">
              <a:avLst/>
            </a:prstGeom>
            <a:solidFill>
              <a:srgbClr val="C1C1C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96" name="Rectangle 198"/>
            <p:cNvSpPr>
              <a:spLocks noChangeArrowheads="1"/>
            </p:cNvSpPr>
            <p:nvPr/>
          </p:nvSpPr>
          <p:spPr bwMode="auto">
            <a:xfrm>
              <a:off x="3673" y="1460"/>
              <a:ext cx="233" cy="8"/>
            </a:xfrm>
            <a:prstGeom prst="rect">
              <a:avLst/>
            </a:prstGeom>
            <a:solidFill>
              <a:srgbClr val="C2C2C2"/>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97" name="Rectangle 199"/>
            <p:cNvSpPr>
              <a:spLocks noChangeArrowheads="1"/>
            </p:cNvSpPr>
            <p:nvPr/>
          </p:nvSpPr>
          <p:spPr bwMode="auto">
            <a:xfrm>
              <a:off x="3673" y="1468"/>
              <a:ext cx="233" cy="8"/>
            </a:xfrm>
            <a:prstGeom prst="rect">
              <a:avLst/>
            </a:prstGeom>
            <a:solidFill>
              <a:srgbClr val="C4C4C4"/>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98" name="Rectangle 200"/>
            <p:cNvSpPr>
              <a:spLocks noChangeArrowheads="1"/>
            </p:cNvSpPr>
            <p:nvPr/>
          </p:nvSpPr>
          <p:spPr bwMode="auto">
            <a:xfrm>
              <a:off x="3673" y="1476"/>
              <a:ext cx="233" cy="8"/>
            </a:xfrm>
            <a:prstGeom prst="rect">
              <a:avLst/>
            </a:prstGeom>
            <a:solidFill>
              <a:srgbClr val="C5C5C5"/>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99" name="Rectangle 201"/>
            <p:cNvSpPr>
              <a:spLocks noChangeArrowheads="1"/>
            </p:cNvSpPr>
            <p:nvPr/>
          </p:nvSpPr>
          <p:spPr bwMode="auto">
            <a:xfrm>
              <a:off x="3673" y="1484"/>
              <a:ext cx="233" cy="8"/>
            </a:xfrm>
            <a:prstGeom prst="rect">
              <a:avLst/>
            </a:prstGeom>
            <a:solidFill>
              <a:srgbClr val="C6C6C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00" name="Rectangle 202"/>
            <p:cNvSpPr>
              <a:spLocks noChangeArrowheads="1"/>
            </p:cNvSpPr>
            <p:nvPr/>
          </p:nvSpPr>
          <p:spPr bwMode="auto">
            <a:xfrm>
              <a:off x="3673" y="1492"/>
              <a:ext cx="233" cy="8"/>
            </a:xfrm>
            <a:prstGeom prst="rect">
              <a:avLst/>
            </a:prstGeom>
            <a:solidFill>
              <a:srgbClr val="C7C7C7"/>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01" name="Rectangle 203"/>
            <p:cNvSpPr>
              <a:spLocks noChangeArrowheads="1"/>
            </p:cNvSpPr>
            <p:nvPr/>
          </p:nvSpPr>
          <p:spPr bwMode="auto">
            <a:xfrm>
              <a:off x="3673" y="1500"/>
              <a:ext cx="233" cy="8"/>
            </a:xfrm>
            <a:prstGeom prst="rect">
              <a:avLst/>
            </a:prstGeom>
            <a:solidFill>
              <a:srgbClr val="C9C9C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02" name="Rectangle 204"/>
            <p:cNvSpPr>
              <a:spLocks noChangeArrowheads="1"/>
            </p:cNvSpPr>
            <p:nvPr/>
          </p:nvSpPr>
          <p:spPr bwMode="auto">
            <a:xfrm>
              <a:off x="3673" y="1508"/>
              <a:ext cx="233" cy="8"/>
            </a:xfrm>
            <a:prstGeom prst="rect">
              <a:avLst/>
            </a:prstGeom>
            <a:solidFill>
              <a:srgbClr val="CACACA"/>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03" name="Rectangle 205"/>
            <p:cNvSpPr>
              <a:spLocks noChangeArrowheads="1"/>
            </p:cNvSpPr>
            <p:nvPr/>
          </p:nvSpPr>
          <p:spPr bwMode="auto">
            <a:xfrm>
              <a:off x="3673" y="1516"/>
              <a:ext cx="233" cy="8"/>
            </a:xfrm>
            <a:prstGeom prst="rect">
              <a:avLst/>
            </a:prstGeom>
            <a:solidFill>
              <a:srgbClr val="CBCBCB"/>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04" name="Rectangle 206"/>
            <p:cNvSpPr>
              <a:spLocks noChangeArrowheads="1"/>
            </p:cNvSpPr>
            <p:nvPr/>
          </p:nvSpPr>
          <p:spPr bwMode="auto">
            <a:xfrm>
              <a:off x="3673" y="1524"/>
              <a:ext cx="233" cy="8"/>
            </a:xfrm>
            <a:prstGeom prst="rect">
              <a:avLst/>
            </a:prstGeom>
            <a:solidFill>
              <a:srgbClr val="CCCCCC"/>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05" name="Rectangle 207"/>
            <p:cNvSpPr>
              <a:spLocks noChangeArrowheads="1"/>
            </p:cNvSpPr>
            <p:nvPr/>
          </p:nvSpPr>
          <p:spPr bwMode="auto">
            <a:xfrm>
              <a:off x="3673" y="1532"/>
              <a:ext cx="233" cy="8"/>
            </a:xfrm>
            <a:prstGeom prst="rect">
              <a:avLst/>
            </a:prstGeom>
            <a:solidFill>
              <a:srgbClr val="CDCDCD"/>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06" name="Rectangle 208"/>
            <p:cNvSpPr>
              <a:spLocks noChangeArrowheads="1"/>
            </p:cNvSpPr>
            <p:nvPr/>
          </p:nvSpPr>
          <p:spPr bwMode="auto">
            <a:xfrm>
              <a:off x="3673" y="1540"/>
              <a:ext cx="233" cy="8"/>
            </a:xfrm>
            <a:prstGeom prst="rect">
              <a:avLst/>
            </a:prstGeom>
            <a:solidFill>
              <a:srgbClr val="CECECE"/>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07" name="Rectangle 209"/>
            <p:cNvSpPr>
              <a:spLocks noChangeArrowheads="1"/>
            </p:cNvSpPr>
            <p:nvPr/>
          </p:nvSpPr>
          <p:spPr bwMode="auto">
            <a:xfrm>
              <a:off x="3673" y="1548"/>
              <a:ext cx="233" cy="8"/>
            </a:xfrm>
            <a:prstGeom prst="rect">
              <a:avLst/>
            </a:prstGeom>
            <a:solidFill>
              <a:srgbClr val="D0D0D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08" name="Rectangle 210"/>
            <p:cNvSpPr>
              <a:spLocks noChangeArrowheads="1"/>
            </p:cNvSpPr>
            <p:nvPr/>
          </p:nvSpPr>
          <p:spPr bwMode="auto">
            <a:xfrm>
              <a:off x="3673" y="1556"/>
              <a:ext cx="233" cy="8"/>
            </a:xfrm>
            <a:prstGeom prst="rect">
              <a:avLst/>
            </a:prstGeom>
            <a:solidFill>
              <a:srgbClr val="D1D1D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09" name="Rectangle 211"/>
            <p:cNvSpPr>
              <a:spLocks noChangeArrowheads="1"/>
            </p:cNvSpPr>
            <p:nvPr/>
          </p:nvSpPr>
          <p:spPr bwMode="auto">
            <a:xfrm>
              <a:off x="3673" y="1564"/>
              <a:ext cx="233" cy="8"/>
            </a:xfrm>
            <a:prstGeom prst="rect">
              <a:avLst/>
            </a:prstGeom>
            <a:solidFill>
              <a:srgbClr val="D2D2D2"/>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10" name="Rectangle 212"/>
            <p:cNvSpPr>
              <a:spLocks noChangeArrowheads="1"/>
            </p:cNvSpPr>
            <p:nvPr/>
          </p:nvSpPr>
          <p:spPr bwMode="auto">
            <a:xfrm>
              <a:off x="3673" y="1572"/>
              <a:ext cx="233" cy="8"/>
            </a:xfrm>
            <a:prstGeom prst="rect">
              <a:avLst/>
            </a:prstGeom>
            <a:solidFill>
              <a:srgbClr val="D3D3D3"/>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11" name="Rectangle 213"/>
            <p:cNvSpPr>
              <a:spLocks noChangeArrowheads="1"/>
            </p:cNvSpPr>
            <p:nvPr/>
          </p:nvSpPr>
          <p:spPr bwMode="auto">
            <a:xfrm>
              <a:off x="3673" y="1580"/>
              <a:ext cx="233" cy="8"/>
            </a:xfrm>
            <a:prstGeom prst="rect">
              <a:avLst/>
            </a:prstGeom>
            <a:solidFill>
              <a:srgbClr val="D4D4D4"/>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12" name="Rectangle 214"/>
            <p:cNvSpPr>
              <a:spLocks noChangeArrowheads="1"/>
            </p:cNvSpPr>
            <p:nvPr/>
          </p:nvSpPr>
          <p:spPr bwMode="auto">
            <a:xfrm>
              <a:off x="3673" y="1588"/>
              <a:ext cx="233" cy="8"/>
            </a:xfrm>
            <a:prstGeom prst="rect">
              <a:avLst/>
            </a:prstGeom>
            <a:solidFill>
              <a:srgbClr val="D5D5D5"/>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13" name="Rectangle 215"/>
            <p:cNvSpPr>
              <a:spLocks noChangeArrowheads="1"/>
            </p:cNvSpPr>
            <p:nvPr/>
          </p:nvSpPr>
          <p:spPr bwMode="auto">
            <a:xfrm>
              <a:off x="3673" y="1596"/>
              <a:ext cx="233" cy="8"/>
            </a:xfrm>
            <a:prstGeom prst="rect">
              <a:avLst/>
            </a:prstGeom>
            <a:solidFill>
              <a:srgbClr val="D7D7D7"/>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14" name="Rectangle 216"/>
            <p:cNvSpPr>
              <a:spLocks noChangeArrowheads="1"/>
            </p:cNvSpPr>
            <p:nvPr/>
          </p:nvSpPr>
          <p:spPr bwMode="auto">
            <a:xfrm>
              <a:off x="3673" y="1604"/>
              <a:ext cx="233" cy="8"/>
            </a:xfrm>
            <a:prstGeom prst="rect">
              <a:avLst/>
            </a:prstGeom>
            <a:solidFill>
              <a:srgbClr val="D8D8D8"/>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15" name="Rectangle 217"/>
            <p:cNvSpPr>
              <a:spLocks noChangeArrowheads="1"/>
            </p:cNvSpPr>
            <p:nvPr/>
          </p:nvSpPr>
          <p:spPr bwMode="auto">
            <a:xfrm>
              <a:off x="3673" y="1612"/>
              <a:ext cx="233" cy="8"/>
            </a:xfrm>
            <a:prstGeom prst="rect">
              <a:avLst/>
            </a:prstGeom>
            <a:solidFill>
              <a:srgbClr val="D9D9D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16" name="Rectangle 218"/>
            <p:cNvSpPr>
              <a:spLocks noChangeArrowheads="1"/>
            </p:cNvSpPr>
            <p:nvPr/>
          </p:nvSpPr>
          <p:spPr bwMode="auto">
            <a:xfrm>
              <a:off x="3673" y="1620"/>
              <a:ext cx="233" cy="8"/>
            </a:xfrm>
            <a:prstGeom prst="rect">
              <a:avLst/>
            </a:prstGeom>
            <a:solidFill>
              <a:srgbClr val="DADADA"/>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17" name="Rectangle 219"/>
            <p:cNvSpPr>
              <a:spLocks noChangeArrowheads="1"/>
            </p:cNvSpPr>
            <p:nvPr/>
          </p:nvSpPr>
          <p:spPr bwMode="auto">
            <a:xfrm>
              <a:off x="3673" y="1628"/>
              <a:ext cx="233" cy="8"/>
            </a:xfrm>
            <a:prstGeom prst="rect">
              <a:avLst/>
            </a:prstGeom>
            <a:solidFill>
              <a:srgbClr val="DCDCDC"/>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18" name="Rectangle 220"/>
            <p:cNvSpPr>
              <a:spLocks noChangeArrowheads="1"/>
            </p:cNvSpPr>
            <p:nvPr/>
          </p:nvSpPr>
          <p:spPr bwMode="auto">
            <a:xfrm>
              <a:off x="3673" y="1636"/>
              <a:ext cx="233" cy="8"/>
            </a:xfrm>
            <a:prstGeom prst="rect">
              <a:avLst/>
            </a:prstGeom>
            <a:solidFill>
              <a:srgbClr val="DDDDDD"/>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19" name="Rectangle 221"/>
            <p:cNvSpPr>
              <a:spLocks noChangeArrowheads="1"/>
            </p:cNvSpPr>
            <p:nvPr/>
          </p:nvSpPr>
          <p:spPr bwMode="auto">
            <a:xfrm>
              <a:off x="3673" y="1644"/>
              <a:ext cx="233" cy="8"/>
            </a:xfrm>
            <a:prstGeom prst="rect">
              <a:avLst/>
            </a:prstGeom>
            <a:solidFill>
              <a:srgbClr val="DEDEDE"/>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20" name="Rectangle 222"/>
            <p:cNvSpPr>
              <a:spLocks noChangeArrowheads="1"/>
            </p:cNvSpPr>
            <p:nvPr/>
          </p:nvSpPr>
          <p:spPr bwMode="auto">
            <a:xfrm>
              <a:off x="3673" y="1652"/>
              <a:ext cx="233" cy="8"/>
            </a:xfrm>
            <a:prstGeom prst="rect">
              <a:avLst/>
            </a:prstGeom>
            <a:solidFill>
              <a:srgbClr val="DFDFD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21" name="Rectangle 223"/>
            <p:cNvSpPr>
              <a:spLocks noChangeArrowheads="1"/>
            </p:cNvSpPr>
            <p:nvPr/>
          </p:nvSpPr>
          <p:spPr bwMode="auto">
            <a:xfrm>
              <a:off x="3673" y="1660"/>
              <a:ext cx="233" cy="8"/>
            </a:xfrm>
            <a:prstGeom prst="rect">
              <a:avLst/>
            </a:prstGeom>
            <a:solidFill>
              <a:srgbClr val="E0E0E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22" name="Rectangle 224"/>
            <p:cNvSpPr>
              <a:spLocks noChangeArrowheads="1"/>
            </p:cNvSpPr>
            <p:nvPr/>
          </p:nvSpPr>
          <p:spPr bwMode="auto">
            <a:xfrm>
              <a:off x="3673" y="1668"/>
              <a:ext cx="233" cy="8"/>
            </a:xfrm>
            <a:prstGeom prst="rect">
              <a:avLst/>
            </a:prstGeom>
            <a:solidFill>
              <a:srgbClr val="E1E1E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23" name="Rectangle 225"/>
            <p:cNvSpPr>
              <a:spLocks noChangeArrowheads="1"/>
            </p:cNvSpPr>
            <p:nvPr/>
          </p:nvSpPr>
          <p:spPr bwMode="auto">
            <a:xfrm>
              <a:off x="3673" y="1676"/>
              <a:ext cx="233" cy="8"/>
            </a:xfrm>
            <a:prstGeom prst="rect">
              <a:avLst/>
            </a:prstGeom>
            <a:solidFill>
              <a:srgbClr val="E3E3E3"/>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24" name="Rectangle 226"/>
            <p:cNvSpPr>
              <a:spLocks noChangeArrowheads="1"/>
            </p:cNvSpPr>
            <p:nvPr/>
          </p:nvSpPr>
          <p:spPr bwMode="auto">
            <a:xfrm>
              <a:off x="3673" y="1684"/>
              <a:ext cx="233" cy="8"/>
            </a:xfrm>
            <a:prstGeom prst="rect">
              <a:avLst/>
            </a:prstGeom>
            <a:solidFill>
              <a:srgbClr val="E4E4E4"/>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25" name="Rectangle 227"/>
            <p:cNvSpPr>
              <a:spLocks noChangeArrowheads="1"/>
            </p:cNvSpPr>
            <p:nvPr/>
          </p:nvSpPr>
          <p:spPr bwMode="auto">
            <a:xfrm>
              <a:off x="3673" y="1572"/>
              <a:ext cx="9" cy="80"/>
            </a:xfrm>
            <a:prstGeom prst="rect">
              <a:avLst/>
            </a:prstGeom>
            <a:solidFill>
              <a:srgbClr val="E5E5E5"/>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26" name="Rectangle 228"/>
            <p:cNvSpPr>
              <a:spLocks noChangeArrowheads="1"/>
            </p:cNvSpPr>
            <p:nvPr/>
          </p:nvSpPr>
          <p:spPr bwMode="auto">
            <a:xfrm>
              <a:off x="3682" y="1572"/>
              <a:ext cx="8" cy="80"/>
            </a:xfrm>
            <a:prstGeom prst="rect">
              <a:avLst/>
            </a:prstGeom>
            <a:solidFill>
              <a:srgbClr val="C0C0C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27" name="Rectangle 229"/>
            <p:cNvSpPr>
              <a:spLocks noChangeArrowheads="1"/>
            </p:cNvSpPr>
            <p:nvPr/>
          </p:nvSpPr>
          <p:spPr bwMode="auto">
            <a:xfrm>
              <a:off x="3690" y="1572"/>
              <a:ext cx="8" cy="80"/>
            </a:xfrm>
            <a:prstGeom prst="rect">
              <a:avLst/>
            </a:prstGeom>
            <a:solidFill>
              <a:srgbClr val="C1C1C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28" name="Rectangle 230"/>
            <p:cNvSpPr>
              <a:spLocks noChangeArrowheads="1"/>
            </p:cNvSpPr>
            <p:nvPr/>
          </p:nvSpPr>
          <p:spPr bwMode="auto">
            <a:xfrm>
              <a:off x="3698" y="1572"/>
              <a:ext cx="8" cy="80"/>
            </a:xfrm>
            <a:prstGeom prst="rect">
              <a:avLst/>
            </a:prstGeom>
            <a:solidFill>
              <a:srgbClr val="C3C3C3"/>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29" name="Rectangle 231"/>
            <p:cNvSpPr>
              <a:spLocks noChangeArrowheads="1"/>
            </p:cNvSpPr>
            <p:nvPr/>
          </p:nvSpPr>
          <p:spPr bwMode="auto">
            <a:xfrm>
              <a:off x="3706" y="1572"/>
              <a:ext cx="8" cy="80"/>
            </a:xfrm>
            <a:prstGeom prst="rect">
              <a:avLst/>
            </a:prstGeom>
            <a:solidFill>
              <a:srgbClr val="C5C5C5"/>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30" name="Rectangle 232"/>
            <p:cNvSpPr>
              <a:spLocks noChangeArrowheads="1"/>
            </p:cNvSpPr>
            <p:nvPr/>
          </p:nvSpPr>
          <p:spPr bwMode="auto">
            <a:xfrm>
              <a:off x="3714" y="1572"/>
              <a:ext cx="8" cy="80"/>
            </a:xfrm>
            <a:prstGeom prst="rect">
              <a:avLst/>
            </a:prstGeom>
            <a:solidFill>
              <a:srgbClr val="C6C6C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31" name="Rectangle 233"/>
            <p:cNvSpPr>
              <a:spLocks noChangeArrowheads="1"/>
            </p:cNvSpPr>
            <p:nvPr/>
          </p:nvSpPr>
          <p:spPr bwMode="auto">
            <a:xfrm>
              <a:off x="3722" y="1572"/>
              <a:ext cx="8" cy="80"/>
            </a:xfrm>
            <a:prstGeom prst="rect">
              <a:avLst/>
            </a:prstGeom>
            <a:solidFill>
              <a:srgbClr val="C7C7C7"/>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32" name="Rectangle 234"/>
            <p:cNvSpPr>
              <a:spLocks noChangeArrowheads="1"/>
            </p:cNvSpPr>
            <p:nvPr/>
          </p:nvSpPr>
          <p:spPr bwMode="auto">
            <a:xfrm>
              <a:off x="3730" y="1572"/>
              <a:ext cx="8" cy="80"/>
            </a:xfrm>
            <a:prstGeom prst="rect">
              <a:avLst/>
            </a:prstGeom>
            <a:solidFill>
              <a:srgbClr val="C9C9C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33" name="Rectangle 235"/>
            <p:cNvSpPr>
              <a:spLocks noChangeArrowheads="1"/>
            </p:cNvSpPr>
            <p:nvPr/>
          </p:nvSpPr>
          <p:spPr bwMode="auto">
            <a:xfrm>
              <a:off x="3738" y="1572"/>
              <a:ext cx="8" cy="80"/>
            </a:xfrm>
            <a:prstGeom prst="rect">
              <a:avLst/>
            </a:prstGeom>
            <a:solidFill>
              <a:srgbClr val="CBCBCB"/>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34" name="Rectangle 236"/>
            <p:cNvSpPr>
              <a:spLocks noChangeArrowheads="1"/>
            </p:cNvSpPr>
            <p:nvPr/>
          </p:nvSpPr>
          <p:spPr bwMode="auto">
            <a:xfrm>
              <a:off x="3746" y="1572"/>
              <a:ext cx="8" cy="80"/>
            </a:xfrm>
            <a:prstGeom prst="rect">
              <a:avLst/>
            </a:prstGeom>
            <a:solidFill>
              <a:srgbClr val="CCCCCC"/>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35" name="Rectangle 237"/>
            <p:cNvSpPr>
              <a:spLocks noChangeArrowheads="1"/>
            </p:cNvSpPr>
            <p:nvPr/>
          </p:nvSpPr>
          <p:spPr bwMode="auto">
            <a:xfrm>
              <a:off x="3754" y="1572"/>
              <a:ext cx="8" cy="80"/>
            </a:xfrm>
            <a:prstGeom prst="rect">
              <a:avLst/>
            </a:prstGeom>
            <a:solidFill>
              <a:srgbClr val="CDCDCD"/>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36" name="Rectangle 238"/>
            <p:cNvSpPr>
              <a:spLocks noChangeArrowheads="1"/>
            </p:cNvSpPr>
            <p:nvPr/>
          </p:nvSpPr>
          <p:spPr bwMode="auto">
            <a:xfrm>
              <a:off x="3762" y="1572"/>
              <a:ext cx="8" cy="80"/>
            </a:xfrm>
            <a:prstGeom prst="rect">
              <a:avLst/>
            </a:prstGeom>
            <a:solidFill>
              <a:srgbClr val="CFCFC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37" name="Rectangle 239"/>
            <p:cNvSpPr>
              <a:spLocks noChangeArrowheads="1"/>
            </p:cNvSpPr>
            <p:nvPr/>
          </p:nvSpPr>
          <p:spPr bwMode="auto">
            <a:xfrm>
              <a:off x="3770" y="1572"/>
              <a:ext cx="8" cy="80"/>
            </a:xfrm>
            <a:prstGeom prst="rect">
              <a:avLst/>
            </a:prstGeom>
            <a:solidFill>
              <a:srgbClr val="D0D0D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38" name="Rectangle 240"/>
            <p:cNvSpPr>
              <a:spLocks noChangeArrowheads="1"/>
            </p:cNvSpPr>
            <p:nvPr/>
          </p:nvSpPr>
          <p:spPr bwMode="auto">
            <a:xfrm>
              <a:off x="3778" y="1572"/>
              <a:ext cx="8" cy="80"/>
            </a:xfrm>
            <a:prstGeom prst="rect">
              <a:avLst/>
            </a:prstGeom>
            <a:solidFill>
              <a:srgbClr val="D2D2D2"/>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39" name="Rectangle 241"/>
            <p:cNvSpPr>
              <a:spLocks noChangeArrowheads="1"/>
            </p:cNvSpPr>
            <p:nvPr/>
          </p:nvSpPr>
          <p:spPr bwMode="auto">
            <a:xfrm>
              <a:off x="3786" y="1572"/>
              <a:ext cx="8" cy="80"/>
            </a:xfrm>
            <a:prstGeom prst="rect">
              <a:avLst/>
            </a:prstGeom>
            <a:solidFill>
              <a:srgbClr val="D3D3D3"/>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40" name="Rectangle 242"/>
            <p:cNvSpPr>
              <a:spLocks noChangeArrowheads="1"/>
            </p:cNvSpPr>
            <p:nvPr/>
          </p:nvSpPr>
          <p:spPr bwMode="auto">
            <a:xfrm>
              <a:off x="3794" y="1572"/>
              <a:ext cx="8" cy="80"/>
            </a:xfrm>
            <a:prstGeom prst="rect">
              <a:avLst/>
            </a:prstGeom>
            <a:solidFill>
              <a:srgbClr val="D4D4D4"/>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41" name="Rectangle 243"/>
            <p:cNvSpPr>
              <a:spLocks noChangeArrowheads="1"/>
            </p:cNvSpPr>
            <p:nvPr/>
          </p:nvSpPr>
          <p:spPr bwMode="auto">
            <a:xfrm>
              <a:off x="3802" y="1572"/>
              <a:ext cx="8" cy="80"/>
            </a:xfrm>
            <a:prstGeom prst="rect">
              <a:avLst/>
            </a:prstGeom>
            <a:solidFill>
              <a:srgbClr val="D6D6D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42" name="Rectangle 244"/>
            <p:cNvSpPr>
              <a:spLocks noChangeArrowheads="1"/>
            </p:cNvSpPr>
            <p:nvPr/>
          </p:nvSpPr>
          <p:spPr bwMode="auto">
            <a:xfrm>
              <a:off x="3810" y="1572"/>
              <a:ext cx="8" cy="80"/>
            </a:xfrm>
            <a:prstGeom prst="rect">
              <a:avLst/>
            </a:prstGeom>
            <a:solidFill>
              <a:srgbClr val="D7D7D7"/>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43" name="Rectangle 245"/>
            <p:cNvSpPr>
              <a:spLocks noChangeArrowheads="1"/>
            </p:cNvSpPr>
            <p:nvPr/>
          </p:nvSpPr>
          <p:spPr bwMode="auto">
            <a:xfrm>
              <a:off x="3818" y="1572"/>
              <a:ext cx="8" cy="80"/>
            </a:xfrm>
            <a:prstGeom prst="rect">
              <a:avLst/>
            </a:prstGeom>
            <a:solidFill>
              <a:srgbClr val="D9D9D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44" name="Rectangle 246"/>
            <p:cNvSpPr>
              <a:spLocks noChangeArrowheads="1"/>
            </p:cNvSpPr>
            <p:nvPr/>
          </p:nvSpPr>
          <p:spPr bwMode="auto">
            <a:xfrm>
              <a:off x="3826" y="1572"/>
              <a:ext cx="8" cy="80"/>
            </a:xfrm>
            <a:prstGeom prst="rect">
              <a:avLst/>
            </a:prstGeom>
            <a:solidFill>
              <a:srgbClr val="DADADA"/>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45" name="Rectangle 247"/>
            <p:cNvSpPr>
              <a:spLocks noChangeArrowheads="1"/>
            </p:cNvSpPr>
            <p:nvPr/>
          </p:nvSpPr>
          <p:spPr bwMode="auto">
            <a:xfrm>
              <a:off x="3834" y="1572"/>
              <a:ext cx="8" cy="80"/>
            </a:xfrm>
            <a:prstGeom prst="rect">
              <a:avLst/>
            </a:prstGeom>
            <a:solidFill>
              <a:srgbClr val="DCDCDC"/>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46" name="Rectangle 248"/>
            <p:cNvSpPr>
              <a:spLocks noChangeArrowheads="1"/>
            </p:cNvSpPr>
            <p:nvPr/>
          </p:nvSpPr>
          <p:spPr bwMode="auto">
            <a:xfrm>
              <a:off x="3842" y="1572"/>
              <a:ext cx="8" cy="80"/>
            </a:xfrm>
            <a:prstGeom prst="rect">
              <a:avLst/>
            </a:prstGeom>
            <a:solidFill>
              <a:srgbClr val="DDDDDD"/>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47" name="Rectangle 249"/>
            <p:cNvSpPr>
              <a:spLocks noChangeArrowheads="1"/>
            </p:cNvSpPr>
            <p:nvPr/>
          </p:nvSpPr>
          <p:spPr bwMode="auto">
            <a:xfrm>
              <a:off x="3850" y="1572"/>
              <a:ext cx="8" cy="80"/>
            </a:xfrm>
            <a:prstGeom prst="rect">
              <a:avLst/>
            </a:prstGeom>
            <a:solidFill>
              <a:srgbClr val="DFDFD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48" name="Rectangle 250"/>
            <p:cNvSpPr>
              <a:spLocks noChangeArrowheads="1"/>
            </p:cNvSpPr>
            <p:nvPr/>
          </p:nvSpPr>
          <p:spPr bwMode="auto">
            <a:xfrm>
              <a:off x="3858" y="1572"/>
              <a:ext cx="8" cy="80"/>
            </a:xfrm>
            <a:prstGeom prst="rect">
              <a:avLst/>
            </a:prstGeom>
            <a:solidFill>
              <a:srgbClr val="E0E0E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49" name="Rectangle 251"/>
            <p:cNvSpPr>
              <a:spLocks noChangeArrowheads="1"/>
            </p:cNvSpPr>
            <p:nvPr/>
          </p:nvSpPr>
          <p:spPr bwMode="auto">
            <a:xfrm>
              <a:off x="3866" y="1572"/>
              <a:ext cx="8" cy="80"/>
            </a:xfrm>
            <a:prstGeom prst="rect">
              <a:avLst/>
            </a:prstGeom>
            <a:solidFill>
              <a:srgbClr val="E1E1E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50" name="Rectangle 252"/>
            <p:cNvSpPr>
              <a:spLocks noChangeArrowheads="1"/>
            </p:cNvSpPr>
            <p:nvPr/>
          </p:nvSpPr>
          <p:spPr bwMode="auto">
            <a:xfrm>
              <a:off x="3874" y="1572"/>
              <a:ext cx="8" cy="80"/>
            </a:xfrm>
            <a:prstGeom prst="rect">
              <a:avLst/>
            </a:prstGeom>
            <a:solidFill>
              <a:srgbClr val="E3E3E3"/>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51" name="Rectangle 253"/>
            <p:cNvSpPr>
              <a:spLocks noChangeArrowheads="1"/>
            </p:cNvSpPr>
            <p:nvPr/>
          </p:nvSpPr>
          <p:spPr bwMode="auto">
            <a:xfrm>
              <a:off x="3882" y="1572"/>
              <a:ext cx="8" cy="80"/>
            </a:xfrm>
            <a:prstGeom prst="rect">
              <a:avLst/>
            </a:prstGeom>
            <a:solidFill>
              <a:srgbClr val="E5E5E5"/>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52" name="Rectangle 254"/>
            <p:cNvSpPr>
              <a:spLocks noChangeArrowheads="1"/>
            </p:cNvSpPr>
            <p:nvPr/>
          </p:nvSpPr>
          <p:spPr bwMode="auto">
            <a:xfrm>
              <a:off x="3673" y="1340"/>
              <a:ext cx="233" cy="8"/>
            </a:xfrm>
            <a:prstGeom prst="rect">
              <a:avLst/>
            </a:prstGeom>
            <a:solidFill>
              <a:srgbClr val="DBDBDB"/>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53" name="Rectangle 255"/>
            <p:cNvSpPr>
              <a:spLocks noChangeArrowheads="1"/>
            </p:cNvSpPr>
            <p:nvPr/>
          </p:nvSpPr>
          <p:spPr bwMode="auto">
            <a:xfrm>
              <a:off x="3673" y="1348"/>
              <a:ext cx="233" cy="8"/>
            </a:xfrm>
            <a:prstGeom prst="rect">
              <a:avLst/>
            </a:prstGeom>
            <a:solidFill>
              <a:srgbClr val="D8D8D8"/>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54" name="Rectangle 256"/>
            <p:cNvSpPr>
              <a:spLocks noChangeArrowheads="1"/>
            </p:cNvSpPr>
            <p:nvPr/>
          </p:nvSpPr>
          <p:spPr bwMode="auto">
            <a:xfrm>
              <a:off x="3680" y="1345"/>
              <a:ext cx="230" cy="9"/>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255" name="Rectangle 257"/>
            <p:cNvSpPr>
              <a:spLocks noChangeArrowheads="1"/>
            </p:cNvSpPr>
            <p:nvPr/>
          </p:nvSpPr>
          <p:spPr bwMode="auto">
            <a:xfrm>
              <a:off x="3673" y="1348"/>
              <a:ext cx="9" cy="40"/>
            </a:xfrm>
            <a:prstGeom prst="rect">
              <a:avLst/>
            </a:prstGeom>
            <a:solidFill>
              <a:srgbClr val="9F9F9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56" name="Rectangle 258"/>
            <p:cNvSpPr>
              <a:spLocks noChangeArrowheads="1"/>
            </p:cNvSpPr>
            <p:nvPr/>
          </p:nvSpPr>
          <p:spPr bwMode="auto">
            <a:xfrm>
              <a:off x="3682" y="1348"/>
              <a:ext cx="8" cy="40"/>
            </a:xfrm>
            <a:prstGeom prst="rect">
              <a:avLst/>
            </a:prstGeom>
            <a:solidFill>
              <a:srgbClr val="9B9B9B"/>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57" name="Rectangle 259"/>
            <p:cNvSpPr>
              <a:spLocks noChangeArrowheads="1"/>
            </p:cNvSpPr>
            <p:nvPr/>
          </p:nvSpPr>
          <p:spPr bwMode="auto">
            <a:xfrm>
              <a:off x="3690" y="1348"/>
              <a:ext cx="8" cy="40"/>
            </a:xfrm>
            <a:prstGeom prst="rect">
              <a:avLst/>
            </a:prstGeom>
            <a:solidFill>
              <a:srgbClr val="A1A1A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58" name="Rectangle 260"/>
            <p:cNvSpPr>
              <a:spLocks noChangeArrowheads="1"/>
            </p:cNvSpPr>
            <p:nvPr/>
          </p:nvSpPr>
          <p:spPr bwMode="auto">
            <a:xfrm>
              <a:off x="3698" y="1348"/>
              <a:ext cx="8" cy="40"/>
            </a:xfrm>
            <a:prstGeom prst="rect">
              <a:avLst/>
            </a:prstGeom>
            <a:solidFill>
              <a:srgbClr val="A6A6A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59" name="Rectangle 261"/>
            <p:cNvSpPr>
              <a:spLocks noChangeArrowheads="1"/>
            </p:cNvSpPr>
            <p:nvPr/>
          </p:nvSpPr>
          <p:spPr bwMode="auto">
            <a:xfrm>
              <a:off x="3706" y="1348"/>
              <a:ext cx="8" cy="40"/>
            </a:xfrm>
            <a:prstGeom prst="rect">
              <a:avLst/>
            </a:prstGeom>
            <a:solidFill>
              <a:srgbClr val="ABABAB"/>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60" name="Rectangle 262"/>
            <p:cNvSpPr>
              <a:spLocks noChangeArrowheads="1"/>
            </p:cNvSpPr>
            <p:nvPr/>
          </p:nvSpPr>
          <p:spPr bwMode="auto">
            <a:xfrm>
              <a:off x="3714" y="1348"/>
              <a:ext cx="8" cy="40"/>
            </a:xfrm>
            <a:prstGeom prst="rect">
              <a:avLst/>
            </a:prstGeom>
            <a:solidFill>
              <a:srgbClr val="B0B0B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61" name="Rectangle 263"/>
            <p:cNvSpPr>
              <a:spLocks noChangeArrowheads="1"/>
            </p:cNvSpPr>
            <p:nvPr/>
          </p:nvSpPr>
          <p:spPr bwMode="auto">
            <a:xfrm>
              <a:off x="3722" y="1348"/>
              <a:ext cx="8" cy="40"/>
            </a:xfrm>
            <a:prstGeom prst="rect">
              <a:avLst/>
            </a:prstGeom>
            <a:solidFill>
              <a:srgbClr val="B6B6B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62" name="Rectangle 264"/>
            <p:cNvSpPr>
              <a:spLocks noChangeArrowheads="1"/>
            </p:cNvSpPr>
            <p:nvPr/>
          </p:nvSpPr>
          <p:spPr bwMode="auto">
            <a:xfrm>
              <a:off x="3730" y="1348"/>
              <a:ext cx="8" cy="40"/>
            </a:xfrm>
            <a:prstGeom prst="rect">
              <a:avLst/>
            </a:prstGeom>
            <a:solidFill>
              <a:srgbClr val="BBBBBB"/>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63" name="Rectangle 265"/>
            <p:cNvSpPr>
              <a:spLocks noChangeArrowheads="1"/>
            </p:cNvSpPr>
            <p:nvPr/>
          </p:nvSpPr>
          <p:spPr bwMode="auto">
            <a:xfrm>
              <a:off x="3738" y="1348"/>
              <a:ext cx="8" cy="40"/>
            </a:xfrm>
            <a:prstGeom prst="rect">
              <a:avLst/>
            </a:prstGeom>
            <a:solidFill>
              <a:srgbClr val="C0C0C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64" name="Rectangle 266"/>
            <p:cNvSpPr>
              <a:spLocks noChangeArrowheads="1"/>
            </p:cNvSpPr>
            <p:nvPr/>
          </p:nvSpPr>
          <p:spPr bwMode="auto">
            <a:xfrm>
              <a:off x="3746" y="1348"/>
              <a:ext cx="8" cy="40"/>
            </a:xfrm>
            <a:prstGeom prst="rect">
              <a:avLst/>
            </a:prstGeom>
            <a:solidFill>
              <a:srgbClr val="C6C6C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65" name="Rectangle 267"/>
            <p:cNvSpPr>
              <a:spLocks noChangeArrowheads="1"/>
            </p:cNvSpPr>
            <p:nvPr/>
          </p:nvSpPr>
          <p:spPr bwMode="auto">
            <a:xfrm>
              <a:off x="3754" y="1348"/>
              <a:ext cx="8" cy="40"/>
            </a:xfrm>
            <a:prstGeom prst="rect">
              <a:avLst/>
            </a:prstGeom>
            <a:solidFill>
              <a:srgbClr val="CBCBCB"/>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66" name="Rectangle 268"/>
            <p:cNvSpPr>
              <a:spLocks noChangeArrowheads="1"/>
            </p:cNvSpPr>
            <p:nvPr/>
          </p:nvSpPr>
          <p:spPr bwMode="auto">
            <a:xfrm>
              <a:off x="3762" y="1348"/>
              <a:ext cx="8" cy="40"/>
            </a:xfrm>
            <a:prstGeom prst="rect">
              <a:avLst/>
            </a:prstGeom>
            <a:solidFill>
              <a:srgbClr val="D0D0D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67" name="Rectangle 269"/>
            <p:cNvSpPr>
              <a:spLocks noChangeArrowheads="1"/>
            </p:cNvSpPr>
            <p:nvPr/>
          </p:nvSpPr>
          <p:spPr bwMode="auto">
            <a:xfrm>
              <a:off x="3770" y="1348"/>
              <a:ext cx="8" cy="40"/>
            </a:xfrm>
            <a:prstGeom prst="rect">
              <a:avLst/>
            </a:prstGeom>
            <a:solidFill>
              <a:srgbClr val="D5D5D5"/>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68" name="Rectangle 270"/>
            <p:cNvSpPr>
              <a:spLocks noChangeArrowheads="1"/>
            </p:cNvSpPr>
            <p:nvPr/>
          </p:nvSpPr>
          <p:spPr bwMode="auto">
            <a:xfrm>
              <a:off x="3778" y="1348"/>
              <a:ext cx="8" cy="40"/>
            </a:xfrm>
            <a:prstGeom prst="rect">
              <a:avLst/>
            </a:prstGeom>
            <a:solidFill>
              <a:srgbClr val="DBDBDB"/>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69" name="Rectangle 271"/>
            <p:cNvSpPr>
              <a:spLocks noChangeArrowheads="1"/>
            </p:cNvSpPr>
            <p:nvPr/>
          </p:nvSpPr>
          <p:spPr bwMode="auto">
            <a:xfrm>
              <a:off x="3786" y="1348"/>
              <a:ext cx="8" cy="40"/>
            </a:xfrm>
            <a:prstGeom prst="rect">
              <a:avLst/>
            </a:prstGeom>
            <a:solidFill>
              <a:srgbClr val="E0E0E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70" name="Rectangle 272"/>
            <p:cNvSpPr>
              <a:spLocks noChangeArrowheads="1"/>
            </p:cNvSpPr>
            <p:nvPr/>
          </p:nvSpPr>
          <p:spPr bwMode="auto">
            <a:xfrm>
              <a:off x="3794" y="1348"/>
              <a:ext cx="8" cy="40"/>
            </a:xfrm>
            <a:prstGeom prst="rect">
              <a:avLst/>
            </a:prstGeom>
            <a:solidFill>
              <a:srgbClr val="E5E5E5"/>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71" name="Rectangle 273"/>
            <p:cNvSpPr>
              <a:spLocks noChangeArrowheads="1"/>
            </p:cNvSpPr>
            <p:nvPr/>
          </p:nvSpPr>
          <p:spPr bwMode="auto">
            <a:xfrm>
              <a:off x="3802" y="1348"/>
              <a:ext cx="8" cy="40"/>
            </a:xfrm>
            <a:prstGeom prst="rect">
              <a:avLst/>
            </a:prstGeom>
            <a:solidFill>
              <a:srgbClr val="E2E2E2"/>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72" name="Rectangle 274"/>
            <p:cNvSpPr>
              <a:spLocks noChangeArrowheads="1"/>
            </p:cNvSpPr>
            <p:nvPr/>
          </p:nvSpPr>
          <p:spPr bwMode="auto">
            <a:xfrm>
              <a:off x="3810" y="1348"/>
              <a:ext cx="8" cy="40"/>
            </a:xfrm>
            <a:prstGeom prst="rect">
              <a:avLst/>
            </a:prstGeom>
            <a:solidFill>
              <a:srgbClr val="DDDDDD"/>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73" name="Rectangle 275"/>
            <p:cNvSpPr>
              <a:spLocks noChangeArrowheads="1"/>
            </p:cNvSpPr>
            <p:nvPr/>
          </p:nvSpPr>
          <p:spPr bwMode="auto">
            <a:xfrm>
              <a:off x="3818" y="1348"/>
              <a:ext cx="8" cy="40"/>
            </a:xfrm>
            <a:prstGeom prst="rect">
              <a:avLst/>
            </a:prstGeom>
            <a:solidFill>
              <a:srgbClr val="D7D7D7"/>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74" name="Rectangle 276"/>
            <p:cNvSpPr>
              <a:spLocks noChangeArrowheads="1"/>
            </p:cNvSpPr>
            <p:nvPr/>
          </p:nvSpPr>
          <p:spPr bwMode="auto">
            <a:xfrm>
              <a:off x="3826" y="1348"/>
              <a:ext cx="8" cy="40"/>
            </a:xfrm>
            <a:prstGeom prst="rect">
              <a:avLst/>
            </a:prstGeom>
            <a:solidFill>
              <a:srgbClr val="D2D2D2"/>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75" name="Rectangle 277"/>
            <p:cNvSpPr>
              <a:spLocks noChangeArrowheads="1"/>
            </p:cNvSpPr>
            <p:nvPr/>
          </p:nvSpPr>
          <p:spPr bwMode="auto">
            <a:xfrm>
              <a:off x="3834" y="1348"/>
              <a:ext cx="8" cy="40"/>
            </a:xfrm>
            <a:prstGeom prst="rect">
              <a:avLst/>
            </a:prstGeom>
            <a:solidFill>
              <a:srgbClr val="CDCDCD"/>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76" name="Rectangle 278"/>
            <p:cNvSpPr>
              <a:spLocks noChangeArrowheads="1"/>
            </p:cNvSpPr>
            <p:nvPr/>
          </p:nvSpPr>
          <p:spPr bwMode="auto">
            <a:xfrm>
              <a:off x="3842" y="1348"/>
              <a:ext cx="8" cy="40"/>
            </a:xfrm>
            <a:prstGeom prst="rect">
              <a:avLst/>
            </a:prstGeom>
            <a:solidFill>
              <a:srgbClr val="C7C7C7"/>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77" name="Rectangle 279"/>
            <p:cNvSpPr>
              <a:spLocks noChangeArrowheads="1"/>
            </p:cNvSpPr>
            <p:nvPr/>
          </p:nvSpPr>
          <p:spPr bwMode="auto">
            <a:xfrm>
              <a:off x="3850" y="1348"/>
              <a:ext cx="8" cy="40"/>
            </a:xfrm>
            <a:prstGeom prst="rect">
              <a:avLst/>
            </a:prstGeom>
            <a:solidFill>
              <a:srgbClr val="C2C2C2"/>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78" name="Rectangle 280"/>
            <p:cNvSpPr>
              <a:spLocks noChangeArrowheads="1"/>
            </p:cNvSpPr>
            <p:nvPr/>
          </p:nvSpPr>
          <p:spPr bwMode="auto">
            <a:xfrm>
              <a:off x="3858" y="1348"/>
              <a:ext cx="8" cy="40"/>
            </a:xfrm>
            <a:prstGeom prst="rect">
              <a:avLst/>
            </a:prstGeom>
            <a:solidFill>
              <a:srgbClr val="BDBDBD"/>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79" name="Rectangle 281"/>
            <p:cNvSpPr>
              <a:spLocks noChangeArrowheads="1"/>
            </p:cNvSpPr>
            <p:nvPr/>
          </p:nvSpPr>
          <p:spPr bwMode="auto">
            <a:xfrm>
              <a:off x="3866" y="1348"/>
              <a:ext cx="8" cy="40"/>
            </a:xfrm>
            <a:prstGeom prst="rect">
              <a:avLst/>
            </a:prstGeom>
            <a:solidFill>
              <a:srgbClr val="B8B8B8"/>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80" name="Rectangle 282"/>
            <p:cNvSpPr>
              <a:spLocks noChangeArrowheads="1"/>
            </p:cNvSpPr>
            <p:nvPr/>
          </p:nvSpPr>
          <p:spPr bwMode="auto">
            <a:xfrm>
              <a:off x="3874" y="1348"/>
              <a:ext cx="8" cy="40"/>
            </a:xfrm>
            <a:prstGeom prst="rect">
              <a:avLst/>
            </a:prstGeom>
            <a:solidFill>
              <a:srgbClr val="B2B2B2"/>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81" name="Rectangle 283"/>
            <p:cNvSpPr>
              <a:spLocks noChangeArrowheads="1"/>
            </p:cNvSpPr>
            <p:nvPr/>
          </p:nvSpPr>
          <p:spPr bwMode="auto">
            <a:xfrm>
              <a:off x="3882" y="1348"/>
              <a:ext cx="8" cy="40"/>
            </a:xfrm>
            <a:prstGeom prst="rect">
              <a:avLst/>
            </a:prstGeom>
            <a:solidFill>
              <a:srgbClr val="ADADAD"/>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82" name="Rectangle 284"/>
            <p:cNvSpPr>
              <a:spLocks noChangeArrowheads="1"/>
            </p:cNvSpPr>
            <p:nvPr/>
          </p:nvSpPr>
          <p:spPr bwMode="auto">
            <a:xfrm>
              <a:off x="3890" y="1348"/>
              <a:ext cx="8" cy="40"/>
            </a:xfrm>
            <a:prstGeom prst="rect">
              <a:avLst/>
            </a:prstGeom>
            <a:solidFill>
              <a:srgbClr val="A8A8A8"/>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83" name="Rectangle 285"/>
            <p:cNvSpPr>
              <a:spLocks noChangeArrowheads="1"/>
            </p:cNvSpPr>
            <p:nvPr/>
          </p:nvSpPr>
          <p:spPr bwMode="auto">
            <a:xfrm>
              <a:off x="3898" y="1348"/>
              <a:ext cx="8" cy="40"/>
            </a:xfrm>
            <a:prstGeom prst="rect">
              <a:avLst/>
            </a:prstGeom>
            <a:solidFill>
              <a:srgbClr val="A2A2A2"/>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84" name="Rectangle 286"/>
            <p:cNvSpPr>
              <a:spLocks noChangeArrowheads="1"/>
            </p:cNvSpPr>
            <p:nvPr/>
          </p:nvSpPr>
          <p:spPr bwMode="auto">
            <a:xfrm>
              <a:off x="3680" y="1354"/>
              <a:ext cx="230" cy="35"/>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285" name="Rectangle 287"/>
            <p:cNvSpPr>
              <a:spLocks noChangeArrowheads="1"/>
            </p:cNvSpPr>
            <p:nvPr/>
          </p:nvSpPr>
          <p:spPr bwMode="auto">
            <a:xfrm>
              <a:off x="3687" y="1361"/>
              <a:ext cx="49" cy="22"/>
            </a:xfrm>
            <a:prstGeom prst="rect">
              <a:avLst/>
            </a:prstGeom>
            <a:solidFill>
              <a:srgbClr val="66666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86" name="Rectangle 288"/>
            <p:cNvSpPr>
              <a:spLocks noChangeArrowheads="1"/>
            </p:cNvSpPr>
            <p:nvPr/>
          </p:nvSpPr>
          <p:spPr bwMode="auto">
            <a:xfrm>
              <a:off x="3687" y="1361"/>
              <a:ext cx="49" cy="22"/>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287" name="Rectangle 289"/>
            <p:cNvSpPr>
              <a:spLocks noChangeArrowheads="1"/>
            </p:cNvSpPr>
            <p:nvPr/>
          </p:nvSpPr>
          <p:spPr bwMode="auto">
            <a:xfrm>
              <a:off x="3690" y="1364"/>
              <a:ext cx="12" cy="6"/>
            </a:xfrm>
            <a:prstGeom prst="rect">
              <a:avLst/>
            </a:prstGeom>
            <a:solidFill>
              <a:srgbClr val="FF00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88" name="Rectangle 290"/>
            <p:cNvSpPr>
              <a:spLocks noChangeArrowheads="1"/>
            </p:cNvSpPr>
            <p:nvPr/>
          </p:nvSpPr>
          <p:spPr bwMode="auto">
            <a:xfrm>
              <a:off x="3721" y="1364"/>
              <a:ext cx="12" cy="6"/>
            </a:xfrm>
            <a:prstGeom prst="rect">
              <a:avLst/>
            </a:prstGeom>
            <a:solidFill>
              <a:srgbClr val="00FF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89" name="Rectangle 291"/>
            <p:cNvSpPr>
              <a:spLocks noChangeArrowheads="1"/>
            </p:cNvSpPr>
            <p:nvPr/>
          </p:nvSpPr>
          <p:spPr bwMode="auto">
            <a:xfrm>
              <a:off x="3690" y="1373"/>
              <a:ext cx="12" cy="7"/>
            </a:xfrm>
            <a:prstGeom prst="rect">
              <a:avLst/>
            </a:prstGeom>
            <a:solidFill>
              <a:srgbClr val="00FF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90" name="Rectangle 292"/>
            <p:cNvSpPr>
              <a:spLocks noChangeArrowheads="1"/>
            </p:cNvSpPr>
            <p:nvPr/>
          </p:nvSpPr>
          <p:spPr bwMode="auto">
            <a:xfrm>
              <a:off x="3705" y="1373"/>
              <a:ext cx="13" cy="7"/>
            </a:xfrm>
            <a:prstGeom prst="rect">
              <a:avLst/>
            </a:prstGeom>
            <a:solidFill>
              <a:srgbClr val="FF00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91" name="Rectangle 293"/>
            <p:cNvSpPr>
              <a:spLocks noChangeArrowheads="1"/>
            </p:cNvSpPr>
            <p:nvPr/>
          </p:nvSpPr>
          <p:spPr bwMode="auto">
            <a:xfrm>
              <a:off x="3705" y="1364"/>
              <a:ext cx="13" cy="6"/>
            </a:xfrm>
            <a:prstGeom prst="rect">
              <a:avLst/>
            </a:prstGeom>
            <a:solidFill>
              <a:srgbClr val="FF00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92" name="Rectangle 294"/>
            <p:cNvSpPr>
              <a:spLocks noChangeArrowheads="1"/>
            </p:cNvSpPr>
            <p:nvPr/>
          </p:nvSpPr>
          <p:spPr bwMode="auto">
            <a:xfrm>
              <a:off x="3721" y="1373"/>
              <a:ext cx="12" cy="7"/>
            </a:xfrm>
            <a:prstGeom prst="rect">
              <a:avLst/>
            </a:prstGeom>
            <a:solidFill>
              <a:srgbClr val="00FF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93" name="Freeform 295"/>
            <p:cNvSpPr>
              <a:spLocks noEditPoints="1"/>
            </p:cNvSpPr>
            <p:nvPr/>
          </p:nvSpPr>
          <p:spPr bwMode="auto">
            <a:xfrm>
              <a:off x="3680" y="1444"/>
              <a:ext cx="230" cy="259"/>
            </a:xfrm>
            <a:custGeom>
              <a:avLst/>
              <a:gdLst>
                <a:gd name="T0" fmla="*/ 230 w 230"/>
                <a:gd name="T1" fmla="*/ 128 h 259"/>
                <a:gd name="T2" fmla="*/ 230 w 230"/>
                <a:gd name="T3" fmla="*/ 131 h 259"/>
                <a:gd name="T4" fmla="*/ 0 w 230"/>
                <a:gd name="T5" fmla="*/ 131 h 259"/>
                <a:gd name="T6" fmla="*/ 0 w 230"/>
                <a:gd name="T7" fmla="*/ 128 h 259"/>
                <a:gd name="T8" fmla="*/ 230 w 230"/>
                <a:gd name="T9" fmla="*/ 128 h 259"/>
                <a:gd name="T10" fmla="*/ 230 w 230"/>
                <a:gd name="T11" fmla="*/ 102 h 259"/>
                <a:gd name="T12" fmla="*/ 230 w 230"/>
                <a:gd name="T13" fmla="*/ 105 h 259"/>
                <a:gd name="T14" fmla="*/ 0 w 230"/>
                <a:gd name="T15" fmla="*/ 105 h 259"/>
                <a:gd name="T16" fmla="*/ 0 w 230"/>
                <a:gd name="T17" fmla="*/ 102 h 259"/>
                <a:gd name="T18" fmla="*/ 230 w 230"/>
                <a:gd name="T19" fmla="*/ 102 h 259"/>
                <a:gd name="T20" fmla="*/ 230 w 230"/>
                <a:gd name="T21" fmla="*/ 77 h 259"/>
                <a:gd name="T22" fmla="*/ 230 w 230"/>
                <a:gd name="T23" fmla="*/ 80 h 259"/>
                <a:gd name="T24" fmla="*/ 0 w 230"/>
                <a:gd name="T25" fmla="*/ 80 h 259"/>
                <a:gd name="T26" fmla="*/ 0 w 230"/>
                <a:gd name="T27" fmla="*/ 77 h 259"/>
                <a:gd name="T28" fmla="*/ 230 w 230"/>
                <a:gd name="T29" fmla="*/ 77 h 259"/>
                <a:gd name="T30" fmla="*/ 230 w 230"/>
                <a:gd name="T31" fmla="*/ 51 h 259"/>
                <a:gd name="T32" fmla="*/ 230 w 230"/>
                <a:gd name="T33" fmla="*/ 54 h 259"/>
                <a:gd name="T34" fmla="*/ 0 w 230"/>
                <a:gd name="T35" fmla="*/ 54 h 259"/>
                <a:gd name="T36" fmla="*/ 0 w 230"/>
                <a:gd name="T37" fmla="*/ 51 h 259"/>
                <a:gd name="T38" fmla="*/ 230 w 230"/>
                <a:gd name="T39" fmla="*/ 51 h 259"/>
                <a:gd name="T40" fmla="*/ 230 w 230"/>
                <a:gd name="T41" fmla="*/ 25 h 259"/>
                <a:gd name="T42" fmla="*/ 230 w 230"/>
                <a:gd name="T43" fmla="*/ 29 h 259"/>
                <a:gd name="T44" fmla="*/ 0 w 230"/>
                <a:gd name="T45" fmla="*/ 29 h 259"/>
                <a:gd name="T46" fmla="*/ 0 w 230"/>
                <a:gd name="T47" fmla="*/ 25 h 259"/>
                <a:gd name="T48" fmla="*/ 230 w 230"/>
                <a:gd name="T49" fmla="*/ 25 h 259"/>
                <a:gd name="T50" fmla="*/ 230 w 230"/>
                <a:gd name="T51" fmla="*/ 0 h 259"/>
                <a:gd name="T52" fmla="*/ 230 w 230"/>
                <a:gd name="T53" fmla="*/ 3 h 259"/>
                <a:gd name="T54" fmla="*/ 0 w 230"/>
                <a:gd name="T55" fmla="*/ 3 h 259"/>
                <a:gd name="T56" fmla="*/ 0 w 230"/>
                <a:gd name="T57" fmla="*/ 0 h 259"/>
                <a:gd name="T58" fmla="*/ 230 w 230"/>
                <a:gd name="T59" fmla="*/ 0 h 259"/>
                <a:gd name="T60" fmla="*/ 230 w 230"/>
                <a:gd name="T61" fmla="*/ 179 h 259"/>
                <a:gd name="T62" fmla="*/ 230 w 230"/>
                <a:gd name="T63" fmla="*/ 182 h 259"/>
                <a:gd name="T64" fmla="*/ 205 w 230"/>
                <a:gd name="T65" fmla="*/ 182 h 259"/>
                <a:gd name="T66" fmla="*/ 205 w 230"/>
                <a:gd name="T67" fmla="*/ 179 h 259"/>
                <a:gd name="T68" fmla="*/ 230 w 230"/>
                <a:gd name="T69" fmla="*/ 179 h 259"/>
                <a:gd name="T70" fmla="*/ 230 w 230"/>
                <a:gd name="T71" fmla="*/ 153 h 259"/>
                <a:gd name="T72" fmla="*/ 230 w 230"/>
                <a:gd name="T73" fmla="*/ 157 h 259"/>
                <a:gd name="T74" fmla="*/ 205 w 230"/>
                <a:gd name="T75" fmla="*/ 157 h 259"/>
                <a:gd name="T76" fmla="*/ 205 w 230"/>
                <a:gd name="T77" fmla="*/ 153 h 259"/>
                <a:gd name="T78" fmla="*/ 230 w 230"/>
                <a:gd name="T79" fmla="*/ 153 h 259"/>
                <a:gd name="T80" fmla="*/ 230 w 230"/>
                <a:gd name="T81" fmla="*/ 205 h 259"/>
                <a:gd name="T82" fmla="*/ 230 w 230"/>
                <a:gd name="T83" fmla="*/ 208 h 259"/>
                <a:gd name="T84" fmla="*/ 0 w 230"/>
                <a:gd name="T85" fmla="*/ 208 h 259"/>
                <a:gd name="T86" fmla="*/ 0 w 230"/>
                <a:gd name="T87" fmla="*/ 205 h 259"/>
                <a:gd name="T88" fmla="*/ 230 w 230"/>
                <a:gd name="T89" fmla="*/ 205 h 259"/>
                <a:gd name="T90" fmla="*/ 230 w 230"/>
                <a:gd name="T91" fmla="*/ 230 h 259"/>
                <a:gd name="T92" fmla="*/ 230 w 230"/>
                <a:gd name="T93" fmla="*/ 233 h 259"/>
                <a:gd name="T94" fmla="*/ 0 w 230"/>
                <a:gd name="T95" fmla="*/ 233 h 259"/>
                <a:gd name="T96" fmla="*/ 0 w 230"/>
                <a:gd name="T97" fmla="*/ 230 h 259"/>
                <a:gd name="T98" fmla="*/ 230 w 230"/>
                <a:gd name="T99" fmla="*/ 230 h 259"/>
                <a:gd name="T100" fmla="*/ 230 w 230"/>
                <a:gd name="T101" fmla="*/ 256 h 259"/>
                <a:gd name="T102" fmla="*/ 230 w 230"/>
                <a:gd name="T103" fmla="*/ 259 h 259"/>
                <a:gd name="T104" fmla="*/ 0 w 230"/>
                <a:gd name="T105" fmla="*/ 259 h 259"/>
                <a:gd name="T106" fmla="*/ 0 w 230"/>
                <a:gd name="T107" fmla="*/ 256 h 259"/>
                <a:gd name="T108" fmla="*/ 230 w 230"/>
                <a:gd name="T109" fmla="*/ 256 h 25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30"/>
                <a:gd name="T166" fmla="*/ 0 h 259"/>
                <a:gd name="T167" fmla="*/ 230 w 230"/>
                <a:gd name="T168" fmla="*/ 259 h 25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30" h="259">
                  <a:moveTo>
                    <a:pt x="230" y="128"/>
                  </a:moveTo>
                  <a:lnTo>
                    <a:pt x="230" y="131"/>
                  </a:lnTo>
                  <a:lnTo>
                    <a:pt x="0" y="131"/>
                  </a:lnTo>
                  <a:lnTo>
                    <a:pt x="0" y="128"/>
                  </a:lnTo>
                  <a:lnTo>
                    <a:pt x="230" y="128"/>
                  </a:lnTo>
                  <a:close/>
                  <a:moveTo>
                    <a:pt x="230" y="102"/>
                  </a:moveTo>
                  <a:lnTo>
                    <a:pt x="230" y="105"/>
                  </a:lnTo>
                  <a:lnTo>
                    <a:pt x="0" y="105"/>
                  </a:lnTo>
                  <a:lnTo>
                    <a:pt x="0" y="102"/>
                  </a:lnTo>
                  <a:lnTo>
                    <a:pt x="230" y="102"/>
                  </a:lnTo>
                  <a:close/>
                  <a:moveTo>
                    <a:pt x="230" y="77"/>
                  </a:moveTo>
                  <a:lnTo>
                    <a:pt x="230" y="80"/>
                  </a:lnTo>
                  <a:lnTo>
                    <a:pt x="0" y="80"/>
                  </a:lnTo>
                  <a:lnTo>
                    <a:pt x="0" y="77"/>
                  </a:lnTo>
                  <a:lnTo>
                    <a:pt x="230" y="77"/>
                  </a:lnTo>
                  <a:close/>
                  <a:moveTo>
                    <a:pt x="230" y="51"/>
                  </a:moveTo>
                  <a:lnTo>
                    <a:pt x="230" y="54"/>
                  </a:lnTo>
                  <a:lnTo>
                    <a:pt x="0" y="54"/>
                  </a:lnTo>
                  <a:lnTo>
                    <a:pt x="0" y="51"/>
                  </a:lnTo>
                  <a:lnTo>
                    <a:pt x="230" y="51"/>
                  </a:lnTo>
                  <a:close/>
                  <a:moveTo>
                    <a:pt x="230" y="25"/>
                  </a:moveTo>
                  <a:lnTo>
                    <a:pt x="230" y="29"/>
                  </a:lnTo>
                  <a:lnTo>
                    <a:pt x="0" y="29"/>
                  </a:lnTo>
                  <a:lnTo>
                    <a:pt x="0" y="25"/>
                  </a:lnTo>
                  <a:lnTo>
                    <a:pt x="230" y="25"/>
                  </a:lnTo>
                  <a:close/>
                  <a:moveTo>
                    <a:pt x="230" y="0"/>
                  </a:moveTo>
                  <a:lnTo>
                    <a:pt x="230" y="3"/>
                  </a:lnTo>
                  <a:lnTo>
                    <a:pt x="0" y="3"/>
                  </a:lnTo>
                  <a:lnTo>
                    <a:pt x="0" y="0"/>
                  </a:lnTo>
                  <a:lnTo>
                    <a:pt x="230" y="0"/>
                  </a:lnTo>
                  <a:close/>
                  <a:moveTo>
                    <a:pt x="230" y="179"/>
                  </a:moveTo>
                  <a:lnTo>
                    <a:pt x="230" y="182"/>
                  </a:lnTo>
                  <a:lnTo>
                    <a:pt x="205" y="182"/>
                  </a:lnTo>
                  <a:lnTo>
                    <a:pt x="205" y="179"/>
                  </a:lnTo>
                  <a:lnTo>
                    <a:pt x="230" y="179"/>
                  </a:lnTo>
                  <a:close/>
                  <a:moveTo>
                    <a:pt x="230" y="153"/>
                  </a:moveTo>
                  <a:lnTo>
                    <a:pt x="230" y="157"/>
                  </a:lnTo>
                  <a:lnTo>
                    <a:pt x="205" y="157"/>
                  </a:lnTo>
                  <a:lnTo>
                    <a:pt x="205" y="153"/>
                  </a:lnTo>
                  <a:lnTo>
                    <a:pt x="230" y="153"/>
                  </a:lnTo>
                  <a:close/>
                  <a:moveTo>
                    <a:pt x="230" y="205"/>
                  </a:moveTo>
                  <a:lnTo>
                    <a:pt x="230" y="208"/>
                  </a:lnTo>
                  <a:lnTo>
                    <a:pt x="0" y="208"/>
                  </a:lnTo>
                  <a:lnTo>
                    <a:pt x="0" y="205"/>
                  </a:lnTo>
                  <a:lnTo>
                    <a:pt x="230" y="205"/>
                  </a:lnTo>
                  <a:close/>
                  <a:moveTo>
                    <a:pt x="230" y="230"/>
                  </a:moveTo>
                  <a:lnTo>
                    <a:pt x="230" y="233"/>
                  </a:lnTo>
                  <a:lnTo>
                    <a:pt x="0" y="233"/>
                  </a:lnTo>
                  <a:lnTo>
                    <a:pt x="0" y="230"/>
                  </a:lnTo>
                  <a:lnTo>
                    <a:pt x="230" y="230"/>
                  </a:lnTo>
                  <a:close/>
                  <a:moveTo>
                    <a:pt x="230" y="256"/>
                  </a:moveTo>
                  <a:lnTo>
                    <a:pt x="230" y="259"/>
                  </a:lnTo>
                  <a:lnTo>
                    <a:pt x="0" y="259"/>
                  </a:lnTo>
                  <a:lnTo>
                    <a:pt x="0" y="256"/>
                  </a:lnTo>
                  <a:lnTo>
                    <a:pt x="230" y="256"/>
                  </a:lnTo>
                  <a:close/>
                </a:path>
              </a:pathLst>
            </a:custGeom>
            <a:solidFill>
              <a:srgbClr val="666666"/>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pic>
          <p:nvPicPr>
            <p:cNvPr id="294" name="Picture 296"/>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866" y="1580"/>
              <a:ext cx="40" cy="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95" name="Rectangle 297"/>
            <p:cNvSpPr>
              <a:spLocks noChangeArrowheads="1"/>
            </p:cNvSpPr>
            <p:nvPr/>
          </p:nvSpPr>
          <p:spPr bwMode="auto">
            <a:xfrm>
              <a:off x="3885" y="1389"/>
              <a:ext cx="6" cy="333"/>
            </a:xfrm>
            <a:prstGeom prst="rect">
              <a:avLst/>
            </a:prstGeom>
            <a:solidFill>
              <a:srgbClr val="66666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96" name="Rectangle 298"/>
            <p:cNvSpPr>
              <a:spLocks noChangeArrowheads="1"/>
            </p:cNvSpPr>
            <p:nvPr/>
          </p:nvSpPr>
          <p:spPr bwMode="auto">
            <a:xfrm>
              <a:off x="3882" y="1389"/>
              <a:ext cx="6" cy="333"/>
            </a:xfrm>
            <a:prstGeom prst="rect">
              <a:avLst/>
            </a:prstGeom>
            <a:solidFill>
              <a:srgbClr val="9A9A9A"/>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pic>
          <p:nvPicPr>
            <p:cNvPr id="297" name="Picture 299"/>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874" y="1660"/>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298" name="Picture 300"/>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874" y="1668"/>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99" name="Freeform 301"/>
            <p:cNvSpPr>
              <a:spLocks/>
            </p:cNvSpPr>
            <p:nvPr/>
          </p:nvSpPr>
          <p:spPr bwMode="auto">
            <a:xfrm>
              <a:off x="3883" y="1673"/>
              <a:ext cx="4" cy="4"/>
            </a:xfrm>
            <a:custGeom>
              <a:avLst/>
              <a:gdLst>
                <a:gd name="T0" fmla="*/ 0 w 8"/>
                <a:gd name="T1" fmla="*/ 4 h 8"/>
                <a:gd name="T2" fmla="*/ 4 w 8"/>
                <a:gd name="T3" fmla="*/ 0 h 8"/>
                <a:gd name="T4" fmla="*/ 8 w 8"/>
                <a:gd name="T5" fmla="*/ 4 h 8"/>
                <a:gd name="T6" fmla="*/ 8 w 8"/>
                <a:gd name="T7" fmla="*/ 4 h 8"/>
                <a:gd name="T8" fmla="*/ 4 w 8"/>
                <a:gd name="T9" fmla="*/ 8 h 8"/>
                <a:gd name="T10" fmla="*/ 0 w 8"/>
                <a:gd name="T11" fmla="*/ 4 h 8"/>
                <a:gd name="T12" fmla="*/ 0 60000 65536"/>
                <a:gd name="T13" fmla="*/ 0 60000 65536"/>
                <a:gd name="T14" fmla="*/ 0 60000 65536"/>
                <a:gd name="T15" fmla="*/ 0 60000 65536"/>
                <a:gd name="T16" fmla="*/ 0 60000 65536"/>
                <a:gd name="T17" fmla="*/ 0 60000 65536"/>
                <a:gd name="T18" fmla="*/ 0 w 8"/>
                <a:gd name="T19" fmla="*/ 0 h 8"/>
                <a:gd name="T20" fmla="*/ 8 w 8"/>
                <a:gd name="T21" fmla="*/ 8 h 8"/>
              </a:gdLst>
              <a:ahLst/>
              <a:cxnLst>
                <a:cxn ang="T12">
                  <a:pos x="T0" y="T1"/>
                </a:cxn>
                <a:cxn ang="T13">
                  <a:pos x="T2" y="T3"/>
                </a:cxn>
                <a:cxn ang="T14">
                  <a:pos x="T4" y="T5"/>
                </a:cxn>
                <a:cxn ang="T15">
                  <a:pos x="T6" y="T7"/>
                </a:cxn>
                <a:cxn ang="T16">
                  <a:pos x="T8" y="T9"/>
                </a:cxn>
                <a:cxn ang="T17">
                  <a:pos x="T10" y="T11"/>
                </a:cxn>
              </a:cxnLst>
              <a:rect l="T18" t="T19" r="T20" b="T21"/>
              <a:pathLst>
                <a:path w="8" h="8">
                  <a:moveTo>
                    <a:pt x="0" y="4"/>
                  </a:moveTo>
                  <a:cubicBezTo>
                    <a:pt x="0" y="2"/>
                    <a:pt x="2" y="0"/>
                    <a:pt x="4" y="0"/>
                  </a:cubicBezTo>
                  <a:cubicBezTo>
                    <a:pt x="6" y="0"/>
                    <a:pt x="8" y="2"/>
                    <a:pt x="8" y="4"/>
                  </a:cubicBezTo>
                  <a:cubicBezTo>
                    <a:pt x="8" y="4"/>
                    <a:pt x="8" y="4"/>
                    <a:pt x="8" y="4"/>
                  </a:cubicBezTo>
                  <a:cubicBezTo>
                    <a:pt x="8" y="6"/>
                    <a:pt x="6" y="8"/>
                    <a:pt x="4" y="8"/>
                  </a:cubicBezTo>
                  <a:cubicBezTo>
                    <a:pt x="2" y="8"/>
                    <a:pt x="0" y="6"/>
                    <a:pt x="0" y="4"/>
                  </a:cubicBezTo>
                </a:path>
              </a:pathLst>
            </a:custGeom>
            <a:solidFill>
              <a:srgbClr val="00FF00"/>
            </a:solidFill>
            <a:ln w="0">
              <a:solidFill>
                <a:srgbClr val="000000"/>
              </a:solidFill>
              <a:round/>
              <a:headEnd/>
              <a:tailEnd/>
            </a:ln>
          </p:spPr>
          <p:txBody>
            <a:bodyPr/>
            <a:lstStyle/>
            <a:p>
              <a:endParaRPr lang="en-US"/>
            </a:p>
          </p:txBody>
        </p:sp>
        <p:sp>
          <p:nvSpPr>
            <p:cNvPr id="300" name="Freeform 302"/>
            <p:cNvSpPr>
              <a:spLocks/>
            </p:cNvSpPr>
            <p:nvPr/>
          </p:nvSpPr>
          <p:spPr bwMode="auto">
            <a:xfrm>
              <a:off x="3883" y="1673"/>
              <a:ext cx="4" cy="4"/>
            </a:xfrm>
            <a:custGeom>
              <a:avLst/>
              <a:gdLst>
                <a:gd name="T0" fmla="*/ 0 w 4"/>
                <a:gd name="T1" fmla="*/ 2 h 4"/>
                <a:gd name="T2" fmla="*/ 2 w 4"/>
                <a:gd name="T3" fmla="*/ 0 h 4"/>
                <a:gd name="T4" fmla="*/ 4 w 4"/>
                <a:gd name="T5" fmla="*/ 2 h 4"/>
                <a:gd name="T6" fmla="*/ 4 w 4"/>
                <a:gd name="T7" fmla="*/ 2 h 4"/>
                <a:gd name="T8" fmla="*/ 2 w 4"/>
                <a:gd name="T9" fmla="*/ 4 h 4"/>
                <a:gd name="T10" fmla="*/ 0 w 4"/>
                <a:gd name="T11" fmla="*/ 2 h 4"/>
                <a:gd name="T12" fmla="*/ 0 60000 65536"/>
                <a:gd name="T13" fmla="*/ 0 60000 65536"/>
                <a:gd name="T14" fmla="*/ 0 60000 65536"/>
                <a:gd name="T15" fmla="*/ 0 60000 65536"/>
                <a:gd name="T16" fmla="*/ 0 60000 65536"/>
                <a:gd name="T17" fmla="*/ 0 60000 65536"/>
                <a:gd name="T18" fmla="*/ 0 w 4"/>
                <a:gd name="T19" fmla="*/ 0 h 4"/>
                <a:gd name="T20" fmla="*/ 4 w 4"/>
                <a:gd name="T21" fmla="*/ 4 h 4"/>
              </a:gdLst>
              <a:ahLst/>
              <a:cxnLst>
                <a:cxn ang="T12">
                  <a:pos x="T0" y="T1"/>
                </a:cxn>
                <a:cxn ang="T13">
                  <a:pos x="T2" y="T3"/>
                </a:cxn>
                <a:cxn ang="T14">
                  <a:pos x="T4" y="T5"/>
                </a:cxn>
                <a:cxn ang="T15">
                  <a:pos x="T6" y="T7"/>
                </a:cxn>
                <a:cxn ang="T16">
                  <a:pos x="T8" y="T9"/>
                </a:cxn>
                <a:cxn ang="T17">
                  <a:pos x="T10" y="T11"/>
                </a:cxn>
              </a:cxnLst>
              <a:rect l="T18" t="T19" r="T20" b="T21"/>
              <a:pathLst>
                <a:path w="4" h="4">
                  <a:moveTo>
                    <a:pt x="0" y="2"/>
                  </a:moveTo>
                  <a:cubicBezTo>
                    <a:pt x="0" y="1"/>
                    <a:pt x="1" y="0"/>
                    <a:pt x="2" y="0"/>
                  </a:cubicBezTo>
                  <a:cubicBezTo>
                    <a:pt x="3" y="0"/>
                    <a:pt x="4" y="1"/>
                    <a:pt x="4" y="2"/>
                  </a:cubicBezTo>
                  <a:cubicBezTo>
                    <a:pt x="4" y="2"/>
                    <a:pt x="4" y="2"/>
                    <a:pt x="4" y="2"/>
                  </a:cubicBezTo>
                  <a:cubicBezTo>
                    <a:pt x="4" y="3"/>
                    <a:pt x="3" y="4"/>
                    <a:pt x="2" y="4"/>
                  </a:cubicBezTo>
                  <a:cubicBezTo>
                    <a:pt x="1" y="4"/>
                    <a:pt x="0" y="3"/>
                    <a:pt x="0" y="2"/>
                  </a:cubicBezTo>
                </a:path>
              </a:pathLst>
            </a:custGeom>
            <a:noFill/>
            <a:ln w="3175" cap="sq">
              <a:solidFill>
                <a:srgbClr val="00FF00"/>
              </a:solidFill>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301" name="Freeform 303"/>
            <p:cNvSpPr>
              <a:spLocks/>
            </p:cNvSpPr>
            <p:nvPr/>
          </p:nvSpPr>
          <p:spPr bwMode="auto">
            <a:xfrm>
              <a:off x="3658" y="1274"/>
              <a:ext cx="323" cy="461"/>
            </a:xfrm>
            <a:custGeom>
              <a:avLst/>
              <a:gdLst>
                <a:gd name="T0" fmla="*/ 13 w 323"/>
                <a:gd name="T1" fmla="*/ 461 h 461"/>
                <a:gd name="T2" fmla="*/ 13 w 323"/>
                <a:gd name="T3" fmla="*/ 448 h 461"/>
                <a:gd name="T4" fmla="*/ 0 w 323"/>
                <a:gd name="T5" fmla="*/ 448 h 461"/>
                <a:gd name="T6" fmla="*/ 0 w 323"/>
                <a:gd name="T7" fmla="*/ 51 h 461"/>
                <a:gd name="T8" fmla="*/ 50 w 323"/>
                <a:gd name="T9" fmla="*/ 0 h 461"/>
                <a:gd name="T10" fmla="*/ 323 w 323"/>
                <a:gd name="T11" fmla="*/ 0 h 461"/>
                <a:gd name="T12" fmla="*/ 323 w 323"/>
                <a:gd name="T13" fmla="*/ 397 h 461"/>
                <a:gd name="T14" fmla="*/ 317 w 323"/>
                <a:gd name="T15" fmla="*/ 403 h 461"/>
                <a:gd name="T16" fmla="*/ 317 w 323"/>
                <a:gd name="T17" fmla="*/ 410 h 461"/>
                <a:gd name="T18" fmla="*/ 268 w 323"/>
                <a:gd name="T19" fmla="*/ 461 h 461"/>
                <a:gd name="T20" fmla="*/ 13 w 323"/>
                <a:gd name="T21" fmla="*/ 461 h 46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23"/>
                <a:gd name="T34" fmla="*/ 0 h 461"/>
                <a:gd name="T35" fmla="*/ 323 w 323"/>
                <a:gd name="T36" fmla="*/ 461 h 46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23" h="461">
                  <a:moveTo>
                    <a:pt x="13" y="461"/>
                  </a:moveTo>
                  <a:lnTo>
                    <a:pt x="13" y="448"/>
                  </a:lnTo>
                  <a:lnTo>
                    <a:pt x="0" y="448"/>
                  </a:lnTo>
                  <a:lnTo>
                    <a:pt x="0" y="51"/>
                  </a:lnTo>
                  <a:lnTo>
                    <a:pt x="50" y="0"/>
                  </a:lnTo>
                  <a:lnTo>
                    <a:pt x="323" y="0"/>
                  </a:lnTo>
                  <a:lnTo>
                    <a:pt x="323" y="397"/>
                  </a:lnTo>
                  <a:lnTo>
                    <a:pt x="317" y="403"/>
                  </a:lnTo>
                  <a:lnTo>
                    <a:pt x="317" y="410"/>
                  </a:lnTo>
                  <a:lnTo>
                    <a:pt x="268" y="461"/>
                  </a:lnTo>
                  <a:lnTo>
                    <a:pt x="13" y="461"/>
                  </a:lnTo>
                </a:path>
              </a:pathLst>
            </a:custGeom>
            <a:noFill/>
            <a:ln w="11113"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302" name="Rectangle 304"/>
            <p:cNvSpPr>
              <a:spLocks noChangeArrowheads="1"/>
            </p:cNvSpPr>
            <p:nvPr/>
          </p:nvSpPr>
          <p:spPr bwMode="auto">
            <a:xfrm>
              <a:off x="3448" y="1756"/>
              <a:ext cx="812" cy="15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600" b="0" dirty="0">
                  <a:solidFill>
                    <a:srgbClr val="000000"/>
                  </a:solidFill>
                  <a:latin typeface="Arial" charset="0"/>
                </a:rPr>
                <a:t> Inner Firewall</a:t>
              </a:r>
              <a:endParaRPr lang="en-US" dirty="0">
                <a:solidFill>
                  <a:srgbClr val="000000"/>
                </a:solidFill>
              </a:endParaRPr>
            </a:p>
          </p:txBody>
        </p:sp>
        <p:sp>
          <p:nvSpPr>
            <p:cNvPr id="303" name="Freeform 305"/>
            <p:cNvSpPr>
              <a:spLocks/>
            </p:cNvSpPr>
            <p:nvPr/>
          </p:nvSpPr>
          <p:spPr bwMode="auto">
            <a:xfrm>
              <a:off x="3786" y="813"/>
              <a:ext cx="233" cy="600"/>
            </a:xfrm>
            <a:custGeom>
              <a:avLst/>
              <a:gdLst>
                <a:gd name="T0" fmla="*/ 0 w 233"/>
                <a:gd name="T1" fmla="*/ 600 h 600"/>
                <a:gd name="T2" fmla="*/ 233 w 233"/>
                <a:gd name="T3" fmla="*/ 360 h 600"/>
                <a:gd name="T4" fmla="*/ 233 w 233"/>
                <a:gd name="T5" fmla="*/ 0 h 600"/>
                <a:gd name="T6" fmla="*/ 0 w 233"/>
                <a:gd name="T7" fmla="*/ 240 h 600"/>
                <a:gd name="T8" fmla="*/ 0 w 233"/>
                <a:gd name="T9" fmla="*/ 600 h 600"/>
                <a:gd name="T10" fmla="*/ 0 60000 65536"/>
                <a:gd name="T11" fmla="*/ 0 60000 65536"/>
                <a:gd name="T12" fmla="*/ 0 60000 65536"/>
                <a:gd name="T13" fmla="*/ 0 60000 65536"/>
                <a:gd name="T14" fmla="*/ 0 60000 65536"/>
                <a:gd name="T15" fmla="*/ 0 w 233"/>
                <a:gd name="T16" fmla="*/ 0 h 600"/>
                <a:gd name="T17" fmla="*/ 233 w 233"/>
                <a:gd name="T18" fmla="*/ 600 h 600"/>
              </a:gdLst>
              <a:ahLst/>
              <a:cxnLst>
                <a:cxn ang="T10">
                  <a:pos x="T0" y="T1"/>
                </a:cxn>
                <a:cxn ang="T11">
                  <a:pos x="T2" y="T3"/>
                </a:cxn>
                <a:cxn ang="T12">
                  <a:pos x="T4" y="T5"/>
                </a:cxn>
                <a:cxn ang="T13">
                  <a:pos x="T6" y="T7"/>
                </a:cxn>
                <a:cxn ang="T14">
                  <a:pos x="T8" y="T9"/>
                </a:cxn>
              </a:cxnLst>
              <a:rect l="T15" t="T16" r="T17" b="T18"/>
              <a:pathLst>
                <a:path w="233" h="600">
                  <a:moveTo>
                    <a:pt x="0" y="600"/>
                  </a:moveTo>
                  <a:lnTo>
                    <a:pt x="233" y="360"/>
                  </a:lnTo>
                  <a:lnTo>
                    <a:pt x="233" y="0"/>
                  </a:lnTo>
                  <a:lnTo>
                    <a:pt x="0" y="240"/>
                  </a:lnTo>
                  <a:lnTo>
                    <a:pt x="0" y="600"/>
                  </a:lnTo>
                  <a:close/>
                </a:path>
              </a:pathLst>
            </a:custGeom>
            <a:solidFill>
              <a:srgbClr val="D0624F"/>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04" name="Freeform 306"/>
            <p:cNvSpPr>
              <a:spLocks/>
            </p:cNvSpPr>
            <p:nvPr/>
          </p:nvSpPr>
          <p:spPr bwMode="auto">
            <a:xfrm>
              <a:off x="3786" y="813"/>
              <a:ext cx="233" cy="600"/>
            </a:xfrm>
            <a:custGeom>
              <a:avLst/>
              <a:gdLst>
                <a:gd name="T0" fmla="*/ 0 w 233"/>
                <a:gd name="T1" fmla="*/ 600 h 600"/>
                <a:gd name="T2" fmla="*/ 233 w 233"/>
                <a:gd name="T3" fmla="*/ 360 h 600"/>
                <a:gd name="T4" fmla="*/ 233 w 233"/>
                <a:gd name="T5" fmla="*/ 0 h 600"/>
                <a:gd name="T6" fmla="*/ 0 w 233"/>
                <a:gd name="T7" fmla="*/ 240 h 600"/>
                <a:gd name="T8" fmla="*/ 0 w 233"/>
                <a:gd name="T9" fmla="*/ 600 h 600"/>
                <a:gd name="T10" fmla="*/ 0 60000 65536"/>
                <a:gd name="T11" fmla="*/ 0 60000 65536"/>
                <a:gd name="T12" fmla="*/ 0 60000 65536"/>
                <a:gd name="T13" fmla="*/ 0 60000 65536"/>
                <a:gd name="T14" fmla="*/ 0 60000 65536"/>
                <a:gd name="T15" fmla="*/ 0 w 233"/>
                <a:gd name="T16" fmla="*/ 0 h 600"/>
                <a:gd name="T17" fmla="*/ 233 w 233"/>
                <a:gd name="T18" fmla="*/ 600 h 600"/>
              </a:gdLst>
              <a:ahLst/>
              <a:cxnLst>
                <a:cxn ang="T10">
                  <a:pos x="T0" y="T1"/>
                </a:cxn>
                <a:cxn ang="T11">
                  <a:pos x="T2" y="T3"/>
                </a:cxn>
                <a:cxn ang="T12">
                  <a:pos x="T4" y="T5"/>
                </a:cxn>
                <a:cxn ang="T13">
                  <a:pos x="T6" y="T7"/>
                </a:cxn>
                <a:cxn ang="T14">
                  <a:pos x="T8" y="T9"/>
                </a:cxn>
              </a:cxnLst>
              <a:rect l="T15" t="T16" r="T17" b="T18"/>
              <a:pathLst>
                <a:path w="233" h="600">
                  <a:moveTo>
                    <a:pt x="0" y="600"/>
                  </a:moveTo>
                  <a:lnTo>
                    <a:pt x="233" y="360"/>
                  </a:lnTo>
                  <a:lnTo>
                    <a:pt x="233" y="0"/>
                  </a:lnTo>
                  <a:lnTo>
                    <a:pt x="0" y="240"/>
                  </a:lnTo>
                  <a:lnTo>
                    <a:pt x="0" y="600"/>
                  </a:lnTo>
                  <a:close/>
                </a:path>
              </a:pathLst>
            </a:custGeom>
            <a:noFill/>
            <a:ln w="11113" cap="rnd">
              <a:solidFill>
                <a:srgbClr val="CDCDCD"/>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305" name="Freeform 307"/>
            <p:cNvSpPr>
              <a:spLocks noEditPoints="1"/>
            </p:cNvSpPr>
            <p:nvPr/>
          </p:nvSpPr>
          <p:spPr bwMode="auto">
            <a:xfrm>
              <a:off x="3786" y="842"/>
              <a:ext cx="233" cy="511"/>
            </a:xfrm>
            <a:custGeom>
              <a:avLst/>
              <a:gdLst>
                <a:gd name="T0" fmla="*/ 29 w 233"/>
                <a:gd name="T1" fmla="*/ 241 h 511"/>
                <a:gd name="T2" fmla="*/ 58 w 233"/>
                <a:gd name="T3" fmla="*/ 211 h 511"/>
                <a:gd name="T4" fmla="*/ 87 w 233"/>
                <a:gd name="T5" fmla="*/ 181 h 511"/>
                <a:gd name="T6" fmla="*/ 116 w 233"/>
                <a:gd name="T7" fmla="*/ 151 h 511"/>
                <a:gd name="T8" fmla="*/ 145 w 233"/>
                <a:gd name="T9" fmla="*/ 121 h 511"/>
                <a:gd name="T10" fmla="*/ 174 w 233"/>
                <a:gd name="T11" fmla="*/ 91 h 511"/>
                <a:gd name="T12" fmla="*/ 204 w 233"/>
                <a:gd name="T13" fmla="*/ 60 h 511"/>
                <a:gd name="T14" fmla="*/ 29 w 233"/>
                <a:gd name="T15" fmla="*/ 301 h 511"/>
                <a:gd name="T16" fmla="*/ 58 w 233"/>
                <a:gd name="T17" fmla="*/ 271 h 511"/>
                <a:gd name="T18" fmla="*/ 87 w 233"/>
                <a:gd name="T19" fmla="*/ 241 h 511"/>
                <a:gd name="T20" fmla="*/ 116 w 233"/>
                <a:gd name="T21" fmla="*/ 211 h 511"/>
                <a:gd name="T22" fmla="*/ 145 w 233"/>
                <a:gd name="T23" fmla="*/ 181 h 511"/>
                <a:gd name="T24" fmla="*/ 174 w 233"/>
                <a:gd name="T25" fmla="*/ 151 h 511"/>
                <a:gd name="T26" fmla="*/ 204 w 233"/>
                <a:gd name="T27" fmla="*/ 121 h 511"/>
                <a:gd name="T28" fmla="*/ 233 w 233"/>
                <a:gd name="T29" fmla="*/ 91 h 511"/>
                <a:gd name="T30" fmla="*/ 29 w 233"/>
                <a:gd name="T31" fmla="*/ 361 h 511"/>
                <a:gd name="T32" fmla="*/ 58 w 233"/>
                <a:gd name="T33" fmla="*/ 331 h 511"/>
                <a:gd name="T34" fmla="*/ 87 w 233"/>
                <a:gd name="T35" fmla="*/ 301 h 511"/>
                <a:gd name="T36" fmla="*/ 116 w 233"/>
                <a:gd name="T37" fmla="*/ 271 h 511"/>
                <a:gd name="T38" fmla="*/ 145 w 233"/>
                <a:gd name="T39" fmla="*/ 241 h 511"/>
                <a:gd name="T40" fmla="*/ 174 w 233"/>
                <a:gd name="T41" fmla="*/ 211 h 511"/>
                <a:gd name="T42" fmla="*/ 204 w 233"/>
                <a:gd name="T43" fmla="*/ 181 h 511"/>
                <a:gd name="T44" fmla="*/ 233 w 233"/>
                <a:gd name="T45" fmla="*/ 151 h 511"/>
                <a:gd name="T46" fmla="*/ 29 w 233"/>
                <a:gd name="T47" fmla="*/ 421 h 511"/>
                <a:gd name="T48" fmla="*/ 58 w 233"/>
                <a:gd name="T49" fmla="*/ 391 h 511"/>
                <a:gd name="T50" fmla="*/ 87 w 233"/>
                <a:gd name="T51" fmla="*/ 361 h 511"/>
                <a:gd name="T52" fmla="*/ 116 w 233"/>
                <a:gd name="T53" fmla="*/ 331 h 511"/>
                <a:gd name="T54" fmla="*/ 145 w 233"/>
                <a:gd name="T55" fmla="*/ 301 h 511"/>
                <a:gd name="T56" fmla="*/ 174 w 233"/>
                <a:gd name="T57" fmla="*/ 271 h 511"/>
                <a:gd name="T58" fmla="*/ 204 w 233"/>
                <a:gd name="T59" fmla="*/ 241 h 511"/>
                <a:gd name="T60" fmla="*/ 233 w 233"/>
                <a:gd name="T61" fmla="*/ 211 h 511"/>
                <a:gd name="T62" fmla="*/ 29 w 233"/>
                <a:gd name="T63" fmla="*/ 481 h 511"/>
                <a:gd name="T64" fmla="*/ 58 w 233"/>
                <a:gd name="T65" fmla="*/ 451 h 511"/>
                <a:gd name="T66" fmla="*/ 87 w 233"/>
                <a:gd name="T67" fmla="*/ 421 h 511"/>
                <a:gd name="T68" fmla="*/ 116 w 233"/>
                <a:gd name="T69" fmla="*/ 391 h 511"/>
                <a:gd name="T70" fmla="*/ 145 w 233"/>
                <a:gd name="T71" fmla="*/ 361 h 511"/>
                <a:gd name="T72" fmla="*/ 174 w 233"/>
                <a:gd name="T73" fmla="*/ 331 h 511"/>
                <a:gd name="T74" fmla="*/ 204 w 233"/>
                <a:gd name="T75" fmla="*/ 301 h 511"/>
                <a:gd name="T76" fmla="*/ 233 w 233"/>
                <a:gd name="T77" fmla="*/ 271 h 511"/>
                <a:gd name="T78" fmla="*/ 29 w 233"/>
                <a:gd name="T79" fmla="*/ 181 h 511"/>
                <a:gd name="T80" fmla="*/ 29 w 233"/>
                <a:gd name="T81" fmla="*/ 301 h 511"/>
                <a:gd name="T82" fmla="*/ 29 w 233"/>
                <a:gd name="T83" fmla="*/ 421 h 511"/>
                <a:gd name="T84" fmla="*/ 58 w 233"/>
                <a:gd name="T85" fmla="*/ 451 h 511"/>
                <a:gd name="T86" fmla="*/ 58 w 233"/>
                <a:gd name="T87" fmla="*/ 211 h 511"/>
                <a:gd name="T88" fmla="*/ 58 w 233"/>
                <a:gd name="T89" fmla="*/ 331 h 511"/>
                <a:gd name="T90" fmla="*/ 87 w 233"/>
                <a:gd name="T91" fmla="*/ 121 h 511"/>
                <a:gd name="T92" fmla="*/ 87 w 233"/>
                <a:gd name="T93" fmla="*/ 241 h 511"/>
                <a:gd name="T94" fmla="*/ 87 w 233"/>
                <a:gd name="T95" fmla="*/ 361 h 511"/>
                <a:gd name="T96" fmla="*/ 116 w 233"/>
                <a:gd name="T97" fmla="*/ 391 h 511"/>
                <a:gd name="T98" fmla="*/ 116 w 233"/>
                <a:gd name="T99" fmla="*/ 151 h 511"/>
                <a:gd name="T100" fmla="*/ 116 w 233"/>
                <a:gd name="T101" fmla="*/ 271 h 511"/>
                <a:gd name="T102" fmla="*/ 145 w 233"/>
                <a:gd name="T103" fmla="*/ 60 h 511"/>
                <a:gd name="T104" fmla="*/ 145 w 233"/>
                <a:gd name="T105" fmla="*/ 181 h 511"/>
                <a:gd name="T106" fmla="*/ 145 w 233"/>
                <a:gd name="T107" fmla="*/ 301 h 511"/>
                <a:gd name="T108" fmla="*/ 174 w 233"/>
                <a:gd name="T109" fmla="*/ 331 h 511"/>
                <a:gd name="T110" fmla="*/ 174 w 233"/>
                <a:gd name="T111" fmla="*/ 91 h 511"/>
                <a:gd name="T112" fmla="*/ 174 w 233"/>
                <a:gd name="T113" fmla="*/ 211 h 511"/>
                <a:gd name="T114" fmla="*/ 204 w 233"/>
                <a:gd name="T115" fmla="*/ 121 h 511"/>
                <a:gd name="T116" fmla="*/ 204 w 233"/>
                <a:gd name="T117" fmla="*/ 241 h 511"/>
                <a:gd name="T118" fmla="*/ 204 w 233"/>
                <a:gd name="T119" fmla="*/ 0 h 511"/>
                <a:gd name="T120" fmla="*/ 233 w 233"/>
                <a:gd name="T121" fmla="*/ 30 h 511"/>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33"/>
                <a:gd name="T184" fmla="*/ 0 h 511"/>
                <a:gd name="T185" fmla="*/ 233 w 233"/>
                <a:gd name="T186" fmla="*/ 511 h 511"/>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33" h="511">
                  <a:moveTo>
                    <a:pt x="0" y="271"/>
                  </a:moveTo>
                  <a:lnTo>
                    <a:pt x="29" y="241"/>
                  </a:lnTo>
                  <a:moveTo>
                    <a:pt x="29" y="241"/>
                  </a:moveTo>
                  <a:lnTo>
                    <a:pt x="58" y="211"/>
                  </a:lnTo>
                  <a:moveTo>
                    <a:pt x="58" y="211"/>
                  </a:moveTo>
                  <a:lnTo>
                    <a:pt x="87" y="181"/>
                  </a:lnTo>
                  <a:moveTo>
                    <a:pt x="87" y="181"/>
                  </a:moveTo>
                  <a:lnTo>
                    <a:pt x="116" y="151"/>
                  </a:lnTo>
                  <a:moveTo>
                    <a:pt x="116" y="151"/>
                  </a:moveTo>
                  <a:lnTo>
                    <a:pt x="145" y="121"/>
                  </a:lnTo>
                  <a:moveTo>
                    <a:pt x="145" y="121"/>
                  </a:moveTo>
                  <a:lnTo>
                    <a:pt x="174" y="91"/>
                  </a:lnTo>
                  <a:moveTo>
                    <a:pt x="174" y="91"/>
                  </a:moveTo>
                  <a:lnTo>
                    <a:pt x="204" y="60"/>
                  </a:lnTo>
                  <a:moveTo>
                    <a:pt x="0" y="331"/>
                  </a:moveTo>
                  <a:lnTo>
                    <a:pt x="29" y="301"/>
                  </a:lnTo>
                  <a:moveTo>
                    <a:pt x="29" y="301"/>
                  </a:moveTo>
                  <a:lnTo>
                    <a:pt x="58" y="271"/>
                  </a:lnTo>
                  <a:moveTo>
                    <a:pt x="58" y="271"/>
                  </a:moveTo>
                  <a:lnTo>
                    <a:pt x="87" y="241"/>
                  </a:lnTo>
                  <a:moveTo>
                    <a:pt x="87" y="241"/>
                  </a:moveTo>
                  <a:lnTo>
                    <a:pt x="116" y="211"/>
                  </a:lnTo>
                  <a:moveTo>
                    <a:pt x="116" y="211"/>
                  </a:moveTo>
                  <a:lnTo>
                    <a:pt x="145" y="181"/>
                  </a:lnTo>
                  <a:moveTo>
                    <a:pt x="145" y="181"/>
                  </a:moveTo>
                  <a:lnTo>
                    <a:pt x="174" y="151"/>
                  </a:lnTo>
                  <a:moveTo>
                    <a:pt x="174" y="151"/>
                  </a:moveTo>
                  <a:lnTo>
                    <a:pt x="204" y="121"/>
                  </a:lnTo>
                  <a:moveTo>
                    <a:pt x="204" y="121"/>
                  </a:moveTo>
                  <a:lnTo>
                    <a:pt x="233" y="91"/>
                  </a:lnTo>
                  <a:moveTo>
                    <a:pt x="0" y="391"/>
                  </a:moveTo>
                  <a:lnTo>
                    <a:pt x="29" y="361"/>
                  </a:lnTo>
                  <a:moveTo>
                    <a:pt x="29" y="361"/>
                  </a:moveTo>
                  <a:lnTo>
                    <a:pt x="58" y="331"/>
                  </a:lnTo>
                  <a:moveTo>
                    <a:pt x="58" y="331"/>
                  </a:moveTo>
                  <a:lnTo>
                    <a:pt x="87" y="301"/>
                  </a:lnTo>
                  <a:moveTo>
                    <a:pt x="87" y="301"/>
                  </a:moveTo>
                  <a:lnTo>
                    <a:pt x="116" y="271"/>
                  </a:lnTo>
                  <a:moveTo>
                    <a:pt x="116" y="271"/>
                  </a:moveTo>
                  <a:lnTo>
                    <a:pt x="145" y="241"/>
                  </a:lnTo>
                  <a:moveTo>
                    <a:pt x="145" y="241"/>
                  </a:moveTo>
                  <a:lnTo>
                    <a:pt x="174" y="211"/>
                  </a:lnTo>
                  <a:moveTo>
                    <a:pt x="174" y="211"/>
                  </a:moveTo>
                  <a:lnTo>
                    <a:pt x="204" y="181"/>
                  </a:lnTo>
                  <a:moveTo>
                    <a:pt x="204" y="181"/>
                  </a:moveTo>
                  <a:lnTo>
                    <a:pt x="233" y="151"/>
                  </a:lnTo>
                  <a:moveTo>
                    <a:pt x="0" y="451"/>
                  </a:moveTo>
                  <a:lnTo>
                    <a:pt x="29" y="421"/>
                  </a:lnTo>
                  <a:moveTo>
                    <a:pt x="29" y="421"/>
                  </a:moveTo>
                  <a:lnTo>
                    <a:pt x="58" y="391"/>
                  </a:lnTo>
                  <a:moveTo>
                    <a:pt x="58" y="391"/>
                  </a:moveTo>
                  <a:lnTo>
                    <a:pt x="87" y="361"/>
                  </a:lnTo>
                  <a:moveTo>
                    <a:pt x="87" y="361"/>
                  </a:moveTo>
                  <a:lnTo>
                    <a:pt x="116" y="331"/>
                  </a:lnTo>
                  <a:moveTo>
                    <a:pt x="116" y="331"/>
                  </a:moveTo>
                  <a:lnTo>
                    <a:pt x="145" y="301"/>
                  </a:lnTo>
                  <a:moveTo>
                    <a:pt x="145" y="301"/>
                  </a:moveTo>
                  <a:lnTo>
                    <a:pt x="174" y="271"/>
                  </a:lnTo>
                  <a:moveTo>
                    <a:pt x="174" y="271"/>
                  </a:moveTo>
                  <a:lnTo>
                    <a:pt x="204" y="241"/>
                  </a:lnTo>
                  <a:moveTo>
                    <a:pt x="204" y="241"/>
                  </a:moveTo>
                  <a:lnTo>
                    <a:pt x="233" y="211"/>
                  </a:lnTo>
                  <a:moveTo>
                    <a:pt x="0" y="511"/>
                  </a:moveTo>
                  <a:lnTo>
                    <a:pt x="29" y="481"/>
                  </a:lnTo>
                  <a:moveTo>
                    <a:pt x="29" y="481"/>
                  </a:moveTo>
                  <a:lnTo>
                    <a:pt x="58" y="451"/>
                  </a:lnTo>
                  <a:moveTo>
                    <a:pt x="58" y="451"/>
                  </a:moveTo>
                  <a:lnTo>
                    <a:pt x="87" y="421"/>
                  </a:lnTo>
                  <a:moveTo>
                    <a:pt x="87" y="421"/>
                  </a:moveTo>
                  <a:lnTo>
                    <a:pt x="116" y="391"/>
                  </a:lnTo>
                  <a:moveTo>
                    <a:pt x="116" y="391"/>
                  </a:moveTo>
                  <a:lnTo>
                    <a:pt x="145" y="361"/>
                  </a:lnTo>
                  <a:moveTo>
                    <a:pt x="145" y="361"/>
                  </a:moveTo>
                  <a:lnTo>
                    <a:pt x="174" y="331"/>
                  </a:lnTo>
                  <a:moveTo>
                    <a:pt x="174" y="331"/>
                  </a:moveTo>
                  <a:lnTo>
                    <a:pt x="204" y="301"/>
                  </a:lnTo>
                  <a:moveTo>
                    <a:pt x="204" y="301"/>
                  </a:moveTo>
                  <a:lnTo>
                    <a:pt x="233" y="271"/>
                  </a:lnTo>
                  <a:moveTo>
                    <a:pt x="29" y="241"/>
                  </a:moveTo>
                  <a:lnTo>
                    <a:pt x="29" y="181"/>
                  </a:lnTo>
                  <a:moveTo>
                    <a:pt x="29" y="361"/>
                  </a:moveTo>
                  <a:lnTo>
                    <a:pt x="29" y="301"/>
                  </a:lnTo>
                  <a:moveTo>
                    <a:pt x="29" y="481"/>
                  </a:moveTo>
                  <a:lnTo>
                    <a:pt x="29" y="421"/>
                  </a:lnTo>
                  <a:moveTo>
                    <a:pt x="58" y="511"/>
                  </a:moveTo>
                  <a:lnTo>
                    <a:pt x="58" y="451"/>
                  </a:lnTo>
                  <a:moveTo>
                    <a:pt x="58" y="271"/>
                  </a:moveTo>
                  <a:lnTo>
                    <a:pt x="58" y="211"/>
                  </a:lnTo>
                  <a:moveTo>
                    <a:pt x="58" y="391"/>
                  </a:moveTo>
                  <a:lnTo>
                    <a:pt x="58" y="331"/>
                  </a:lnTo>
                  <a:moveTo>
                    <a:pt x="87" y="181"/>
                  </a:moveTo>
                  <a:lnTo>
                    <a:pt x="87" y="121"/>
                  </a:lnTo>
                  <a:moveTo>
                    <a:pt x="87" y="301"/>
                  </a:moveTo>
                  <a:lnTo>
                    <a:pt x="87" y="241"/>
                  </a:lnTo>
                  <a:moveTo>
                    <a:pt x="87" y="421"/>
                  </a:moveTo>
                  <a:lnTo>
                    <a:pt x="87" y="361"/>
                  </a:lnTo>
                  <a:moveTo>
                    <a:pt x="116" y="451"/>
                  </a:moveTo>
                  <a:lnTo>
                    <a:pt x="116" y="391"/>
                  </a:lnTo>
                  <a:moveTo>
                    <a:pt x="116" y="211"/>
                  </a:moveTo>
                  <a:lnTo>
                    <a:pt x="116" y="151"/>
                  </a:lnTo>
                  <a:moveTo>
                    <a:pt x="116" y="331"/>
                  </a:moveTo>
                  <a:lnTo>
                    <a:pt x="116" y="271"/>
                  </a:lnTo>
                  <a:moveTo>
                    <a:pt x="145" y="121"/>
                  </a:moveTo>
                  <a:lnTo>
                    <a:pt x="145" y="60"/>
                  </a:lnTo>
                  <a:moveTo>
                    <a:pt x="145" y="241"/>
                  </a:moveTo>
                  <a:lnTo>
                    <a:pt x="145" y="181"/>
                  </a:lnTo>
                  <a:moveTo>
                    <a:pt x="145" y="361"/>
                  </a:moveTo>
                  <a:lnTo>
                    <a:pt x="145" y="301"/>
                  </a:lnTo>
                  <a:moveTo>
                    <a:pt x="174" y="391"/>
                  </a:moveTo>
                  <a:lnTo>
                    <a:pt x="174" y="331"/>
                  </a:lnTo>
                  <a:moveTo>
                    <a:pt x="174" y="151"/>
                  </a:moveTo>
                  <a:lnTo>
                    <a:pt x="174" y="91"/>
                  </a:lnTo>
                  <a:moveTo>
                    <a:pt x="174" y="271"/>
                  </a:moveTo>
                  <a:lnTo>
                    <a:pt x="174" y="211"/>
                  </a:lnTo>
                  <a:moveTo>
                    <a:pt x="204" y="181"/>
                  </a:moveTo>
                  <a:lnTo>
                    <a:pt x="204" y="121"/>
                  </a:lnTo>
                  <a:moveTo>
                    <a:pt x="204" y="301"/>
                  </a:moveTo>
                  <a:lnTo>
                    <a:pt x="204" y="241"/>
                  </a:lnTo>
                  <a:moveTo>
                    <a:pt x="204" y="60"/>
                  </a:moveTo>
                  <a:lnTo>
                    <a:pt x="204" y="0"/>
                  </a:lnTo>
                  <a:moveTo>
                    <a:pt x="204" y="60"/>
                  </a:moveTo>
                  <a:lnTo>
                    <a:pt x="233" y="30"/>
                  </a:lnTo>
                </a:path>
              </a:pathLst>
            </a:custGeom>
            <a:noFill/>
            <a:ln w="11113" cap="sq">
              <a:solidFill>
                <a:srgbClr val="CDCDCD"/>
              </a:solidFill>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306" name="Rectangle 308"/>
            <p:cNvSpPr>
              <a:spLocks noChangeArrowheads="1"/>
            </p:cNvSpPr>
            <p:nvPr/>
          </p:nvSpPr>
          <p:spPr bwMode="auto">
            <a:xfrm>
              <a:off x="3733" y="1053"/>
              <a:ext cx="50" cy="360"/>
            </a:xfrm>
            <a:prstGeom prst="rect">
              <a:avLst/>
            </a:prstGeom>
            <a:solidFill>
              <a:srgbClr val="DC7E5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07" name="Rectangle 309"/>
            <p:cNvSpPr>
              <a:spLocks noChangeArrowheads="1"/>
            </p:cNvSpPr>
            <p:nvPr/>
          </p:nvSpPr>
          <p:spPr bwMode="auto">
            <a:xfrm>
              <a:off x="3733" y="1053"/>
              <a:ext cx="50" cy="360"/>
            </a:xfrm>
            <a:prstGeom prst="rect">
              <a:avLst/>
            </a:prstGeom>
            <a:noFill/>
            <a:ln w="11113" cap="rnd">
              <a:solidFill>
                <a:srgbClr val="E6E6E6"/>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308" name="Freeform 310"/>
            <p:cNvSpPr>
              <a:spLocks/>
            </p:cNvSpPr>
            <p:nvPr/>
          </p:nvSpPr>
          <p:spPr bwMode="auto">
            <a:xfrm>
              <a:off x="3808" y="787"/>
              <a:ext cx="235" cy="270"/>
            </a:xfrm>
            <a:custGeom>
              <a:avLst/>
              <a:gdLst>
                <a:gd name="T0" fmla="*/ 0 w 235"/>
                <a:gd name="T1" fmla="*/ 270 h 270"/>
                <a:gd name="T2" fmla="*/ 235 w 235"/>
                <a:gd name="T3" fmla="*/ 26 h 270"/>
                <a:gd name="T4" fmla="*/ 235 w 235"/>
                <a:gd name="T5" fmla="*/ 0 h 270"/>
                <a:gd name="T6" fmla="*/ 0 w 235"/>
                <a:gd name="T7" fmla="*/ 244 h 270"/>
                <a:gd name="T8" fmla="*/ 0 w 235"/>
                <a:gd name="T9" fmla="*/ 270 h 270"/>
                <a:gd name="T10" fmla="*/ 0 60000 65536"/>
                <a:gd name="T11" fmla="*/ 0 60000 65536"/>
                <a:gd name="T12" fmla="*/ 0 60000 65536"/>
                <a:gd name="T13" fmla="*/ 0 60000 65536"/>
                <a:gd name="T14" fmla="*/ 0 60000 65536"/>
                <a:gd name="T15" fmla="*/ 0 w 235"/>
                <a:gd name="T16" fmla="*/ 0 h 270"/>
                <a:gd name="T17" fmla="*/ 235 w 235"/>
                <a:gd name="T18" fmla="*/ 270 h 270"/>
              </a:gdLst>
              <a:ahLst/>
              <a:cxnLst>
                <a:cxn ang="T10">
                  <a:pos x="T0" y="T1"/>
                </a:cxn>
                <a:cxn ang="T11">
                  <a:pos x="T2" y="T3"/>
                </a:cxn>
                <a:cxn ang="T12">
                  <a:pos x="T4" y="T5"/>
                </a:cxn>
                <a:cxn ang="T13">
                  <a:pos x="T6" y="T7"/>
                </a:cxn>
                <a:cxn ang="T14">
                  <a:pos x="T8" y="T9"/>
                </a:cxn>
              </a:cxnLst>
              <a:rect l="T15" t="T16" r="T17" b="T18"/>
              <a:pathLst>
                <a:path w="235" h="270">
                  <a:moveTo>
                    <a:pt x="0" y="270"/>
                  </a:moveTo>
                  <a:lnTo>
                    <a:pt x="235" y="26"/>
                  </a:lnTo>
                  <a:lnTo>
                    <a:pt x="235" y="0"/>
                  </a:lnTo>
                  <a:lnTo>
                    <a:pt x="0" y="244"/>
                  </a:lnTo>
                  <a:lnTo>
                    <a:pt x="0" y="270"/>
                  </a:lnTo>
                  <a:close/>
                </a:path>
              </a:pathLst>
            </a:custGeom>
            <a:solidFill>
              <a:srgbClr val="9A9A9A"/>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09" name="Freeform 311"/>
            <p:cNvSpPr>
              <a:spLocks/>
            </p:cNvSpPr>
            <p:nvPr/>
          </p:nvSpPr>
          <p:spPr bwMode="auto">
            <a:xfrm>
              <a:off x="3808" y="787"/>
              <a:ext cx="235" cy="270"/>
            </a:xfrm>
            <a:custGeom>
              <a:avLst/>
              <a:gdLst>
                <a:gd name="T0" fmla="*/ 0 w 235"/>
                <a:gd name="T1" fmla="*/ 270 h 270"/>
                <a:gd name="T2" fmla="*/ 235 w 235"/>
                <a:gd name="T3" fmla="*/ 26 h 270"/>
                <a:gd name="T4" fmla="*/ 235 w 235"/>
                <a:gd name="T5" fmla="*/ 0 h 270"/>
                <a:gd name="T6" fmla="*/ 0 w 235"/>
                <a:gd name="T7" fmla="*/ 244 h 270"/>
                <a:gd name="T8" fmla="*/ 0 w 235"/>
                <a:gd name="T9" fmla="*/ 270 h 270"/>
                <a:gd name="T10" fmla="*/ 0 60000 65536"/>
                <a:gd name="T11" fmla="*/ 0 60000 65536"/>
                <a:gd name="T12" fmla="*/ 0 60000 65536"/>
                <a:gd name="T13" fmla="*/ 0 60000 65536"/>
                <a:gd name="T14" fmla="*/ 0 60000 65536"/>
                <a:gd name="T15" fmla="*/ 0 w 235"/>
                <a:gd name="T16" fmla="*/ 0 h 270"/>
                <a:gd name="T17" fmla="*/ 235 w 235"/>
                <a:gd name="T18" fmla="*/ 270 h 270"/>
              </a:gdLst>
              <a:ahLst/>
              <a:cxnLst>
                <a:cxn ang="T10">
                  <a:pos x="T0" y="T1"/>
                </a:cxn>
                <a:cxn ang="T11">
                  <a:pos x="T2" y="T3"/>
                </a:cxn>
                <a:cxn ang="T12">
                  <a:pos x="T4" y="T5"/>
                </a:cxn>
                <a:cxn ang="T13">
                  <a:pos x="T6" y="T7"/>
                </a:cxn>
                <a:cxn ang="T14">
                  <a:pos x="T8" y="T9"/>
                </a:cxn>
              </a:cxnLst>
              <a:rect l="T15" t="T16" r="T17" b="T18"/>
              <a:pathLst>
                <a:path w="235" h="270">
                  <a:moveTo>
                    <a:pt x="0" y="270"/>
                  </a:moveTo>
                  <a:lnTo>
                    <a:pt x="235" y="26"/>
                  </a:lnTo>
                  <a:lnTo>
                    <a:pt x="235" y="0"/>
                  </a:lnTo>
                  <a:lnTo>
                    <a:pt x="0" y="244"/>
                  </a:lnTo>
                  <a:lnTo>
                    <a:pt x="0" y="270"/>
                  </a:lnTo>
                  <a:close/>
                </a:path>
              </a:pathLst>
            </a:cu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310" name="Rectangle 312"/>
            <p:cNvSpPr>
              <a:spLocks noChangeArrowheads="1"/>
            </p:cNvSpPr>
            <p:nvPr/>
          </p:nvSpPr>
          <p:spPr bwMode="auto">
            <a:xfrm>
              <a:off x="3708" y="1031"/>
              <a:ext cx="100" cy="26"/>
            </a:xfrm>
            <a:prstGeom prst="rect">
              <a:avLst/>
            </a:prstGeom>
            <a:solidFill>
              <a:srgbClr val="C0C0C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11" name="Rectangle 313"/>
            <p:cNvSpPr>
              <a:spLocks noChangeArrowheads="1"/>
            </p:cNvSpPr>
            <p:nvPr/>
          </p:nvSpPr>
          <p:spPr bwMode="auto">
            <a:xfrm>
              <a:off x="3708" y="1031"/>
              <a:ext cx="100" cy="26"/>
            </a:xfrm>
            <a:prstGeom prst="rect">
              <a:avLst/>
            </a:pr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312" name="Freeform 314"/>
            <p:cNvSpPr>
              <a:spLocks/>
            </p:cNvSpPr>
            <p:nvPr/>
          </p:nvSpPr>
          <p:spPr bwMode="auto">
            <a:xfrm>
              <a:off x="3708" y="787"/>
              <a:ext cx="335" cy="244"/>
            </a:xfrm>
            <a:custGeom>
              <a:avLst/>
              <a:gdLst>
                <a:gd name="T0" fmla="*/ 0 w 335"/>
                <a:gd name="T1" fmla="*/ 244 h 244"/>
                <a:gd name="T2" fmla="*/ 236 w 335"/>
                <a:gd name="T3" fmla="*/ 0 h 244"/>
                <a:gd name="T4" fmla="*/ 335 w 335"/>
                <a:gd name="T5" fmla="*/ 0 h 244"/>
                <a:gd name="T6" fmla="*/ 100 w 335"/>
                <a:gd name="T7" fmla="*/ 244 h 244"/>
                <a:gd name="T8" fmla="*/ 0 w 335"/>
                <a:gd name="T9" fmla="*/ 244 h 244"/>
                <a:gd name="T10" fmla="*/ 0 60000 65536"/>
                <a:gd name="T11" fmla="*/ 0 60000 65536"/>
                <a:gd name="T12" fmla="*/ 0 60000 65536"/>
                <a:gd name="T13" fmla="*/ 0 60000 65536"/>
                <a:gd name="T14" fmla="*/ 0 60000 65536"/>
                <a:gd name="T15" fmla="*/ 0 w 335"/>
                <a:gd name="T16" fmla="*/ 0 h 244"/>
                <a:gd name="T17" fmla="*/ 335 w 335"/>
                <a:gd name="T18" fmla="*/ 244 h 244"/>
              </a:gdLst>
              <a:ahLst/>
              <a:cxnLst>
                <a:cxn ang="T10">
                  <a:pos x="T0" y="T1"/>
                </a:cxn>
                <a:cxn ang="T11">
                  <a:pos x="T2" y="T3"/>
                </a:cxn>
                <a:cxn ang="T12">
                  <a:pos x="T4" y="T5"/>
                </a:cxn>
                <a:cxn ang="T13">
                  <a:pos x="T6" y="T7"/>
                </a:cxn>
                <a:cxn ang="T14">
                  <a:pos x="T8" y="T9"/>
                </a:cxn>
              </a:cxnLst>
              <a:rect l="T15" t="T16" r="T17" b="T18"/>
              <a:pathLst>
                <a:path w="335" h="244">
                  <a:moveTo>
                    <a:pt x="0" y="244"/>
                  </a:moveTo>
                  <a:lnTo>
                    <a:pt x="236" y="0"/>
                  </a:lnTo>
                  <a:lnTo>
                    <a:pt x="335" y="0"/>
                  </a:lnTo>
                  <a:lnTo>
                    <a:pt x="100" y="244"/>
                  </a:lnTo>
                  <a:lnTo>
                    <a:pt x="0" y="244"/>
                  </a:lnTo>
                  <a:close/>
                </a:path>
              </a:pathLst>
            </a:custGeom>
            <a:solidFill>
              <a:srgbClr val="E6E6E6"/>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13" name="Freeform 315"/>
            <p:cNvSpPr>
              <a:spLocks/>
            </p:cNvSpPr>
            <p:nvPr/>
          </p:nvSpPr>
          <p:spPr bwMode="auto">
            <a:xfrm>
              <a:off x="3708" y="787"/>
              <a:ext cx="335" cy="244"/>
            </a:xfrm>
            <a:custGeom>
              <a:avLst/>
              <a:gdLst>
                <a:gd name="T0" fmla="*/ 0 w 335"/>
                <a:gd name="T1" fmla="*/ 244 h 244"/>
                <a:gd name="T2" fmla="*/ 236 w 335"/>
                <a:gd name="T3" fmla="*/ 0 h 244"/>
                <a:gd name="T4" fmla="*/ 335 w 335"/>
                <a:gd name="T5" fmla="*/ 0 h 244"/>
                <a:gd name="T6" fmla="*/ 100 w 335"/>
                <a:gd name="T7" fmla="*/ 244 h 244"/>
                <a:gd name="T8" fmla="*/ 0 w 335"/>
                <a:gd name="T9" fmla="*/ 244 h 244"/>
                <a:gd name="T10" fmla="*/ 0 60000 65536"/>
                <a:gd name="T11" fmla="*/ 0 60000 65536"/>
                <a:gd name="T12" fmla="*/ 0 60000 65536"/>
                <a:gd name="T13" fmla="*/ 0 60000 65536"/>
                <a:gd name="T14" fmla="*/ 0 60000 65536"/>
                <a:gd name="T15" fmla="*/ 0 w 335"/>
                <a:gd name="T16" fmla="*/ 0 h 244"/>
                <a:gd name="T17" fmla="*/ 335 w 335"/>
                <a:gd name="T18" fmla="*/ 244 h 244"/>
              </a:gdLst>
              <a:ahLst/>
              <a:cxnLst>
                <a:cxn ang="T10">
                  <a:pos x="T0" y="T1"/>
                </a:cxn>
                <a:cxn ang="T11">
                  <a:pos x="T2" y="T3"/>
                </a:cxn>
                <a:cxn ang="T12">
                  <a:pos x="T4" y="T5"/>
                </a:cxn>
                <a:cxn ang="T13">
                  <a:pos x="T6" y="T7"/>
                </a:cxn>
                <a:cxn ang="T14">
                  <a:pos x="T8" y="T9"/>
                </a:cxn>
              </a:cxnLst>
              <a:rect l="T15" t="T16" r="T17" b="T18"/>
              <a:pathLst>
                <a:path w="335" h="244">
                  <a:moveTo>
                    <a:pt x="0" y="244"/>
                  </a:moveTo>
                  <a:lnTo>
                    <a:pt x="236" y="0"/>
                  </a:lnTo>
                  <a:lnTo>
                    <a:pt x="335" y="0"/>
                  </a:lnTo>
                  <a:lnTo>
                    <a:pt x="100" y="244"/>
                  </a:lnTo>
                  <a:lnTo>
                    <a:pt x="0" y="244"/>
                  </a:lnTo>
                  <a:close/>
                </a:path>
              </a:pathLst>
            </a:cu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314" name="Freeform 316"/>
            <p:cNvSpPr>
              <a:spLocks noEditPoints="1"/>
            </p:cNvSpPr>
            <p:nvPr/>
          </p:nvSpPr>
          <p:spPr bwMode="auto">
            <a:xfrm>
              <a:off x="3733" y="1113"/>
              <a:ext cx="47" cy="240"/>
            </a:xfrm>
            <a:custGeom>
              <a:avLst/>
              <a:gdLst>
                <a:gd name="T0" fmla="*/ 47 w 47"/>
                <a:gd name="T1" fmla="*/ 0 h 240"/>
                <a:gd name="T2" fmla="*/ 0 w 47"/>
                <a:gd name="T3" fmla="*/ 0 h 240"/>
                <a:gd name="T4" fmla="*/ 47 w 47"/>
                <a:gd name="T5" fmla="*/ 60 h 240"/>
                <a:gd name="T6" fmla="*/ 0 w 47"/>
                <a:gd name="T7" fmla="*/ 60 h 240"/>
                <a:gd name="T8" fmla="*/ 47 w 47"/>
                <a:gd name="T9" fmla="*/ 120 h 240"/>
                <a:gd name="T10" fmla="*/ 0 w 47"/>
                <a:gd name="T11" fmla="*/ 120 h 240"/>
                <a:gd name="T12" fmla="*/ 47 w 47"/>
                <a:gd name="T13" fmla="*/ 180 h 240"/>
                <a:gd name="T14" fmla="*/ 0 w 47"/>
                <a:gd name="T15" fmla="*/ 180 h 240"/>
                <a:gd name="T16" fmla="*/ 47 w 47"/>
                <a:gd name="T17" fmla="*/ 240 h 240"/>
                <a:gd name="T18" fmla="*/ 0 w 47"/>
                <a:gd name="T19" fmla="*/ 240 h 2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7"/>
                <a:gd name="T31" fmla="*/ 0 h 240"/>
                <a:gd name="T32" fmla="*/ 47 w 47"/>
                <a:gd name="T33" fmla="*/ 240 h 2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7" h="240">
                  <a:moveTo>
                    <a:pt x="47" y="0"/>
                  </a:moveTo>
                  <a:lnTo>
                    <a:pt x="0" y="0"/>
                  </a:lnTo>
                  <a:moveTo>
                    <a:pt x="47" y="60"/>
                  </a:moveTo>
                  <a:lnTo>
                    <a:pt x="0" y="60"/>
                  </a:lnTo>
                  <a:moveTo>
                    <a:pt x="47" y="120"/>
                  </a:moveTo>
                  <a:lnTo>
                    <a:pt x="0" y="120"/>
                  </a:lnTo>
                  <a:moveTo>
                    <a:pt x="47" y="180"/>
                  </a:moveTo>
                  <a:lnTo>
                    <a:pt x="0" y="180"/>
                  </a:lnTo>
                  <a:moveTo>
                    <a:pt x="47" y="240"/>
                  </a:moveTo>
                  <a:lnTo>
                    <a:pt x="0" y="240"/>
                  </a:lnTo>
                </a:path>
              </a:pathLst>
            </a:custGeom>
            <a:noFill/>
            <a:ln w="11113" cap="sq">
              <a:solidFill>
                <a:srgbClr val="E6E6E6"/>
              </a:solidFill>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315" name="Freeform 317"/>
            <p:cNvSpPr>
              <a:spLocks/>
            </p:cNvSpPr>
            <p:nvPr/>
          </p:nvSpPr>
          <p:spPr bwMode="auto">
            <a:xfrm>
              <a:off x="3708" y="787"/>
              <a:ext cx="335" cy="628"/>
            </a:xfrm>
            <a:custGeom>
              <a:avLst/>
              <a:gdLst>
                <a:gd name="T0" fmla="*/ 25 w 335"/>
                <a:gd name="T1" fmla="*/ 628 h 628"/>
                <a:gd name="T2" fmla="*/ 25 w 335"/>
                <a:gd name="T3" fmla="*/ 270 h 628"/>
                <a:gd name="T4" fmla="*/ 0 w 335"/>
                <a:gd name="T5" fmla="*/ 270 h 628"/>
                <a:gd name="T6" fmla="*/ 0 w 335"/>
                <a:gd name="T7" fmla="*/ 244 h 628"/>
                <a:gd name="T8" fmla="*/ 236 w 335"/>
                <a:gd name="T9" fmla="*/ 0 h 628"/>
                <a:gd name="T10" fmla="*/ 335 w 335"/>
                <a:gd name="T11" fmla="*/ 0 h 628"/>
                <a:gd name="T12" fmla="*/ 335 w 335"/>
                <a:gd name="T13" fmla="*/ 26 h 628"/>
                <a:gd name="T14" fmla="*/ 311 w 335"/>
                <a:gd name="T15" fmla="*/ 51 h 628"/>
                <a:gd name="T16" fmla="*/ 311 w 335"/>
                <a:gd name="T17" fmla="*/ 385 h 628"/>
                <a:gd name="T18" fmla="*/ 75 w 335"/>
                <a:gd name="T19" fmla="*/ 628 h 628"/>
                <a:gd name="T20" fmla="*/ 25 w 335"/>
                <a:gd name="T21" fmla="*/ 628 h 62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35"/>
                <a:gd name="T34" fmla="*/ 0 h 628"/>
                <a:gd name="T35" fmla="*/ 335 w 335"/>
                <a:gd name="T36" fmla="*/ 628 h 62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35" h="628">
                  <a:moveTo>
                    <a:pt x="25" y="628"/>
                  </a:moveTo>
                  <a:lnTo>
                    <a:pt x="25" y="270"/>
                  </a:lnTo>
                  <a:lnTo>
                    <a:pt x="0" y="270"/>
                  </a:lnTo>
                  <a:lnTo>
                    <a:pt x="0" y="244"/>
                  </a:lnTo>
                  <a:lnTo>
                    <a:pt x="236" y="0"/>
                  </a:lnTo>
                  <a:lnTo>
                    <a:pt x="335" y="0"/>
                  </a:lnTo>
                  <a:lnTo>
                    <a:pt x="335" y="26"/>
                  </a:lnTo>
                  <a:lnTo>
                    <a:pt x="311" y="51"/>
                  </a:lnTo>
                  <a:lnTo>
                    <a:pt x="311" y="385"/>
                  </a:lnTo>
                  <a:lnTo>
                    <a:pt x="75" y="628"/>
                  </a:lnTo>
                  <a:lnTo>
                    <a:pt x="25" y="628"/>
                  </a:lnTo>
                </a:path>
              </a:pathLst>
            </a:custGeom>
            <a:noFill/>
            <a:ln w="17463"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316" name="Rectangle 318"/>
            <p:cNvSpPr>
              <a:spLocks noChangeArrowheads="1"/>
            </p:cNvSpPr>
            <p:nvPr/>
          </p:nvSpPr>
          <p:spPr bwMode="auto">
            <a:xfrm>
              <a:off x="3649" y="1436"/>
              <a:ext cx="248" cy="8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900" b="0">
                  <a:solidFill>
                    <a:srgbClr val="000000"/>
                  </a:solidFill>
                  <a:latin typeface="Arial" charset="0"/>
                </a:rPr>
                <a:t>Firewall</a:t>
              </a:r>
              <a:endParaRPr lang="en-US"/>
            </a:p>
          </p:txBody>
        </p:sp>
      </p:grpSp>
      <p:grpSp>
        <p:nvGrpSpPr>
          <p:cNvPr id="317" name="Group 319"/>
          <p:cNvGrpSpPr>
            <a:grpSpLocks/>
          </p:cNvGrpSpPr>
          <p:nvPr/>
        </p:nvGrpSpPr>
        <p:grpSpPr bwMode="auto">
          <a:xfrm>
            <a:off x="6802438" y="3952875"/>
            <a:ext cx="1241425" cy="735013"/>
            <a:chOff x="2229" y="2818"/>
            <a:chExt cx="782" cy="463"/>
          </a:xfrm>
        </p:grpSpPr>
        <p:sp>
          <p:nvSpPr>
            <p:cNvPr id="318" name="Freeform 320"/>
            <p:cNvSpPr>
              <a:spLocks noEditPoints="1"/>
            </p:cNvSpPr>
            <p:nvPr/>
          </p:nvSpPr>
          <p:spPr bwMode="auto">
            <a:xfrm>
              <a:off x="2250" y="2818"/>
              <a:ext cx="761" cy="269"/>
            </a:xfrm>
            <a:custGeom>
              <a:avLst/>
              <a:gdLst>
                <a:gd name="T0" fmla="*/ 652 w 761"/>
                <a:gd name="T1" fmla="*/ 269 h 269"/>
                <a:gd name="T2" fmla="*/ 718 w 761"/>
                <a:gd name="T3" fmla="*/ 202 h 269"/>
                <a:gd name="T4" fmla="*/ 674 w 761"/>
                <a:gd name="T5" fmla="*/ 247 h 269"/>
                <a:gd name="T6" fmla="*/ 652 w 761"/>
                <a:gd name="T7" fmla="*/ 247 h 269"/>
                <a:gd name="T8" fmla="*/ 652 w 761"/>
                <a:gd name="T9" fmla="*/ 269 h 269"/>
                <a:gd name="T10" fmla="*/ 0 w 761"/>
                <a:gd name="T11" fmla="*/ 269 h 269"/>
                <a:gd name="T12" fmla="*/ 652 w 761"/>
                <a:gd name="T13" fmla="*/ 269 h 269"/>
                <a:gd name="T14" fmla="*/ 652 w 761"/>
                <a:gd name="T15" fmla="*/ 247 h 269"/>
                <a:gd name="T16" fmla="*/ 0 w 761"/>
                <a:gd name="T17" fmla="*/ 247 h 269"/>
                <a:gd name="T18" fmla="*/ 0 w 761"/>
                <a:gd name="T19" fmla="*/ 269 h 269"/>
                <a:gd name="T20" fmla="*/ 761 w 761"/>
                <a:gd name="T21" fmla="*/ 0 h 269"/>
                <a:gd name="T22" fmla="*/ 761 w 761"/>
                <a:gd name="T23" fmla="*/ 157 h 269"/>
                <a:gd name="T24" fmla="*/ 674 w 761"/>
                <a:gd name="T25" fmla="*/ 247 h 269"/>
                <a:gd name="T26" fmla="*/ 674 w 761"/>
                <a:gd name="T27" fmla="*/ 90 h 269"/>
                <a:gd name="T28" fmla="*/ 761 w 761"/>
                <a:gd name="T29" fmla="*/ 0 h 26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61"/>
                <a:gd name="T46" fmla="*/ 0 h 269"/>
                <a:gd name="T47" fmla="*/ 761 w 761"/>
                <a:gd name="T48" fmla="*/ 269 h 26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61" h="269">
                  <a:moveTo>
                    <a:pt x="652" y="269"/>
                  </a:moveTo>
                  <a:lnTo>
                    <a:pt x="718" y="202"/>
                  </a:lnTo>
                  <a:lnTo>
                    <a:pt x="674" y="247"/>
                  </a:lnTo>
                  <a:lnTo>
                    <a:pt x="652" y="247"/>
                  </a:lnTo>
                  <a:lnTo>
                    <a:pt x="652" y="269"/>
                  </a:lnTo>
                  <a:close/>
                  <a:moveTo>
                    <a:pt x="0" y="269"/>
                  </a:moveTo>
                  <a:lnTo>
                    <a:pt x="652" y="269"/>
                  </a:lnTo>
                  <a:lnTo>
                    <a:pt x="652" y="247"/>
                  </a:lnTo>
                  <a:lnTo>
                    <a:pt x="0" y="247"/>
                  </a:lnTo>
                  <a:lnTo>
                    <a:pt x="0" y="269"/>
                  </a:lnTo>
                  <a:close/>
                  <a:moveTo>
                    <a:pt x="761" y="0"/>
                  </a:moveTo>
                  <a:lnTo>
                    <a:pt x="761" y="157"/>
                  </a:lnTo>
                  <a:lnTo>
                    <a:pt x="674" y="247"/>
                  </a:lnTo>
                  <a:lnTo>
                    <a:pt x="674" y="90"/>
                  </a:lnTo>
                  <a:lnTo>
                    <a:pt x="761" y="0"/>
                  </a:lnTo>
                  <a:close/>
                </a:path>
              </a:pathLst>
            </a:custGeom>
            <a:solidFill>
              <a:srgbClr val="9A9A9A"/>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19" name="Freeform 321"/>
            <p:cNvSpPr>
              <a:spLocks/>
            </p:cNvSpPr>
            <p:nvPr/>
          </p:nvSpPr>
          <p:spPr bwMode="auto">
            <a:xfrm>
              <a:off x="2229" y="2818"/>
              <a:ext cx="782" cy="90"/>
            </a:xfrm>
            <a:custGeom>
              <a:avLst/>
              <a:gdLst>
                <a:gd name="T0" fmla="*/ 0 w 782"/>
                <a:gd name="T1" fmla="*/ 90 h 90"/>
                <a:gd name="T2" fmla="*/ 87 w 782"/>
                <a:gd name="T3" fmla="*/ 0 h 90"/>
                <a:gd name="T4" fmla="*/ 782 w 782"/>
                <a:gd name="T5" fmla="*/ 0 h 90"/>
                <a:gd name="T6" fmla="*/ 695 w 782"/>
                <a:gd name="T7" fmla="*/ 90 h 90"/>
                <a:gd name="T8" fmla="*/ 0 w 782"/>
                <a:gd name="T9" fmla="*/ 90 h 90"/>
                <a:gd name="T10" fmla="*/ 0 60000 65536"/>
                <a:gd name="T11" fmla="*/ 0 60000 65536"/>
                <a:gd name="T12" fmla="*/ 0 60000 65536"/>
                <a:gd name="T13" fmla="*/ 0 60000 65536"/>
                <a:gd name="T14" fmla="*/ 0 60000 65536"/>
                <a:gd name="T15" fmla="*/ 0 w 782"/>
                <a:gd name="T16" fmla="*/ 0 h 90"/>
                <a:gd name="T17" fmla="*/ 782 w 782"/>
                <a:gd name="T18" fmla="*/ 90 h 90"/>
              </a:gdLst>
              <a:ahLst/>
              <a:cxnLst>
                <a:cxn ang="T10">
                  <a:pos x="T0" y="T1"/>
                </a:cxn>
                <a:cxn ang="T11">
                  <a:pos x="T2" y="T3"/>
                </a:cxn>
                <a:cxn ang="T12">
                  <a:pos x="T4" y="T5"/>
                </a:cxn>
                <a:cxn ang="T13">
                  <a:pos x="T6" y="T7"/>
                </a:cxn>
                <a:cxn ang="T14">
                  <a:pos x="T8" y="T9"/>
                </a:cxn>
              </a:cxnLst>
              <a:rect l="T15" t="T16" r="T17" b="T18"/>
              <a:pathLst>
                <a:path w="782" h="90">
                  <a:moveTo>
                    <a:pt x="0" y="90"/>
                  </a:moveTo>
                  <a:lnTo>
                    <a:pt x="87" y="0"/>
                  </a:lnTo>
                  <a:lnTo>
                    <a:pt x="782" y="0"/>
                  </a:lnTo>
                  <a:lnTo>
                    <a:pt x="695" y="90"/>
                  </a:lnTo>
                  <a:lnTo>
                    <a:pt x="0" y="90"/>
                  </a:lnTo>
                  <a:close/>
                </a:path>
              </a:pathLst>
            </a:custGeom>
            <a:solidFill>
              <a:srgbClr val="E6E6E6"/>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20" name="Rectangle 322"/>
            <p:cNvSpPr>
              <a:spLocks noChangeArrowheads="1"/>
            </p:cNvSpPr>
            <p:nvPr/>
          </p:nvSpPr>
          <p:spPr bwMode="auto">
            <a:xfrm>
              <a:off x="2229" y="2908"/>
              <a:ext cx="695" cy="157"/>
            </a:xfrm>
            <a:prstGeom prst="rect">
              <a:avLst/>
            </a:prstGeom>
            <a:solidFill>
              <a:srgbClr val="C0C0C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21" name="Rectangle 323"/>
            <p:cNvSpPr>
              <a:spLocks noChangeArrowheads="1"/>
            </p:cNvSpPr>
            <p:nvPr/>
          </p:nvSpPr>
          <p:spPr bwMode="auto">
            <a:xfrm>
              <a:off x="2229" y="2908"/>
              <a:ext cx="695" cy="157"/>
            </a:xfrm>
            <a:prstGeom prst="rect">
              <a:avLst/>
            </a:pr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322" name="Rectangle 324"/>
            <p:cNvSpPr>
              <a:spLocks noChangeArrowheads="1"/>
            </p:cNvSpPr>
            <p:nvPr/>
          </p:nvSpPr>
          <p:spPr bwMode="auto">
            <a:xfrm>
              <a:off x="2239" y="2997"/>
              <a:ext cx="674" cy="56"/>
            </a:xfrm>
            <a:prstGeom prst="rect">
              <a:avLst/>
            </a:prstGeom>
            <a:solidFill>
              <a:srgbClr val="DBDAC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pic>
          <p:nvPicPr>
            <p:cNvPr id="323" name="Picture 325"/>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273" y="2956"/>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24" name="Picture 326"/>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2273" y="2956"/>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25" name="Picture 327"/>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2273" y="2932"/>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26" name="Picture 328"/>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2753" y="2956"/>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27" name="Picture 329"/>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2753" y="2956"/>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28" name="Picture 330"/>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2753" y="2932"/>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29" name="Picture 331"/>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2697" y="2956"/>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30" name="Picture 332"/>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2697" y="2956"/>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31" name="Picture 333"/>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2697" y="2932"/>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32" name="Picture 334"/>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2697" y="2932"/>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33" name="Picture 335"/>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2537" y="2956"/>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34" name="Picture 336"/>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2537" y="2956"/>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35" name="Picture 337"/>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2537" y="2932"/>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36" name="Picture 338"/>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2537" y="2932"/>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37" name="Picture 339"/>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2481" y="2956"/>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38" name="Picture 340"/>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2481" y="2956"/>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39" name="Picture 341"/>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2481" y="2932"/>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40" name="Picture 342"/>
            <p:cNvPicPr>
              <a:picLocks noChangeAspect="1" noChangeArrowheads="1"/>
            </p:cNvPicPr>
            <p:nvPr/>
          </p:nvPicPr>
          <p:blipFill>
            <a:blip r:embed="rId43">
              <a:extLst>
                <a:ext uri="{28A0092B-C50C-407E-A947-70E740481C1C}">
                  <a14:useLocalDpi xmlns:a14="http://schemas.microsoft.com/office/drawing/2010/main" val="0"/>
                </a:ext>
              </a:extLst>
            </a:blip>
            <a:srcRect/>
            <a:stretch>
              <a:fillRect/>
            </a:stretch>
          </p:blipFill>
          <p:spPr bwMode="auto">
            <a:xfrm>
              <a:off x="2481" y="2932"/>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41" name="Picture 343"/>
            <p:cNvPicPr>
              <a:picLocks noChangeAspect="1" noChangeArrowheads="1"/>
            </p:cNvPicPr>
            <p:nvPr/>
          </p:nvPicPr>
          <p:blipFill>
            <a:blip r:embed="rId44">
              <a:extLst>
                <a:ext uri="{28A0092B-C50C-407E-A947-70E740481C1C}">
                  <a14:useLocalDpi xmlns:a14="http://schemas.microsoft.com/office/drawing/2010/main" val="0"/>
                </a:ext>
              </a:extLst>
            </a:blip>
            <a:srcRect/>
            <a:stretch>
              <a:fillRect/>
            </a:stretch>
          </p:blipFill>
          <p:spPr bwMode="auto">
            <a:xfrm>
              <a:off x="2433" y="2956"/>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42" name="Picture 344"/>
            <p:cNvPicPr>
              <a:picLocks noChangeAspect="1" noChangeArrowheads="1"/>
            </p:cNvPicPr>
            <p:nvPr/>
          </p:nvPicPr>
          <p:blipFill>
            <a:blip r:embed="rId45">
              <a:extLst>
                <a:ext uri="{28A0092B-C50C-407E-A947-70E740481C1C}">
                  <a14:useLocalDpi xmlns:a14="http://schemas.microsoft.com/office/drawing/2010/main" val="0"/>
                </a:ext>
              </a:extLst>
            </a:blip>
            <a:srcRect/>
            <a:stretch>
              <a:fillRect/>
            </a:stretch>
          </p:blipFill>
          <p:spPr bwMode="auto">
            <a:xfrm>
              <a:off x="2433" y="2956"/>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43" name="Picture 345"/>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2433" y="2932"/>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44" name="Picture 346"/>
            <p:cNvPicPr>
              <a:picLocks noChangeAspect="1" noChangeArrowheads="1"/>
            </p:cNvPicPr>
            <p:nvPr/>
          </p:nvPicPr>
          <p:blipFill>
            <a:blip r:embed="rId46">
              <a:extLst>
                <a:ext uri="{28A0092B-C50C-407E-A947-70E740481C1C}">
                  <a14:useLocalDpi xmlns:a14="http://schemas.microsoft.com/office/drawing/2010/main" val="0"/>
                </a:ext>
              </a:extLst>
            </a:blip>
            <a:srcRect/>
            <a:stretch>
              <a:fillRect/>
            </a:stretch>
          </p:blipFill>
          <p:spPr bwMode="auto">
            <a:xfrm>
              <a:off x="2377" y="2956"/>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45" name="Picture 347"/>
            <p:cNvPicPr>
              <a:picLocks noChangeAspect="1" noChangeArrowheads="1"/>
            </p:cNvPicPr>
            <p:nvPr/>
          </p:nvPicPr>
          <p:blipFill>
            <a:blip r:embed="rId47">
              <a:extLst>
                <a:ext uri="{28A0092B-C50C-407E-A947-70E740481C1C}">
                  <a14:useLocalDpi xmlns:a14="http://schemas.microsoft.com/office/drawing/2010/main" val="0"/>
                </a:ext>
              </a:extLst>
            </a:blip>
            <a:srcRect/>
            <a:stretch>
              <a:fillRect/>
            </a:stretch>
          </p:blipFill>
          <p:spPr bwMode="auto">
            <a:xfrm>
              <a:off x="2377" y="2956"/>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46" name="Picture 348"/>
            <p:cNvPicPr>
              <a:picLocks noChangeAspect="1" noChangeArrowheads="1"/>
            </p:cNvPicPr>
            <p:nvPr/>
          </p:nvPicPr>
          <p:blipFill>
            <a:blip r:embed="rId48">
              <a:extLst>
                <a:ext uri="{28A0092B-C50C-407E-A947-70E740481C1C}">
                  <a14:useLocalDpi xmlns:a14="http://schemas.microsoft.com/office/drawing/2010/main" val="0"/>
                </a:ext>
              </a:extLst>
            </a:blip>
            <a:srcRect/>
            <a:stretch>
              <a:fillRect/>
            </a:stretch>
          </p:blipFill>
          <p:spPr bwMode="auto">
            <a:xfrm>
              <a:off x="2377" y="2932"/>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47" name="Picture 349"/>
            <p:cNvPicPr>
              <a:picLocks noChangeAspect="1" noChangeArrowheads="1"/>
            </p:cNvPicPr>
            <p:nvPr/>
          </p:nvPicPr>
          <p:blipFill>
            <a:blip r:embed="rId49">
              <a:extLst>
                <a:ext uri="{28A0092B-C50C-407E-A947-70E740481C1C}">
                  <a14:useLocalDpi xmlns:a14="http://schemas.microsoft.com/office/drawing/2010/main" val="0"/>
                </a:ext>
              </a:extLst>
            </a:blip>
            <a:srcRect/>
            <a:stretch>
              <a:fillRect/>
            </a:stretch>
          </p:blipFill>
          <p:spPr bwMode="auto">
            <a:xfrm>
              <a:off x="2377" y="2932"/>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48" name="Picture 350"/>
            <p:cNvPicPr>
              <a:picLocks noChangeAspect="1" noChangeArrowheads="1"/>
            </p:cNvPicPr>
            <p:nvPr/>
          </p:nvPicPr>
          <p:blipFill>
            <a:blip r:embed="rId50">
              <a:extLst>
                <a:ext uri="{28A0092B-C50C-407E-A947-70E740481C1C}">
                  <a14:useLocalDpi xmlns:a14="http://schemas.microsoft.com/office/drawing/2010/main" val="0"/>
                </a:ext>
              </a:extLst>
            </a:blip>
            <a:srcRect/>
            <a:stretch>
              <a:fillRect/>
            </a:stretch>
          </p:blipFill>
          <p:spPr bwMode="auto">
            <a:xfrm>
              <a:off x="2321" y="2956"/>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49" name="Picture 351"/>
            <p:cNvPicPr>
              <a:picLocks noChangeAspect="1" noChangeArrowheads="1"/>
            </p:cNvPicPr>
            <p:nvPr/>
          </p:nvPicPr>
          <p:blipFill>
            <a:blip r:embed="rId51">
              <a:extLst>
                <a:ext uri="{28A0092B-C50C-407E-A947-70E740481C1C}">
                  <a14:useLocalDpi xmlns:a14="http://schemas.microsoft.com/office/drawing/2010/main" val="0"/>
                </a:ext>
              </a:extLst>
            </a:blip>
            <a:srcRect/>
            <a:stretch>
              <a:fillRect/>
            </a:stretch>
          </p:blipFill>
          <p:spPr bwMode="auto">
            <a:xfrm>
              <a:off x="2321" y="2956"/>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50" name="Picture 352"/>
            <p:cNvPicPr>
              <a:picLocks noChangeAspect="1" noChangeArrowheads="1"/>
            </p:cNvPicPr>
            <p:nvPr/>
          </p:nvPicPr>
          <p:blipFill>
            <a:blip r:embed="rId52">
              <a:extLst>
                <a:ext uri="{28A0092B-C50C-407E-A947-70E740481C1C}">
                  <a14:useLocalDpi xmlns:a14="http://schemas.microsoft.com/office/drawing/2010/main" val="0"/>
                </a:ext>
              </a:extLst>
            </a:blip>
            <a:srcRect/>
            <a:stretch>
              <a:fillRect/>
            </a:stretch>
          </p:blipFill>
          <p:spPr bwMode="auto">
            <a:xfrm>
              <a:off x="2321" y="2932"/>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51" name="Picture 353"/>
            <p:cNvPicPr>
              <a:picLocks noChangeAspect="1" noChangeArrowheads="1"/>
            </p:cNvPicPr>
            <p:nvPr/>
          </p:nvPicPr>
          <p:blipFill>
            <a:blip r:embed="rId53">
              <a:extLst>
                <a:ext uri="{28A0092B-C50C-407E-A947-70E740481C1C}">
                  <a14:useLocalDpi xmlns:a14="http://schemas.microsoft.com/office/drawing/2010/main" val="0"/>
                </a:ext>
              </a:extLst>
            </a:blip>
            <a:srcRect/>
            <a:stretch>
              <a:fillRect/>
            </a:stretch>
          </p:blipFill>
          <p:spPr bwMode="auto">
            <a:xfrm>
              <a:off x="2321" y="2932"/>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52" name="Picture 354"/>
            <p:cNvPicPr>
              <a:picLocks noChangeAspect="1" noChangeArrowheads="1"/>
            </p:cNvPicPr>
            <p:nvPr/>
          </p:nvPicPr>
          <p:blipFill>
            <a:blip r:embed="rId54">
              <a:extLst>
                <a:ext uri="{28A0092B-C50C-407E-A947-70E740481C1C}">
                  <a14:useLocalDpi xmlns:a14="http://schemas.microsoft.com/office/drawing/2010/main" val="0"/>
                </a:ext>
              </a:extLst>
            </a:blip>
            <a:srcRect/>
            <a:stretch>
              <a:fillRect/>
            </a:stretch>
          </p:blipFill>
          <p:spPr bwMode="auto">
            <a:xfrm>
              <a:off x="2593" y="2956"/>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53" name="Picture 355"/>
            <p:cNvPicPr>
              <a:picLocks noChangeAspect="1" noChangeArrowheads="1"/>
            </p:cNvPicPr>
            <p:nvPr/>
          </p:nvPicPr>
          <p:blipFill>
            <a:blip r:embed="rId55">
              <a:extLst>
                <a:ext uri="{28A0092B-C50C-407E-A947-70E740481C1C}">
                  <a14:useLocalDpi xmlns:a14="http://schemas.microsoft.com/office/drawing/2010/main" val="0"/>
                </a:ext>
              </a:extLst>
            </a:blip>
            <a:srcRect/>
            <a:stretch>
              <a:fillRect/>
            </a:stretch>
          </p:blipFill>
          <p:spPr bwMode="auto">
            <a:xfrm>
              <a:off x="2593" y="2956"/>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54" name="Picture 356"/>
            <p:cNvPicPr>
              <a:picLocks noChangeAspect="1" noChangeArrowheads="1"/>
            </p:cNvPicPr>
            <p:nvPr/>
          </p:nvPicPr>
          <p:blipFill>
            <a:blip r:embed="rId56">
              <a:extLst>
                <a:ext uri="{28A0092B-C50C-407E-A947-70E740481C1C}">
                  <a14:useLocalDpi xmlns:a14="http://schemas.microsoft.com/office/drawing/2010/main" val="0"/>
                </a:ext>
              </a:extLst>
            </a:blip>
            <a:srcRect/>
            <a:stretch>
              <a:fillRect/>
            </a:stretch>
          </p:blipFill>
          <p:spPr bwMode="auto">
            <a:xfrm>
              <a:off x="2593" y="2932"/>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55" name="Picture 357"/>
            <p:cNvPicPr>
              <a:picLocks noChangeAspect="1" noChangeArrowheads="1"/>
            </p:cNvPicPr>
            <p:nvPr/>
          </p:nvPicPr>
          <p:blipFill>
            <a:blip r:embed="rId57">
              <a:extLst>
                <a:ext uri="{28A0092B-C50C-407E-A947-70E740481C1C}">
                  <a14:useLocalDpi xmlns:a14="http://schemas.microsoft.com/office/drawing/2010/main" val="0"/>
                </a:ext>
              </a:extLst>
            </a:blip>
            <a:srcRect/>
            <a:stretch>
              <a:fillRect/>
            </a:stretch>
          </p:blipFill>
          <p:spPr bwMode="auto">
            <a:xfrm>
              <a:off x="2649" y="2956"/>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56" name="Picture 358"/>
            <p:cNvPicPr>
              <a:picLocks noChangeAspect="1" noChangeArrowheads="1"/>
            </p:cNvPicPr>
            <p:nvPr/>
          </p:nvPicPr>
          <p:blipFill>
            <a:blip r:embed="rId58">
              <a:extLst>
                <a:ext uri="{28A0092B-C50C-407E-A947-70E740481C1C}">
                  <a14:useLocalDpi xmlns:a14="http://schemas.microsoft.com/office/drawing/2010/main" val="0"/>
                </a:ext>
              </a:extLst>
            </a:blip>
            <a:srcRect/>
            <a:stretch>
              <a:fillRect/>
            </a:stretch>
          </p:blipFill>
          <p:spPr bwMode="auto">
            <a:xfrm>
              <a:off x="2649" y="2956"/>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57" name="Picture 359"/>
            <p:cNvPicPr>
              <a:picLocks noChangeAspect="1" noChangeArrowheads="1"/>
            </p:cNvPicPr>
            <p:nvPr/>
          </p:nvPicPr>
          <p:blipFill>
            <a:blip r:embed="rId59">
              <a:extLst>
                <a:ext uri="{28A0092B-C50C-407E-A947-70E740481C1C}">
                  <a14:useLocalDpi xmlns:a14="http://schemas.microsoft.com/office/drawing/2010/main" val="0"/>
                </a:ext>
              </a:extLst>
            </a:blip>
            <a:srcRect/>
            <a:stretch>
              <a:fillRect/>
            </a:stretch>
          </p:blipFill>
          <p:spPr bwMode="auto">
            <a:xfrm>
              <a:off x="2649" y="2932"/>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358" name="Rectangle 360"/>
            <p:cNvSpPr>
              <a:spLocks noChangeArrowheads="1"/>
            </p:cNvSpPr>
            <p:nvPr/>
          </p:nvSpPr>
          <p:spPr bwMode="auto">
            <a:xfrm>
              <a:off x="2265" y="3004"/>
              <a:ext cx="632" cy="8"/>
            </a:xfrm>
            <a:prstGeom prst="rect">
              <a:avLst/>
            </a:prstGeom>
            <a:solidFill>
              <a:srgbClr val="E6E6E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59" name="Rectangle 361"/>
            <p:cNvSpPr>
              <a:spLocks noChangeArrowheads="1"/>
            </p:cNvSpPr>
            <p:nvPr/>
          </p:nvSpPr>
          <p:spPr bwMode="auto">
            <a:xfrm>
              <a:off x="2265" y="3012"/>
              <a:ext cx="632" cy="8"/>
            </a:xfrm>
            <a:prstGeom prst="rect">
              <a:avLst/>
            </a:prstGeom>
            <a:solidFill>
              <a:srgbClr val="CACACA"/>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60" name="Rectangle 362"/>
            <p:cNvSpPr>
              <a:spLocks noChangeArrowheads="1"/>
            </p:cNvSpPr>
            <p:nvPr/>
          </p:nvSpPr>
          <p:spPr bwMode="auto">
            <a:xfrm>
              <a:off x="2265" y="3020"/>
              <a:ext cx="632" cy="8"/>
            </a:xfrm>
            <a:prstGeom prst="rect">
              <a:avLst/>
            </a:prstGeom>
            <a:solidFill>
              <a:srgbClr val="ADADAD"/>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61" name="Rectangle 363"/>
            <p:cNvSpPr>
              <a:spLocks noChangeArrowheads="1"/>
            </p:cNvSpPr>
            <p:nvPr/>
          </p:nvSpPr>
          <p:spPr bwMode="auto">
            <a:xfrm>
              <a:off x="2265" y="3028"/>
              <a:ext cx="632" cy="8"/>
            </a:xfrm>
            <a:prstGeom prst="rect">
              <a:avLst/>
            </a:prstGeom>
            <a:solidFill>
              <a:srgbClr val="A4A4A4"/>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62" name="Rectangle 364"/>
            <p:cNvSpPr>
              <a:spLocks noChangeArrowheads="1"/>
            </p:cNvSpPr>
            <p:nvPr/>
          </p:nvSpPr>
          <p:spPr bwMode="auto">
            <a:xfrm>
              <a:off x="2265" y="3036"/>
              <a:ext cx="632" cy="8"/>
            </a:xfrm>
            <a:prstGeom prst="rect">
              <a:avLst/>
            </a:prstGeom>
            <a:solidFill>
              <a:srgbClr val="BFBFB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63" name="Rectangle 365"/>
            <p:cNvSpPr>
              <a:spLocks noChangeArrowheads="1"/>
            </p:cNvSpPr>
            <p:nvPr/>
          </p:nvSpPr>
          <p:spPr bwMode="auto">
            <a:xfrm>
              <a:off x="2265" y="3044"/>
              <a:ext cx="632" cy="8"/>
            </a:xfrm>
            <a:prstGeom prst="rect">
              <a:avLst/>
            </a:prstGeom>
            <a:solidFill>
              <a:srgbClr val="DCDCDC"/>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64" name="Freeform 366"/>
            <p:cNvSpPr>
              <a:spLocks noEditPoints="1"/>
            </p:cNvSpPr>
            <p:nvPr/>
          </p:nvSpPr>
          <p:spPr bwMode="auto">
            <a:xfrm>
              <a:off x="2269" y="3004"/>
              <a:ext cx="628" cy="43"/>
            </a:xfrm>
            <a:custGeom>
              <a:avLst/>
              <a:gdLst>
                <a:gd name="T0" fmla="*/ 618 w 628"/>
                <a:gd name="T1" fmla="*/ 43 h 43"/>
                <a:gd name="T2" fmla="*/ 535 w 628"/>
                <a:gd name="T3" fmla="*/ 0 h 43"/>
                <a:gd name="T4" fmla="*/ 487 w 628"/>
                <a:gd name="T5" fmla="*/ 30 h 43"/>
                <a:gd name="T6" fmla="*/ 503 w 628"/>
                <a:gd name="T7" fmla="*/ 41 h 43"/>
                <a:gd name="T8" fmla="*/ 508 w 628"/>
                <a:gd name="T9" fmla="*/ 30 h 43"/>
                <a:gd name="T10" fmla="*/ 481 w 628"/>
                <a:gd name="T11" fmla="*/ 2 h 43"/>
                <a:gd name="T12" fmla="*/ 487 w 628"/>
                <a:gd name="T13" fmla="*/ 30 h 43"/>
                <a:gd name="T14" fmla="*/ 433 w 628"/>
                <a:gd name="T15" fmla="*/ 41 h 43"/>
                <a:gd name="T16" fmla="*/ 449 w 628"/>
                <a:gd name="T17" fmla="*/ 30 h 43"/>
                <a:gd name="T18" fmla="*/ 455 w 628"/>
                <a:gd name="T19" fmla="*/ 2 h 43"/>
                <a:gd name="T20" fmla="*/ 428 w 628"/>
                <a:gd name="T21" fmla="*/ 30 h 43"/>
                <a:gd name="T22" fmla="*/ 380 w 628"/>
                <a:gd name="T23" fmla="*/ 30 h 43"/>
                <a:gd name="T24" fmla="*/ 396 w 628"/>
                <a:gd name="T25" fmla="*/ 41 h 43"/>
                <a:gd name="T26" fmla="*/ 401 w 628"/>
                <a:gd name="T27" fmla="*/ 30 h 43"/>
                <a:gd name="T28" fmla="*/ 374 w 628"/>
                <a:gd name="T29" fmla="*/ 2 h 43"/>
                <a:gd name="T30" fmla="*/ 380 w 628"/>
                <a:gd name="T31" fmla="*/ 30 h 43"/>
                <a:gd name="T32" fmla="*/ 326 w 628"/>
                <a:gd name="T33" fmla="*/ 41 h 43"/>
                <a:gd name="T34" fmla="*/ 342 w 628"/>
                <a:gd name="T35" fmla="*/ 30 h 43"/>
                <a:gd name="T36" fmla="*/ 347 w 628"/>
                <a:gd name="T37" fmla="*/ 2 h 43"/>
                <a:gd name="T38" fmla="*/ 321 w 628"/>
                <a:gd name="T39" fmla="*/ 30 h 43"/>
                <a:gd name="T40" fmla="*/ 272 w 628"/>
                <a:gd name="T41" fmla="*/ 30 h 43"/>
                <a:gd name="T42" fmla="*/ 288 w 628"/>
                <a:gd name="T43" fmla="*/ 41 h 43"/>
                <a:gd name="T44" fmla="*/ 294 w 628"/>
                <a:gd name="T45" fmla="*/ 30 h 43"/>
                <a:gd name="T46" fmla="*/ 267 w 628"/>
                <a:gd name="T47" fmla="*/ 2 h 43"/>
                <a:gd name="T48" fmla="*/ 272 w 628"/>
                <a:gd name="T49" fmla="*/ 30 h 43"/>
                <a:gd name="T50" fmla="*/ 219 w 628"/>
                <a:gd name="T51" fmla="*/ 41 h 43"/>
                <a:gd name="T52" fmla="*/ 235 w 628"/>
                <a:gd name="T53" fmla="*/ 30 h 43"/>
                <a:gd name="T54" fmla="*/ 240 w 628"/>
                <a:gd name="T55" fmla="*/ 2 h 43"/>
                <a:gd name="T56" fmla="*/ 214 w 628"/>
                <a:gd name="T57" fmla="*/ 30 h 43"/>
                <a:gd name="T58" fmla="*/ 165 w 628"/>
                <a:gd name="T59" fmla="*/ 30 h 43"/>
                <a:gd name="T60" fmla="*/ 182 w 628"/>
                <a:gd name="T61" fmla="*/ 41 h 43"/>
                <a:gd name="T62" fmla="*/ 187 w 628"/>
                <a:gd name="T63" fmla="*/ 30 h 43"/>
                <a:gd name="T64" fmla="*/ 160 w 628"/>
                <a:gd name="T65" fmla="*/ 2 h 43"/>
                <a:gd name="T66" fmla="*/ 165 w 628"/>
                <a:gd name="T67" fmla="*/ 30 h 43"/>
                <a:gd name="T68" fmla="*/ 112 w 628"/>
                <a:gd name="T69" fmla="*/ 41 h 43"/>
                <a:gd name="T70" fmla="*/ 128 w 628"/>
                <a:gd name="T71" fmla="*/ 30 h 43"/>
                <a:gd name="T72" fmla="*/ 133 w 628"/>
                <a:gd name="T73" fmla="*/ 2 h 43"/>
                <a:gd name="T74" fmla="*/ 107 w 628"/>
                <a:gd name="T75" fmla="*/ 30 h 43"/>
                <a:gd name="T76" fmla="*/ 59 w 628"/>
                <a:gd name="T77" fmla="*/ 30 h 43"/>
                <a:gd name="T78" fmla="*/ 75 w 628"/>
                <a:gd name="T79" fmla="*/ 41 h 43"/>
                <a:gd name="T80" fmla="*/ 80 w 628"/>
                <a:gd name="T81" fmla="*/ 30 h 43"/>
                <a:gd name="T82" fmla="*/ 53 w 628"/>
                <a:gd name="T83" fmla="*/ 2 h 43"/>
                <a:gd name="T84" fmla="*/ 59 w 628"/>
                <a:gd name="T85" fmla="*/ 30 h 43"/>
                <a:gd name="T86" fmla="*/ 5 w 628"/>
                <a:gd name="T87" fmla="*/ 41 h 43"/>
                <a:gd name="T88" fmla="*/ 21 w 628"/>
                <a:gd name="T89" fmla="*/ 30 h 43"/>
                <a:gd name="T90" fmla="*/ 26 w 628"/>
                <a:gd name="T91" fmla="*/ 2 h 43"/>
                <a:gd name="T92" fmla="*/ 0 w 628"/>
                <a:gd name="T93" fmla="*/ 30 h 43"/>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628"/>
                <a:gd name="T142" fmla="*/ 0 h 43"/>
                <a:gd name="T143" fmla="*/ 628 w 628"/>
                <a:gd name="T144" fmla="*/ 43 h 43"/>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628" h="43">
                  <a:moveTo>
                    <a:pt x="545" y="43"/>
                  </a:moveTo>
                  <a:lnTo>
                    <a:pt x="618" y="43"/>
                  </a:lnTo>
                  <a:lnTo>
                    <a:pt x="628" y="0"/>
                  </a:lnTo>
                  <a:lnTo>
                    <a:pt x="535" y="0"/>
                  </a:lnTo>
                  <a:lnTo>
                    <a:pt x="545" y="43"/>
                  </a:lnTo>
                  <a:moveTo>
                    <a:pt x="487" y="30"/>
                  </a:moveTo>
                  <a:lnTo>
                    <a:pt x="487" y="41"/>
                  </a:lnTo>
                  <a:lnTo>
                    <a:pt x="503" y="41"/>
                  </a:lnTo>
                  <a:lnTo>
                    <a:pt x="503" y="30"/>
                  </a:lnTo>
                  <a:lnTo>
                    <a:pt x="508" y="30"/>
                  </a:lnTo>
                  <a:lnTo>
                    <a:pt x="508" y="2"/>
                  </a:lnTo>
                  <a:lnTo>
                    <a:pt x="481" y="2"/>
                  </a:lnTo>
                  <a:lnTo>
                    <a:pt x="481" y="30"/>
                  </a:lnTo>
                  <a:lnTo>
                    <a:pt x="487" y="30"/>
                  </a:lnTo>
                  <a:moveTo>
                    <a:pt x="433" y="30"/>
                  </a:moveTo>
                  <a:lnTo>
                    <a:pt x="433" y="41"/>
                  </a:lnTo>
                  <a:lnTo>
                    <a:pt x="449" y="41"/>
                  </a:lnTo>
                  <a:lnTo>
                    <a:pt x="449" y="30"/>
                  </a:lnTo>
                  <a:lnTo>
                    <a:pt x="455" y="30"/>
                  </a:lnTo>
                  <a:lnTo>
                    <a:pt x="455" y="2"/>
                  </a:lnTo>
                  <a:lnTo>
                    <a:pt x="428" y="2"/>
                  </a:lnTo>
                  <a:lnTo>
                    <a:pt x="428" y="30"/>
                  </a:lnTo>
                  <a:lnTo>
                    <a:pt x="433" y="30"/>
                  </a:lnTo>
                  <a:moveTo>
                    <a:pt x="380" y="30"/>
                  </a:moveTo>
                  <a:lnTo>
                    <a:pt x="380" y="41"/>
                  </a:lnTo>
                  <a:lnTo>
                    <a:pt x="396" y="41"/>
                  </a:lnTo>
                  <a:lnTo>
                    <a:pt x="396" y="30"/>
                  </a:lnTo>
                  <a:lnTo>
                    <a:pt x="401" y="30"/>
                  </a:lnTo>
                  <a:lnTo>
                    <a:pt x="401" y="2"/>
                  </a:lnTo>
                  <a:lnTo>
                    <a:pt x="374" y="2"/>
                  </a:lnTo>
                  <a:lnTo>
                    <a:pt x="374" y="30"/>
                  </a:lnTo>
                  <a:lnTo>
                    <a:pt x="380" y="30"/>
                  </a:lnTo>
                  <a:moveTo>
                    <a:pt x="326" y="30"/>
                  </a:moveTo>
                  <a:lnTo>
                    <a:pt x="326" y="41"/>
                  </a:lnTo>
                  <a:lnTo>
                    <a:pt x="342" y="41"/>
                  </a:lnTo>
                  <a:lnTo>
                    <a:pt x="342" y="30"/>
                  </a:lnTo>
                  <a:lnTo>
                    <a:pt x="347" y="30"/>
                  </a:lnTo>
                  <a:lnTo>
                    <a:pt x="347" y="2"/>
                  </a:lnTo>
                  <a:lnTo>
                    <a:pt x="321" y="2"/>
                  </a:lnTo>
                  <a:lnTo>
                    <a:pt x="321" y="30"/>
                  </a:lnTo>
                  <a:lnTo>
                    <a:pt x="326" y="30"/>
                  </a:lnTo>
                  <a:moveTo>
                    <a:pt x="272" y="30"/>
                  </a:moveTo>
                  <a:lnTo>
                    <a:pt x="272" y="41"/>
                  </a:lnTo>
                  <a:lnTo>
                    <a:pt x="288" y="41"/>
                  </a:lnTo>
                  <a:lnTo>
                    <a:pt x="288" y="30"/>
                  </a:lnTo>
                  <a:lnTo>
                    <a:pt x="294" y="30"/>
                  </a:lnTo>
                  <a:lnTo>
                    <a:pt x="294" y="2"/>
                  </a:lnTo>
                  <a:lnTo>
                    <a:pt x="267" y="2"/>
                  </a:lnTo>
                  <a:lnTo>
                    <a:pt x="267" y="30"/>
                  </a:lnTo>
                  <a:lnTo>
                    <a:pt x="272" y="30"/>
                  </a:lnTo>
                  <a:moveTo>
                    <a:pt x="219" y="30"/>
                  </a:moveTo>
                  <a:lnTo>
                    <a:pt x="219" y="41"/>
                  </a:lnTo>
                  <a:lnTo>
                    <a:pt x="235" y="41"/>
                  </a:lnTo>
                  <a:lnTo>
                    <a:pt x="235" y="30"/>
                  </a:lnTo>
                  <a:lnTo>
                    <a:pt x="240" y="30"/>
                  </a:lnTo>
                  <a:lnTo>
                    <a:pt x="240" y="2"/>
                  </a:lnTo>
                  <a:lnTo>
                    <a:pt x="214" y="2"/>
                  </a:lnTo>
                  <a:lnTo>
                    <a:pt x="214" y="30"/>
                  </a:lnTo>
                  <a:lnTo>
                    <a:pt x="219" y="30"/>
                  </a:lnTo>
                  <a:moveTo>
                    <a:pt x="165" y="30"/>
                  </a:moveTo>
                  <a:lnTo>
                    <a:pt x="165" y="41"/>
                  </a:lnTo>
                  <a:lnTo>
                    <a:pt x="182" y="41"/>
                  </a:lnTo>
                  <a:lnTo>
                    <a:pt x="182" y="30"/>
                  </a:lnTo>
                  <a:lnTo>
                    <a:pt x="187" y="30"/>
                  </a:lnTo>
                  <a:lnTo>
                    <a:pt x="187" y="2"/>
                  </a:lnTo>
                  <a:lnTo>
                    <a:pt x="160" y="2"/>
                  </a:lnTo>
                  <a:lnTo>
                    <a:pt x="160" y="30"/>
                  </a:lnTo>
                  <a:lnTo>
                    <a:pt x="165" y="30"/>
                  </a:lnTo>
                  <a:moveTo>
                    <a:pt x="112" y="30"/>
                  </a:moveTo>
                  <a:lnTo>
                    <a:pt x="112" y="41"/>
                  </a:lnTo>
                  <a:lnTo>
                    <a:pt x="128" y="41"/>
                  </a:lnTo>
                  <a:lnTo>
                    <a:pt x="128" y="30"/>
                  </a:lnTo>
                  <a:lnTo>
                    <a:pt x="133" y="30"/>
                  </a:lnTo>
                  <a:lnTo>
                    <a:pt x="133" y="2"/>
                  </a:lnTo>
                  <a:lnTo>
                    <a:pt x="107" y="2"/>
                  </a:lnTo>
                  <a:lnTo>
                    <a:pt x="107" y="30"/>
                  </a:lnTo>
                  <a:lnTo>
                    <a:pt x="112" y="30"/>
                  </a:lnTo>
                  <a:moveTo>
                    <a:pt x="59" y="30"/>
                  </a:moveTo>
                  <a:lnTo>
                    <a:pt x="59" y="41"/>
                  </a:lnTo>
                  <a:lnTo>
                    <a:pt x="75" y="41"/>
                  </a:lnTo>
                  <a:lnTo>
                    <a:pt x="75" y="30"/>
                  </a:lnTo>
                  <a:lnTo>
                    <a:pt x="80" y="30"/>
                  </a:lnTo>
                  <a:lnTo>
                    <a:pt x="80" y="2"/>
                  </a:lnTo>
                  <a:lnTo>
                    <a:pt x="53" y="2"/>
                  </a:lnTo>
                  <a:lnTo>
                    <a:pt x="53" y="30"/>
                  </a:lnTo>
                  <a:lnTo>
                    <a:pt x="59" y="30"/>
                  </a:lnTo>
                  <a:moveTo>
                    <a:pt x="5" y="30"/>
                  </a:moveTo>
                  <a:lnTo>
                    <a:pt x="5" y="41"/>
                  </a:lnTo>
                  <a:lnTo>
                    <a:pt x="21" y="41"/>
                  </a:lnTo>
                  <a:lnTo>
                    <a:pt x="21" y="30"/>
                  </a:lnTo>
                  <a:lnTo>
                    <a:pt x="26" y="30"/>
                  </a:lnTo>
                  <a:lnTo>
                    <a:pt x="26" y="2"/>
                  </a:lnTo>
                  <a:lnTo>
                    <a:pt x="0" y="2"/>
                  </a:lnTo>
                  <a:lnTo>
                    <a:pt x="0" y="30"/>
                  </a:lnTo>
                  <a:lnTo>
                    <a:pt x="5" y="30"/>
                  </a:lnTo>
                </a:path>
              </a:pathLst>
            </a:cu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365" name="Freeform 367"/>
            <p:cNvSpPr>
              <a:spLocks/>
            </p:cNvSpPr>
            <p:nvPr/>
          </p:nvSpPr>
          <p:spPr bwMode="auto">
            <a:xfrm>
              <a:off x="2229" y="2818"/>
              <a:ext cx="782" cy="269"/>
            </a:xfrm>
            <a:custGeom>
              <a:avLst/>
              <a:gdLst>
                <a:gd name="T0" fmla="*/ 21 w 782"/>
                <a:gd name="T1" fmla="*/ 269 h 269"/>
                <a:gd name="T2" fmla="*/ 21 w 782"/>
                <a:gd name="T3" fmla="*/ 247 h 269"/>
                <a:gd name="T4" fmla="*/ 0 w 782"/>
                <a:gd name="T5" fmla="*/ 247 h 269"/>
                <a:gd name="T6" fmla="*/ 0 w 782"/>
                <a:gd name="T7" fmla="*/ 90 h 269"/>
                <a:gd name="T8" fmla="*/ 87 w 782"/>
                <a:gd name="T9" fmla="*/ 0 h 269"/>
                <a:gd name="T10" fmla="*/ 782 w 782"/>
                <a:gd name="T11" fmla="*/ 0 h 269"/>
                <a:gd name="T12" fmla="*/ 782 w 782"/>
                <a:gd name="T13" fmla="*/ 157 h 269"/>
                <a:gd name="T14" fmla="*/ 673 w 782"/>
                <a:gd name="T15" fmla="*/ 269 h 269"/>
                <a:gd name="T16" fmla="*/ 21 w 782"/>
                <a:gd name="T17" fmla="*/ 269 h 26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82"/>
                <a:gd name="T28" fmla="*/ 0 h 269"/>
                <a:gd name="T29" fmla="*/ 782 w 782"/>
                <a:gd name="T30" fmla="*/ 269 h 26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82" h="269">
                  <a:moveTo>
                    <a:pt x="21" y="269"/>
                  </a:moveTo>
                  <a:lnTo>
                    <a:pt x="21" y="247"/>
                  </a:lnTo>
                  <a:lnTo>
                    <a:pt x="0" y="247"/>
                  </a:lnTo>
                  <a:lnTo>
                    <a:pt x="0" y="90"/>
                  </a:lnTo>
                  <a:lnTo>
                    <a:pt x="87" y="0"/>
                  </a:lnTo>
                  <a:lnTo>
                    <a:pt x="782" y="0"/>
                  </a:lnTo>
                  <a:lnTo>
                    <a:pt x="782" y="157"/>
                  </a:lnTo>
                  <a:lnTo>
                    <a:pt x="673" y="269"/>
                  </a:lnTo>
                  <a:lnTo>
                    <a:pt x="21" y="269"/>
                  </a:lnTo>
                </a:path>
              </a:pathLst>
            </a:custGeom>
            <a:noFill/>
            <a:ln w="11113"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366" name="Rectangle 368"/>
            <p:cNvSpPr>
              <a:spLocks noChangeArrowheads="1"/>
            </p:cNvSpPr>
            <p:nvPr/>
          </p:nvSpPr>
          <p:spPr bwMode="auto">
            <a:xfrm>
              <a:off x="2497" y="3108"/>
              <a:ext cx="232" cy="17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800" b="0">
                  <a:latin typeface="Arial" charset="0"/>
                </a:rPr>
                <a:t>SW</a:t>
              </a:r>
              <a:endParaRPr lang="en-US" sz="1800"/>
            </a:p>
          </p:txBody>
        </p:sp>
      </p:grpSp>
      <p:sp>
        <p:nvSpPr>
          <p:cNvPr id="367" name="Rectangle 369"/>
          <p:cNvSpPr>
            <a:spLocks noChangeArrowheads="1"/>
          </p:cNvSpPr>
          <p:nvPr/>
        </p:nvSpPr>
        <p:spPr bwMode="auto">
          <a:xfrm>
            <a:off x="3503613" y="3187700"/>
            <a:ext cx="117475" cy="990600"/>
          </a:xfrm>
          <a:prstGeom prst="rect">
            <a:avLst/>
          </a:prstGeom>
          <a:solidFill>
            <a:srgbClr val="FFFF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68" name="Rectangle 370"/>
          <p:cNvSpPr>
            <a:spLocks noChangeArrowheads="1"/>
          </p:cNvSpPr>
          <p:nvPr/>
        </p:nvSpPr>
        <p:spPr bwMode="auto">
          <a:xfrm>
            <a:off x="3503613" y="3187700"/>
            <a:ext cx="117475" cy="990600"/>
          </a:xfrm>
          <a:prstGeom prst="rect">
            <a:avLst/>
          </a:prstGeom>
          <a:noFill/>
          <a:ln w="11113"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369" name="Rectangle 371"/>
          <p:cNvSpPr>
            <a:spLocks noChangeArrowheads="1"/>
          </p:cNvSpPr>
          <p:nvPr/>
        </p:nvSpPr>
        <p:spPr bwMode="auto">
          <a:xfrm>
            <a:off x="4232275" y="3162300"/>
            <a:ext cx="119063" cy="893763"/>
          </a:xfrm>
          <a:prstGeom prst="rect">
            <a:avLst/>
          </a:prstGeom>
          <a:solidFill>
            <a:srgbClr val="FFFF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70" name="Rectangle 372"/>
          <p:cNvSpPr>
            <a:spLocks noChangeArrowheads="1"/>
          </p:cNvSpPr>
          <p:nvPr/>
        </p:nvSpPr>
        <p:spPr bwMode="auto">
          <a:xfrm>
            <a:off x="4232275" y="3162300"/>
            <a:ext cx="119063" cy="893763"/>
          </a:xfrm>
          <a:prstGeom prst="rect">
            <a:avLst/>
          </a:prstGeom>
          <a:noFill/>
          <a:ln w="11113"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371" name="Rectangle 373"/>
          <p:cNvSpPr>
            <a:spLocks noChangeArrowheads="1"/>
          </p:cNvSpPr>
          <p:nvPr/>
        </p:nvSpPr>
        <p:spPr bwMode="auto">
          <a:xfrm>
            <a:off x="4962525" y="3154363"/>
            <a:ext cx="117475" cy="990600"/>
          </a:xfrm>
          <a:prstGeom prst="rect">
            <a:avLst/>
          </a:prstGeom>
          <a:solidFill>
            <a:srgbClr val="FFFF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72" name="Rectangle 374"/>
          <p:cNvSpPr>
            <a:spLocks noChangeArrowheads="1"/>
          </p:cNvSpPr>
          <p:nvPr/>
        </p:nvSpPr>
        <p:spPr bwMode="auto">
          <a:xfrm>
            <a:off x="4962525" y="3154363"/>
            <a:ext cx="117475" cy="990600"/>
          </a:xfrm>
          <a:prstGeom prst="rect">
            <a:avLst/>
          </a:prstGeom>
          <a:noFill/>
          <a:ln w="11113"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grpSp>
        <p:nvGrpSpPr>
          <p:cNvPr id="373" name="Group 375"/>
          <p:cNvGrpSpPr>
            <a:grpSpLocks/>
          </p:cNvGrpSpPr>
          <p:nvPr/>
        </p:nvGrpSpPr>
        <p:grpSpPr bwMode="auto">
          <a:xfrm>
            <a:off x="3463925" y="2511425"/>
            <a:ext cx="315913" cy="731838"/>
            <a:chOff x="2182" y="1582"/>
            <a:chExt cx="199" cy="461"/>
          </a:xfrm>
        </p:grpSpPr>
        <p:sp>
          <p:nvSpPr>
            <p:cNvPr id="374" name="Freeform 376"/>
            <p:cNvSpPr>
              <a:spLocks/>
            </p:cNvSpPr>
            <p:nvPr/>
          </p:nvSpPr>
          <p:spPr bwMode="auto">
            <a:xfrm>
              <a:off x="2324" y="1979"/>
              <a:ext cx="54" cy="64"/>
            </a:xfrm>
            <a:custGeom>
              <a:avLst/>
              <a:gdLst>
                <a:gd name="T0" fmla="*/ 0 w 54"/>
                <a:gd name="T1" fmla="*/ 64 h 64"/>
                <a:gd name="T2" fmla="*/ 54 w 54"/>
                <a:gd name="T3" fmla="*/ 9 h 64"/>
                <a:gd name="T4" fmla="*/ 54 w 54"/>
                <a:gd name="T5" fmla="*/ 0 h 64"/>
                <a:gd name="T6" fmla="*/ 0 w 54"/>
                <a:gd name="T7" fmla="*/ 54 h 64"/>
                <a:gd name="T8" fmla="*/ 0 w 54"/>
                <a:gd name="T9" fmla="*/ 64 h 64"/>
                <a:gd name="T10" fmla="*/ 0 60000 65536"/>
                <a:gd name="T11" fmla="*/ 0 60000 65536"/>
                <a:gd name="T12" fmla="*/ 0 60000 65536"/>
                <a:gd name="T13" fmla="*/ 0 60000 65536"/>
                <a:gd name="T14" fmla="*/ 0 60000 65536"/>
                <a:gd name="T15" fmla="*/ 0 w 54"/>
                <a:gd name="T16" fmla="*/ 0 h 64"/>
                <a:gd name="T17" fmla="*/ 54 w 54"/>
                <a:gd name="T18" fmla="*/ 64 h 64"/>
              </a:gdLst>
              <a:ahLst/>
              <a:cxnLst>
                <a:cxn ang="T10">
                  <a:pos x="T0" y="T1"/>
                </a:cxn>
                <a:cxn ang="T11">
                  <a:pos x="T2" y="T3"/>
                </a:cxn>
                <a:cxn ang="T12">
                  <a:pos x="T4" y="T5"/>
                </a:cxn>
                <a:cxn ang="T13">
                  <a:pos x="T6" y="T7"/>
                </a:cxn>
                <a:cxn ang="T14">
                  <a:pos x="T8" y="T9"/>
                </a:cxn>
              </a:cxnLst>
              <a:rect l="T15" t="T16" r="T17" b="T18"/>
              <a:pathLst>
                <a:path w="54" h="64">
                  <a:moveTo>
                    <a:pt x="0" y="64"/>
                  </a:moveTo>
                  <a:lnTo>
                    <a:pt x="54" y="9"/>
                  </a:lnTo>
                  <a:lnTo>
                    <a:pt x="54" y="0"/>
                  </a:lnTo>
                  <a:lnTo>
                    <a:pt x="0" y="54"/>
                  </a:lnTo>
                  <a:lnTo>
                    <a:pt x="0" y="64"/>
                  </a:lnTo>
                  <a:close/>
                </a:path>
              </a:pathLst>
            </a:custGeom>
            <a:solidFill>
              <a:srgbClr val="9A9A9A"/>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75" name="Freeform 377"/>
            <p:cNvSpPr>
              <a:spLocks/>
            </p:cNvSpPr>
            <p:nvPr/>
          </p:nvSpPr>
          <p:spPr bwMode="auto">
            <a:xfrm>
              <a:off x="2182" y="1582"/>
              <a:ext cx="199" cy="51"/>
            </a:xfrm>
            <a:custGeom>
              <a:avLst/>
              <a:gdLst>
                <a:gd name="T0" fmla="*/ 0 w 199"/>
                <a:gd name="T1" fmla="*/ 51 h 51"/>
                <a:gd name="T2" fmla="*/ 49 w 199"/>
                <a:gd name="T3" fmla="*/ 0 h 51"/>
                <a:gd name="T4" fmla="*/ 199 w 199"/>
                <a:gd name="T5" fmla="*/ 0 h 51"/>
                <a:gd name="T6" fmla="*/ 149 w 199"/>
                <a:gd name="T7" fmla="*/ 51 h 51"/>
                <a:gd name="T8" fmla="*/ 0 w 199"/>
                <a:gd name="T9" fmla="*/ 51 h 51"/>
                <a:gd name="T10" fmla="*/ 0 60000 65536"/>
                <a:gd name="T11" fmla="*/ 0 60000 65536"/>
                <a:gd name="T12" fmla="*/ 0 60000 65536"/>
                <a:gd name="T13" fmla="*/ 0 60000 65536"/>
                <a:gd name="T14" fmla="*/ 0 60000 65536"/>
                <a:gd name="T15" fmla="*/ 0 w 199"/>
                <a:gd name="T16" fmla="*/ 0 h 51"/>
                <a:gd name="T17" fmla="*/ 199 w 199"/>
                <a:gd name="T18" fmla="*/ 51 h 51"/>
              </a:gdLst>
              <a:ahLst/>
              <a:cxnLst>
                <a:cxn ang="T10">
                  <a:pos x="T0" y="T1"/>
                </a:cxn>
                <a:cxn ang="T11">
                  <a:pos x="T2" y="T3"/>
                </a:cxn>
                <a:cxn ang="T12">
                  <a:pos x="T4" y="T5"/>
                </a:cxn>
                <a:cxn ang="T13">
                  <a:pos x="T6" y="T7"/>
                </a:cxn>
                <a:cxn ang="T14">
                  <a:pos x="T8" y="T9"/>
                </a:cxn>
              </a:cxnLst>
              <a:rect l="T15" t="T16" r="T17" b="T18"/>
              <a:pathLst>
                <a:path w="199" h="51">
                  <a:moveTo>
                    <a:pt x="0" y="51"/>
                  </a:moveTo>
                  <a:lnTo>
                    <a:pt x="49" y="0"/>
                  </a:lnTo>
                  <a:lnTo>
                    <a:pt x="199" y="0"/>
                  </a:lnTo>
                  <a:lnTo>
                    <a:pt x="149" y="51"/>
                  </a:lnTo>
                  <a:lnTo>
                    <a:pt x="0" y="51"/>
                  </a:lnTo>
                  <a:close/>
                </a:path>
              </a:pathLst>
            </a:custGeom>
            <a:solidFill>
              <a:srgbClr val="E6E6E6"/>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76" name="Freeform 378"/>
            <p:cNvSpPr>
              <a:spLocks/>
            </p:cNvSpPr>
            <p:nvPr/>
          </p:nvSpPr>
          <p:spPr bwMode="auto">
            <a:xfrm>
              <a:off x="2182" y="1582"/>
              <a:ext cx="199" cy="51"/>
            </a:xfrm>
            <a:custGeom>
              <a:avLst/>
              <a:gdLst>
                <a:gd name="T0" fmla="*/ 0 w 199"/>
                <a:gd name="T1" fmla="*/ 51 h 51"/>
                <a:gd name="T2" fmla="*/ 49 w 199"/>
                <a:gd name="T3" fmla="*/ 0 h 51"/>
                <a:gd name="T4" fmla="*/ 199 w 199"/>
                <a:gd name="T5" fmla="*/ 0 h 51"/>
                <a:gd name="T6" fmla="*/ 149 w 199"/>
                <a:gd name="T7" fmla="*/ 51 h 51"/>
                <a:gd name="T8" fmla="*/ 0 w 199"/>
                <a:gd name="T9" fmla="*/ 51 h 51"/>
                <a:gd name="T10" fmla="*/ 0 60000 65536"/>
                <a:gd name="T11" fmla="*/ 0 60000 65536"/>
                <a:gd name="T12" fmla="*/ 0 60000 65536"/>
                <a:gd name="T13" fmla="*/ 0 60000 65536"/>
                <a:gd name="T14" fmla="*/ 0 60000 65536"/>
                <a:gd name="T15" fmla="*/ 0 w 199"/>
                <a:gd name="T16" fmla="*/ 0 h 51"/>
                <a:gd name="T17" fmla="*/ 199 w 199"/>
                <a:gd name="T18" fmla="*/ 51 h 51"/>
              </a:gdLst>
              <a:ahLst/>
              <a:cxnLst>
                <a:cxn ang="T10">
                  <a:pos x="T0" y="T1"/>
                </a:cxn>
                <a:cxn ang="T11">
                  <a:pos x="T2" y="T3"/>
                </a:cxn>
                <a:cxn ang="T12">
                  <a:pos x="T4" y="T5"/>
                </a:cxn>
                <a:cxn ang="T13">
                  <a:pos x="T6" y="T7"/>
                </a:cxn>
                <a:cxn ang="T14">
                  <a:pos x="T8" y="T9"/>
                </a:cxn>
              </a:cxnLst>
              <a:rect l="T15" t="T16" r="T17" b="T18"/>
              <a:pathLst>
                <a:path w="199" h="51">
                  <a:moveTo>
                    <a:pt x="0" y="51"/>
                  </a:moveTo>
                  <a:lnTo>
                    <a:pt x="49" y="0"/>
                  </a:lnTo>
                  <a:lnTo>
                    <a:pt x="199" y="0"/>
                  </a:lnTo>
                  <a:lnTo>
                    <a:pt x="149" y="51"/>
                  </a:lnTo>
                  <a:lnTo>
                    <a:pt x="0" y="51"/>
                  </a:lnTo>
                  <a:close/>
                </a:path>
              </a:pathLst>
            </a:cu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377" name="Freeform 379"/>
            <p:cNvSpPr>
              <a:spLocks/>
            </p:cNvSpPr>
            <p:nvPr/>
          </p:nvSpPr>
          <p:spPr bwMode="auto">
            <a:xfrm>
              <a:off x="2331" y="1582"/>
              <a:ext cx="50" cy="451"/>
            </a:xfrm>
            <a:custGeom>
              <a:avLst/>
              <a:gdLst>
                <a:gd name="T0" fmla="*/ 0 w 50"/>
                <a:gd name="T1" fmla="*/ 51 h 451"/>
                <a:gd name="T2" fmla="*/ 50 w 50"/>
                <a:gd name="T3" fmla="*/ 0 h 451"/>
                <a:gd name="T4" fmla="*/ 50 w 50"/>
                <a:gd name="T5" fmla="*/ 400 h 451"/>
                <a:gd name="T6" fmla="*/ 0 w 50"/>
                <a:gd name="T7" fmla="*/ 451 h 451"/>
                <a:gd name="T8" fmla="*/ 0 w 50"/>
                <a:gd name="T9" fmla="*/ 51 h 451"/>
                <a:gd name="T10" fmla="*/ 0 60000 65536"/>
                <a:gd name="T11" fmla="*/ 0 60000 65536"/>
                <a:gd name="T12" fmla="*/ 0 60000 65536"/>
                <a:gd name="T13" fmla="*/ 0 60000 65536"/>
                <a:gd name="T14" fmla="*/ 0 60000 65536"/>
                <a:gd name="T15" fmla="*/ 0 w 50"/>
                <a:gd name="T16" fmla="*/ 0 h 451"/>
                <a:gd name="T17" fmla="*/ 50 w 50"/>
                <a:gd name="T18" fmla="*/ 451 h 451"/>
              </a:gdLst>
              <a:ahLst/>
              <a:cxnLst>
                <a:cxn ang="T10">
                  <a:pos x="T0" y="T1"/>
                </a:cxn>
                <a:cxn ang="T11">
                  <a:pos x="T2" y="T3"/>
                </a:cxn>
                <a:cxn ang="T12">
                  <a:pos x="T4" y="T5"/>
                </a:cxn>
                <a:cxn ang="T13">
                  <a:pos x="T6" y="T7"/>
                </a:cxn>
                <a:cxn ang="T14">
                  <a:pos x="T8" y="T9"/>
                </a:cxn>
              </a:cxnLst>
              <a:rect l="T15" t="T16" r="T17" b="T18"/>
              <a:pathLst>
                <a:path w="50" h="451">
                  <a:moveTo>
                    <a:pt x="0" y="51"/>
                  </a:moveTo>
                  <a:lnTo>
                    <a:pt x="50" y="0"/>
                  </a:lnTo>
                  <a:lnTo>
                    <a:pt x="50" y="400"/>
                  </a:lnTo>
                  <a:lnTo>
                    <a:pt x="0" y="451"/>
                  </a:lnTo>
                  <a:lnTo>
                    <a:pt x="0" y="51"/>
                  </a:lnTo>
                  <a:close/>
                </a:path>
              </a:pathLst>
            </a:custGeom>
            <a:solidFill>
              <a:srgbClr val="9A9A9A"/>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78" name="Rectangle 380"/>
            <p:cNvSpPr>
              <a:spLocks noChangeArrowheads="1"/>
            </p:cNvSpPr>
            <p:nvPr/>
          </p:nvSpPr>
          <p:spPr bwMode="auto">
            <a:xfrm>
              <a:off x="2182" y="1633"/>
              <a:ext cx="149" cy="400"/>
            </a:xfrm>
            <a:prstGeom prst="rect">
              <a:avLst/>
            </a:prstGeom>
            <a:solidFill>
              <a:srgbClr val="C0C0C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79" name="Rectangle 381"/>
            <p:cNvSpPr>
              <a:spLocks noChangeArrowheads="1"/>
            </p:cNvSpPr>
            <p:nvPr/>
          </p:nvSpPr>
          <p:spPr bwMode="auto">
            <a:xfrm>
              <a:off x="2182" y="1633"/>
              <a:ext cx="149" cy="400"/>
            </a:xfrm>
            <a:prstGeom prst="rect">
              <a:avLst/>
            </a:pr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pic>
          <p:nvPicPr>
            <p:cNvPr id="380" name="Picture 382"/>
            <p:cNvPicPr>
              <a:picLocks noChangeAspect="1" noChangeArrowheads="1"/>
            </p:cNvPicPr>
            <p:nvPr/>
          </p:nvPicPr>
          <p:blipFill>
            <a:blip r:embed="rId60">
              <a:extLst>
                <a:ext uri="{28A0092B-C50C-407E-A947-70E740481C1C}">
                  <a14:useLocalDpi xmlns:a14="http://schemas.microsoft.com/office/drawing/2010/main" val="0"/>
                </a:ext>
              </a:extLst>
            </a:blip>
            <a:srcRect/>
            <a:stretch>
              <a:fillRect/>
            </a:stretch>
          </p:blipFill>
          <p:spPr bwMode="auto">
            <a:xfrm>
              <a:off x="2194" y="1651"/>
              <a:ext cx="112"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81" name="Picture 383"/>
            <p:cNvPicPr>
              <a:picLocks noChangeAspect="1" noChangeArrowheads="1"/>
            </p:cNvPicPr>
            <p:nvPr/>
          </p:nvPicPr>
          <p:blipFill>
            <a:blip r:embed="rId61">
              <a:extLst>
                <a:ext uri="{28A0092B-C50C-407E-A947-70E740481C1C}">
                  <a14:useLocalDpi xmlns:a14="http://schemas.microsoft.com/office/drawing/2010/main" val="0"/>
                </a:ext>
              </a:extLst>
            </a:blip>
            <a:srcRect/>
            <a:stretch>
              <a:fillRect/>
            </a:stretch>
          </p:blipFill>
          <p:spPr bwMode="auto">
            <a:xfrm>
              <a:off x="2194" y="1651"/>
              <a:ext cx="112"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382" name="Rectangle 384"/>
            <p:cNvSpPr>
              <a:spLocks noChangeArrowheads="1"/>
            </p:cNvSpPr>
            <p:nvPr/>
          </p:nvSpPr>
          <p:spPr bwMode="auto">
            <a:xfrm>
              <a:off x="2200" y="1652"/>
              <a:ext cx="112" cy="244"/>
            </a:xfrm>
            <a:prstGeom prst="rect">
              <a:avLst/>
            </a:pr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383" name="Freeform 385"/>
            <p:cNvSpPr>
              <a:spLocks noEditPoints="1"/>
            </p:cNvSpPr>
            <p:nvPr/>
          </p:nvSpPr>
          <p:spPr bwMode="auto">
            <a:xfrm>
              <a:off x="2214" y="1665"/>
              <a:ext cx="85" cy="209"/>
            </a:xfrm>
            <a:custGeom>
              <a:avLst/>
              <a:gdLst>
                <a:gd name="T0" fmla="*/ 0 w 85"/>
                <a:gd name="T1" fmla="*/ 188 h 209"/>
                <a:gd name="T2" fmla="*/ 85 w 85"/>
                <a:gd name="T3" fmla="*/ 188 h 209"/>
                <a:gd name="T4" fmla="*/ 85 w 85"/>
                <a:gd name="T5" fmla="*/ 209 h 209"/>
                <a:gd name="T6" fmla="*/ 0 w 85"/>
                <a:gd name="T7" fmla="*/ 209 h 209"/>
                <a:gd name="T8" fmla="*/ 0 w 85"/>
                <a:gd name="T9" fmla="*/ 188 h 209"/>
                <a:gd name="T10" fmla="*/ 0 w 85"/>
                <a:gd name="T11" fmla="*/ 156 h 209"/>
                <a:gd name="T12" fmla="*/ 85 w 85"/>
                <a:gd name="T13" fmla="*/ 156 h 209"/>
                <a:gd name="T14" fmla="*/ 85 w 85"/>
                <a:gd name="T15" fmla="*/ 177 h 209"/>
                <a:gd name="T16" fmla="*/ 0 w 85"/>
                <a:gd name="T17" fmla="*/ 177 h 209"/>
                <a:gd name="T18" fmla="*/ 0 w 85"/>
                <a:gd name="T19" fmla="*/ 156 h 209"/>
                <a:gd name="T20" fmla="*/ 0 w 85"/>
                <a:gd name="T21" fmla="*/ 124 h 209"/>
                <a:gd name="T22" fmla="*/ 85 w 85"/>
                <a:gd name="T23" fmla="*/ 124 h 209"/>
                <a:gd name="T24" fmla="*/ 85 w 85"/>
                <a:gd name="T25" fmla="*/ 145 h 209"/>
                <a:gd name="T26" fmla="*/ 0 w 85"/>
                <a:gd name="T27" fmla="*/ 145 h 209"/>
                <a:gd name="T28" fmla="*/ 0 w 85"/>
                <a:gd name="T29" fmla="*/ 124 h 209"/>
                <a:gd name="T30" fmla="*/ 0 w 85"/>
                <a:gd name="T31" fmla="*/ 92 h 209"/>
                <a:gd name="T32" fmla="*/ 85 w 85"/>
                <a:gd name="T33" fmla="*/ 92 h 209"/>
                <a:gd name="T34" fmla="*/ 85 w 85"/>
                <a:gd name="T35" fmla="*/ 113 h 209"/>
                <a:gd name="T36" fmla="*/ 0 w 85"/>
                <a:gd name="T37" fmla="*/ 113 h 209"/>
                <a:gd name="T38" fmla="*/ 0 w 85"/>
                <a:gd name="T39" fmla="*/ 92 h 209"/>
                <a:gd name="T40" fmla="*/ 0 w 85"/>
                <a:gd name="T41" fmla="*/ 47 h 209"/>
                <a:gd name="T42" fmla="*/ 85 w 85"/>
                <a:gd name="T43" fmla="*/ 47 h 209"/>
                <a:gd name="T44" fmla="*/ 85 w 85"/>
                <a:gd name="T45" fmla="*/ 82 h 209"/>
                <a:gd name="T46" fmla="*/ 0 w 85"/>
                <a:gd name="T47" fmla="*/ 82 h 209"/>
                <a:gd name="T48" fmla="*/ 0 w 85"/>
                <a:gd name="T49" fmla="*/ 47 h 209"/>
                <a:gd name="T50" fmla="*/ 0 w 85"/>
                <a:gd name="T51" fmla="*/ 0 h 209"/>
                <a:gd name="T52" fmla="*/ 85 w 85"/>
                <a:gd name="T53" fmla="*/ 0 h 209"/>
                <a:gd name="T54" fmla="*/ 85 w 85"/>
                <a:gd name="T55" fmla="*/ 35 h 209"/>
                <a:gd name="T56" fmla="*/ 0 w 85"/>
                <a:gd name="T57" fmla="*/ 35 h 209"/>
                <a:gd name="T58" fmla="*/ 0 w 85"/>
                <a:gd name="T59" fmla="*/ 0 h 209"/>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85"/>
                <a:gd name="T91" fmla="*/ 0 h 209"/>
                <a:gd name="T92" fmla="*/ 85 w 85"/>
                <a:gd name="T93" fmla="*/ 209 h 209"/>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85" h="209">
                  <a:moveTo>
                    <a:pt x="0" y="188"/>
                  </a:moveTo>
                  <a:lnTo>
                    <a:pt x="85" y="188"/>
                  </a:lnTo>
                  <a:lnTo>
                    <a:pt x="85" y="209"/>
                  </a:lnTo>
                  <a:lnTo>
                    <a:pt x="0" y="209"/>
                  </a:lnTo>
                  <a:lnTo>
                    <a:pt x="0" y="188"/>
                  </a:lnTo>
                  <a:close/>
                  <a:moveTo>
                    <a:pt x="0" y="156"/>
                  </a:moveTo>
                  <a:lnTo>
                    <a:pt x="85" y="156"/>
                  </a:lnTo>
                  <a:lnTo>
                    <a:pt x="85" y="177"/>
                  </a:lnTo>
                  <a:lnTo>
                    <a:pt x="0" y="177"/>
                  </a:lnTo>
                  <a:lnTo>
                    <a:pt x="0" y="156"/>
                  </a:lnTo>
                  <a:close/>
                  <a:moveTo>
                    <a:pt x="0" y="124"/>
                  </a:moveTo>
                  <a:lnTo>
                    <a:pt x="85" y="124"/>
                  </a:lnTo>
                  <a:lnTo>
                    <a:pt x="85" y="145"/>
                  </a:lnTo>
                  <a:lnTo>
                    <a:pt x="0" y="145"/>
                  </a:lnTo>
                  <a:lnTo>
                    <a:pt x="0" y="124"/>
                  </a:lnTo>
                  <a:close/>
                  <a:moveTo>
                    <a:pt x="0" y="92"/>
                  </a:moveTo>
                  <a:lnTo>
                    <a:pt x="85" y="92"/>
                  </a:lnTo>
                  <a:lnTo>
                    <a:pt x="85" y="113"/>
                  </a:lnTo>
                  <a:lnTo>
                    <a:pt x="0" y="113"/>
                  </a:lnTo>
                  <a:lnTo>
                    <a:pt x="0" y="92"/>
                  </a:lnTo>
                  <a:close/>
                  <a:moveTo>
                    <a:pt x="0" y="47"/>
                  </a:moveTo>
                  <a:lnTo>
                    <a:pt x="85" y="47"/>
                  </a:lnTo>
                  <a:lnTo>
                    <a:pt x="85" y="82"/>
                  </a:lnTo>
                  <a:lnTo>
                    <a:pt x="0" y="82"/>
                  </a:lnTo>
                  <a:lnTo>
                    <a:pt x="0" y="47"/>
                  </a:lnTo>
                  <a:close/>
                  <a:moveTo>
                    <a:pt x="0" y="0"/>
                  </a:moveTo>
                  <a:lnTo>
                    <a:pt x="85" y="0"/>
                  </a:lnTo>
                  <a:lnTo>
                    <a:pt x="85" y="35"/>
                  </a:lnTo>
                  <a:lnTo>
                    <a:pt x="0" y="35"/>
                  </a:lnTo>
                  <a:lnTo>
                    <a:pt x="0" y="0"/>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84" name="Rectangle 386"/>
            <p:cNvSpPr>
              <a:spLocks noChangeArrowheads="1"/>
            </p:cNvSpPr>
            <p:nvPr/>
          </p:nvSpPr>
          <p:spPr bwMode="auto">
            <a:xfrm>
              <a:off x="2214" y="1853"/>
              <a:ext cx="85" cy="21"/>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385" name="Rectangle 387"/>
            <p:cNvSpPr>
              <a:spLocks noChangeArrowheads="1"/>
            </p:cNvSpPr>
            <p:nvPr/>
          </p:nvSpPr>
          <p:spPr bwMode="auto">
            <a:xfrm>
              <a:off x="2214" y="1821"/>
              <a:ext cx="85" cy="21"/>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386" name="Rectangle 388"/>
            <p:cNvSpPr>
              <a:spLocks noChangeArrowheads="1"/>
            </p:cNvSpPr>
            <p:nvPr/>
          </p:nvSpPr>
          <p:spPr bwMode="auto">
            <a:xfrm>
              <a:off x="2214" y="1789"/>
              <a:ext cx="85" cy="21"/>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387" name="Rectangle 389"/>
            <p:cNvSpPr>
              <a:spLocks noChangeArrowheads="1"/>
            </p:cNvSpPr>
            <p:nvPr/>
          </p:nvSpPr>
          <p:spPr bwMode="auto">
            <a:xfrm>
              <a:off x="2214" y="1757"/>
              <a:ext cx="85" cy="21"/>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388" name="Rectangle 390"/>
            <p:cNvSpPr>
              <a:spLocks noChangeArrowheads="1"/>
            </p:cNvSpPr>
            <p:nvPr/>
          </p:nvSpPr>
          <p:spPr bwMode="auto">
            <a:xfrm>
              <a:off x="2214" y="1712"/>
              <a:ext cx="85" cy="35"/>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389" name="Rectangle 391"/>
            <p:cNvSpPr>
              <a:spLocks noChangeArrowheads="1"/>
            </p:cNvSpPr>
            <p:nvPr/>
          </p:nvSpPr>
          <p:spPr bwMode="auto">
            <a:xfrm>
              <a:off x="2214" y="1665"/>
              <a:ext cx="85" cy="35"/>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390" name="Rectangle 392"/>
            <p:cNvSpPr>
              <a:spLocks noChangeArrowheads="1"/>
            </p:cNvSpPr>
            <p:nvPr/>
          </p:nvSpPr>
          <p:spPr bwMode="auto">
            <a:xfrm>
              <a:off x="2188" y="2033"/>
              <a:ext cx="136" cy="10"/>
            </a:xfrm>
            <a:prstGeom prst="rect">
              <a:avLst/>
            </a:prstGeom>
            <a:solidFill>
              <a:srgbClr val="9A9A9A"/>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pic>
          <p:nvPicPr>
            <p:cNvPr id="391" name="Picture 393"/>
            <p:cNvPicPr>
              <a:picLocks noChangeAspect="1" noChangeArrowheads="1"/>
            </p:cNvPicPr>
            <p:nvPr/>
          </p:nvPicPr>
          <p:blipFill>
            <a:blip r:embed="rId62">
              <a:extLst>
                <a:ext uri="{28A0092B-C50C-407E-A947-70E740481C1C}">
                  <a14:useLocalDpi xmlns:a14="http://schemas.microsoft.com/office/drawing/2010/main" val="0"/>
                </a:ext>
              </a:extLst>
            </a:blip>
            <a:srcRect/>
            <a:stretch>
              <a:fillRect/>
            </a:stretch>
          </p:blipFill>
          <p:spPr bwMode="auto">
            <a:xfrm>
              <a:off x="2242" y="1915"/>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92" name="Picture 394"/>
            <p:cNvPicPr>
              <a:picLocks noChangeAspect="1" noChangeArrowheads="1"/>
            </p:cNvPicPr>
            <p:nvPr/>
          </p:nvPicPr>
          <p:blipFill>
            <a:blip r:embed="rId63">
              <a:extLst>
                <a:ext uri="{28A0092B-C50C-407E-A947-70E740481C1C}">
                  <a14:useLocalDpi xmlns:a14="http://schemas.microsoft.com/office/drawing/2010/main" val="0"/>
                </a:ext>
              </a:extLst>
            </a:blip>
            <a:srcRect/>
            <a:stretch>
              <a:fillRect/>
            </a:stretch>
          </p:blipFill>
          <p:spPr bwMode="auto">
            <a:xfrm>
              <a:off x="2242" y="1915"/>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93" name="Picture 395"/>
            <p:cNvPicPr>
              <a:picLocks noChangeAspect="1" noChangeArrowheads="1"/>
            </p:cNvPicPr>
            <p:nvPr/>
          </p:nvPicPr>
          <p:blipFill>
            <a:blip r:embed="rId64">
              <a:extLst>
                <a:ext uri="{28A0092B-C50C-407E-A947-70E740481C1C}">
                  <a14:useLocalDpi xmlns:a14="http://schemas.microsoft.com/office/drawing/2010/main" val="0"/>
                </a:ext>
              </a:extLst>
            </a:blip>
            <a:srcRect/>
            <a:stretch>
              <a:fillRect/>
            </a:stretch>
          </p:blipFill>
          <p:spPr bwMode="auto">
            <a:xfrm>
              <a:off x="2250" y="1923"/>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94" name="Picture 396"/>
            <p:cNvPicPr>
              <a:picLocks noChangeAspect="1" noChangeArrowheads="1"/>
            </p:cNvPicPr>
            <p:nvPr/>
          </p:nvPicPr>
          <p:blipFill>
            <a:blip r:embed="rId65">
              <a:extLst>
                <a:ext uri="{28A0092B-C50C-407E-A947-70E740481C1C}">
                  <a14:useLocalDpi xmlns:a14="http://schemas.microsoft.com/office/drawing/2010/main" val="0"/>
                </a:ext>
              </a:extLst>
            </a:blip>
            <a:srcRect/>
            <a:stretch>
              <a:fillRect/>
            </a:stretch>
          </p:blipFill>
          <p:spPr bwMode="auto">
            <a:xfrm>
              <a:off x="2250" y="1947"/>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95" name="Picture 397"/>
            <p:cNvPicPr>
              <a:picLocks noChangeAspect="1" noChangeArrowheads="1"/>
            </p:cNvPicPr>
            <p:nvPr/>
          </p:nvPicPr>
          <p:blipFill>
            <a:blip r:embed="rId66">
              <a:extLst>
                <a:ext uri="{28A0092B-C50C-407E-A947-70E740481C1C}">
                  <a14:useLocalDpi xmlns:a14="http://schemas.microsoft.com/office/drawing/2010/main" val="0"/>
                </a:ext>
              </a:extLst>
            </a:blip>
            <a:srcRect/>
            <a:stretch>
              <a:fillRect/>
            </a:stretch>
          </p:blipFill>
          <p:spPr bwMode="auto">
            <a:xfrm>
              <a:off x="2250" y="1947"/>
              <a:ext cx="8" cy="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396" name="Rectangle 398"/>
            <p:cNvSpPr>
              <a:spLocks noChangeArrowheads="1"/>
            </p:cNvSpPr>
            <p:nvPr/>
          </p:nvSpPr>
          <p:spPr bwMode="auto">
            <a:xfrm>
              <a:off x="2234" y="1683"/>
              <a:ext cx="13" cy="3"/>
            </a:xfrm>
            <a:prstGeom prst="rect">
              <a:avLst/>
            </a:prstGeom>
            <a:solidFill>
              <a:srgbClr val="9A9A9A"/>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pic>
          <p:nvPicPr>
            <p:cNvPr id="397" name="Picture 399"/>
            <p:cNvPicPr>
              <a:picLocks noChangeAspect="1" noChangeArrowheads="1"/>
            </p:cNvPicPr>
            <p:nvPr/>
          </p:nvPicPr>
          <p:blipFill>
            <a:blip r:embed="rId67">
              <a:extLst>
                <a:ext uri="{28A0092B-C50C-407E-A947-70E740481C1C}">
                  <a14:useLocalDpi xmlns:a14="http://schemas.microsoft.com/office/drawing/2010/main" val="0"/>
                </a:ext>
              </a:extLst>
            </a:blip>
            <a:srcRect/>
            <a:stretch>
              <a:fillRect/>
            </a:stretch>
          </p:blipFill>
          <p:spPr bwMode="auto">
            <a:xfrm>
              <a:off x="2218" y="1667"/>
              <a:ext cx="72" cy="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398" name="Rectangle 400"/>
            <p:cNvSpPr>
              <a:spLocks noChangeArrowheads="1"/>
            </p:cNvSpPr>
            <p:nvPr/>
          </p:nvSpPr>
          <p:spPr bwMode="auto">
            <a:xfrm>
              <a:off x="2220" y="1672"/>
              <a:ext cx="72" cy="6"/>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pic>
          <p:nvPicPr>
            <p:cNvPr id="399" name="Picture 401"/>
            <p:cNvPicPr>
              <a:picLocks noChangeAspect="1" noChangeArrowheads="1"/>
            </p:cNvPicPr>
            <p:nvPr/>
          </p:nvPicPr>
          <p:blipFill>
            <a:blip r:embed="rId68">
              <a:extLst>
                <a:ext uri="{28A0092B-C50C-407E-A947-70E740481C1C}">
                  <a14:useLocalDpi xmlns:a14="http://schemas.microsoft.com/office/drawing/2010/main" val="0"/>
                </a:ext>
              </a:extLst>
            </a:blip>
            <a:srcRect/>
            <a:stretch>
              <a:fillRect/>
            </a:stretch>
          </p:blipFill>
          <p:spPr bwMode="auto">
            <a:xfrm>
              <a:off x="2218" y="1715"/>
              <a:ext cx="72"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00" name="Picture 402"/>
            <p:cNvPicPr>
              <a:picLocks noChangeAspect="1" noChangeArrowheads="1"/>
            </p:cNvPicPr>
            <p:nvPr/>
          </p:nvPicPr>
          <p:blipFill>
            <a:blip r:embed="rId69">
              <a:extLst>
                <a:ext uri="{28A0092B-C50C-407E-A947-70E740481C1C}">
                  <a14:useLocalDpi xmlns:a14="http://schemas.microsoft.com/office/drawing/2010/main" val="0"/>
                </a:ext>
              </a:extLst>
            </a:blip>
            <a:srcRect/>
            <a:stretch>
              <a:fillRect/>
            </a:stretch>
          </p:blipFill>
          <p:spPr bwMode="auto">
            <a:xfrm>
              <a:off x="2218" y="1715"/>
              <a:ext cx="72"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01" name="Freeform 403"/>
            <p:cNvSpPr>
              <a:spLocks/>
            </p:cNvSpPr>
            <p:nvPr/>
          </p:nvSpPr>
          <p:spPr bwMode="auto">
            <a:xfrm>
              <a:off x="2219" y="1720"/>
              <a:ext cx="72" cy="14"/>
            </a:xfrm>
            <a:custGeom>
              <a:avLst/>
              <a:gdLst>
                <a:gd name="T0" fmla="*/ 0 w 144"/>
                <a:gd name="T1" fmla="*/ 6 h 28"/>
                <a:gd name="T2" fmla="*/ 39 w 144"/>
                <a:gd name="T3" fmla="*/ 6 h 28"/>
                <a:gd name="T4" fmla="*/ 117 w 144"/>
                <a:gd name="T5" fmla="*/ 6 h 28"/>
                <a:gd name="T6" fmla="*/ 117 w 144"/>
                <a:gd name="T7" fmla="*/ 6 h 28"/>
                <a:gd name="T8" fmla="*/ 144 w 144"/>
                <a:gd name="T9" fmla="*/ 6 h 28"/>
                <a:gd name="T10" fmla="*/ 144 w 144"/>
                <a:gd name="T11" fmla="*/ 28 h 28"/>
                <a:gd name="T12" fmla="*/ 0 w 144"/>
                <a:gd name="T13" fmla="*/ 28 h 28"/>
                <a:gd name="T14" fmla="*/ 0 w 144"/>
                <a:gd name="T15" fmla="*/ 6 h 28"/>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28"/>
                <a:gd name="T26" fmla="*/ 144 w 144"/>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28">
                  <a:moveTo>
                    <a:pt x="0" y="6"/>
                  </a:moveTo>
                  <a:lnTo>
                    <a:pt x="39" y="6"/>
                  </a:lnTo>
                  <a:cubicBezTo>
                    <a:pt x="64" y="0"/>
                    <a:pt x="92" y="0"/>
                    <a:pt x="117" y="6"/>
                  </a:cubicBezTo>
                  <a:lnTo>
                    <a:pt x="144" y="6"/>
                  </a:lnTo>
                  <a:lnTo>
                    <a:pt x="144" y="28"/>
                  </a:lnTo>
                  <a:lnTo>
                    <a:pt x="0" y="28"/>
                  </a:lnTo>
                  <a:lnTo>
                    <a:pt x="0" y="6"/>
                  </a:lnTo>
                </a:path>
              </a:pathLst>
            </a:cu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402" name="Rectangle 404"/>
            <p:cNvSpPr>
              <a:spLocks noChangeArrowheads="1"/>
            </p:cNvSpPr>
            <p:nvPr/>
          </p:nvSpPr>
          <p:spPr bwMode="auto">
            <a:xfrm>
              <a:off x="2222" y="1727"/>
              <a:ext cx="65" cy="3"/>
            </a:xfrm>
            <a:prstGeom prst="rect">
              <a:avLst/>
            </a:prstGeom>
            <a:solidFill>
              <a:srgbClr val="DBDAC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03" name="Rectangle 405"/>
            <p:cNvSpPr>
              <a:spLocks noChangeArrowheads="1"/>
            </p:cNvSpPr>
            <p:nvPr/>
          </p:nvSpPr>
          <p:spPr bwMode="auto">
            <a:xfrm>
              <a:off x="2222" y="1727"/>
              <a:ext cx="65" cy="3"/>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pic>
          <p:nvPicPr>
            <p:cNvPr id="404" name="Picture 406"/>
            <p:cNvPicPr>
              <a:picLocks noChangeAspect="1" noChangeArrowheads="1"/>
            </p:cNvPicPr>
            <p:nvPr/>
          </p:nvPicPr>
          <p:blipFill>
            <a:blip r:embed="rId70">
              <a:extLst>
                <a:ext uri="{28A0092B-C50C-407E-A947-70E740481C1C}">
                  <a14:useLocalDpi xmlns:a14="http://schemas.microsoft.com/office/drawing/2010/main" val="0"/>
                </a:ext>
              </a:extLst>
            </a:blip>
            <a:srcRect/>
            <a:stretch>
              <a:fillRect/>
            </a:stretch>
          </p:blipFill>
          <p:spPr bwMode="auto">
            <a:xfrm>
              <a:off x="2218" y="1755"/>
              <a:ext cx="80"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05" name="Picture 407"/>
            <p:cNvPicPr>
              <a:picLocks noChangeAspect="1" noChangeArrowheads="1"/>
            </p:cNvPicPr>
            <p:nvPr/>
          </p:nvPicPr>
          <p:blipFill>
            <a:blip r:embed="rId71">
              <a:extLst>
                <a:ext uri="{28A0092B-C50C-407E-A947-70E740481C1C}">
                  <a14:useLocalDpi xmlns:a14="http://schemas.microsoft.com/office/drawing/2010/main" val="0"/>
                </a:ext>
              </a:extLst>
            </a:blip>
            <a:srcRect/>
            <a:stretch>
              <a:fillRect/>
            </a:stretch>
          </p:blipFill>
          <p:spPr bwMode="auto">
            <a:xfrm>
              <a:off x="2218" y="1755"/>
              <a:ext cx="80"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06" name="Freeform 408"/>
            <p:cNvSpPr>
              <a:spLocks/>
            </p:cNvSpPr>
            <p:nvPr/>
          </p:nvSpPr>
          <p:spPr bwMode="auto">
            <a:xfrm>
              <a:off x="2219" y="1760"/>
              <a:ext cx="74" cy="12"/>
            </a:xfrm>
            <a:custGeom>
              <a:avLst/>
              <a:gdLst>
                <a:gd name="T0" fmla="*/ 0 w 149"/>
                <a:gd name="T1" fmla="*/ 18 h 23"/>
                <a:gd name="T2" fmla="*/ 0 w 149"/>
                <a:gd name="T3" fmla="*/ 6 h 23"/>
                <a:gd name="T4" fmla="*/ 48 w 149"/>
                <a:gd name="T5" fmla="*/ 6 h 23"/>
                <a:gd name="T6" fmla="*/ 102 w 149"/>
                <a:gd name="T7" fmla="*/ 6 h 23"/>
                <a:gd name="T8" fmla="*/ 102 w 149"/>
                <a:gd name="T9" fmla="*/ 6 h 23"/>
                <a:gd name="T10" fmla="*/ 149 w 149"/>
                <a:gd name="T11" fmla="*/ 6 h 23"/>
                <a:gd name="T12" fmla="*/ 149 w 149"/>
                <a:gd name="T13" fmla="*/ 18 h 23"/>
                <a:gd name="T14" fmla="*/ 102 w 149"/>
                <a:gd name="T15" fmla="*/ 18 h 23"/>
                <a:gd name="T16" fmla="*/ 48 w 149"/>
                <a:gd name="T17" fmla="*/ 18 h 23"/>
                <a:gd name="T18" fmla="*/ 48 w 149"/>
                <a:gd name="T19" fmla="*/ 18 h 23"/>
                <a:gd name="T20" fmla="*/ 0 w 149"/>
                <a:gd name="T21" fmla="*/ 18 h 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9"/>
                <a:gd name="T34" fmla="*/ 0 h 23"/>
                <a:gd name="T35" fmla="*/ 149 w 149"/>
                <a:gd name="T36" fmla="*/ 23 h 2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9" h="23">
                  <a:moveTo>
                    <a:pt x="0" y="18"/>
                  </a:moveTo>
                  <a:lnTo>
                    <a:pt x="0" y="6"/>
                  </a:lnTo>
                  <a:lnTo>
                    <a:pt x="48" y="6"/>
                  </a:lnTo>
                  <a:cubicBezTo>
                    <a:pt x="65" y="0"/>
                    <a:pt x="85" y="0"/>
                    <a:pt x="102" y="6"/>
                  </a:cubicBezTo>
                  <a:lnTo>
                    <a:pt x="149" y="6"/>
                  </a:lnTo>
                  <a:lnTo>
                    <a:pt x="149" y="18"/>
                  </a:lnTo>
                  <a:lnTo>
                    <a:pt x="102" y="18"/>
                  </a:lnTo>
                  <a:cubicBezTo>
                    <a:pt x="85" y="23"/>
                    <a:pt x="65" y="23"/>
                    <a:pt x="48" y="18"/>
                  </a:cubicBezTo>
                  <a:lnTo>
                    <a:pt x="0" y="18"/>
                  </a:lnTo>
                </a:path>
              </a:pathLst>
            </a:cu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pic>
          <p:nvPicPr>
            <p:cNvPr id="407" name="Picture 409"/>
            <p:cNvPicPr>
              <a:picLocks noChangeAspect="1" noChangeArrowheads="1"/>
            </p:cNvPicPr>
            <p:nvPr/>
          </p:nvPicPr>
          <p:blipFill>
            <a:blip r:embed="rId72">
              <a:extLst>
                <a:ext uri="{28A0092B-C50C-407E-A947-70E740481C1C}">
                  <a14:useLocalDpi xmlns:a14="http://schemas.microsoft.com/office/drawing/2010/main" val="0"/>
                </a:ext>
              </a:extLst>
            </a:blip>
            <a:srcRect/>
            <a:stretch>
              <a:fillRect/>
            </a:stretch>
          </p:blipFill>
          <p:spPr bwMode="auto">
            <a:xfrm>
              <a:off x="2250" y="1675"/>
              <a:ext cx="40" cy="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08" name="Picture 410"/>
            <p:cNvPicPr>
              <a:picLocks noChangeAspect="1" noChangeArrowheads="1"/>
            </p:cNvPicPr>
            <p:nvPr/>
          </p:nvPicPr>
          <p:blipFill>
            <a:blip r:embed="rId73">
              <a:extLst>
                <a:ext uri="{28A0092B-C50C-407E-A947-70E740481C1C}">
                  <a14:useLocalDpi xmlns:a14="http://schemas.microsoft.com/office/drawing/2010/main" val="0"/>
                </a:ext>
              </a:extLst>
            </a:blip>
            <a:srcRect/>
            <a:stretch>
              <a:fillRect/>
            </a:stretch>
          </p:blipFill>
          <p:spPr bwMode="auto">
            <a:xfrm>
              <a:off x="2250" y="1675"/>
              <a:ext cx="40" cy="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09" name="Freeform 411"/>
            <p:cNvSpPr>
              <a:spLocks noEditPoints="1"/>
            </p:cNvSpPr>
            <p:nvPr/>
          </p:nvSpPr>
          <p:spPr bwMode="auto">
            <a:xfrm>
              <a:off x="2256" y="1682"/>
              <a:ext cx="37" cy="94"/>
            </a:xfrm>
            <a:custGeom>
              <a:avLst/>
              <a:gdLst>
                <a:gd name="T0" fmla="*/ 26 w 37"/>
                <a:gd name="T1" fmla="*/ 5 h 94"/>
                <a:gd name="T2" fmla="*/ 36 w 37"/>
                <a:gd name="T3" fmla="*/ 5 h 94"/>
                <a:gd name="T4" fmla="*/ 36 w 37"/>
                <a:gd name="T5" fmla="*/ 0 h 94"/>
                <a:gd name="T6" fmla="*/ 26 w 37"/>
                <a:gd name="T7" fmla="*/ 0 h 94"/>
                <a:gd name="T8" fmla="*/ 26 w 37"/>
                <a:gd name="T9" fmla="*/ 5 h 94"/>
                <a:gd name="T10" fmla="*/ 16 w 37"/>
                <a:gd name="T11" fmla="*/ 4 h 94"/>
                <a:gd name="T12" fmla="*/ 10 w 37"/>
                <a:gd name="T13" fmla="*/ 7 h 94"/>
                <a:gd name="T14" fmla="*/ 10 w 37"/>
                <a:gd name="T15" fmla="*/ 0 h 94"/>
                <a:gd name="T16" fmla="*/ 16 w 37"/>
                <a:gd name="T17" fmla="*/ 4 h 94"/>
                <a:gd name="T18" fmla="*/ 0 w 37"/>
                <a:gd name="T19" fmla="*/ 4 h 94"/>
                <a:gd name="T20" fmla="*/ 7 w 37"/>
                <a:gd name="T21" fmla="*/ 0 h 94"/>
                <a:gd name="T22" fmla="*/ 7 w 37"/>
                <a:gd name="T23" fmla="*/ 7 h 94"/>
                <a:gd name="T24" fmla="*/ 0 w 37"/>
                <a:gd name="T25" fmla="*/ 4 h 94"/>
                <a:gd name="T26" fmla="*/ 21 w 37"/>
                <a:gd name="T27" fmla="*/ 59 h 94"/>
                <a:gd name="T28" fmla="*/ 34 w 37"/>
                <a:gd name="T29" fmla="*/ 59 h 94"/>
                <a:gd name="T30" fmla="*/ 34 w 37"/>
                <a:gd name="T31" fmla="*/ 55 h 94"/>
                <a:gd name="T32" fmla="*/ 21 w 37"/>
                <a:gd name="T33" fmla="*/ 55 h 94"/>
                <a:gd name="T34" fmla="*/ 21 w 37"/>
                <a:gd name="T35" fmla="*/ 59 h 94"/>
                <a:gd name="T36" fmla="*/ 24 w 37"/>
                <a:gd name="T37" fmla="*/ 94 h 94"/>
                <a:gd name="T38" fmla="*/ 37 w 37"/>
                <a:gd name="T39" fmla="*/ 94 h 94"/>
                <a:gd name="T40" fmla="*/ 37 w 37"/>
                <a:gd name="T41" fmla="*/ 90 h 94"/>
                <a:gd name="T42" fmla="*/ 24 w 37"/>
                <a:gd name="T43" fmla="*/ 90 h 94"/>
                <a:gd name="T44" fmla="*/ 24 w 37"/>
                <a:gd name="T45" fmla="*/ 94 h 9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7"/>
                <a:gd name="T70" fmla="*/ 0 h 94"/>
                <a:gd name="T71" fmla="*/ 37 w 37"/>
                <a:gd name="T72" fmla="*/ 94 h 9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7" h="94">
                  <a:moveTo>
                    <a:pt x="26" y="5"/>
                  </a:moveTo>
                  <a:lnTo>
                    <a:pt x="36" y="5"/>
                  </a:lnTo>
                  <a:lnTo>
                    <a:pt x="36" y="0"/>
                  </a:lnTo>
                  <a:lnTo>
                    <a:pt x="26" y="0"/>
                  </a:lnTo>
                  <a:lnTo>
                    <a:pt x="26" y="5"/>
                  </a:lnTo>
                  <a:moveTo>
                    <a:pt x="16" y="4"/>
                  </a:moveTo>
                  <a:lnTo>
                    <a:pt x="10" y="7"/>
                  </a:lnTo>
                  <a:lnTo>
                    <a:pt x="10" y="0"/>
                  </a:lnTo>
                  <a:lnTo>
                    <a:pt x="16" y="4"/>
                  </a:lnTo>
                  <a:moveTo>
                    <a:pt x="0" y="4"/>
                  </a:moveTo>
                  <a:lnTo>
                    <a:pt x="7" y="0"/>
                  </a:lnTo>
                  <a:lnTo>
                    <a:pt x="7" y="7"/>
                  </a:lnTo>
                  <a:lnTo>
                    <a:pt x="0" y="4"/>
                  </a:lnTo>
                  <a:moveTo>
                    <a:pt x="21" y="59"/>
                  </a:moveTo>
                  <a:lnTo>
                    <a:pt x="34" y="59"/>
                  </a:lnTo>
                  <a:lnTo>
                    <a:pt x="34" y="55"/>
                  </a:lnTo>
                  <a:lnTo>
                    <a:pt x="21" y="55"/>
                  </a:lnTo>
                  <a:lnTo>
                    <a:pt x="21" y="59"/>
                  </a:lnTo>
                  <a:moveTo>
                    <a:pt x="24" y="94"/>
                  </a:moveTo>
                  <a:lnTo>
                    <a:pt x="37" y="94"/>
                  </a:lnTo>
                  <a:lnTo>
                    <a:pt x="37" y="90"/>
                  </a:lnTo>
                  <a:lnTo>
                    <a:pt x="24" y="90"/>
                  </a:lnTo>
                  <a:lnTo>
                    <a:pt x="24" y="94"/>
                  </a:lnTo>
                </a:path>
              </a:pathLst>
            </a:cu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410" name="Freeform 412"/>
            <p:cNvSpPr>
              <a:spLocks noEditPoints="1"/>
            </p:cNvSpPr>
            <p:nvPr/>
          </p:nvSpPr>
          <p:spPr bwMode="auto">
            <a:xfrm>
              <a:off x="2219" y="1683"/>
              <a:ext cx="8" cy="56"/>
            </a:xfrm>
            <a:custGeom>
              <a:avLst/>
              <a:gdLst>
                <a:gd name="T0" fmla="*/ 1 w 8"/>
                <a:gd name="T1" fmla="*/ 0 h 56"/>
                <a:gd name="T2" fmla="*/ 8 w 8"/>
                <a:gd name="T3" fmla="*/ 0 h 56"/>
                <a:gd name="T4" fmla="*/ 0 w 8"/>
                <a:gd name="T5" fmla="*/ 56 h 56"/>
                <a:gd name="T6" fmla="*/ 6 w 8"/>
                <a:gd name="T7" fmla="*/ 56 h 56"/>
                <a:gd name="T8" fmla="*/ 0 60000 65536"/>
                <a:gd name="T9" fmla="*/ 0 60000 65536"/>
                <a:gd name="T10" fmla="*/ 0 60000 65536"/>
                <a:gd name="T11" fmla="*/ 0 60000 65536"/>
                <a:gd name="T12" fmla="*/ 0 w 8"/>
                <a:gd name="T13" fmla="*/ 0 h 56"/>
                <a:gd name="T14" fmla="*/ 8 w 8"/>
                <a:gd name="T15" fmla="*/ 56 h 56"/>
              </a:gdLst>
              <a:ahLst/>
              <a:cxnLst>
                <a:cxn ang="T8">
                  <a:pos x="T0" y="T1"/>
                </a:cxn>
                <a:cxn ang="T9">
                  <a:pos x="T2" y="T3"/>
                </a:cxn>
                <a:cxn ang="T10">
                  <a:pos x="T4" y="T5"/>
                </a:cxn>
                <a:cxn ang="T11">
                  <a:pos x="T6" y="T7"/>
                </a:cxn>
              </a:cxnLst>
              <a:rect l="T12" t="T13" r="T14" b="T15"/>
              <a:pathLst>
                <a:path w="8" h="56">
                  <a:moveTo>
                    <a:pt x="1" y="0"/>
                  </a:moveTo>
                  <a:lnTo>
                    <a:pt x="8" y="0"/>
                  </a:lnTo>
                  <a:moveTo>
                    <a:pt x="0" y="56"/>
                  </a:moveTo>
                  <a:lnTo>
                    <a:pt x="6" y="56"/>
                  </a:lnTo>
                </a:path>
              </a:pathLst>
            </a:custGeom>
            <a:noFill/>
            <a:ln w="3175" cap="sq">
              <a:solidFill>
                <a:srgbClr val="00FF00"/>
              </a:solidFill>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411" name="Rectangle 413"/>
            <p:cNvSpPr>
              <a:spLocks noChangeArrowheads="1"/>
            </p:cNvSpPr>
            <p:nvPr/>
          </p:nvSpPr>
          <p:spPr bwMode="auto">
            <a:xfrm>
              <a:off x="2194" y="1907"/>
              <a:ext cx="8" cy="112"/>
            </a:xfrm>
            <a:prstGeom prst="rect">
              <a:avLst/>
            </a:prstGeom>
            <a:solidFill>
              <a:srgbClr val="B0B0B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12" name="Rectangle 414"/>
            <p:cNvSpPr>
              <a:spLocks noChangeArrowheads="1"/>
            </p:cNvSpPr>
            <p:nvPr/>
          </p:nvSpPr>
          <p:spPr bwMode="auto">
            <a:xfrm>
              <a:off x="2202" y="1907"/>
              <a:ext cx="8" cy="112"/>
            </a:xfrm>
            <a:prstGeom prst="rect">
              <a:avLst/>
            </a:prstGeom>
            <a:solidFill>
              <a:srgbClr val="6B6B6B"/>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13" name="Rectangle 415"/>
            <p:cNvSpPr>
              <a:spLocks noChangeArrowheads="1"/>
            </p:cNvSpPr>
            <p:nvPr/>
          </p:nvSpPr>
          <p:spPr bwMode="auto">
            <a:xfrm>
              <a:off x="2210" y="1907"/>
              <a:ext cx="8" cy="112"/>
            </a:xfrm>
            <a:prstGeom prst="rect">
              <a:avLst/>
            </a:prstGeom>
            <a:solidFill>
              <a:srgbClr val="7F7F7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14" name="Rectangle 416"/>
            <p:cNvSpPr>
              <a:spLocks noChangeArrowheads="1"/>
            </p:cNvSpPr>
            <p:nvPr/>
          </p:nvSpPr>
          <p:spPr bwMode="auto">
            <a:xfrm>
              <a:off x="2218" y="1907"/>
              <a:ext cx="8" cy="112"/>
            </a:xfrm>
            <a:prstGeom prst="rect">
              <a:avLst/>
            </a:prstGeom>
            <a:solidFill>
              <a:srgbClr val="939393"/>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15" name="Rectangle 417"/>
            <p:cNvSpPr>
              <a:spLocks noChangeArrowheads="1"/>
            </p:cNvSpPr>
            <p:nvPr/>
          </p:nvSpPr>
          <p:spPr bwMode="auto">
            <a:xfrm>
              <a:off x="2226" y="1907"/>
              <a:ext cx="8" cy="112"/>
            </a:xfrm>
            <a:prstGeom prst="rect">
              <a:avLst/>
            </a:prstGeom>
            <a:solidFill>
              <a:srgbClr val="A8A8A8"/>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16" name="Rectangle 418"/>
            <p:cNvSpPr>
              <a:spLocks noChangeArrowheads="1"/>
            </p:cNvSpPr>
            <p:nvPr/>
          </p:nvSpPr>
          <p:spPr bwMode="auto">
            <a:xfrm>
              <a:off x="2274" y="1907"/>
              <a:ext cx="8" cy="112"/>
            </a:xfrm>
            <a:prstGeom prst="rect">
              <a:avLst/>
            </a:prstGeom>
            <a:solidFill>
              <a:srgbClr val="6E6E6E"/>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17" name="Rectangle 419"/>
            <p:cNvSpPr>
              <a:spLocks noChangeArrowheads="1"/>
            </p:cNvSpPr>
            <p:nvPr/>
          </p:nvSpPr>
          <p:spPr bwMode="auto">
            <a:xfrm>
              <a:off x="2282" y="1907"/>
              <a:ext cx="8" cy="112"/>
            </a:xfrm>
            <a:prstGeom prst="rect">
              <a:avLst/>
            </a:prstGeom>
            <a:solidFill>
              <a:srgbClr val="B3B3B3"/>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18" name="Rectangle 420"/>
            <p:cNvSpPr>
              <a:spLocks noChangeArrowheads="1"/>
            </p:cNvSpPr>
            <p:nvPr/>
          </p:nvSpPr>
          <p:spPr bwMode="auto">
            <a:xfrm>
              <a:off x="2290" y="1907"/>
              <a:ext cx="8" cy="112"/>
            </a:xfrm>
            <a:prstGeom prst="rect">
              <a:avLst/>
            </a:prstGeom>
            <a:solidFill>
              <a:srgbClr val="9E9E9E"/>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19" name="Rectangle 421"/>
            <p:cNvSpPr>
              <a:spLocks noChangeArrowheads="1"/>
            </p:cNvSpPr>
            <p:nvPr/>
          </p:nvSpPr>
          <p:spPr bwMode="auto">
            <a:xfrm>
              <a:off x="2298" y="1907"/>
              <a:ext cx="8" cy="112"/>
            </a:xfrm>
            <a:prstGeom prst="rect">
              <a:avLst/>
            </a:prstGeom>
            <a:solidFill>
              <a:srgbClr val="8A8A8A"/>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20" name="Rectangle 422"/>
            <p:cNvSpPr>
              <a:spLocks noChangeArrowheads="1"/>
            </p:cNvSpPr>
            <p:nvPr/>
          </p:nvSpPr>
          <p:spPr bwMode="auto">
            <a:xfrm>
              <a:off x="2306" y="1907"/>
              <a:ext cx="8" cy="112"/>
            </a:xfrm>
            <a:prstGeom prst="rect">
              <a:avLst/>
            </a:prstGeom>
            <a:solidFill>
              <a:srgbClr val="757575"/>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21" name="Freeform 423"/>
            <p:cNvSpPr>
              <a:spLocks/>
            </p:cNvSpPr>
            <p:nvPr/>
          </p:nvSpPr>
          <p:spPr bwMode="auto">
            <a:xfrm>
              <a:off x="2182" y="1582"/>
              <a:ext cx="199" cy="461"/>
            </a:xfrm>
            <a:custGeom>
              <a:avLst/>
              <a:gdLst>
                <a:gd name="T0" fmla="*/ 6 w 199"/>
                <a:gd name="T1" fmla="*/ 461 h 461"/>
                <a:gd name="T2" fmla="*/ 6 w 199"/>
                <a:gd name="T3" fmla="*/ 451 h 461"/>
                <a:gd name="T4" fmla="*/ 0 w 199"/>
                <a:gd name="T5" fmla="*/ 451 h 461"/>
                <a:gd name="T6" fmla="*/ 0 w 199"/>
                <a:gd name="T7" fmla="*/ 51 h 461"/>
                <a:gd name="T8" fmla="*/ 49 w 199"/>
                <a:gd name="T9" fmla="*/ 0 h 461"/>
                <a:gd name="T10" fmla="*/ 199 w 199"/>
                <a:gd name="T11" fmla="*/ 0 h 461"/>
                <a:gd name="T12" fmla="*/ 199 w 199"/>
                <a:gd name="T13" fmla="*/ 400 h 461"/>
                <a:gd name="T14" fmla="*/ 196 w 199"/>
                <a:gd name="T15" fmla="*/ 403 h 461"/>
                <a:gd name="T16" fmla="*/ 196 w 199"/>
                <a:gd name="T17" fmla="*/ 406 h 461"/>
                <a:gd name="T18" fmla="*/ 142 w 199"/>
                <a:gd name="T19" fmla="*/ 461 h 461"/>
                <a:gd name="T20" fmla="*/ 6 w 199"/>
                <a:gd name="T21" fmla="*/ 461 h 46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9"/>
                <a:gd name="T34" fmla="*/ 0 h 461"/>
                <a:gd name="T35" fmla="*/ 199 w 199"/>
                <a:gd name="T36" fmla="*/ 461 h 46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9" h="461">
                  <a:moveTo>
                    <a:pt x="6" y="461"/>
                  </a:moveTo>
                  <a:lnTo>
                    <a:pt x="6" y="451"/>
                  </a:lnTo>
                  <a:lnTo>
                    <a:pt x="0" y="451"/>
                  </a:lnTo>
                  <a:lnTo>
                    <a:pt x="0" y="51"/>
                  </a:lnTo>
                  <a:lnTo>
                    <a:pt x="49" y="0"/>
                  </a:lnTo>
                  <a:lnTo>
                    <a:pt x="199" y="0"/>
                  </a:lnTo>
                  <a:lnTo>
                    <a:pt x="199" y="400"/>
                  </a:lnTo>
                  <a:lnTo>
                    <a:pt x="196" y="403"/>
                  </a:lnTo>
                  <a:lnTo>
                    <a:pt x="196" y="406"/>
                  </a:lnTo>
                  <a:lnTo>
                    <a:pt x="142" y="461"/>
                  </a:lnTo>
                  <a:lnTo>
                    <a:pt x="6" y="461"/>
                  </a:lnTo>
                </a:path>
              </a:pathLst>
            </a:custGeom>
            <a:noFill/>
            <a:ln w="11113"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grpSp>
      <p:sp>
        <p:nvSpPr>
          <p:cNvPr id="422" name="Rectangle 424"/>
          <p:cNvSpPr>
            <a:spLocks noChangeArrowheads="1"/>
          </p:cNvSpPr>
          <p:nvPr/>
        </p:nvSpPr>
        <p:spPr bwMode="auto">
          <a:xfrm>
            <a:off x="3400425" y="3268663"/>
            <a:ext cx="482600" cy="2746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800" b="0">
                <a:solidFill>
                  <a:schemeClr val="accent2"/>
                </a:solidFill>
                <a:latin typeface="Arial" charset="0"/>
              </a:rPr>
              <a:t>DNS</a:t>
            </a:r>
            <a:endParaRPr lang="en-US" sz="1800">
              <a:solidFill>
                <a:schemeClr val="accent2"/>
              </a:solidFill>
            </a:endParaRPr>
          </a:p>
        </p:txBody>
      </p:sp>
      <p:sp>
        <p:nvSpPr>
          <p:cNvPr id="423" name="Rectangle 425"/>
          <p:cNvSpPr>
            <a:spLocks noChangeArrowheads="1"/>
          </p:cNvSpPr>
          <p:nvPr/>
        </p:nvSpPr>
        <p:spPr bwMode="auto">
          <a:xfrm>
            <a:off x="3298825" y="3509963"/>
            <a:ext cx="673100" cy="2746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800" b="0">
                <a:solidFill>
                  <a:schemeClr val="accent2"/>
                </a:solidFill>
                <a:latin typeface="Arial" charset="0"/>
              </a:rPr>
              <a:t>Server</a:t>
            </a:r>
            <a:endParaRPr lang="en-US" sz="1800">
              <a:solidFill>
                <a:schemeClr val="accent2"/>
              </a:solidFill>
            </a:endParaRPr>
          </a:p>
        </p:txBody>
      </p:sp>
      <p:sp>
        <p:nvSpPr>
          <p:cNvPr id="424" name="Rectangle 426"/>
          <p:cNvSpPr>
            <a:spLocks noChangeArrowheads="1"/>
          </p:cNvSpPr>
          <p:nvPr/>
        </p:nvSpPr>
        <p:spPr bwMode="auto">
          <a:xfrm>
            <a:off x="4933950" y="2840038"/>
            <a:ext cx="134938" cy="33337"/>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425" name="Rectangle 427"/>
          <p:cNvSpPr>
            <a:spLocks noChangeArrowheads="1"/>
          </p:cNvSpPr>
          <p:nvPr/>
        </p:nvSpPr>
        <p:spPr bwMode="auto">
          <a:xfrm>
            <a:off x="4933950" y="2789238"/>
            <a:ext cx="134938" cy="33337"/>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426" name="Rectangle 428"/>
          <p:cNvSpPr>
            <a:spLocks noChangeArrowheads="1"/>
          </p:cNvSpPr>
          <p:nvPr/>
        </p:nvSpPr>
        <p:spPr bwMode="auto">
          <a:xfrm>
            <a:off x="4933950" y="2717800"/>
            <a:ext cx="134938" cy="55563"/>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427" name="Rectangle 429"/>
          <p:cNvSpPr>
            <a:spLocks noChangeArrowheads="1"/>
          </p:cNvSpPr>
          <p:nvPr/>
        </p:nvSpPr>
        <p:spPr bwMode="auto">
          <a:xfrm>
            <a:off x="4933950" y="2643188"/>
            <a:ext cx="134938" cy="55562"/>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428" name="Rectangle 430"/>
          <p:cNvSpPr>
            <a:spLocks noChangeArrowheads="1"/>
          </p:cNvSpPr>
          <p:nvPr/>
        </p:nvSpPr>
        <p:spPr bwMode="auto">
          <a:xfrm>
            <a:off x="4894263" y="3227388"/>
            <a:ext cx="215900" cy="15875"/>
          </a:xfrm>
          <a:prstGeom prst="rect">
            <a:avLst/>
          </a:prstGeom>
          <a:solidFill>
            <a:srgbClr val="9A9A9A"/>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pic>
        <p:nvPicPr>
          <p:cNvPr id="429" name="Picture 431"/>
          <p:cNvPicPr>
            <a:picLocks noChangeAspect="1" noChangeArrowheads="1"/>
          </p:cNvPicPr>
          <p:nvPr/>
        </p:nvPicPr>
        <p:blipFill>
          <a:blip r:embed="rId74">
            <a:extLst>
              <a:ext uri="{28A0092B-C50C-407E-A947-70E740481C1C}">
                <a14:useLocalDpi xmlns:a14="http://schemas.microsoft.com/office/drawing/2010/main" val="0"/>
              </a:ext>
            </a:extLst>
          </a:blip>
          <a:srcRect/>
          <a:stretch>
            <a:fillRect/>
          </a:stretch>
        </p:blipFill>
        <p:spPr bwMode="auto">
          <a:xfrm>
            <a:off x="4983163" y="3040063"/>
            <a:ext cx="38100" cy="381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30" name="Picture 432"/>
          <p:cNvPicPr>
            <a:picLocks noChangeAspect="1" noChangeArrowheads="1"/>
          </p:cNvPicPr>
          <p:nvPr/>
        </p:nvPicPr>
        <p:blipFill>
          <a:blip r:embed="rId75">
            <a:extLst>
              <a:ext uri="{28A0092B-C50C-407E-A947-70E740481C1C}">
                <a14:useLocalDpi xmlns:a14="http://schemas.microsoft.com/office/drawing/2010/main" val="0"/>
              </a:ext>
            </a:extLst>
          </a:blip>
          <a:srcRect/>
          <a:stretch>
            <a:fillRect/>
          </a:stretch>
        </p:blipFill>
        <p:spPr bwMode="auto">
          <a:xfrm>
            <a:off x="4983163" y="3052763"/>
            <a:ext cx="25400" cy="25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31" name="Picture 433"/>
          <p:cNvPicPr>
            <a:picLocks noChangeAspect="1" noChangeArrowheads="1"/>
          </p:cNvPicPr>
          <p:nvPr/>
        </p:nvPicPr>
        <p:blipFill>
          <a:blip r:embed="rId76">
            <a:extLst>
              <a:ext uri="{28A0092B-C50C-407E-A947-70E740481C1C}">
                <a14:useLocalDpi xmlns:a14="http://schemas.microsoft.com/office/drawing/2010/main" val="0"/>
              </a:ext>
            </a:extLst>
          </a:blip>
          <a:srcRect/>
          <a:stretch>
            <a:fillRect/>
          </a:stretch>
        </p:blipFill>
        <p:spPr bwMode="auto">
          <a:xfrm>
            <a:off x="4983163" y="3052763"/>
            <a:ext cx="25400" cy="25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32" name="Picture 434"/>
          <p:cNvPicPr>
            <a:picLocks noChangeAspect="1" noChangeArrowheads="1"/>
          </p:cNvPicPr>
          <p:nvPr/>
        </p:nvPicPr>
        <p:blipFill>
          <a:blip r:embed="rId77">
            <a:extLst>
              <a:ext uri="{28A0092B-C50C-407E-A947-70E740481C1C}">
                <a14:useLocalDpi xmlns:a14="http://schemas.microsoft.com/office/drawing/2010/main" val="0"/>
              </a:ext>
            </a:extLst>
          </a:blip>
          <a:srcRect/>
          <a:stretch>
            <a:fillRect/>
          </a:stretch>
        </p:blipFill>
        <p:spPr bwMode="auto">
          <a:xfrm>
            <a:off x="4983163" y="3090863"/>
            <a:ext cx="25400" cy="25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33" name="Picture 435"/>
          <p:cNvPicPr>
            <a:picLocks noChangeAspect="1" noChangeArrowheads="1"/>
          </p:cNvPicPr>
          <p:nvPr/>
        </p:nvPicPr>
        <p:blipFill>
          <a:blip r:embed="rId78">
            <a:extLst>
              <a:ext uri="{28A0092B-C50C-407E-A947-70E740481C1C}">
                <a14:useLocalDpi xmlns:a14="http://schemas.microsoft.com/office/drawing/2010/main" val="0"/>
              </a:ext>
            </a:extLst>
          </a:blip>
          <a:srcRect/>
          <a:stretch>
            <a:fillRect/>
          </a:stretch>
        </p:blipFill>
        <p:spPr bwMode="auto">
          <a:xfrm>
            <a:off x="4983163" y="3090863"/>
            <a:ext cx="25400" cy="25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34" name="Rectangle 436"/>
          <p:cNvSpPr>
            <a:spLocks noChangeArrowheads="1"/>
          </p:cNvSpPr>
          <p:nvPr/>
        </p:nvSpPr>
        <p:spPr bwMode="auto">
          <a:xfrm>
            <a:off x="4967288" y="2671763"/>
            <a:ext cx="20637" cy="4762"/>
          </a:xfrm>
          <a:prstGeom prst="rect">
            <a:avLst/>
          </a:prstGeom>
          <a:solidFill>
            <a:srgbClr val="9A9A9A"/>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pic>
        <p:nvPicPr>
          <p:cNvPr id="435" name="Picture 437"/>
          <p:cNvPicPr>
            <a:picLocks noChangeAspect="1" noChangeArrowheads="1"/>
          </p:cNvPicPr>
          <p:nvPr/>
        </p:nvPicPr>
        <p:blipFill>
          <a:blip r:embed="rId67">
            <a:extLst>
              <a:ext uri="{28A0092B-C50C-407E-A947-70E740481C1C}">
                <a14:useLocalDpi xmlns:a14="http://schemas.microsoft.com/office/drawing/2010/main" val="0"/>
              </a:ext>
            </a:extLst>
          </a:blip>
          <a:srcRect/>
          <a:stretch>
            <a:fillRect/>
          </a:stretch>
        </p:blipFill>
        <p:spPr bwMode="auto">
          <a:xfrm>
            <a:off x="4945063" y="2646363"/>
            <a:ext cx="114300" cy="127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36" name="Rectangle 438"/>
          <p:cNvSpPr>
            <a:spLocks noChangeArrowheads="1"/>
          </p:cNvSpPr>
          <p:nvPr/>
        </p:nvSpPr>
        <p:spPr bwMode="auto">
          <a:xfrm>
            <a:off x="4945063" y="2654300"/>
            <a:ext cx="114300" cy="9525"/>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pic>
        <p:nvPicPr>
          <p:cNvPr id="437" name="Picture 439"/>
          <p:cNvPicPr>
            <a:picLocks noChangeAspect="1" noChangeArrowheads="1"/>
          </p:cNvPicPr>
          <p:nvPr/>
        </p:nvPicPr>
        <p:blipFill>
          <a:blip r:embed="rId79">
            <a:extLst>
              <a:ext uri="{28A0092B-C50C-407E-A947-70E740481C1C}">
                <a14:useLocalDpi xmlns:a14="http://schemas.microsoft.com/office/drawing/2010/main" val="0"/>
              </a:ext>
            </a:extLst>
          </a:blip>
          <a:srcRect/>
          <a:stretch>
            <a:fillRect/>
          </a:stretch>
        </p:blipFill>
        <p:spPr bwMode="auto">
          <a:xfrm>
            <a:off x="4932363" y="2722563"/>
            <a:ext cx="114300" cy="25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38" name="Picture 440"/>
          <p:cNvPicPr>
            <a:picLocks noChangeAspect="1" noChangeArrowheads="1"/>
          </p:cNvPicPr>
          <p:nvPr/>
        </p:nvPicPr>
        <p:blipFill>
          <a:blip r:embed="rId80">
            <a:extLst>
              <a:ext uri="{28A0092B-C50C-407E-A947-70E740481C1C}">
                <a14:useLocalDpi xmlns:a14="http://schemas.microsoft.com/office/drawing/2010/main" val="0"/>
              </a:ext>
            </a:extLst>
          </a:blip>
          <a:srcRect/>
          <a:stretch>
            <a:fillRect/>
          </a:stretch>
        </p:blipFill>
        <p:spPr bwMode="auto">
          <a:xfrm>
            <a:off x="4932363" y="2722563"/>
            <a:ext cx="114300" cy="25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39" name="Freeform 441"/>
          <p:cNvSpPr>
            <a:spLocks/>
          </p:cNvSpPr>
          <p:nvPr/>
        </p:nvSpPr>
        <p:spPr bwMode="auto">
          <a:xfrm>
            <a:off x="4941888" y="2730500"/>
            <a:ext cx="114300" cy="22225"/>
          </a:xfrm>
          <a:custGeom>
            <a:avLst/>
            <a:gdLst>
              <a:gd name="T0" fmla="*/ 0 w 144"/>
              <a:gd name="T1" fmla="*/ 6 h 28"/>
              <a:gd name="T2" fmla="*/ 39 w 144"/>
              <a:gd name="T3" fmla="*/ 6 h 28"/>
              <a:gd name="T4" fmla="*/ 118 w 144"/>
              <a:gd name="T5" fmla="*/ 6 h 28"/>
              <a:gd name="T6" fmla="*/ 118 w 144"/>
              <a:gd name="T7" fmla="*/ 6 h 28"/>
              <a:gd name="T8" fmla="*/ 144 w 144"/>
              <a:gd name="T9" fmla="*/ 6 h 28"/>
              <a:gd name="T10" fmla="*/ 144 w 144"/>
              <a:gd name="T11" fmla="*/ 28 h 28"/>
              <a:gd name="T12" fmla="*/ 0 w 144"/>
              <a:gd name="T13" fmla="*/ 28 h 28"/>
              <a:gd name="T14" fmla="*/ 0 w 144"/>
              <a:gd name="T15" fmla="*/ 6 h 28"/>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28"/>
              <a:gd name="T26" fmla="*/ 144 w 144"/>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28">
                <a:moveTo>
                  <a:pt x="0" y="6"/>
                </a:moveTo>
                <a:lnTo>
                  <a:pt x="39" y="6"/>
                </a:lnTo>
                <a:cubicBezTo>
                  <a:pt x="65" y="0"/>
                  <a:pt x="92" y="0"/>
                  <a:pt x="118" y="6"/>
                </a:cubicBezTo>
                <a:lnTo>
                  <a:pt x="144" y="6"/>
                </a:lnTo>
                <a:lnTo>
                  <a:pt x="144" y="28"/>
                </a:lnTo>
                <a:lnTo>
                  <a:pt x="0" y="28"/>
                </a:lnTo>
                <a:lnTo>
                  <a:pt x="0" y="6"/>
                </a:lnTo>
              </a:path>
            </a:pathLst>
          </a:cu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440" name="Rectangle 442"/>
          <p:cNvSpPr>
            <a:spLocks noChangeArrowheads="1"/>
          </p:cNvSpPr>
          <p:nvPr/>
        </p:nvSpPr>
        <p:spPr bwMode="auto">
          <a:xfrm>
            <a:off x="4948238" y="2741613"/>
            <a:ext cx="103187" cy="4762"/>
          </a:xfrm>
          <a:prstGeom prst="rect">
            <a:avLst/>
          </a:prstGeom>
          <a:solidFill>
            <a:srgbClr val="DBDAC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41" name="Rectangle 443"/>
          <p:cNvSpPr>
            <a:spLocks noChangeArrowheads="1"/>
          </p:cNvSpPr>
          <p:nvPr/>
        </p:nvSpPr>
        <p:spPr bwMode="auto">
          <a:xfrm>
            <a:off x="4948238" y="2741613"/>
            <a:ext cx="103187" cy="4762"/>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pic>
        <p:nvPicPr>
          <p:cNvPr id="442" name="Picture 444"/>
          <p:cNvPicPr>
            <a:picLocks noChangeAspect="1" noChangeArrowheads="1"/>
          </p:cNvPicPr>
          <p:nvPr/>
        </p:nvPicPr>
        <p:blipFill>
          <a:blip r:embed="rId81">
            <a:extLst>
              <a:ext uri="{28A0092B-C50C-407E-A947-70E740481C1C}">
                <a14:useLocalDpi xmlns:a14="http://schemas.microsoft.com/office/drawing/2010/main" val="0"/>
              </a:ext>
            </a:extLst>
          </a:blip>
          <a:srcRect/>
          <a:stretch>
            <a:fillRect/>
          </a:stretch>
        </p:blipFill>
        <p:spPr bwMode="auto">
          <a:xfrm>
            <a:off x="4932363" y="2786063"/>
            <a:ext cx="127000" cy="25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43" name="Picture 445"/>
          <p:cNvPicPr>
            <a:picLocks noChangeAspect="1" noChangeArrowheads="1"/>
          </p:cNvPicPr>
          <p:nvPr/>
        </p:nvPicPr>
        <p:blipFill>
          <a:blip r:embed="rId82">
            <a:extLst>
              <a:ext uri="{28A0092B-C50C-407E-A947-70E740481C1C}">
                <a14:useLocalDpi xmlns:a14="http://schemas.microsoft.com/office/drawing/2010/main" val="0"/>
              </a:ext>
            </a:extLst>
          </a:blip>
          <a:srcRect/>
          <a:stretch>
            <a:fillRect/>
          </a:stretch>
        </p:blipFill>
        <p:spPr bwMode="auto">
          <a:xfrm>
            <a:off x="4932363" y="2786063"/>
            <a:ext cx="127000" cy="25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44" name="Freeform 446"/>
          <p:cNvSpPr>
            <a:spLocks/>
          </p:cNvSpPr>
          <p:nvPr/>
        </p:nvSpPr>
        <p:spPr bwMode="auto">
          <a:xfrm>
            <a:off x="4943475" y="2794000"/>
            <a:ext cx="117475" cy="19050"/>
          </a:xfrm>
          <a:custGeom>
            <a:avLst/>
            <a:gdLst>
              <a:gd name="T0" fmla="*/ 0 w 149"/>
              <a:gd name="T1" fmla="*/ 18 h 23"/>
              <a:gd name="T2" fmla="*/ 0 w 149"/>
              <a:gd name="T3" fmla="*/ 6 h 23"/>
              <a:gd name="T4" fmla="*/ 47 w 149"/>
              <a:gd name="T5" fmla="*/ 6 h 23"/>
              <a:gd name="T6" fmla="*/ 101 w 149"/>
              <a:gd name="T7" fmla="*/ 6 h 23"/>
              <a:gd name="T8" fmla="*/ 101 w 149"/>
              <a:gd name="T9" fmla="*/ 6 h 23"/>
              <a:gd name="T10" fmla="*/ 149 w 149"/>
              <a:gd name="T11" fmla="*/ 6 h 23"/>
              <a:gd name="T12" fmla="*/ 149 w 149"/>
              <a:gd name="T13" fmla="*/ 18 h 23"/>
              <a:gd name="T14" fmla="*/ 101 w 149"/>
              <a:gd name="T15" fmla="*/ 18 h 23"/>
              <a:gd name="T16" fmla="*/ 47 w 149"/>
              <a:gd name="T17" fmla="*/ 18 h 23"/>
              <a:gd name="T18" fmla="*/ 47 w 149"/>
              <a:gd name="T19" fmla="*/ 18 h 23"/>
              <a:gd name="T20" fmla="*/ 0 w 149"/>
              <a:gd name="T21" fmla="*/ 18 h 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9"/>
              <a:gd name="T34" fmla="*/ 0 h 23"/>
              <a:gd name="T35" fmla="*/ 149 w 149"/>
              <a:gd name="T36" fmla="*/ 23 h 2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9" h="23">
                <a:moveTo>
                  <a:pt x="0" y="18"/>
                </a:moveTo>
                <a:lnTo>
                  <a:pt x="0" y="6"/>
                </a:lnTo>
                <a:lnTo>
                  <a:pt x="47" y="6"/>
                </a:lnTo>
                <a:cubicBezTo>
                  <a:pt x="64" y="0"/>
                  <a:pt x="84" y="0"/>
                  <a:pt x="101" y="6"/>
                </a:cubicBezTo>
                <a:lnTo>
                  <a:pt x="149" y="6"/>
                </a:lnTo>
                <a:lnTo>
                  <a:pt x="149" y="18"/>
                </a:lnTo>
                <a:lnTo>
                  <a:pt x="101" y="18"/>
                </a:lnTo>
                <a:cubicBezTo>
                  <a:pt x="84" y="23"/>
                  <a:pt x="64" y="23"/>
                  <a:pt x="47" y="18"/>
                </a:cubicBezTo>
                <a:lnTo>
                  <a:pt x="0" y="18"/>
                </a:lnTo>
              </a:path>
            </a:pathLst>
          </a:cu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pic>
        <p:nvPicPr>
          <p:cNvPr id="445" name="Picture 447"/>
          <p:cNvPicPr>
            <a:picLocks noChangeAspect="1" noChangeArrowheads="1"/>
          </p:cNvPicPr>
          <p:nvPr/>
        </p:nvPicPr>
        <p:blipFill>
          <a:blip r:embed="rId83">
            <a:extLst>
              <a:ext uri="{28A0092B-C50C-407E-A947-70E740481C1C}">
                <a14:useLocalDpi xmlns:a14="http://schemas.microsoft.com/office/drawing/2010/main" val="0"/>
              </a:ext>
            </a:extLst>
          </a:blip>
          <a:srcRect/>
          <a:stretch>
            <a:fillRect/>
          </a:stretch>
        </p:blipFill>
        <p:spPr bwMode="auto">
          <a:xfrm>
            <a:off x="4995863" y="2659063"/>
            <a:ext cx="63500" cy="152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46" name="Picture 448"/>
          <p:cNvPicPr>
            <a:picLocks noChangeAspect="1" noChangeArrowheads="1"/>
          </p:cNvPicPr>
          <p:nvPr/>
        </p:nvPicPr>
        <p:blipFill>
          <a:blip r:embed="rId84">
            <a:extLst>
              <a:ext uri="{28A0092B-C50C-407E-A947-70E740481C1C}">
                <a14:useLocalDpi xmlns:a14="http://schemas.microsoft.com/office/drawing/2010/main" val="0"/>
              </a:ext>
            </a:extLst>
          </a:blip>
          <a:srcRect/>
          <a:stretch>
            <a:fillRect/>
          </a:stretch>
        </p:blipFill>
        <p:spPr bwMode="auto">
          <a:xfrm>
            <a:off x="4995863" y="2659063"/>
            <a:ext cx="63500" cy="152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47" name="Freeform 449"/>
          <p:cNvSpPr>
            <a:spLocks noEditPoints="1"/>
          </p:cNvSpPr>
          <p:nvPr/>
        </p:nvSpPr>
        <p:spPr bwMode="auto">
          <a:xfrm>
            <a:off x="5002213" y="2670175"/>
            <a:ext cx="58737" cy="149225"/>
          </a:xfrm>
          <a:custGeom>
            <a:avLst/>
            <a:gdLst>
              <a:gd name="T0" fmla="*/ 26 w 37"/>
              <a:gd name="T1" fmla="*/ 5 h 94"/>
              <a:gd name="T2" fmla="*/ 36 w 37"/>
              <a:gd name="T3" fmla="*/ 5 h 94"/>
              <a:gd name="T4" fmla="*/ 36 w 37"/>
              <a:gd name="T5" fmla="*/ 0 h 94"/>
              <a:gd name="T6" fmla="*/ 26 w 37"/>
              <a:gd name="T7" fmla="*/ 0 h 94"/>
              <a:gd name="T8" fmla="*/ 26 w 37"/>
              <a:gd name="T9" fmla="*/ 5 h 94"/>
              <a:gd name="T10" fmla="*/ 16 w 37"/>
              <a:gd name="T11" fmla="*/ 4 h 94"/>
              <a:gd name="T12" fmla="*/ 10 w 37"/>
              <a:gd name="T13" fmla="*/ 7 h 94"/>
              <a:gd name="T14" fmla="*/ 10 w 37"/>
              <a:gd name="T15" fmla="*/ 0 h 94"/>
              <a:gd name="T16" fmla="*/ 16 w 37"/>
              <a:gd name="T17" fmla="*/ 4 h 94"/>
              <a:gd name="T18" fmla="*/ 0 w 37"/>
              <a:gd name="T19" fmla="*/ 4 h 94"/>
              <a:gd name="T20" fmla="*/ 6 w 37"/>
              <a:gd name="T21" fmla="*/ 0 h 94"/>
              <a:gd name="T22" fmla="*/ 6 w 37"/>
              <a:gd name="T23" fmla="*/ 7 h 94"/>
              <a:gd name="T24" fmla="*/ 0 w 37"/>
              <a:gd name="T25" fmla="*/ 4 h 94"/>
              <a:gd name="T26" fmla="*/ 21 w 37"/>
              <a:gd name="T27" fmla="*/ 59 h 94"/>
              <a:gd name="T28" fmla="*/ 34 w 37"/>
              <a:gd name="T29" fmla="*/ 59 h 94"/>
              <a:gd name="T30" fmla="*/ 34 w 37"/>
              <a:gd name="T31" fmla="*/ 55 h 94"/>
              <a:gd name="T32" fmla="*/ 21 w 37"/>
              <a:gd name="T33" fmla="*/ 55 h 94"/>
              <a:gd name="T34" fmla="*/ 21 w 37"/>
              <a:gd name="T35" fmla="*/ 59 h 94"/>
              <a:gd name="T36" fmla="*/ 24 w 37"/>
              <a:gd name="T37" fmla="*/ 94 h 94"/>
              <a:gd name="T38" fmla="*/ 37 w 37"/>
              <a:gd name="T39" fmla="*/ 94 h 94"/>
              <a:gd name="T40" fmla="*/ 37 w 37"/>
              <a:gd name="T41" fmla="*/ 90 h 94"/>
              <a:gd name="T42" fmla="*/ 24 w 37"/>
              <a:gd name="T43" fmla="*/ 90 h 94"/>
              <a:gd name="T44" fmla="*/ 24 w 37"/>
              <a:gd name="T45" fmla="*/ 94 h 9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7"/>
              <a:gd name="T70" fmla="*/ 0 h 94"/>
              <a:gd name="T71" fmla="*/ 37 w 37"/>
              <a:gd name="T72" fmla="*/ 94 h 9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7" h="94">
                <a:moveTo>
                  <a:pt x="26" y="5"/>
                </a:moveTo>
                <a:lnTo>
                  <a:pt x="36" y="5"/>
                </a:lnTo>
                <a:lnTo>
                  <a:pt x="36" y="0"/>
                </a:lnTo>
                <a:lnTo>
                  <a:pt x="26" y="0"/>
                </a:lnTo>
                <a:lnTo>
                  <a:pt x="26" y="5"/>
                </a:lnTo>
                <a:moveTo>
                  <a:pt x="16" y="4"/>
                </a:moveTo>
                <a:lnTo>
                  <a:pt x="10" y="7"/>
                </a:lnTo>
                <a:lnTo>
                  <a:pt x="10" y="0"/>
                </a:lnTo>
                <a:lnTo>
                  <a:pt x="16" y="4"/>
                </a:lnTo>
                <a:moveTo>
                  <a:pt x="0" y="4"/>
                </a:moveTo>
                <a:lnTo>
                  <a:pt x="6" y="0"/>
                </a:lnTo>
                <a:lnTo>
                  <a:pt x="6" y="7"/>
                </a:lnTo>
                <a:lnTo>
                  <a:pt x="0" y="4"/>
                </a:lnTo>
                <a:moveTo>
                  <a:pt x="21" y="59"/>
                </a:moveTo>
                <a:lnTo>
                  <a:pt x="34" y="59"/>
                </a:lnTo>
                <a:lnTo>
                  <a:pt x="34" y="55"/>
                </a:lnTo>
                <a:lnTo>
                  <a:pt x="21" y="55"/>
                </a:lnTo>
                <a:lnTo>
                  <a:pt x="21" y="59"/>
                </a:lnTo>
                <a:moveTo>
                  <a:pt x="24" y="94"/>
                </a:moveTo>
                <a:lnTo>
                  <a:pt x="37" y="94"/>
                </a:lnTo>
                <a:lnTo>
                  <a:pt x="37" y="90"/>
                </a:lnTo>
                <a:lnTo>
                  <a:pt x="24" y="90"/>
                </a:lnTo>
                <a:lnTo>
                  <a:pt x="24" y="94"/>
                </a:lnTo>
              </a:path>
            </a:pathLst>
          </a:cu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448" name="Freeform 450"/>
          <p:cNvSpPr>
            <a:spLocks noEditPoints="1"/>
          </p:cNvSpPr>
          <p:nvPr/>
        </p:nvSpPr>
        <p:spPr bwMode="auto">
          <a:xfrm>
            <a:off x="4943475" y="2671763"/>
            <a:ext cx="11113" cy="88900"/>
          </a:xfrm>
          <a:custGeom>
            <a:avLst/>
            <a:gdLst>
              <a:gd name="T0" fmla="*/ 1 w 7"/>
              <a:gd name="T1" fmla="*/ 0 h 56"/>
              <a:gd name="T2" fmla="*/ 7 w 7"/>
              <a:gd name="T3" fmla="*/ 0 h 56"/>
              <a:gd name="T4" fmla="*/ 0 w 7"/>
              <a:gd name="T5" fmla="*/ 56 h 56"/>
              <a:gd name="T6" fmla="*/ 6 w 7"/>
              <a:gd name="T7" fmla="*/ 56 h 56"/>
              <a:gd name="T8" fmla="*/ 0 60000 65536"/>
              <a:gd name="T9" fmla="*/ 0 60000 65536"/>
              <a:gd name="T10" fmla="*/ 0 60000 65536"/>
              <a:gd name="T11" fmla="*/ 0 60000 65536"/>
              <a:gd name="T12" fmla="*/ 0 w 7"/>
              <a:gd name="T13" fmla="*/ 0 h 56"/>
              <a:gd name="T14" fmla="*/ 7 w 7"/>
              <a:gd name="T15" fmla="*/ 56 h 56"/>
            </a:gdLst>
            <a:ahLst/>
            <a:cxnLst>
              <a:cxn ang="T8">
                <a:pos x="T0" y="T1"/>
              </a:cxn>
              <a:cxn ang="T9">
                <a:pos x="T2" y="T3"/>
              </a:cxn>
              <a:cxn ang="T10">
                <a:pos x="T4" y="T5"/>
              </a:cxn>
              <a:cxn ang="T11">
                <a:pos x="T6" y="T7"/>
              </a:cxn>
            </a:cxnLst>
            <a:rect l="T12" t="T13" r="T14" b="T15"/>
            <a:pathLst>
              <a:path w="7" h="56">
                <a:moveTo>
                  <a:pt x="1" y="0"/>
                </a:moveTo>
                <a:lnTo>
                  <a:pt x="7" y="0"/>
                </a:lnTo>
                <a:moveTo>
                  <a:pt x="0" y="56"/>
                </a:moveTo>
                <a:lnTo>
                  <a:pt x="6" y="56"/>
                </a:lnTo>
              </a:path>
            </a:pathLst>
          </a:custGeom>
          <a:noFill/>
          <a:ln w="3175" cap="sq">
            <a:solidFill>
              <a:srgbClr val="00FF00"/>
            </a:solidFill>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449" name="Rectangle 451"/>
          <p:cNvSpPr>
            <a:spLocks noChangeArrowheads="1"/>
          </p:cNvSpPr>
          <p:nvPr/>
        </p:nvSpPr>
        <p:spPr bwMode="auto">
          <a:xfrm>
            <a:off x="4906963" y="3027363"/>
            <a:ext cx="12700" cy="177800"/>
          </a:xfrm>
          <a:prstGeom prst="rect">
            <a:avLst/>
          </a:prstGeom>
          <a:solidFill>
            <a:srgbClr val="B6B6B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50" name="Rectangle 452"/>
          <p:cNvSpPr>
            <a:spLocks noChangeArrowheads="1"/>
          </p:cNvSpPr>
          <p:nvPr/>
        </p:nvSpPr>
        <p:spPr bwMode="auto">
          <a:xfrm>
            <a:off x="4919663" y="3027363"/>
            <a:ext cx="12700" cy="177800"/>
          </a:xfrm>
          <a:prstGeom prst="rect">
            <a:avLst/>
          </a:prstGeom>
          <a:solidFill>
            <a:srgbClr val="70707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51" name="Rectangle 453"/>
          <p:cNvSpPr>
            <a:spLocks noChangeArrowheads="1"/>
          </p:cNvSpPr>
          <p:nvPr/>
        </p:nvSpPr>
        <p:spPr bwMode="auto">
          <a:xfrm>
            <a:off x="4932363" y="3027363"/>
            <a:ext cx="12700" cy="177800"/>
          </a:xfrm>
          <a:prstGeom prst="rect">
            <a:avLst/>
          </a:prstGeom>
          <a:solidFill>
            <a:srgbClr val="858585"/>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52" name="Rectangle 454"/>
          <p:cNvSpPr>
            <a:spLocks noChangeArrowheads="1"/>
          </p:cNvSpPr>
          <p:nvPr/>
        </p:nvSpPr>
        <p:spPr bwMode="auto">
          <a:xfrm>
            <a:off x="4945063" y="3027363"/>
            <a:ext cx="12700" cy="177800"/>
          </a:xfrm>
          <a:prstGeom prst="rect">
            <a:avLst/>
          </a:prstGeom>
          <a:solidFill>
            <a:srgbClr val="9A9A9A"/>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53" name="Rectangle 455"/>
          <p:cNvSpPr>
            <a:spLocks noChangeArrowheads="1"/>
          </p:cNvSpPr>
          <p:nvPr/>
        </p:nvSpPr>
        <p:spPr bwMode="auto">
          <a:xfrm>
            <a:off x="4957763" y="3027363"/>
            <a:ext cx="12700" cy="177800"/>
          </a:xfrm>
          <a:prstGeom prst="rect">
            <a:avLst/>
          </a:prstGeom>
          <a:solidFill>
            <a:srgbClr val="AEAEAE"/>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54" name="Rectangle 456"/>
          <p:cNvSpPr>
            <a:spLocks noChangeArrowheads="1"/>
          </p:cNvSpPr>
          <p:nvPr/>
        </p:nvSpPr>
        <p:spPr bwMode="auto">
          <a:xfrm>
            <a:off x="5033963" y="3027363"/>
            <a:ext cx="12700" cy="177800"/>
          </a:xfrm>
          <a:prstGeom prst="rect">
            <a:avLst/>
          </a:prstGeom>
          <a:solidFill>
            <a:srgbClr val="686868"/>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55" name="Rectangle 457"/>
          <p:cNvSpPr>
            <a:spLocks noChangeArrowheads="1"/>
          </p:cNvSpPr>
          <p:nvPr/>
        </p:nvSpPr>
        <p:spPr bwMode="auto">
          <a:xfrm>
            <a:off x="5046663" y="3027363"/>
            <a:ext cx="12700" cy="177800"/>
          </a:xfrm>
          <a:prstGeom prst="rect">
            <a:avLst/>
          </a:prstGeom>
          <a:solidFill>
            <a:srgbClr val="ADADAD"/>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56" name="Rectangle 458"/>
          <p:cNvSpPr>
            <a:spLocks noChangeArrowheads="1"/>
          </p:cNvSpPr>
          <p:nvPr/>
        </p:nvSpPr>
        <p:spPr bwMode="auto">
          <a:xfrm>
            <a:off x="5059363" y="3027363"/>
            <a:ext cx="12700" cy="177800"/>
          </a:xfrm>
          <a:prstGeom prst="rect">
            <a:avLst/>
          </a:prstGeom>
          <a:solidFill>
            <a:srgbClr val="9999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57" name="Rectangle 459"/>
          <p:cNvSpPr>
            <a:spLocks noChangeArrowheads="1"/>
          </p:cNvSpPr>
          <p:nvPr/>
        </p:nvSpPr>
        <p:spPr bwMode="auto">
          <a:xfrm>
            <a:off x="5072063" y="3027363"/>
            <a:ext cx="12700" cy="177800"/>
          </a:xfrm>
          <a:prstGeom prst="rect">
            <a:avLst/>
          </a:prstGeom>
          <a:solidFill>
            <a:srgbClr val="848484"/>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58" name="Rectangle 460"/>
          <p:cNvSpPr>
            <a:spLocks noChangeArrowheads="1"/>
          </p:cNvSpPr>
          <p:nvPr/>
        </p:nvSpPr>
        <p:spPr bwMode="auto">
          <a:xfrm>
            <a:off x="5084763" y="3027363"/>
            <a:ext cx="12700" cy="177800"/>
          </a:xfrm>
          <a:prstGeom prst="rect">
            <a:avLst/>
          </a:prstGeom>
          <a:solidFill>
            <a:srgbClr val="6F6F6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59" name="Freeform 461"/>
          <p:cNvSpPr>
            <a:spLocks/>
          </p:cNvSpPr>
          <p:nvPr/>
        </p:nvSpPr>
        <p:spPr bwMode="auto">
          <a:xfrm>
            <a:off x="4883150" y="2511425"/>
            <a:ext cx="315913" cy="731838"/>
          </a:xfrm>
          <a:custGeom>
            <a:avLst/>
            <a:gdLst>
              <a:gd name="T0" fmla="*/ 7 w 199"/>
              <a:gd name="T1" fmla="*/ 461 h 461"/>
              <a:gd name="T2" fmla="*/ 7 w 199"/>
              <a:gd name="T3" fmla="*/ 451 h 461"/>
              <a:gd name="T4" fmla="*/ 0 w 199"/>
              <a:gd name="T5" fmla="*/ 451 h 461"/>
              <a:gd name="T6" fmla="*/ 0 w 199"/>
              <a:gd name="T7" fmla="*/ 51 h 461"/>
              <a:gd name="T8" fmla="*/ 50 w 199"/>
              <a:gd name="T9" fmla="*/ 0 h 461"/>
              <a:gd name="T10" fmla="*/ 199 w 199"/>
              <a:gd name="T11" fmla="*/ 0 h 461"/>
              <a:gd name="T12" fmla="*/ 199 w 199"/>
              <a:gd name="T13" fmla="*/ 400 h 461"/>
              <a:gd name="T14" fmla="*/ 196 w 199"/>
              <a:gd name="T15" fmla="*/ 403 h 461"/>
              <a:gd name="T16" fmla="*/ 196 w 199"/>
              <a:gd name="T17" fmla="*/ 406 h 461"/>
              <a:gd name="T18" fmla="*/ 143 w 199"/>
              <a:gd name="T19" fmla="*/ 461 h 461"/>
              <a:gd name="T20" fmla="*/ 7 w 199"/>
              <a:gd name="T21" fmla="*/ 461 h 46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9"/>
              <a:gd name="T34" fmla="*/ 0 h 461"/>
              <a:gd name="T35" fmla="*/ 199 w 199"/>
              <a:gd name="T36" fmla="*/ 461 h 46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9" h="461">
                <a:moveTo>
                  <a:pt x="7" y="461"/>
                </a:moveTo>
                <a:lnTo>
                  <a:pt x="7" y="451"/>
                </a:lnTo>
                <a:lnTo>
                  <a:pt x="0" y="451"/>
                </a:lnTo>
                <a:lnTo>
                  <a:pt x="0" y="51"/>
                </a:lnTo>
                <a:lnTo>
                  <a:pt x="50" y="0"/>
                </a:lnTo>
                <a:lnTo>
                  <a:pt x="199" y="0"/>
                </a:lnTo>
                <a:lnTo>
                  <a:pt x="199" y="400"/>
                </a:lnTo>
                <a:lnTo>
                  <a:pt x="196" y="403"/>
                </a:lnTo>
                <a:lnTo>
                  <a:pt x="196" y="406"/>
                </a:lnTo>
                <a:lnTo>
                  <a:pt x="143" y="461"/>
                </a:lnTo>
                <a:lnTo>
                  <a:pt x="7" y="461"/>
                </a:lnTo>
              </a:path>
            </a:pathLst>
          </a:custGeom>
          <a:noFill/>
          <a:ln w="11113"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460" name="Rectangle 462"/>
          <p:cNvSpPr>
            <a:spLocks noChangeArrowheads="1"/>
          </p:cNvSpPr>
          <p:nvPr/>
        </p:nvSpPr>
        <p:spPr bwMode="auto">
          <a:xfrm>
            <a:off x="4822825" y="3268663"/>
            <a:ext cx="469900" cy="2746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800" b="0">
                <a:solidFill>
                  <a:srgbClr val="FF0000"/>
                </a:solidFill>
                <a:latin typeface="Arial" charset="0"/>
              </a:rPr>
              <a:t>Web</a:t>
            </a:r>
            <a:endParaRPr lang="en-US" sz="1800"/>
          </a:p>
        </p:txBody>
      </p:sp>
      <p:sp>
        <p:nvSpPr>
          <p:cNvPr id="461" name="Rectangle 463"/>
          <p:cNvSpPr>
            <a:spLocks noChangeArrowheads="1"/>
          </p:cNvSpPr>
          <p:nvPr/>
        </p:nvSpPr>
        <p:spPr bwMode="auto">
          <a:xfrm>
            <a:off x="4721225" y="3509963"/>
            <a:ext cx="673100" cy="2746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800" b="0">
                <a:solidFill>
                  <a:srgbClr val="FF0000"/>
                </a:solidFill>
                <a:latin typeface="Arial" charset="0"/>
              </a:rPr>
              <a:t>Server</a:t>
            </a:r>
            <a:endParaRPr lang="en-US" sz="1800"/>
          </a:p>
        </p:txBody>
      </p:sp>
      <p:sp>
        <p:nvSpPr>
          <p:cNvPr id="462" name="Rectangle 464"/>
          <p:cNvSpPr>
            <a:spLocks noChangeArrowheads="1"/>
          </p:cNvSpPr>
          <p:nvPr/>
        </p:nvSpPr>
        <p:spPr bwMode="auto">
          <a:xfrm>
            <a:off x="7081838" y="2112963"/>
            <a:ext cx="858837" cy="304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2000" b="0">
                <a:solidFill>
                  <a:srgbClr val="008000"/>
                </a:solidFill>
                <a:latin typeface="Arial" charset="0"/>
              </a:rPr>
              <a:t>Intranet</a:t>
            </a:r>
            <a:endParaRPr lang="en-US">
              <a:solidFill>
                <a:srgbClr val="008000"/>
              </a:solidFill>
            </a:endParaRPr>
          </a:p>
        </p:txBody>
      </p:sp>
      <p:grpSp>
        <p:nvGrpSpPr>
          <p:cNvPr id="463" name="Group 465"/>
          <p:cNvGrpSpPr>
            <a:grpSpLocks/>
          </p:cNvGrpSpPr>
          <p:nvPr/>
        </p:nvGrpSpPr>
        <p:grpSpPr bwMode="auto">
          <a:xfrm>
            <a:off x="3503613" y="3975100"/>
            <a:ext cx="1597025" cy="852488"/>
            <a:chOff x="2207" y="2504"/>
            <a:chExt cx="1006" cy="537"/>
          </a:xfrm>
        </p:grpSpPr>
        <p:sp>
          <p:nvSpPr>
            <p:cNvPr id="464" name="Freeform 466"/>
            <p:cNvSpPr>
              <a:spLocks noEditPoints="1"/>
            </p:cNvSpPr>
            <p:nvPr/>
          </p:nvSpPr>
          <p:spPr bwMode="auto">
            <a:xfrm>
              <a:off x="2234" y="2504"/>
              <a:ext cx="979" cy="346"/>
            </a:xfrm>
            <a:custGeom>
              <a:avLst/>
              <a:gdLst>
                <a:gd name="T0" fmla="*/ 839 w 979"/>
                <a:gd name="T1" fmla="*/ 346 h 346"/>
                <a:gd name="T2" fmla="*/ 923 w 979"/>
                <a:gd name="T3" fmla="*/ 259 h 346"/>
                <a:gd name="T4" fmla="*/ 867 w 979"/>
                <a:gd name="T5" fmla="*/ 317 h 346"/>
                <a:gd name="T6" fmla="*/ 839 w 979"/>
                <a:gd name="T7" fmla="*/ 317 h 346"/>
                <a:gd name="T8" fmla="*/ 839 w 979"/>
                <a:gd name="T9" fmla="*/ 346 h 346"/>
                <a:gd name="T10" fmla="*/ 0 w 979"/>
                <a:gd name="T11" fmla="*/ 346 h 346"/>
                <a:gd name="T12" fmla="*/ 839 w 979"/>
                <a:gd name="T13" fmla="*/ 346 h 346"/>
                <a:gd name="T14" fmla="*/ 839 w 979"/>
                <a:gd name="T15" fmla="*/ 317 h 346"/>
                <a:gd name="T16" fmla="*/ 0 w 979"/>
                <a:gd name="T17" fmla="*/ 317 h 346"/>
                <a:gd name="T18" fmla="*/ 0 w 979"/>
                <a:gd name="T19" fmla="*/ 346 h 346"/>
                <a:gd name="T20" fmla="*/ 979 w 979"/>
                <a:gd name="T21" fmla="*/ 0 h 346"/>
                <a:gd name="T22" fmla="*/ 979 w 979"/>
                <a:gd name="T23" fmla="*/ 202 h 346"/>
                <a:gd name="T24" fmla="*/ 867 w 979"/>
                <a:gd name="T25" fmla="*/ 317 h 346"/>
                <a:gd name="T26" fmla="*/ 867 w 979"/>
                <a:gd name="T27" fmla="*/ 115 h 346"/>
                <a:gd name="T28" fmla="*/ 979 w 979"/>
                <a:gd name="T29" fmla="*/ 0 h 34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79"/>
                <a:gd name="T46" fmla="*/ 0 h 346"/>
                <a:gd name="T47" fmla="*/ 979 w 979"/>
                <a:gd name="T48" fmla="*/ 346 h 34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79" h="346">
                  <a:moveTo>
                    <a:pt x="839" y="346"/>
                  </a:moveTo>
                  <a:lnTo>
                    <a:pt x="923" y="259"/>
                  </a:lnTo>
                  <a:lnTo>
                    <a:pt x="867" y="317"/>
                  </a:lnTo>
                  <a:lnTo>
                    <a:pt x="839" y="317"/>
                  </a:lnTo>
                  <a:lnTo>
                    <a:pt x="839" y="346"/>
                  </a:lnTo>
                  <a:close/>
                  <a:moveTo>
                    <a:pt x="0" y="346"/>
                  </a:moveTo>
                  <a:lnTo>
                    <a:pt x="839" y="346"/>
                  </a:lnTo>
                  <a:lnTo>
                    <a:pt x="839" y="317"/>
                  </a:lnTo>
                  <a:lnTo>
                    <a:pt x="0" y="317"/>
                  </a:lnTo>
                  <a:lnTo>
                    <a:pt x="0" y="346"/>
                  </a:lnTo>
                  <a:close/>
                  <a:moveTo>
                    <a:pt x="979" y="0"/>
                  </a:moveTo>
                  <a:lnTo>
                    <a:pt x="979" y="202"/>
                  </a:lnTo>
                  <a:lnTo>
                    <a:pt x="867" y="317"/>
                  </a:lnTo>
                  <a:lnTo>
                    <a:pt x="867" y="115"/>
                  </a:lnTo>
                  <a:lnTo>
                    <a:pt x="979" y="0"/>
                  </a:lnTo>
                  <a:close/>
                </a:path>
              </a:pathLst>
            </a:custGeom>
            <a:solidFill>
              <a:srgbClr val="9A9A9A"/>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65" name="Freeform 467"/>
            <p:cNvSpPr>
              <a:spLocks/>
            </p:cNvSpPr>
            <p:nvPr/>
          </p:nvSpPr>
          <p:spPr bwMode="auto">
            <a:xfrm>
              <a:off x="2207" y="2504"/>
              <a:ext cx="1006" cy="115"/>
            </a:xfrm>
            <a:custGeom>
              <a:avLst/>
              <a:gdLst>
                <a:gd name="T0" fmla="*/ 0 w 1006"/>
                <a:gd name="T1" fmla="*/ 115 h 115"/>
                <a:gd name="T2" fmla="*/ 111 w 1006"/>
                <a:gd name="T3" fmla="*/ 0 h 115"/>
                <a:gd name="T4" fmla="*/ 1006 w 1006"/>
                <a:gd name="T5" fmla="*/ 0 h 115"/>
                <a:gd name="T6" fmla="*/ 894 w 1006"/>
                <a:gd name="T7" fmla="*/ 115 h 115"/>
                <a:gd name="T8" fmla="*/ 0 w 1006"/>
                <a:gd name="T9" fmla="*/ 115 h 115"/>
                <a:gd name="T10" fmla="*/ 0 60000 65536"/>
                <a:gd name="T11" fmla="*/ 0 60000 65536"/>
                <a:gd name="T12" fmla="*/ 0 60000 65536"/>
                <a:gd name="T13" fmla="*/ 0 60000 65536"/>
                <a:gd name="T14" fmla="*/ 0 60000 65536"/>
                <a:gd name="T15" fmla="*/ 0 w 1006"/>
                <a:gd name="T16" fmla="*/ 0 h 115"/>
                <a:gd name="T17" fmla="*/ 1006 w 1006"/>
                <a:gd name="T18" fmla="*/ 115 h 115"/>
              </a:gdLst>
              <a:ahLst/>
              <a:cxnLst>
                <a:cxn ang="T10">
                  <a:pos x="T0" y="T1"/>
                </a:cxn>
                <a:cxn ang="T11">
                  <a:pos x="T2" y="T3"/>
                </a:cxn>
                <a:cxn ang="T12">
                  <a:pos x="T4" y="T5"/>
                </a:cxn>
                <a:cxn ang="T13">
                  <a:pos x="T6" y="T7"/>
                </a:cxn>
                <a:cxn ang="T14">
                  <a:pos x="T8" y="T9"/>
                </a:cxn>
              </a:cxnLst>
              <a:rect l="T15" t="T16" r="T17" b="T18"/>
              <a:pathLst>
                <a:path w="1006" h="115">
                  <a:moveTo>
                    <a:pt x="0" y="115"/>
                  </a:moveTo>
                  <a:lnTo>
                    <a:pt x="111" y="0"/>
                  </a:lnTo>
                  <a:lnTo>
                    <a:pt x="1006" y="0"/>
                  </a:lnTo>
                  <a:lnTo>
                    <a:pt x="894" y="115"/>
                  </a:lnTo>
                  <a:lnTo>
                    <a:pt x="0" y="115"/>
                  </a:lnTo>
                  <a:close/>
                </a:path>
              </a:pathLst>
            </a:custGeom>
            <a:solidFill>
              <a:srgbClr val="E6E6E6"/>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66" name="Rectangle 468"/>
            <p:cNvSpPr>
              <a:spLocks noChangeArrowheads="1"/>
            </p:cNvSpPr>
            <p:nvPr/>
          </p:nvSpPr>
          <p:spPr bwMode="auto">
            <a:xfrm>
              <a:off x="2207" y="2619"/>
              <a:ext cx="894" cy="202"/>
            </a:xfrm>
            <a:prstGeom prst="rect">
              <a:avLst/>
            </a:prstGeom>
            <a:solidFill>
              <a:srgbClr val="C0C0C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67" name="Rectangle 469"/>
            <p:cNvSpPr>
              <a:spLocks noChangeArrowheads="1"/>
            </p:cNvSpPr>
            <p:nvPr/>
          </p:nvSpPr>
          <p:spPr bwMode="auto">
            <a:xfrm>
              <a:off x="2207" y="2619"/>
              <a:ext cx="894" cy="202"/>
            </a:xfrm>
            <a:prstGeom prst="rect">
              <a:avLst/>
            </a:pr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468" name="Rectangle 470"/>
            <p:cNvSpPr>
              <a:spLocks noChangeArrowheads="1"/>
            </p:cNvSpPr>
            <p:nvPr/>
          </p:nvSpPr>
          <p:spPr bwMode="auto">
            <a:xfrm>
              <a:off x="2220" y="2734"/>
              <a:ext cx="867" cy="72"/>
            </a:xfrm>
            <a:prstGeom prst="rect">
              <a:avLst/>
            </a:prstGeom>
            <a:solidFill>
              <a:srgbClr val="DBDAC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pic>
          <p:nvPicPr>
            <p:cNvPr id="469" name="Picture 471"/>
            <p:cNvPicPr>
              <a:picLocks noChangeAspect="1" noChangeArrowheads="1"/>
            </p:cNvPicPr>
            <p:nvPr/>
          </p:nvPicPr>
          <p:blipFill>
            <a:blip r:embed="rId85">
              <a:extLst>
                <a:ext uri="{28A0092B-C50C-407E-A947-70E740481C1C}">
                  <a14:useLocalDpi xmlns:a14="http://schemas.microsoft.com/office/drawing/2010/main" val="0"/>
                </a:ext>
              </a:extLst>
            </a:blip>
            <a:srcRect/>
            <a:stretch>
              <a:fillRect/>
            </a:stretch>
          </p:blipFill>
          <p:spPr bwMode="auto">
            <a:xfrm>
              <a:off x="2266"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70" name="Picture 472"/>
            <p:cNvPicPr>
              <a:picLocks noChangeAspect="1" noChangeArrowheads="1"/>
            </p:cNvPicPr>
            <p:nvPr/>
          </p:nvPicPr>
          <p:blipFill>
            <a:blip r:embed="rId86">
              <a:extLst>
                <a:ext uri="{28A0092B-C50C-407E-A947-70E740481C1C}">
                  <a14:useLocalDpi xmlns:a14="http://schemas.microsoft.com/office/drawing/2010/main" val="0"/>
                </a:ext>
              </a:extLst>
            </a:blip>
            <a:srcRect/>
            <a:stretch>
              <a:fillRect/>
            </a:stretch>
          </p:blipFill>
          <p:spPr bwMode="auto">
            <a:xfrm>
              <a:off x="2266"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71" name="Picture 473"/>
            <p:cNvPicPr>
              <a:picLocks noChangeAspect="1" noChangeArrowheads="1"/>
            </p:cNvPicPr>
            <p:nvPr/>
          </p:nvPicPr>
          <p:blipFill>
            <a:blip r:embed="rId87">
              <a:extLst>
                <a:ext uri="{28A0092B-C50C-407E-A947-70E740481C1C}">
                  <a14:useLocalDpi xmlns:a14="http://schemas.microsoft.com/office/drawing/2010/main" val="0"/>
                </a:ext>
              </a:extLst>
            </a:blip>
            <a:srcRect/>
            <a:stretch>
              <a:fillRect/>
            </a:stretch>
          </p:blipFill>
          <p:spPr bwMode="auto">
            <a:xfrm>
              <a:off x="2266"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72" name="Picture 474"/>
            <p:cNvPicPr>
              <a:picLocks noChangeAspect="1" noChangeArrowheads="1"/>
            </p:cNvPicPr>
            <p:nvPr/>
          </p:nvPicPr>
          <p:blipFill>
            <a:blip r:embed="rId88">
              <a:extLst>
                <a:ext uri="{28A0092B-C50C-407E-A947-70E740481C1C}">
                  <a14:useLocalDpi xmlns:a14="http://schemas.microsoft.com/office/drawing/2010/main" val="0"/>
                </a:ext>
              </a:extLst>
            </a:blip>
            <a:srcRect/>
            <a:stretch>
              <a:fillRect/>
            </a:stretch>
          </p:blipFill>
          <p:spPr bwMode="auto">
            <a:xfrm>
              <a:off x="2266"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73" name="Picture 475"/>
            <p:cNvPicPr>
              <a:picLocks noChangeAspect="1" noChangeArrowheads="1"/>
            </p:cNvPicPr>
            <p:nvPr/>
          </p:nvPicPr>
          <p:blipFill>
            <a:blip r:embed="rId89">
              <a:extLst>
                <a:ext uri="{28A0092B-C50C-407E-A947-70E740481C1C}">
                  <a14:useLocalDpi xmlns:a14="http://schemas.microsoft.com/office/drawing/2010/main" val="0"/>
                </a:ext>
              </a:extLst>
            </a:blip>
            <a:srcRect/>
            <a:stretch>
              <a:fillRect/>
            </a:stretch>
          </p:blipFill>
          <p:spPr bwMode="auto">
            <a:xfrm>
              <a:off x="2882"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74" name="Picture 476"/>
            <p:cNvPicPr>
              <a:picLocks noChangeAspect="1" noChangeArrowheads="1"/>
            </p:cNvPicPr>
            <p:nvPr/>
          </p:nvPicPr>
          <p:blipFill>
            <a:blip r:embed="rId90">
              <a:extLst>
                <a:ext uri="{28A0092B-C50C-407E-A947-70E740481C1C}">
                  <a14:useLocalDpi xmlns:a14="http://schemas.microsoft.com/office/drawing/2010/main" val="0"/>
                </a:ext>
              </a:extLst>
            </a:blip>
            <a:srcRect/>
            <a:stretch>
              <a:fillRect/>
            </a:stretch>
          </p:blipFill>
          <p:spPr bwMode="auto">
            <a:xfrm>
              <a:off x="2882"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75" name="Picture 477"/>
            <p:cNvPicPr>
              <a:picLocks noChangeAspect="1" noChangeArrowheads="1"/>
            </p:cNvPicPr>
            <p:nvPr/>
          </p:nvPicPr>
          <p:blipFill>
            <a:blip r:embed="rId91">
              <a:extLst>
                <a:ext uri="{28A0092B-C50C-407E-A947-70E740481C1C}">
                  <a14:useLocalDpi xmlns:a14="http://schemas.microsoft.com/office/drawing/2010/main" val="0"/>
                </a:ext>
              </a:extLst>
            </a:blip>
            <a:srcRect/>
            <a:stretch>
              <a:fillRect/>
            </a:stretch>
          </p:blipFill>
          <p:spPr bwMode="auto">
            <a:xfrm>
              <a:off x="2882"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76" name="Picture 478"/>
            <p:cNvPicPr>
              <a:picLocks noChangeAspect="1" noChangeArrowheads="1"/>
            </p:cNvPicPr>
            <p:nvPr/>
          </p:nvPicPr>
          <p:blipFill>
            <a:blip r:embed="rId92">
              <a:extLst>
                <a:ext uri="{28A0092B-C50C-407E-A947-70E740481C1C}">
                  <a14:useLocalDpi xmlns:a14="http://schemas.microsoft.com/office/drawing/2010/main" val="0"/>
                </a:ext>
              </a:extLst>
            </a:blip>
            <a:srcRect/>
            <a:stretch>
              <a:fillRect/>
            </a:stretch>
          </p:blipFill>
          <p:spPr bwMode="auto">
            <a:xfrm>
              <a:off x="2882"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77" name="Picture 479"/>
            <p:cNvPicPr>
              <a:picLocks noChangeAspect="1" noChangeArrowheads="1"/>
            </p:cNvPicPr>
            <p:nvPr/>
          </p:nvPicPr>
          <p:blipFill>
            <a:blip r:embed="rId93">
              <a:extLst>
                <a:ext uri="{28A0092B-C50C-407E-A947-70E740481C1C}">
                  <a14:useLocalDpi xmlns:a14="http://schemas.microsoft.com/office/drawing/2010/main" val="0"/>
                </a:ext>
              </a:extLst>
            </a:blip>
            <a:srcRect/>
            <a:stretch>
              <a:fillRect/>
            </a:stretch>
          </p:blipFill>
          <p:spPr bwMode="auto">
            <a:xfrm>
              <a:off x="2810"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78" name="Picture 480"/>
            <p:cNvPicPr>
              <a:picLocks noChangeAspect="1" noChangeArrowheads="1"/>
            </p:cNvPicPr>
            <p:nvPr/>
          </p:nvPicPr>
          <p:blipFill>
            <a:blip r:embed="rId94">
              <a:extLst>
                <a:ext uri="{28A0092B-C50C-407E-A947-70E740481C1C}">
                  <a14:useLocalDpi xmlns:a14="http://schemas.microsoft.com/office/drawing/2010/main" val="0"/>
                </a:ext>
              </a:extLst>
            </a:blip>
            <a:srcRect/>
            <a:stretch>
              <a:fillRect/>
            </a:stretch>
          </p:blipFill>
          <p:spPr bwMode="auto">
            <a:xfrm>
              <a:off x="2810"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79" name="Picture 481"/>
            <p:cNvPicPr>
              <a:picLocks noChangeAspect="1" noChangeArrowheads="1"/>
            </p:cNvPicPr>
            <p:nvPr/>
          </p:nvPicPr>
          <p:blipFill>
            <a:blip r:embed="rId95">
              <a:extLst>
                <a:ext uri="{28A0092B-C50C-407E-A947-70E740481C1C}">
                  <a14:useLocalDpi xmlns:a14="http://schemas.microsoft.com/office/drawing/2010/main" val="0"/>
                </a:ext>
              </a:extLst>
            </a:blip>
            <a:srcRect/>
            <a:stretch>
              <a:fillRect/>
            </a:stretch>
          </p:blipFill>
          <p:spPr bwMode="auto">
            <a:xfrm>
              <a:off x="2810"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80" name="Picture 482"/>
            <p:cNvPicPr>
              <a:picLocks noChangeAspect="1" noChangeArrowheads="1"/>
            </p:cNvPicPr>
            <p:nvPr/>
          </p:nvPicPr>
          <p:blipFill>
            <a:blip r:embed="rId96">
              <a:extLst>
                <a:ext uri="{28A0092B-C50C-407E-A947-70E740481C1C}">
                  <a14:useLocalDpi xmlns:a14="http://schemas.microsoft.com/office/drawing/2010/main" val="0"/>
                </a:ext>
              </a:extLst>
            </a:blip>
            <a:srcRect/>
            <a:stretch>
              <a:fillRect/>
            </a:stretch>
          </p:blipFill>
          <p:spPr bwMode="auto">
            <a:xfrm>
              <a:off x="2810"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81" name="Picture 483"/>
            <p:cNvPicPr>
              <a:picLocks noChangeAspect="1" noChangeArrowheads="1"/>
            </p:cNvPicPr>
            <p:nvPr/>
          </p:nvPicPr>
          <p:blipFill>
            <a:blip r:embed="rId97">
              <a:extLst>
                <a:ext uri="{28A0092B-C50C-407E-A947-70E740481C1C}">
                  <a14:useLocalDpi xmlns:a14="http://schemas.microsoft.com/office/drawing/2010/main" val="0"/>
                </a:ext>
              </a:extLst>
            </a:blip>
            <a:srcRect/>
            <a:stretch>
              <a:fillRect/>
            </a:stretch>
          </p:blipFill>
          <p:spPr bwMode="auto">
            <a:xfrm>
              <a:off x="2602"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82" name="Picture 484"/>
            <p:cNvPicPr>
              <a:picLocks noChangeAspect="1" noChangeArrowheads="1"/>
            </p:cNvPicPr>
            <p:nvPr/>
          </p:nvPicPr>
          <p:blipFill>
            <a:blip r:embed="rId98">
              <a:extLst>
                <a:ext uri="{28A0092B-C50C-407E-A947-70E740481C1C}">
                  <a14:useLocalDpi xmlns:a14="http://schemas.microsoft.com/office/drawing/2010/main" val="0"/>
                </a:ext>
              </a:extLst>
            </a:blip>
            <a:srcRect/>
            <a:stretch>
              <a:fillRect/>
            </a:stretch>
          </p:blipFill>
          <p:spPr bwMode="auto">
            <a:xfrm>
              <a:off x="2602"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83" name="Picture 485"/>
            <p:cNvPicPr>
              <a:picLocks noChangeAspect="1" noChangeArrowheads="1"/>
            </p:cNvPicPr>
            <p:nvPr/>
          </p:nvPicPr>
          <p:blipFill>
            <a:blip r:embed="rId99">
              <a:extLst>
                <a:ext uri="{28A0092B-C50C-407E-A947-70E740481C1C}">
                  <a14:useLocalDpi xmlns:a14="http://schemas.microsoft.com/office/drawing/2010/main" val="0"/>
                </a:ext>
              </a:extLst>
            </a:blip>
            <a:srcRect/>
            <a:stretch>
              <a:fillRect/>
            </a:stretch>
          </p:blipFill>
          <p:spPr bwMode="auto">
            <a:xfrm>
              <a:off x="2602"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84" name="Picture 486"/>
            <p:cNvPicPr>
              <a:picLocks noChangeAspect="1" noChangeArrowheads="1"/>
            </p:cNvPicPr>
            <p:nvPr/>
          </p:nvPicPr>
          <p:blipFill>
            <a:blip r:embed="rId100">
              <a:extLst>
                <a:ext uri="{28A0092B-C50C-407E-A947-70E740481C1C}">
                  <a14:useLocalDpi xmlns:a14="http://schemas.microsoft.com/office/drawing/2010/main" val="0"/>
                </a:ext>
              </a:extLst>
            </a:blip>
            <a:srcRect/>
            <a:stretch>
              <a:fillRect/>
            </a:stretch>
          </p:blipFill>
          <p:spPr bwMode="auto">
            <a:xfrm>
              <a:off x="2602"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85" name="Picture 487"/>
            <p:cNvPicPr>
              <a:picLocks noChangeAspect="1" noChangeArrowheads="1"/>
            </p:cNvPicPr>
            <p:nvPr/>
          </p:nvPicPr>
          <p:blipFill>
            <a:blip r:embed="rId101">
              <a:extLst>
                <a:ext uri="{28A0092B-C50C-407E-A947-70E740481C1C}">
                  <a14:useLocalDpi xmlns:a14="http://schemas.microsoft.com/office/drawing/2010/main" val="0"/>
                </a:ext>
              </a:extLst>
            </a:blip>
            <a:srcRect/>
            <a:stretch>
              <a:fillRect/>
            </a:stretch>
          </p:blipFill>
          <p:spPr bwMode="auto">
            <a:xfrm>
              <a:off x="2538"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86" name="Picture 488"/>
            <p:cNvPicPr>
              <a:picLocks noChangeAspect="1" noChangeArrowheads="1"/>
            </p:cNvPicPr>
            <p:nvPr/>
          </p:nvPicPr>
          <p:blipFill>
            <a:blip r:embed="rId102">
              <a:extLst>
                <a:ext uri="{28A0092B-C50C-407E-A947-70E740481C1C}">
                  <a14:useLocalDpi xmlns:a14="http://schemas.microsoft.com/office/drawing/2010/main" val="0"/>
                </a:ext>
              </a:extLst>
            </a:blip>
            <a:srcRect/>
            <a:stretch>
              <a:fillRect/>
            </a:stretch>
          </p:blipFill>
          <p:spPr bwMode="auto">
            <a:xfrm>
              <a:off x="2538"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87" name="Picture 489"/>
            <p:cNvPicPr>
              <a:picLocks noChangeAspect="1" noChangeArrowheads="1"/>
            </p:cNvPicPr>
            <p:nvPr/>
          </p:nvPicPr>
          <p:blipFill>
            <a:blip r:embed="rId103">
              <a:extLst>
                <a:ext uri="{28A0092B-C50C-407E-A947-70E740481C1C}">
                  <a14:useLocalDpi xmlns:a14="http://schemas.microsoft.com/office/drawing/2010/main" val="0"/>
                </a:ext>
              </a:extLst>
            </a:blip>
            <a:srcRect/>
            <a:stretch>
              <a:fillRect/>
            </a:stretch>
          </p:blipFill>
          <p:spPr bwMode="auto">
            <a:xfrm>
              <a:off x="2538"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88" name="Picture 490"/>
            <p:cNvPicPr>
              <a:picLocks noChangeAspect="1" noChangeArrowheads="1"/>
            </p:cNvPicPr>
            <p:nvPr/>
          </p:nvPicPr>
          <p:blipFill>
            <a:blip r:embed="rId104">
              <a:extLst>
                <a:ext uri="{28A0092B-C50C-407E-A947-70E740481C1C}">
                  <a14:useLocalDpi xmlns:a14="http://schemas.microsoft.com/office/drawing/2010/main" val="0"/>
                </a:ext>
              </a:extLst>
            </a:blip>
            <a:srcRect/>
            <a:stretch>
              <a:fillRect/>
            </a:stretch>
          </p:blipFill>
          <p:spPr bwMode="auto">
            <a:xfrm>
              <a:off x="2538"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89" name="Picture 491"/>
            <p:cNvPicPr>
              <a:picLocks noChangeAspect="1" noChangeArrowheads="1"/>
            </p:cNvPicPr>
            <p:nvPr/>
          </p:nvPicPr>
          <p:blipFill>
            <a:blip r:embed="rId105">
              <a:extLst>
                <a:ext uri="{28A0092B-C50C-407E-A947-70E740481C1C}">
                  <a14:useLocalDpi xmlns:a14="http://schemas.microsoft.com/office/drawing/2010/main" val="0"/>
                </a:ext>
              </a:extLst>
            </a:blip>
            <a:srcRect/>
            <a:stretch>
              <a:fillRect/>
            </a:stretch>
          </p:blipFill>
          <p:spPr bwMode="auto">
            <a:xfrm>
              <a:off x="2466"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90" name="Picture 492"/>
            <p:cNvPicPr>
              <a:picLocks noChangeAspect="1" noChangeArrowheads="1"/>
            </p:cNvPicPr>
            <p:nvPr/>
          </p:nvPicPr>
          <p:blipFill>
            <a:blip r:embed="rId106">
              <a:extLst>
                <a:ext uri="{28A0092B-C50C-407E-A947-70E740481C1C}">
                  <a14:useLocalDpi xmlns:a14="http://schemas.microsoft.com/office/drawing/2010/main" val="0"/>
                </a:ext>
              </a:extLst>
            </a:blip>
            <a:srcRect/>
            <a:stretch>
              <a:fillRect/>
            </a:stretch>
          </p:blipFill>
          <p:spPr bwMode="auto">
            <a:xfrm>
              <a:off x="2466"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91" name="Picture 493"/>
            <p:cNvPicPr>
              <a:picLocks noChangeAspect="1" noChangeArrowheads="1"/>
            </p:cNvPicPr>
            <p:nvPr/>
          </p:nvPicPr>
          <p:blipFill>
            <a:blip r:embed="rId107">
              <a:extLst>
                <a:ext uri="{28A0092B-C50C-407E-A947-70E740481C1C}">
                  <a14:useLocalDpi xmlns:a14="http://schemas.microsoft.com/office/drawing/2010/main" val="0"/>
                </a:ext>
              </a:extLst>
            </a:blip>
            <a:srcRect/>
            <a:stretch>
              <a:fillRect/>
            </a:stretch>
          </p:blipFill>
          <p:spPr bwMode="auto">
            <a:xfrm>
              <a:off x="2466"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92" name="Picture 494"/>
            <p:cNvPicPr>
              <a:picLocks noChangeAspect="1" noChangeArrowheads="1"/>
            </p:cNvPicPr>
            <p:nvPr/>
          </p:nvPicPr>
          <p:blipFill>
            <a:blip r:embed="rId108">
              <a:extLst>
                <a:ext uri="{28A0092B-C50C-407E-A947-70E740481C1C}">
                  <a14:useLocalDpi xmlns:a14="http://schemas.microsoft.com/office/drawing/2010/main" val="0"/>
                </a:ext>
              </a:extLst>
            </a:blip>
            <a:srcRect/>
            <a:stretch>
              <a:fillRect/>
            </a:stretch>
          </p:blipFill>
          <p:spPr bwMode="auto">
            <a:xfrm>
              <a:off x="2466"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93" name="Picture 495"/>
            <p:cNvPicPr>
              <a:picLocks noChangeAspect="1" noChangeArrowheads="1"/>
            </p:cNvPicPr>
            <p:nvPr/>
          </p:nvPicPr>
          <p:blipFill>
            <a:blip r:embed="rId109">
              <a:extLst>
                <a:ext uri="{28A0092B-C50C-407E-A947-70E740481C1C}">
                  <a14:useLocalDpi xmlns:a14="http://schemas.microsoft.com/office/drawing/2010/main" val="0"/>
                </a:ext>
              </a:extLst>
            </a:blip>
            <a:srcRect/>
            <a:stretch>
              <a:fillRect/>
            </a:stretch>
          </p:blipFill>
          <p:spPr bwMode="auto">
            <a:xfrm>
              <a:off x="2402"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94" name="Picture 496"/>
            <p:cNvPicPr>
              <a:picLocks noChangeAspect="1" noChangeArrowheads="1"/>
            </p:cNvPicPr>
            <p:nvPr/>
          </p:nvPicPr>
          <p:blipFill>
            <a:blip r:embed="rId110">
              <a:extLst>
                <a:ext uri="{28A0092B-C50C-407E-A947-70E740481C1C}">
                  <a14:useLocalDpi xmlns:a14="http://schemas.microsoft.com/office/drawing/2010/main" val="0"/>
                </a:ext>
              </a:extLst>
            </a:blip>
            <a:srcRect/>
            <a:stretch>
              <a:fillRect/>
            </a:stretch>
          </p:blipFill>
          <p:spPr bwMode="auto">
            <a:xfrm>
              <a:off x="2402"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95" name="Picture 497"/>
            <p:cNvPicPr>
              <a:picLocks noChangeAspect="1" noChangeArrowheads="1"/>
            </p:cNvPicPr>
            <p:nvPr/>
          </p:nvPicPr>
          <p:blipFill>
            <a:blip r:embed="rId111">
              <a:extLst>
                <a:ext uri="{28A0092B-C50C-407E-A947-70E740481C1C}">
                  <a14:useLocalDpi xmlns:a14="http://schemas.microsoft.com/office/drawing/2010/main" val="0"/>
                </a:ext>
              </a:extLst>
            </a:blip>
            <a:srcRect/>
            <a:stretch>
              <a:fillRect/>
            </a:stretch>
          </p:blipFill>
          <p:spPr bwMode="auto">
            <a:xfrm>
              <a:off x="2402"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96" name="Picture 498"/>
            <p:cNvPicPr>
              <a:picLocks noChangeAspect="1" noChangeArrowheads="1"/>
            </p:cNvPicPr>
            <p:nvPr/>
          </p:nvPicPr>
          <p:blipFill>
            <a:blip r:embed="rId112">
              <a:extLst>
                <a:ext uri="{28A0092B-C50C-407E-A947-70E740481C1C}">
                  <a14:useLocalDpi xmlns:a14="http://schemas.microsoft.com/office/drawing/2010/main" val="0"/>
                </a:ext>
              </a:extLst>
            </a:blip>
            <a:srcRect/>
            <a:stretch>
              <a:fillRect/>
            </a:stretch>
          </p:blipFill>
          <p:spPr bwMode="auto">
            <a:xfrm>
              <a:off x="2402"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97" name="Picture 499"/>
            <p:cNvPicPr>
              <a:picLocks noChangeAspect="1" noChangeArrowheads="1"/>
            </p:cNvPicPr>
            <p:nvPr/>
          </p:nvPicPr>
          <p:blipFill>
            <a:blip r:embed="rId113">
              <a:extLst>
                <a:ext uri="{28A0092B-C50C-407E-A947-70E740481C1C}">
                  <a14:useLocalDpi xmlns:a14="http://schemas.microsoft.com/office/drawing/2010/main" val="0"/>
                </a:ext>
              </a:extLst>
            </a:blip>
            <a:srcRect/>
            <a:stretch>
              <a:fillRect/>
            </a:stretch>
          </p:blipFill>
          <p:spPr bwMode="auto">
            <a:xfrm>
              <a:off x="2330"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98" name="Picture 500"/>
            <p:cNvPicPr>
              <a:picLocks noChangeAspect="1" noChangeArrowheads="1"/>
            </p:cNvPicPr>
            <p:nvPr/>
          </p:nvPicPr>
          <p:blipFill>
            <a:blip r:embed="rId114">
              <a:extLst>
                <a:ext uri="{28A0092B-C50C-407E-A947-70E740481C1C}">
                  <a14:useLocalDpi xmlns:a14="http://schemas.microsoft.com/office/drawing/2010/main" val="0"/>
                </a:ext>
              </a:extLst>
            </a:blip>
            <a:srcRect/>
            <a:stretch>
              <a:fillRect/>
            </a:stretch>
          </p:blipFill>
          <p:spPr bwMode="auto">
            <a:xfrm>
              <a:off x="2330"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99" name="Picture 501"/>
            <p:cNvPicPr>
              <a:picLocks noChangeAspect="1" noChangeArrowheads="1"/>
            </p:cNvPicPr>
            <p:nvPr/>
          </p:nvPicPr>
          <p:blipFill>
            <a:blip r:embed="rId115">
              <a:extLst>
                <a:ext uri="{28A0092B-C50C-407E-A947-70E740481C1C}">
                  <a14:useLocalDpi xmlns:a14="http://schemas.microsoft.com/office/drawing/2010/main" val="0"/>
                </a:ext>
              </a:extLst>
            </a:blip>
            <a:srcRect/>
            <a:stretch>
              <a:fillRect/>
            </a:stretch>
          </p:blipFill>
          <p:spPr bwMode="auto">
            <a:xfrm>
              <a:off x="2330"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500" name="Picture 502"/>
            <p:cNvPicPr>
              <a:picLocks noChangeAspect="1" noChangeArrowheads="1"/>
            </p:cNvPicPr>
            <p:nvPr/>
          </p:nvPicPr>
          <p:blipFill>
            <a:blip r:embed="rId116">
              <a:extLst>
                <a:ext uri="{28A0092B-C50C-407E-A947-70E740481C1C}">
                  <a14:useLocalDpi xmlns:a14="http://schemas.microsoft.com/office/drawing/2010/main" val="0"/>
                </a:ext>
              </a:extLst>
            </a:blip>
            <a:srcRect/>
            <a:stretch>
              <a:fillRect/>
            </a:stretch>
          </p:blipFill>
          <p:spPr bwMode="auto">
            <a:xfrm>
              <a:off x="2330"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501" name="Picture 503"/>
            <p:cNvPicPr>
              <a:picLocks noChangeAspect="1" noChangeArrowheads="1"/>
            </p:cNvPicPr>
            <p:nvPr/>
          </p:nvPicPr>
          <p:blipFill>
            <a:blip r:embed="rId117">
              <a:extLst>
                <a:ext uri="{28A0092B-C50C-407E-A947-70E740481C1C}">
                  <a14:useLocalDpi xmlns:a14="http://schemas.microsoft.com/office/drawing/2010/main" val="0"/>
                </a:ext>
              </a:extLst>
            </a:blip>
            <a:srcRect/>
            <a:stretch>
              <a:fillRect/>
            </a:stretch>
          </p:blipFill>
          <p:spPr bwMode="auto">
            <a:xfrm>
              <a:off x="2674"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502" name="Picture 504"/>
            <p:cNvPicPr>
              <a:picLocks noChangeAspect="1" noChangeArrowheads="1"/>
            </p:cNvPicPr>
            <p:nvPr/>
          </p:nvPicPr>
          <p:blipFill>
            <a:blip r:embed="rId118">
              <a:extLst>
                <a:ext uri="{28A0092B-C50C-407E-A947-70E740481C1C}">
                  <a14:useLocalDpi xmlns:a14="http://schemas.microsoft.com/office/drawing/2010/main" val="0"/>
                </a:ext>
              </a:extLst>
            </a:blip>
            <a:srcRect/>
            <a:stretch>
              <a:fillRect/>
            </a:stretch>
          </p:blipFill>
          <p:spPr bwMode="auto">
            <a:xfrm>
              <a:off x="2674"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503" name="Picture 505"/>
            <p:cNvPicPr>
              <a:picLocks noChangeAspect="1" noChangeArrowheads="1"/>
            </p:cNvPicPr>
            <p:nvPr/>
          </p:nvPicPr>
          <p:blipFill>
            <a:blip r:embed="rId119">
              <a:extLst>
                <a:ext uri="{28A0092B-C50C-407E-A947-70E740481C1C}">
                  <a14:useLocalDpi xmlns:a14="http://schemas.microsoft.com/office/drawing/2010/main" val="0"/>
                </a:ext>
              </a:extLst>
            </a:blip>
            <a:srcRect/>
            <a:stretch>
              <a:fillRect/>
            </a:stretch>
          </p:blipFill>
          <p:spPr bwMode="auto">
            <a:xfrm>
              <a:off x="2674"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504" name="Picture 506"/>
            <p:cNvPicPr>
              <a:picLocks noChangeAspect="1" noChangeArrowheads="1"/>
            </p:cNvPicPr>
            <p:nvPr/>
          </p:nvPicPr>
          <p:blipFill>
            <a:blip r:embed="rId120">
              <a:extLst>
                <a:ext uri="{28A0092B-C50C-407E-A947-70E740481C1C}">
                  <a14:useLocalDpi xmlns:a14="http://schemas.microsoft.com/office/drawing/2010/main" val="0"/>
                </a:ext>
              </a:extLst>
            </a:blip>
            <a:srcRect/>
            <a:stretch>
              <a:fillRect/>
            </a:stretch>
          </p:blipFill>
          <p:spPr bwMode="auto">
            <a:xfrm>
              <a:off x="2746"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505" name="Picture 507"/>
            <p:cNvPicPr>
              <a:picLocks noChangeAspect="1" noChangeArrowheads="1"/>
            </p:cNvPicPr>
            <p:nvPr/>
          </p:nvPicPr>
          <p:blipFill>
            <a:blip r:embed="rId121">
              <a:extLst>
                <a:ext uri="{28A0092B-C50C-407E-A947-70E740481C1C}">
                  <a14:useLocalDpi xmlns:a14="http://schemas.microsoft.com/office/drawing/2010/main" val="0"/>
                </a:ext>
              </a:extLst>
            </a:blip>
            <a:srcRect/>
            <a:stretch>
              <a:fillRect/>
            </a:stretch>
          </p:blipFill>
          <p:spPr bwMode="auto">
            <a:xfrm>
              <a:off x="2746"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506" name="Picture 508"/>
            <p:cNvPicPr>
              <a:picLocks noChangeAspect="1" noChangeArrowheads="1"/>
            </p:cNvPicPr>
            <p:nvPr/>
          </p:nvPicPr>
          <p:blipFill>
            <a:blip r:embed="rId122">
              <a:extLst>
                <a:ext uri="{28A0092B-C50C-407E-A947-70E740481C1C}">
                  <a14:useLocalDpi xmlns:a14="http://schemas.microsoft.com/office/drawing/2010/main" val="0"/>
                </a:ext>
              </a:extLst>
            </a:blip>
            <a:srcRect/>
            <a:stretch>
              <a:fillRect/>
            </a:stretch>
          </p:blipFill>
          <p:spPr bwMode="auto">
            <a:xfrm>
              <a:off x="2746"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507" name="Picture 509"/>
            <p:cNvPicPr>
              <a:picLocks noChangeAspect="1" noChangeArrowheads="1"/>
            </p:cNvPicPr>
            <p:nvPr/>
          </p:nvPicPr>
          <p:blipFill>
            <a:blip r:embed="rId123">
              <a:extLst>
                <a:ext uri="{28A0092B-C50C-407E-A947-70E740481C1C}">
                  <a14:useLocalDpi xmlns:a14="http://schemas.microsoft.com/office/drawing/2010/main" val="0"/>
                </a:ext>
              </a:extLst>
            </a:blip>
            <a:srcRect/>
            <a:stretch>
              <a:fillRect/>
            </a:stretch>
          </p:blipFill>
          <p:spPr bwMode="auto">
            <a:xfrm>
              <a:off x="2746"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08" name="Rectangle 510"/>
            <p:cNvSpPr>
              <a:spLocks noChangeArrowheads="1"/>
            </p:cNvSpPr>
            <p:nvPr/>
          </p:nvSpPr>
          <p:spPr bwMode="auto">
            <a:xfrm>
              <a:off x="2258" y="2740"/>
              <a:ext cx="808" cy="8"/>
            </a:xfrm>
            <a:prstGeom prst="rect">
              <a:avLst/>
            </a:prstGeom>
            <a:solidFill>
              <a:srgbClr val="DCDCDC"/>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509" name="Rectangle 511"/>
            <p:cNvSpPr>
              <a:spLocks noChangeArrowheads="1"/>
            </p:cNvSpPr>
            <p:nvPr/>
          </p:nvSpPr>
          <p:spPr bwMode="auto">
            <a:xfrm>
              <a:off x="2258" y="2748"/>
              <a:ext cx="808" cy="8"/>
            </a:xfrm>
            <a:prstGeom prst="rect">
              <a:avLst/>
            </a:prstGeom>
            <a:solidFill>
              <a:srgbClr val="DADADA"/>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510" name="Rectangle 512"/>
            <p:cNvSpPr>
              <a:spLocks noChangeArrowheads="1"/>
            </p:cNvSpPr>
            <p:nvPr/>
          </p:nvSpPr>
          <p:spPr bwMode="auto">
            <a:xfrm>
              <a:off x="2258" y="2756"/>
              <a:ext cx="808" cy="8"/>
            </a:xfrm>
            <a:prstGeom prst="rect">
              <a:avLst/>
            </a:prstGeom>
            <a:solidFill>
              <a:srgbClr val="C4C4C4"/>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511" name="Rectangle 513"/>
            <p:cNvSpPr>
              <a:spLocks noChangeArrowheads="1"/>
            </p:cNvSpPr>
            <p:nvPr/>
          </p:nvSpPr>
          <p:spPr bwMode="auto">
            <a:xfrm>
              <a:off x="2258" y="2764"/>
              <a:ext cx="808" cy="8"/>
            </a:xfrm>
            <a:prstGeom prst="rect">
              <a:avLst/>
            </a:prstGeom>
            <a:solidFill>
              <a:srgbClr val="AEAEAE"/>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512" name="Rectangle 514"/>
            <p:cNvSpPr>
              <a:spLocks noChangeArrowheads="1"/>
            </p:cNvSpPr>
            <p:nvPr/>
          </p:nvSpPr>
          <p:spPr bwMode="auto">
            <a:xfrm>
              <a:off x="2258" y="2772"/>
              <a:ext cx="808" cy="8"/>
            </a:xfrm>
            <a:prstGeom prst="rect">
              <a:avLst/>
            </a:prstGeom>
            <a:solidFill>
              <a:srgbClr val="9C9C9C"/>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513" name="Rectangle 515"/>
            <p:cNvSpPr>
              <a:spLocks noChangeArrowheads="1"/>
            </p:cNvSpPr>
            <p:nvPr/>
          </p:nvSpPr>
          <p:spPr bwMode="auto">
            <a:xfrm>
              <a:off x="2258" y="2780"/>
              <a:ext cx="808" cy="8"/>
            </a:xfrm>
            <a:prstGeom prst="rect">
              <a:avLst/>
            </a:prstGeom>
            <a:solidFill>
              <a:srgbClr val="B3B3B3"/>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514" name="Rectangle 516"/>
            <p:cNvSpPr>
              <a:spLocks noChangeArrowheads="1"/>
            </p:cNvSpPr>
            <p:nvPr/>
          </p:nvSpPr>
          <p:spPr bwMode="auto">
            <a:xfrm>
              <a:off x="2258" y="2788"/>
              <a:ext cx="808" cy="8"/>
            </a:xfrm>
            <a:prstGeom prst="rect">
              <a:avLst/>
            </a:prstGeom>
            <a:solidFill>
              <a:srgbClr val="C9C9C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515" name="Freeform 517"/>
            <p:cNvSpPr>
              <a:spLocks noEditPoints="1"/>
            </p:cNvSpPr>
            <p:nvPr/>
          </p:nvSpPr>
          <p:spPr bwMode="auto">
            <a:xfrm>
              <a:off x="2258" y="2744"/>
              <a:ext cx="808" cy="55"/>
            </a:xfrm>
            <a:custGeom>
              <a:avLst/>
              <a:gdLst>
                <a:gd name="T0" fmla="*/ 795 w 808"/>
                <a:gd name="T1" fmla="*/ 55 h 55"/>
                <a:gd name="T2" fmla="*/ 688 w 808"/>
                <a:gd name="T3" fmla="*/ 0 h 55"/>
                <a:gd name="T4" fmla="*/ 626 w 808"/>
                <a:gd name="T5" fmla="*/ 37 h 55"/>
                <a:gd name="T6" fmla="*/ 647 w 808"/>
                <a:gd name="T7" fmla="*/ 51 h 55"/>
                <a:gd name="T8" fmla="*/ 654 w 808"/>
                <a:gd name="T9" fmla="*/ 37 h 55"/>
                <a:gd name="T10" fmla="*/ 619 w 808"/>
                <a:gd name="T11" fmla="*/ 2 h 55"/>
                <a:gd name="T12" fmla="*/ 626 w 808"/>
                <a:gd name="T13" fmla="*/ 37 h 55"/>
                <a:gd name="T14" fmla="*/ 557 w 808"/>
                <a:gd name="T15" fmla="*/ 51 h 55"/>
                <a:gd name="T16" fmla="*/ 578 w 808"/>
                <a:gd name="T17" fmla="*/ 37 h 55"/>
                <a:gd name="T18" fmla="*/ 585 w 808"/>
                <a:gd name="T19" fmla="*/ 2 h 55"/>
                <a:gd name="T20" fmla="*/ 551 w 808"/>
                <a:gd name="T21" fmla="*/ 37 h 55"/>
                <a:gd name="T22" fmla="*/ 489 w 808"/>
                <a:gd name="T23" fmla="*/ 37 h 55"/>
                <a:gd name="T24" fmla="*/ 509 w 808"/>
                <a:gd name="T25" fmla="*/ 51 h 55"/>
                <a:gd name="T26" fmla="*/ 516 w 808"/>
                <a:gd name="T27" fmla="*/ 37 h 55"/>
                <a:gd name="T28" fmla="*/ 482 w 808"/>
                <a:gd name="T29" fmla="*/ 2 h 55"/>
                <a:gd name="T30" fmla="*/ 489 w 808"/>
                <a:gd name="T31" fmla="*/ 37 h 55"/>
                <a:gd name="T32" fmla="*/ 420 w 808"/>
                <a:gd name="T33" fmla="*/ 51 h 55"/>
                <a:gd name="T34" fmla="*/ 441 w 808"/>
                <a:gd name="T35" fmla="*/ 37 h 55"/>
                <a:gd name="T36" fmla="*/ 447 w 808"/>
                <a:gd name="T37" fmla="*/ 2 h 55"/>
                <a:gd name="T38" fmla="*/ 413 w 808"/>
                <a:gd name="T39" fmla="*/ 37 h 55"/>
                <a:gd name="T40" fmla="*/ 351 w 808"/>
                <a:gd name="T41" fmla="*/ 37 h 55"/>
                <a:gd name="T42" fmla="*/ 372 w 808"/>
                <a:gd name="T43" fmla="*/ 51 h 55"/>
                <a:gd name="T44" fmla="*/ 379 w 808"/>
                <a:gd name="T45" fmla="*/ 37 h 55"/>
                <a:gd name="T46" fmla="*/ 344 w 808"/>
                <a:gd name="T47" fmla="*/ 2 h 55"/>
                <a:gd name="T48" fmla="*/ 351 w 808"/>
                <a:gd name="T49" fmla="*/ 37 h 55"/>
                <a:gd name="T50" fmla="*/ 282 w 808"/>
                <a:gd name="T51" fmla="*/ 51 h 55"/>
                <a:gd name="T52" fmla="*/ 303 w 808"/>
                <a:gd name="T53" fmla="*/ 37 h 55"/>
                <a:gd name="T54" fmla="*/ 310 w 808"/>
                <a:gd name="T55" fmla="*/ 2 h 55"/>
                <a:gd name="T56" fmla="*/ 276 w 808"/>
                <a:gd name="T57" fmla="*/ 37 h 55"/>
                <a:gd name="T58" fmla="*/ 214 w 808"/>
                <a:gd name="T59" fmla="*/ 37 h 55"/>
                <a:gd name="T60" fmla="*/ 234 w 808"/>
                <a:gd name="T61" fmla="*/ 51 h 55"/>
                <a:gd name="T62" fmla="*/ 241 w 808"/>
                <a:gd name="T63" fmla="*/ 37 h 55"/>
                <a:gd name="T64" fmla="*/ 207 w 808"/>
                <a:gd name="T65" fmla="*/ 2 h 55"/>
                <a:gd name="T66" fmla="*/ 214 w 808"/>
                <a:gd name="T67" fmla="*/ 37 h 55"/>
                <a:gd name="T68" fmla="*/ 145 w 808"/>
                <a:gd name="T69" fmla="*/ 51 h 55"/>
                <a:gd name="T70" fmla="*/ 166 w 808"/>
                <a:gd name="T71" fmla="*/ 37 h 55"/>
                <a:gd name="T72" fmla="*/ 172 w 808"/>
                <a:gd name="T73" fmla="*/ 2 h 55"/>
                <a:gd name="T74" fmla="*/ 138 w 808"/>
                <a:gd name="T75" fmla="*/ 37 h 55"/>
                <a:gd name="T76" fmla="*/ 76 w 808"/>
                <a:gd name="T77" fmla="*/ 37 h 55"/>
                <a:gd name="T78" fmla="*/ 96 w 808"/>
                <a:gd name="T79" fmla="*/ 51 h 55"/>
                <a:gd name="T80" fmla="*/ 104 w 808"/>
                <a:gd name="T81" fmla="*/ 37 h 55"/>
                <a:gd name="T82" fmla="*/ 69 w 808"/>
                <a:gd name="T83" fmla="*/ 2 h 55"/>
                <a:gd name="T84" fmla="*/ 76 w 808"/>
                <a:gd name="T85" fmla="*/ 37 h 55"/>
                <a:gd name="T86" fmla="*/ 7 w 808"/>
                <a:gd name="T87" fmla="*/ 51 h 55"/>
                <a:gd name="T88" fmla="*/ 28 w 808"/>
                <a:gd name="T89" fmla="*/ 37 h 55"/>
                <a:gd name="T90" fmla="*/ 34 w 808"/>
                <a:gd name="T91" fmla="*/ 2 h 55"/>
                <a:gd name="T92" fmla="*/ 0 w 808"/>
                <a:gd name="T93" fmla="*/ 37 h 55"/>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808"/>
                <a:gd name="T142" fmla="*/ 0 h 55"/>
                <a:gd name="T143" fmla="*/ 808 w 808"/>
                <a:gd name="T144" fmla="*/ 55 h 55"/>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808" h="55">
                  <a:moveTo>
                    <a:pt x="701" y="55"/>
                  </a:moveTo>
                  <a:lnTo>
                    <a:pt x="795" y="55"/>
                  </a:lnTo>
                  <a:lnTo>
                    <a:pt x="808" y="0"/>
                  </a:lnTo>
                  <a:lnTo>
                    <a:pt x="688" y="0"/>
                  </a:lnTo>
                  <a:lnTo>
                    <a:pt x="701" y="55"/>
                  </a:lnTo>
                  <a:moveTo>
                    <a:pt x="626" y="37"/>
                  </a:moveTo>
                  <a:lnTo>
                    <a:pt x="626" y="51"/>
                  </a:lnTo>
                  <a:lnTo>
                    <a:pt x="647" y="51"/>
                  </a:lnTo>
                  <a:lnTo>
                    <a:pt x="647" y="37"/>
                  </a:lnTo>
                  <a:lnTo>
                    <a:pt x="654" y="37"/>
                  </a:lnTo>
                  <a:lnTo>
                    <a:pt x="654" y="2"/>
                  </a:lnTo>
                  <a:lnTo>
                    <a:pt x="619" y="2"/>
                  </a:lnTo>
                  <a:lnTo>
                    <a:pt x="619" y="37"/>
                  </a:lnTo>
                  <a:lnTo>
                    <a:pt x="626" y="37"/>
                  </a:lnTo>
                  <a:moveTo>
                    <a:pt x="557" y="37"/>
                  </a:moveTo>
                  <a:lnTo>
                    <a:pt x="557" y="51"/>
                  </a:lnTo>
                  <a:lnTo>
                    <a:pt x="578" y="51"/>
                  </a:lnTo>
                  <a:lnTo>
                    <a:pt x="578" y="37"/>
                  </a:lnTo>
                  <a:lnTo>
                    <a:pt x="585" y="37"/>
                  </a:lnTo>
                  <a:lnTo>
                    <a:pt x="585" y="2"/>
                  </a:lnTo>
                  <a:lnTo>
                    <a:pt x="551" y="2"/>
                  </a:lnTo>
                  <a:lnTo>
                    <a:pt x="551" y="37"/>
                  </a:lnTo>
                  <a:lnTo>
                    <a:pt x="557" y="37"/>
                  </a:lnTo>
                  <a:moveTo>
                    <a:pt x="489" y="37"/>
                  </a:moveTo>
                  <a:lnTo>
                    <a:pt x="489" y="51"/>
                  </a:lnTo>
                  <a:lnTo>
                    <a:pt x="509" y="51"/>
                  </a:lnTo>
                  <a:lnTo>
                    <a:pt x="509" y="37"/>
                  </a:lnTo>
                  <a:lnTo>
                    <a:pt x="516" y="37"/>
                  </a:lnTo>
                  <a:lnTo>
                    <a:pt x="516" y="2"/>
                  </a:lnTo>
                  <a:lnTo>
                    <a:pt x="482" y="2"/>
                  </a:lnTo>
                  <a:lnTo>
                    <a:pt x="482" y="37"/>
                  </a:lnTo>
                  <a:lnTo>
                    <a:pt x="489" y="37"/>
                  </a:lnTo>
                  <a:moveTo>
                    <a:pt x="420" y="37"/>
                  </a:moveTo>
                  <a:lnTo>
                    <a:pt x="420" y="51"/>
                  </a:lnTo>
                  <a:lnTo>
                    <a:pt x="441" y="51"/>
                  </a:lnTo>
                  <a:lnTo>
                    <a:pt x="441" y="37"/>
                  </a:lnTo>
                  <a:lnTo>
                    <a:pt x="447" y="37"/>
                  </a:lnTo>
                  <a:lnTo>
                    <a:pt x="447" y="2"/>
                  </a:lnTo>
                  <a:lnTo>
                    <a:pt x="413" y="2"/>
                  </a:lnTo>
                  <a:lnTo>
                    <a:pt x="413" y="37"/>
                  </a:lnTo>
                  <a:lnTo>
                    <a:pt x="420" y="37"/>
                  </a:lnTo>
                  <a:moveTo>
                    <a:pt x="351" y="37"/>
                  </a:moveTo>
                  <a:lnTo>
                    <a:pt x="351" y="51"/>
                  </a:lnTo>
                  <a:lnTo>
                    <a:pt x="372" y="51"/>
                  </a:lnTo>
                  <a:lnTo>
                    <a:pt x="372" y="37"/>
                  </a:lnTo>
                  <a:lnTo>
                    <a:pt x="379" y="37"/>
                  </a:lnTo>
                  <a:lnTo>
                    <a:pt x="379" y="2"/>
                  </a:lnTo>
                  <a:lnTo>
                    <a:pt x="344" y="2"/>
                  </a:lnTo>
                  <a:lnTo>
                    <a:pt x="344" y="37"/>
                  </a:lnTo>
                  <a:lnTo>
                    <a:pt x="351" y="37"/>
                  </a:lnTo>
                  <a:moveTo>
                    <a:pt x="282" y="37"/>
                  </a:moveTo>
                  <a:lnTo>
                    <a:pt x="282" y="51"/>
                  </a:lnTo>
                  <a:lnTo>
                    <a:pt x="303" y="51"/>
                  </a:lnTo>
                  <a:lnTo>
                    <a:pt x="303" y="37"/>
                  </a:lnTo>
                  <a:lnTo>
                    <a:pt x="310" y="37"/>
                  </a:lnTo>
                  <a:lnTo>
                    <a:pt x="310" y="2"/>
                  </a:lnTo>
                  <a:lnTo>
                    <a:pt x="276" y="2"/>
                  </a:lnTo>
                  <a:lnTo>
                    <a:pt x="276" y="37"/>
                  </a:lnTo>
                  <a:lnTo>
                    <a:pt x="282" y="37"/>
                  </a:lnTo>
                  <a:moveTo>
                    <a:pt x="214" y="37"/>
                  </a:moveTo>
                  <a:lnTo>
                    <a:pt x="214" y="51"/>
                  </a:lnTo>
                  <a:lnTo>
                    <a:pt x="234" y="51"/>
                  </a:lnTo>
                  <a:lnTo>
                    <a:pt x="234" y="37"/>
                  </a:lnTo>
                  <a:lnTo>
                    <a:pt x="241" y="37"/>
                  </a:lnTo>
                  <a:lnTo>
                    <a:pt x="241" y="2"/>
                  </a:lnTo>
                  <a:lnTo>
                    <a:pt x="207" y="2"/>
                  </a:lnTo>
                  <a:lnTo>
                    <a:pt x="207" y="37"/>
                  </a:lnTo>
                  <a:lnTo>
                    <a:pt x="214" y="37"/>
                  </a:lnTo>
                  <a:moveTo>
                    <a:pt x="145" y="37"/>
                  </a:moveTo>
                  <a:lnTo>
                    <a:pt x="145" y="51"/>
                  </a:lnTo>
                  <a:lnTo>
                    <a:pt x="166" y="51"/>
                  </a:lnTo>
                  <a:lnTo>
                    <a:pt x="166" y="37"/>
                  </a:lnTo>
                  <a:lnTo>
                    <a:pt x="172" y="37"/>
                  </a:lnTo>
                  <a:lnTo>
                    <a:pt x="172" y="2"/>
                  </a:lnTo>
                  <a:lnTo>
                    <a:pt x="138" y="2"/>
                  </a:lnTo>
                  <a:lnTo>
                    <a:pt x="138" y="37"/>
                  </a:lnTo>
                  <a:lnTo>
                    <a:pt x="145" y="37"/>
                  </a:lnTo>
                  <a:moveTo>
                    <a:pt x="76" y="37"/>
                  </a:moveTo>
                  <a:lnTo>
                    <a:pt x="76" y="51"/>
                  </a:lnTo>
                  <a:lnTo>
                    <a:pt x="96" y="51"/>
                  </a:lnTo>
                  <a:lnTo>
                    <a:pt x="96" y="37"/>
                  </a:lnTo>
                  <a:lnTo>
                    <a:pt x="104" y="37"/>
                  </a:lnTo>
                  <a:lnTo>
                    <a:pt x="104" y="2"/>
                  </a:lnTo>
                  <a:lnTo>
                    <a:pt x="69" y="2"/>
                  </a:lnTo>
                  <a:lnTo>
                    <a:pt x="69" y="37"/>
                  </a:lnTo>
                  <a:lnTo>
                    <a:pt x="76" y="37"/>
                  </a:lnTo>
                  <a:moveTo>
                    <a:pt x="7" y="37"/>
                  </a:moveTo>
                  <a:lnTo>
                    <a:pt x="7" y="51"/>
                  </a:lnTo>
                  <a:lnTo>
                    <a:pt x="28" y="51"/>
                  </a:lnTo>
                  <a:lnTo>
                    <a:pt x="28" y="37"/>
                  </a:lnTo>
                  <a:lnTo>
                    <a:pt x="34" y="37"/>
                  </a:lnTo>
                  <a:lnTo>
                    <a:pt x="34" y="2"/>
                  </a:lnTo>
                  <a:lnTo>
                    <a:pt x="0" y="2"/>
                  </a:lnTo>
                  <a:lnTo>
                    <a:pt x="0" y="37"/>
                  </a:lnTo>
                  <a:lnTo>
                    <a:pt x="7" y="37"/>
                  </a:lnTo>
                </a:path>
              </a:pathLst>
            </a:cu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516" name="Freeform 518"/>
            <p:cNvSpPr>
              <a:spLocks/>
            </p:cNvSpPr>
            <p:nvPr/>
          </p:nvSpPr>
          <p:spPr bwMode="auto">
            <a:xfrm>
              <a:off x="2207" y="2504"/>
              <a:ext cx="1006" cy="346"/>
            </a:xfrm>
            <a:custGeom>
              <a:avLst/>
              <a:gdLst>
                <a:gd name="T0" fmla="*/ 27 w 1006"/>
                <a:gd name="T1" fmla="*/ 346 h 346"/>
                <a:gd name="T2" fmla="*/ 27 w 1006"/>
                <a:gd name="T3" fmla="*/ 317 h 346"/>
                <a:gd name="T4" fmla="*/ 0 w 1006"/>
                <a:gd name="T5" fmla="*/ 317 h 346"/>
                <a:gd name="T6" fmla="*/ 0 w 1006"/>
                <a:gd name="T7" fmla="*/ 115 h 346"/>
                <a:gd name="T8" fmla="*/ 111 w 1006"/>
                <a:gd name="T9" fmla="*/ 0 h 346"/>
                <a:gd name="T10" fmla="*/ 1006 w 1006"/>
                <a:gd name="T11" fmla="*/ 0 h 346"/>
                <a:gd name="T12" fmla="*/ 1006 w 1006"/>
                <a:gd name="T13" fmla="*/ 202 h 346"/>
                <a:gd name="T14" fmla="*/ 866 w 1006"/>
                <a:gd name="T15" fmla="*/ 346 h 346"/>
                <a:gd name="T16" fmla="*/ 27 w 1006"/>
                <a:gd name="T17" fmla="*/ 346 h 3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06"/>
                <a:gd name="T28" fmla="*/ 0 h 346"/>
                <a:gd name="T29" fmla="*/ 1006 w 1006"/>
                <a:gd name="T30" fmla="*/ 346 h 34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06" h="346">
                  <a:moveTo>
                    <a:pt x="27" y="346"/>
                  </a:moveTo>
                  <a:lnTo>
                    <a:pt x="27" y="317"/>
                  </a:lnTo>
                  <a:lnTo>
                    <a:pt x="0" y="317"/>
                  </a:lnTo>
                  <a:lnTo>
                    <a:pt x="0" y="115"/>
                  </a:lnTo>
                  <a:lnTo>
                    <a:pt x="111" y="0"/>
                  </a:lnTo>
                  <a:lnTo>
                    <a:pt x="1006" y="0"/>
                  </a:lnTo>
                  <a:lnTo>
                    <a:pt x="1006" y="202"/>
                  </a:lnTo>
                  <a:lnTo>
                    <a:pt x="866" y="346"/>
                  </a:lnTo>
                  <a:lnTo>
                    <a:pt x="27" y="346"/>
                  </a:lnTo>
                </a:path>
              </a:pathLst>
            </a:custGeom>
            <a:noFill/>
            <a:ln w="11113"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517" name="Rectangle 519"/>
            <p:cNvSpPr>
              <a:spLocks noChangeArrowheads="1"/>
            </p:cNvSpPr>
            <p:nvPr/>
          </p:nvSpPr>
          <p:spPr bwMode="auto">
            <a:xfrm>
              <a:off x="2570" y="2868"/>
              <a:ext cx="232" cy="17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800" b="0">
                  <a:latin typeface="Arial" charset="0"/>
                </a:rPr>
                <a:t>SW</a:t>
              </a:r>
              <a:endParaRPr lang="en-US" sz="1800"/>
            </a:p>
          </p:txBody>
        </p:sp>
      </p:grpSp>
      <p:sp>
        <p:nvSpPr>
          <p:cNvPr id="518" name="Freeform 520"/>
          <p:cNvSpPr>
            <a:spLocks/>
          </p:cNvSpPr>
          <p:nvPr/>
        </p:nvSpPr>
        <p:spPr bwMode="auto">
          <a:xfrm>
            <a:off x="4400550" y="3141663"/>
            <a:ext cx="84138" cy="101600"/>
          </a:xfrm>
          <a:custGeom>
            <a:avLst/>
            <a:gdLst>
              <a:gd name="T0" fmla="*/ 0 w 53"/>
              <a:gd name="T1" fmla="*/ 64 h 64"/>
              <a:gd name="T2" fmla="*/ 53 w 53"/>
              <a:gd name="T3" fmla="*/ 9 h 64"/>
              <a:gd name="T4" fmla="*/ 53 w 53"/>
              <a:gd name="T5" fmla="*/ 0 h 64"/>
              <a:gd name="T6" fmla="*/ 0 w 53"/>
              <a:gd name="T7" fmla="*/ 54 h 64"/>
              <a:gd name="T8" fmla="*/ 0 w 53"/>
              <a:gd name="T9" fmla="*/ 64 h 64"/>
              <a:gd name="T10" fmla="*/ 0 60000 65536"/>
              <a:gd name="T11" fmla="*/ 0 60000 65536"/>
              <a:gd name="T12" fmla="*/ 0 60000 65536"/>
              <a:gd name="T13" fmla="*/ 0 60000 65536"/>
              <a:gd name="T14" fmla="*/ 0 60000 65536"/>
              <a:gd name="T15" fmla="*/ 0 w 53"/>
              <a:gd name="T16" fmla="*/ 0 h 64"/>
              <a:gd name="T17" fmla="*/ 53 w 53"/>
              <a:gd name="T18" fmla="*/ 64 h 64"/>
            </a:gdLst>
            <a:ahLst/>
            <a:cxnLst>
              <a:cxn ang="T10">
                <a:pos x="T0" y="T1"/>
              </a:cxn>
              <a:cxn ang="T11">
                <a:pos x="T2" y="T3"/>
              </a:cxn>
              <a:cxn ang="T12">
                <a:pos x="T4" y="T5"/>
              </a:cxn>
              <a:cxn ang="T13">
                <a:pos x="T6" y="T7"/>
              </a:cxn>
              <a:cxn ang="T14">
                <a:pos x="T8" y="T9"/>
              </a:cxn>
            </a:cxnLst>
            <a:rect l="T15" t="T16" r="T17" b="T18"/>
            <a:pathLst>
              <a:path w="53" h="64">
                <a:moveTo>
                  <a:pt x="0" y="64"/>
                </a:moveTo>
                <a:lnTo>
                  <a:pt x="53" y="9"/>
                </a:lnTo>
                <a:lnTo>
                  <a:pt x="53" y="0"/>
                </a:lnTo>
                <a:lnTo>
                  <a:pt x="0" y="54"/>
                </a:lnTo>
                <a:lnTo>
                  <a:pt x="0" y="64"/>
                </a:lnTo>
                <a:close/>
              </a:path>
            </a:pathLst>
          </a:custGeom>
          <a:solidFill>
            <a:srgbClr val="9A9A9A"/>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19" name="Freeform 521"/>
          <p:cNvSpPr>
            <a:spLocks/>
          </p:cNvSpPr>
          <p:nvPr/>
        </p:nvSpPr>
        <p:spPr bwMode="auto">
          <a:xfrm>
            <a:off x="4173538" y="2511425"/>
            <a:ext cx="315912" cy="80963"/>
          </a:xfrm>
          <a:custGeom>
            <a:avLst/>
            <a:gdLst>
              <a:gd name="T0" fmla="*/ 0 w 199"/>
              <a:gd name="T1" fmla="*/ 51 h 51"/>
              <a:gd name="T2" fmla="*/ 50 w 199"/>
              <a:gd name="T3" fmla="*/ 0 h 51"/>
              <a:gd name="T4" fmla="*/ 199 w 199"/>
              <a:gd name="T5" fmla="*/ 0 h 51"/>
              <a:gd name="T6" fmla="*/ 149 w 199"/>
              <a:gd name="T7" fmla="*/ 51 h 51"/>
              <a:gd name="T8" fmla="*/ 0 w 199"/>
              <a:gd name="T9" fmla="*/ 51 h 51"/>
              <a:gd name="T10" fmla="*/ 0 60000 65536"/>
              <a:gd name="T11" fmla="*/ 0 60000 65536"/>
              <a:gd name="T12" fmla="*/ 0 60000 65536"/>
              <a:gd name="T13" fmla="*/ 0 60000 65536"/>
              <a:gd name="T14" fmla="*/ 0 60000 65536"/>
              <a:gd name="T15" fmla="*/ 0 w 199"/>
              <a:gd name="T16" fmla="*/ 0 h 51"/>
              <a:gd name="T17" fmla="*/ 199 w 199"/>
              <a:gd name="T18" fmla="*/ 51 h 51"/>
            </a:gdLst>
            <a:ahLst/>
            <a:cxnLst>
              <a:cxn ang="T10">
                <a:pos x="T0" y="T1"/>
              </a:cxn>
              <a:cxn ang="T11">
                <a:pos x="T2" y="T3"/>
              </a:cxn>
              <a:cxn ang="T12">
                <a:pos x="T4" y="T5"/>
              </a:cxn>
              <a:cxn ang="T13">
                <a:pos x="T6" y="T7"/>
              </a:cxn>
              <a:cxn ang="T14">
                <a:pos x="T8" y="T9"/>
              </a:cxn>
            </a:cxnLst>
            <a:rect l="T15" t="T16" r="T17" b="T18"/>
            <a:pathLst>
              <a:path w="199" h="51">
                <a:moveTo>
                  <a:pt x="0" y="51"/>
                </a:moveTo>
                <a:lnTo>
                  <a:pt x="50" y="0"/>
                </a:lnTo>
                <a:lnTo>
                  <a:pt x="199" y="0"/>
                </a:lnTo>
                <a:lnTo>
                  <a:pt x="149" y="51"/>
                </a:lnTo>
                <a:lnTo>
                  <a:pt x="0" y="51"/>
                </a:lnTo>
                <a:close/>
              </a:path>
            </a:pathLst>
          </a:custGeom>
          <a:solidFill>
            <a:srgbClr val="E6E6E6"/>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20" name="Freeform 522"/>
          <p:cNvSpPr>
            <a:spLocks/>
          </p:cNvSpPr>
          <p:nvPr/>
        </p:nvSpPr>
        <p:spPr bwMode="auto">
          <a:xfrm>
            <a:off x="4173538" y="2511425"/>
            <a:ext cx="315912" cy="80963"/>
          </a:xfrm>
          <a:custGeom>
            <a:avLst/>
            <a:gdLst>
              <a:gd name="T0" fmla="*/ 0 w 199"/>
              <a:gd name="T1" fmla="*/ 51 h 51"/>
              <a:gd name="T2" fmla="*/ 50 w 199"/>
              <a:gd name="T3" fmla="*/ 0 h 51"/>
              <a:gd name="T4" fmla="*/ 199 w 199"/>
              <a:gd name="T5" fmla="*/ 0 h 51"/>
              <a:gd name="T6" fmla="*/ 149 w 199"/>
              <a:gd name="T7" fmla="*/ 51 h 51"/>
              <a:gd name="T8" fmla="*/ 0 w 199"/>
              <a:gd name="T9" fmla="*/ 51 h 51"/>
              <a:gd name="T10" fmla="*/ 0 60000 65536"/>
              <a:gd name="T11" fmla="*/ 0 60000 65536"/>
              <a:gd name="T12" fmla="*/ 0 60000 65536"/>
              <a:gd name="T13" fmla="*/ 0 60000 65536"/>
              <a:gd name="T14" fmla="*/ 0 60000 65536"/>
              <a:gd name="T15" fmla="*/ 0 w 199"/>
              <a:gd name="T16" fmla="*/ 0 h 51"/>
              <a:gd name="T17" fmla="*/ 199 w 199"/>
              <a:gd name="T18" fmla="*/ 51 h 51"/>
            </a:gdLst>
            <a:ahLst/>
            <a:cxnLst>
              <a:cxn ang="T10">
                <a:pos x="T0" y="T1"/>
              </a:cxn>
              <a:cxn ang="T11">
                <a:pos x="T2" y="T3"/>
              </a:cxn>
              <a:cxn ang="T12">
                <a:pos x="T4" y="T5"/>
              </a:cxn>
              <a:cxn ang="T13">
                <a:pos x="T6" y="T7"/>
              </a:cxn>
              <a:cxn ang="T14">
                <a:pos x="T8" y="T9"/>
              </a:cxn>
            </a:cxnLst>
            <a:rect l="T15" t="T16" r="T17" b="T18"/>
            <a:pathLst>
              <a:path w="199" h="51">
                <a:moveTo>
                  <a:pt x="0" y="51"/>
                </a:moveTo>
                <a:lnTo>
                  <a:pt x="50" y="0"/>
                </a:lnTo>
                <a:lnTo>
                  <a:pt x="199" y="0"/>
                </a:lnTo>
                <a:lnTo>
                  <a:pt x="149" y="51"/>
                </a:lnTo>
                <a:lnTo>
                  <a:pt x="0" y="51"/>
                </a:lnTo>
                <a:close/>
              </a:path>
            </a:pathLst>
          </a:cu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521" name="Freeform 523"/>
          <p:cNvSpPr>
            <a:spLocks/>
          </p:cNvSpPr>
          <p:nvPr/>
        </p:nvSpPr>
        <p:spPr bwMode="auto">
          <a:xfrm>
            <a:off x="4410075" y="2511425"/>
            <a:ext cx="79375" cy="715963"/>
          </a:xfrm>
          <a:custGeom>
            <a:avLst/>
            <a:gdLst>
              <a:gd name="T0" fmla="*/ 0 w 50"/>
              <a:gd name="T1" fmla="*/ 51 h 451"/>
              <a:gd name="T2" fmla="*/ 50 w 50"/>
              <a:gd name="T3" fmla="*/ 0 h 451"/>
              <a:gd name="T4" fmla="*/ 50 w 50"/>
              <a:gd name="T5" fmla="*/ 400 h 451"/>
              <a:gd name="T6" fmla="*/ 0 w 50"/>
              <a:gd name="T7" fmla="*/ 451 h 451"/>
              <a:gd name="T8" fmla="*/ 0 w 50"/>
              <a:gd name="T9" fmla="*/ 51 h 451"/>
              <a:gd name="T10" fmla="*/ 0 60000 65536"/>
              <a:gd name="T11" fmla="*/ 0 60000 65536"/>
              <a:gd name="T12" fmla="*/ 0 60000 65536"/>
              <a:gd name="T13" fmla="*/ 0 60000 65536"/>
              <a:gd name="T14" fmla="*/ 0 60000 65536"/>
              <a:gd name="T15" fmla="*/ 0 w 50"/>
              <a:gd name="T16" fmla="*/ 0 h 451"/>
              <a:gd name="T17" fmla="*/ 50 w 50"/>
              <a:gd name="T18" fmla="*/ 451 h 451"/>
            </a:gdLst>
            <a:ahLst/>
            <a:cxnLst>
              <a:cxn ang="T10">
                <a:pos x="T0" y="T1"/>
              </a:cxn>
              <a:cxn ang="T11">
                <a:pos x="T2" y="T3"/>
              </a:cxn>
              <a:cxn ang="T12">
                <a:pos x="T4" y="T5"/>
              </a:cxn>
              <a:cxn ang="T13">
                <a:pos x="T6" y="T7"/>
              </a:cxn>
              <a:cxn ang="T14">
                <a:pos x="T8" y="T9"/>
              </a:cxn>
            </a:cxnLst>
            <a:rect l="T15" t="T16" r="T17" b="T18"/>
            <a:pathLst>
              <a:path w="50" h="451">
                <a:moveTo>
                  <a:pt x="0" y="51"/>
                </a:moveTo>
                <a:lnTo>
                  <a:pt x="50" y="0"/>
                </a:lnTo>
                <a:lnTo>
                  <a:pt x="50" y="400"/>
                </a:lnTo>
                <a:lnTo>
                  <a:pt x="0" y="451"/>
                </a:lnTo>
                <a:lnTo>
                  <a:pt x="0" y="51"/>
                </a:lnTo>
                <a:close/>
              </a:path>
            </a:pathLst>
          </a:custGeom>
          <a:solidFill>
            <a:srgbClr val="9A9A9A"/>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22" name="Rectangle 524"/>
          <p:cNvSpPr>
            <a:spLocks noChangeArrowheads="1"/>
          </p:cNvSpPr>
          <p:nvPr/>
        </p:nvSpPr>
        <p:spPr bwMode="auto">
          <a:xfrm>
            <a:off x="4173538" y="2592388"/>
            <a:ext cx="236537" cy="635000"/>
          </a:xfrm>
          <a:prstGeom prst="rect">
            <a:avLst/>
          </a:prstGeom>
          <a:solidFill>
            <a:srgbClr val="C0C0C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523" name="Rectangle 525"/>
          <p:cNvSpPr>
            <a:spLocks noChangeArrowheads="1"/>
          </p:cNvSpPr>
          <p:nvPr/>
        </p:nvSpPr>
        <p:spPr bwMode="auto">
          <a:xfrm>
            <a:off x="4173538" y="2592388"/>
            <a:ext cx="236537" cy="635000"/>
          </a:xfrm>
          <a:prstGeom prst="rect">
            <a:avLst/>
          </a:pr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pic>
        <p:nvPicPr>
          <p:cNvPr id="524" name="Picture 526"/>
          <p:cNvPicPr>
            <a:picLocks noChangeAspect="1" noChangeArrowheads="1"/>
          </p:cNvPicPr>
          <p:nvPr/>
        </p:nvPicPr>
        <p:blipFill>
          <a:blip r:embed="rId124">
            <a:extLst>
              <a:ext uri="{28A0092B-C50C-407E-A947-70E740481C1C}">
                <a14:useLocalDpi xmlns:a14="http://schemas.microsoft.com/office/drawing/2010/main" val="0"/>
              </a:ext>
            </a:extLst>
          </a:blip>
          <a:srcRect/>
          <a:stretch>
            <a:fillRect/>
          </a:stretch>
        </p:blipFill>
        <p:spPr bwMode="auto">
          <a:xfrm>
            <a:off x="4194175" y="2620963"/>
            <a:ext cx="177800" cy="3937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525" name="Picture 527"/>
          <p:cNvPicPr>
            <a:picLocks noChangeAspect="1" noChangeArrowheads="1"/>
          </p:cNvPicPr>
          <p:nvPr/>
        </p:nvPicPr>
        <p:blipFill>
          <a:blip r:embed="rId125">
            <a:extLst>
              <a:ext uri="{28A0092B-C50C-407E-A947-70E740481C1C}">
                <a14:useLocalDpi xmlns:a14="http://schemas.microsoft.com/office/drawing/2010/main" val="0"/>
              </a:ext>
            </a:extLst>
          </a:blip>
          <a:srcRect/>
          <a:stretch>
            <a:fillRect/>
          </a:stretch>
        </p:blipFill>
        <p:spPr bwMode="auto">
          <a:xfrm>
            <a:off x="4194175" y="2620963"/>
            <a:ext cx="177800" cy="3937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26" name="Rectangle 528"/>
          <p:cNvSpPr>
            <a:spLocks noChangeArrowheads="1"/>
          </p:cNvSpPr>
          <p:nvPr/>
        </p:nvSpPr>
        <p:spPr bwMode="auto">
          <a:xfrm>
            <a:off x="4203700" y="2622550"/>
            <a:ext cx="176213" cy="387350"/>
          </a:xfrm>
          <a:prstGeom prst="rect">
            <a:avLst/>
          </a:pr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527" name="Freeform 529"/>
          <p:cNvSpPr>
            <a:spLocks noEditPoints="1"/>
          </p:cNvSpPr>
          <p:nvPr/>
        </p:nvSpPr>
        <p:spPr bwMode="auto">
          <a:xfrm>
            <a:off x="4224338" y="2643188"/>
            <a:ext cx="134937" cy="331787"/>
          </a:xfrm>
          <a:custGeom>
            <a:avLst/>
            <a:gdLst>
              <a:gd name="T0" fmla="*/ 0 w 85"/>
              <a:gd name="T1" fmla="*/ 188 h 209"/>
              <a:gd name="T2" fmla="*/ 85 w 85"/>
              <a:gd name="T3" fmla="*/ 188 h 209"/>
              <a:gd name="T4" fmla="*/ 85 w 85"/>
              <a:gd name="T5" fmla="*/ 209 h 209"/>
              <a:gd name="T6" fmla="*/ 0 w 85"/>
              <a:gd name="T7" fmla="*/ 209 h 209"/>
              <a:gd name="T8" fmla="*/ 0 w 85"/>
              <a:gd name="T9" fmla="*/ 188 h 209"/>
              <a:gd name="T10" fmla="*/ 0 w 85"/>
              <a:gd name="T11" fmla="*/ 156 h 209"/>
              <a:gd name="T12" fmla="*/ 85 w 85"/>
              <a:gd name="T13" fmla="*/ 156 h 209"/>
              <a:gd name="T14" fmla="*/ 85 w 85"/>
              <a:gd name="T15" fmla="*/ 177 h 209"/>
              <a:gd name="T16" fmla="*/ 0 w 85"/>
              <a:gd name="T17" fmla="*/ 177 h 209"/>
              <a:gd name="T18" fmla="*/ 0 w 85"/>
              <a:gd name="T19" fmla="*/ 156 h 209"/>
              <a:gd name="T20" fmla="*/ 0 w 85"/>
              <a:gd name="T21" fmla="*/ 124 h 209"/>
              <a:gd name="T22" fmla="*/ 85 w 85"/>
              <a:gd name="T23" fmla="*/ 124 h 209"/>
              <a:gd name="T24" fmla="*/ 85 w 85"/>
              <a:gd name="T25" fmla="*/ 145 h 209"/>
              <a:gd name="T26" fmla="*/ 0 w 85"/>
              <a:gd name="T27" fmla="*/ 145 h 209"/>
              <a:gd name="T28" fmla="*/ 0 w 85"/>
              <a:gd name="T29" fmla="*/ 124 h 209"/>
              <a:gd name="T30" fmla="*/ 0 w 85"/>
              <a:gd name="T31" fmla="*/ 92 h 209"/>
              <a:gd name="T32" fmla="*/ 85 w 85"/>
              <a:gd name="T33" fmla="*/ 92 h 209"/>
              <a:gd name="T34" fmla="*/ 85 w 85"/>
              <a:gd name="T35" fmla="*/ 113 h 209"/>
              <a:gd name="T36" fmla="*/ 0 w 85"/>
              <a:gd name="T37" fmla="*/ 113 h 209"/>
              <a:gd name="T38" fmla="*/ 0 w 85"/>
              <a:gd name="T39" fmla="*/ 92 h 209"/>
              <a:gd name="T40" fmla="*/ 0 w 85"/>
              <a:gd name="T41" fmla="*/ 47 h 209"/>
              <a:gd name="T42" fmla="*/ 85 w 85"/>
              <a:gd name="T43" fmla="*/ 47 h 209"/>
              <a:gd name="T44" fmla="*/ 85 w 85"/>
              <a:gd name="T45" fmla="*/ 82 h 209"/>
              <a:gd name="T46" fmla="*/ 0 w 85"/>
              <a:gd name="T47" fmla="*/ 82 h 209"/>
              <a:gd name="T48" fmla="*/ 0 w 85"/>
              <a:gd name="T49" fmla="*/ 47 h 209"/>
              <a:gd name="T50" fmla="*/ 0 w 85"/>
              <a:gd name="T51" fmla="*/ 0 h 209"/>
              <a:gd name="T52" fmla="*/ 85 w 85"/>
              <a:gd name="T53" fmla="*/ 0 h 209"/>
              <a:gd name="T54" fmla="*/ 85 w 85"/>
              <a:gd name="T55" fmla="*/ 35 h 209"/>
              <a:gd name="T56" fmla="*/ 0 w 85"/>
              <a:gd name="T57" fmla="*/ 35 h 209"/>
              <a:gd name="T58" fmla="*/ 0 w 85"/>
              <a:gd name="T59" fmla="*/ 0 h 209"/>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85"/>
              <a:gd name="T91" fmla="*/ 0 h 209"/>
              <a:gd name="T92" fmla="*/ 85 w 85"/>
              <a:gd name="T93" fmla="*/ 209 h 209"/>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85" h="209">
                <a:moveTo>
                  <a:pt x="0" y="188"/>
                </a:moveTo>
                <a:lnTo>
                  <a:pt x="85" y="188"/>
                </a:lnTo>
                <a:lnTo>
                  <a:pt x="85" y="209"/>
                </a:lnTo>
                <a:lnTo>
                  <a:pt x="0" y="209"/>
                </a:lnTo>
                <a:lnTo>
                  <a:pt x="0" y="188"/>
                </a:lnTo>
                <a:close/>
                <a:moveTo>
                  <a:pt x="0" y="156"/>
                </a:moveTo>
                <a:lnTo>
                  <a:pt x="85" y="156"/>
                </a:lnTo>
                <a:lnTo>
                  <a:pt x="85" y="177"/>
                </a:lnTo>
                <a:lnTo>
                  <a:pt x="0" y="177"/>
                </a:lnTo>
                <a:lnTo>
                  <a:pt x="0" y="156"/>
                </a:lnTo>
                <a:close/>
                <a:moveTo>
                  <a:pt x="0" y="124"/>
                </a:moveTo>
                <a:lnTo>
                  <a:pt x="85" y="124"/>
                </a:lnTo>
                <a:lnTo>
                  <a:pt x="85" y="145"/>
                </a:lnTo>
                <a:lnTo>
                  <a:pt x="0" y="145"/>
                </a:lnTo>
                <a:lnTo>
                  <a:pt x="0" y="124"/>
                </a:lnTo>
                <a:close/>
                <a:moveTo>
                  <a:pt x="0" y="92"/>
                </a:moveTo>
                <a:lnTo>
                  <a:pt x="85" y="92"/>
                </a:lnTo>
                <a:lnTo>
                  <a:pt x="85" y="113"/>
                </a:lnTo>
                <a:lnTo>
                  <a:pt x="0" y="113"/>
                </a:lnTo>
                <a:lnTo>
                  <a:pt x="0" y="92"/>
                </a:lnTo>
                <a:close/>
                <a:moveTo>
                  <a:pt x="0" y="47"/>
                </a:moveTo>
                <a:lnTo>
                  <a:pt x="85" y="47"/>
                </a:lnTo>
                <a:lnTo>
                  <a:pt x="85" y="82"/>
                </a:lnTo>
                <a:lnTo>
                  <a:pt x="0" y="82"/>
                </a:lnTo>
                <a:lnTo>
                  <a:pt x="0" y="47"/>
                </a:lnTo>
                <a:close/>
                <a:moveTo>
                  <a:pt x="0" y="0"/>
                </a:moveTo>
                <a:lnTo>
                  <a:pt x="85" y="0"/>
                </a:lnTo>
                <a:lnTo>
                  <a:pt x="85" y="35"/>
                </a:lnTo>
                <a:lnTo>
                  <a:pt x="0" y="35"/>
                </a:lnTo>
                <a:lnTo>
                  <a:pt x="0" y="0"/>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28" name="Rectangle 530"/>
          <p:cNvSpPr>
            <a:spLocks noChangeArrowheads="1"/>
          </p:cNvSpPr>
          <p:nvPr/>
        </p:nvSpPr>
        <p:spPr bwMode="auto">
          <a:xfrm>
            <a:off x="4224338" y="2941638"/>
            <a:ext cx="134937" cy="33337"/>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529" name="Rectangle 531"/>
          <p:cNvSpPr>
            <a:spLocks noChangeArrowheads="1"/>
          </p:cNvSpPr>
          <p:nvPr/>
        </p:nvSpPr>
        <p:spPr bwMode="auto">
          <a:xfrm>
            <a:off x="4224338" y="2890838"/>
            <a:ext cx="134937" cy="33337"/>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530" name="Rectangle 532"/>
          <p:cNvSpPr>
            <a:spLocks noChangeArrowheads="1"/>
          </p:cNvSpPr>
          <p:nvPr/>
        </p:nvSpPr>
        <p:spPr bwMode="auto">
          <a:xfrm>
            <a:off x="4224338" y="2840038"/>
            <a:ext cx="134937" cy="33337"/>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531" name="Rectangle 533"/>
          <p:cNvSpPr>
            <a:spLocks noChangeArrowheads="1"/>
          </p:cNvSpPr>
          <p:nvPr/>
        </p:nvSpPr>
        <p:spPr bwMode="auto">
          <a:xfrm>
            <a:off x="4224338" y="2789238"/>
            <a:ext cx="134937" cy="33337"/>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532" name="Rectangle 534"/>
          <p:cNvSpPr>
            <a:spLocks noChangeArrowheads="1"/>
          </p:cNvSpPr>
          <p:nvPr/>
        </p:nvSpPr>
        <p:spPr bwMode="auto">
          <a:xfrm>
            <a:off x="4224338" y="2717800"/>
            <a:ext cx="134937" cy="55563"/>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533" name="Rectangle 535"/>
          <p:cNvSpPr>
            <a:spLocks noChangeArrowheads="1"/>
          </p:cNvSpPr>
          <p:nvPr/>
        </p:nvSpPr>
        <p:spPr bwMode="auto">
          <a:xfrm>
            <a:off x="4224338" y="2643188"/>
            <a:ext cx="134937" cy="55562"/>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534" name="Rectangle 536"/>
          <p:cNvSpPr>
            <a:spLocks noChangeArrowheads="1"/>
          </p:cNvSpPr>
          <p:nvPr/>
        </p:nvSpPr>
        <p:spPr bwMode="auto">
          <a:xfrm>
            <a:off x="4183063" y="3227388"/>
            <a:ext cx="217487" cy="15875"/>
          </a:xfrm>
          <a:prstGeom prst="rect">
            <a:avLst/>
          </a:prstGeom>
          <a:solidFill>
            <a:srgbClr val="9A9A9A"/>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pic>
        <p:nvPicPr>
          <p:cNvPr id="535" name="Picture 537"/>
          <p:cNvPicPr>
            <a:picLocks noChangeAspect="1" noChangeArrowheads="1"/>
          </p:cNvPicPr>
          <p:nvPr/>
        </p:nvPicPr>
        <p:blipFill>
          <a:blip r:embed="rId126">
            <a:extLst>
              <a:ext uri="{28A0092B-C50C-407E-A947-70E740481C1C}">
                <a14:useLocalDpi xmlns:a14="http://schemas.microsoft.com/office/drawing/2010/main" val="0"/>
              </a:ext>
            </a:extLst>
          </a:blip>
          <a:srcRect/>
          <a:stretch>
            <a:fillRect/>
          </a:stretch>
        </p:blipFill>
        <p:spPr bwMode="auto">
          <a:xfrm>
            <a:off x="4270375" y="3040063"/>
            <a:ext cx="38100" cy="381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536" name="Picture 538"/>
          <p:cNvPicPr>
            <a:picLocks noChangeAspect="1" noChangeArrowheads="1"/>
          </p:cNvPicPr>
          <p:nvPr/>
        </p:nvPicPr>
        <p:blipFill>
          <a:blip r:embed="rId127">
            <a:extLst>
              <a:ext uri="{28A0092B-C50C-407E-A947-70E740481C1C}">
                <a14:useLocalDpi xmlns:a14="http://schemas.microsoft.com/office/drawing/2010/main" val="0"/>
              </a:ext>
            </a:extLst>
          </a:blip>
          <a:srcRect/>
          <a:stretch>
            <a:fillRect/>
          </a:stretch>
        </p:blipFill>
        <p:spPr bwMode="auto">
          <a:xfrm>
            <a:off x="4270375" y="3052763"/>
            <a:ext cx="25400" cy="25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537" name="Picture 539"/>
          <p:cNvPicPr>
            <a:picLocks noChangeAspect="1" noChangeArrowheads="1"/>
          </p:cNvPicPr>
          <p:nvPr/>
        </p:nvPicPr>
        <p:blipFill>
          <a:blip r:embed="rId128">
            <a:extLst>
              <a:ext uri="{28A0092B-C50C-407E-A947-70E740481C1C}">
                <a14:useLocalDpi xmlns:a14="http://schemas.microsoft.com/office/drawing/2010/main" val="0"/>
              </a:ext>
            </a:extLst>
          </a:blip>
          <a:srcRect/>
          <a:stretch>
            <a:fillRect/>
          </a:stretch>
        </p:blipFill>
        <p:spPr bwMode="auto">
          <a:xfrm>
            <a:off x="4270375" y="3052763"/>
            <a:ext cx="25400" cy="25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538" name="Picture 540"/>
          <p:cNvPicPr>
            <a:picLocks noChangeAspect="1" noChangeArrowheads="1"/>
          </p:cNvPicPr>
          <p:nvPr/>
        </p:nvPicPr>
        <p:blipFill>
          <a:blip r:embed="rId129">
            <a:extLst>
              <a:ext uri="{28A0092B-C50C-407E-A947-70E740481C1C}">
                <a14:useLocalDpi xmlns:a14="http://schemas.microsoft.com/office/drawing/2010/main" val="0"/>
              </a:ext>
            </a:extLst>
          </a:blip>
          <a:srcRect/>
          <a:stretch>
            <a:fillRect/>
          </a:stretch>
        </p:blipFill>
        <p:spPr bwMode="auto">
          <a:xfrm>
            <a:off x="4270375" y="3090863"/>
            <a:ext cx="25400" cy="25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539" name="Picture 541"/>
          <p:cNvPicPr>
            <a:picLocks noChangeAspect="1" noChangeArrowheads="1"/>
          </p:cNvPicPr>
          <p:nvPr/>
        </p:nvPicPr>
        <p:blipFill>
          <a:blip r:embed="rId130">
            <a:extLst>
              <a:ext uri="{28A0092B-C50C-407E-A947-70E740481C1C}">
                <a14:useLocalDpi xmlns:a14="http://schemas.microsoft.com/office/drawing/2010/main" val="0"/>
              </a:ext>
            </a:extLst>
          </a:blip>
          <a:srcRect/>
          <a:stretch>
            <a:fillRect/>
          </a:stretch>
        </p:blipFill>
        <p:spPr bwMode="auto">
          <a:xfrm>
            <a:off x="4270375" y="3090863"/>
            <a:ext cx="25400" cy="25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540" name="Picture 542"/>
          <p:cNvPicPr>
            <a:picLocks noChangeAspect="1" noChangeArrowheads="1"/>
          </p:cNvPicPr>
          <p:nvPr/>
        </p:nvPicPr>
        <p:blipFill>
          <a:blip r:embed="rId66">
            <a:extLst>
              <a:ext uri="{28A0092B-C50C-407E-A947-70E740481C1C}">
                <a14:useLocalDpi xmlns:a14="http://schemas.microsoft.com/office/drawing/2010/main" val="0"/>
              </a:ext>
            </a:extLst>
          </a:blip>
          <a:srcRect/>
          <a:stretch>
            <a:fillRect/>
          </a:stretch>
        </p:blipFill>
        <p:spPr bwMode="auto">
          <a:xfrm>
            <a:off x="4283075" y="3090863"/>
            <a:ext cx="12700" cy="127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41" name="Rectangle 543"/>
          <p:cNvSpPr>
            <a:spLocks noChangeArrowheads="1"/>
          </p:cNvSpPr>
          <p:nvPr/>
        </p:nvSpPr>
        <p:spPr bwMode="auto">
          <a:xfrm>
            <a:off x="4257675" y="2671763"/>
            <a:ext cx="19050" cy="4762"/>
          </a:xfrm>
          <a:prstGeom prst="rect">
            <a:avLst/>
          </a:prstGeom>
          <a:solidFill>
            <a:srgbClr val="9A9A9A"/>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pic>
        <p:nvPicPr>
          <p:cNvPr id="542" name="Picture 544"/>
          <p:cNvPicPr>
            <a:picLocks noChangeAspect="1" noChangeArrowheads="1"/>
          </p:cNvPicPr>
          <p:nvPr/>
        </p:nvPicPr>
        <p:blipFill>
          <a:blip r:embed="rId67">
            <a:extLst>
              <a:ext uri="{28A0092B-C50C-407E-A947-70E740481C1C}">
                <a14:useLocalDpi xmlns:a14="http://schemas.microsoft.com/office/drawing/2010/main" val="0"/>
              </a:ext>
            </a:extLst>
          </a:blip>
          <a:srcRect/>
          <a:stretch>
            <a:fillRect/>
          </a:stretch>
        </p:blipFill>
        <p:spPr bwMode="auto">
          <a:xfrm>
            <a:off x="4232275" y="2646363"/>
            <a:ext cx="114300" cy="127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43" name="Rectangle 545"/>
          <p:cNvSpPr>
            <a:spLocks noChangeArrowheads="1"/>
          </p:cNvSpPr>
          <p:nvPr/>
        </p:nvSpPr>
        <p:spPr bwMode="auto">
          <a:xfrm>
            <a:off x="4235450" y="2654300"/>
            <a:ext cx="112713" cy="9525"/>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pic>
        <p:nvPicPr>
          <p:cNvPr id="544" name="Picture 546"/>
          <p:cNvPicPr>
            <a:picLocks noChangeAspect="1" noChangeArrowheads="1"/>
          </p:cNvPicPr>
          <p:nvPr/>
        </p:nvPicPr>
        <p:blipFill>
          <a:blip r:embed="rId131">
            <a:extLst>
              <a:ext uri="{28A0092B-C50C-407E-A947-70E740481C1C}">
                <a14:useLocalDpi xmlns:a14="http://schemas.microsoft.com/office/drawing/2010/main" val="0"/>
              </a:ext>
            </a:extLst>
          </a:blip>
          <a:srcRect/>
          <a:stretch>
            <a:fillRect/>
          </a:stretch>
        </p:blipFill>
        <p:spPr bwMode="auto">
          <a:xfrm>
            <a:off x="4219575" y="2722563"/>
            <a:ext cx="114300" cy="25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545" name="Picture 547"/>
          <p:cNvPicPr>
            <a:picLocks noChangeAspect="1" noChangeArrowheads="1"/>
          </p:cNvPicPr>
          <p:nvPr/>
        </p:nvPicPr>
        <p:blipFill>
          <a:blip r:embed="rId132">
            <a:extLst>
              <a:ext uri="{28A0092B-C50C-407E-A947-70E740481C1C}">
                <a14:useLocalDpi xmlns:a14="http://schemas.microsoft.com/office/drawing/2010/main" val="0"/>
              </a:ext>
            </a:extLst>
          </a:blip>
          <a:srcRect/>
          <a:stretch>
            <a:fillRect/>
          </a:stretch>
        </p:blipFill>
        <p:spPr bwMode="auto">
          <a:xfrm>
            <a:off x="4219575" y="2722563"/>
            <a:ext cx="114300" cy="25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46" name="Freeform 548"/>
          <p:cNvSpPr>
            <a:spLocks/>
          </p:cNvSpPr>
          <p:nvPr/>
        </p:nvSpPr>
        <p:spPr bwMode="auto">
          <a:xfrm>
            <a:off x="4232275" y="2730500"/>
            <a:ext cx="114300" cy="22225"/>
          </a:xfrm>
          <a:custGeom>
            <a:avLst/>
            <a:gdLst>
              <a:gd name="T0" fmla="*/ 0 w 144"/>
              <a:gd name="T1" fmla="*/ 6 h 28"/>
              <a:gd name="T2" fmla="*/ 40 w 144"/>
              <a:gd name="T3" fmla="*/ 6 h 28"/>
              <a:gd name="T4" fmla="*/ 118 w 144"/>
              <a:gd name="T5" fmla="*/ 6 h 28"/>
              <a:gd name="T6" fmla="*/ 118 w 144"/>
              <a:gd name="T7" fmla="*/ 6 h 28"/>
              <a:gd name="T8" fmla="*/ 144 w 144"/>
              <a:gd name="T9" fmla="*/ 6 h 28"/>
              <a:gd name="T10" fmla="*/ 144 w 144"/>
              <a:gd name="T11" fmla="*/ 28 h 28"/>
              <a:gd name="T12" fmla="*/ 0 w 144"/>
              <a:gd name="T13" fmla="*/ 28 h 28"/>
              <a:gd name="T14" fmla="*/ 0 w 144"/>
              <a:gd name="T15" fmla="*/ 6 h 28"/>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28"/>
              <a:gd name="T26" fmla="*/ 144 w 144"/>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28">
                <a:moveTo>
                  <a:pt x="0" y="6"/>
                </a:moveTo>
                <a:lnTo>
                  <a:pt x="40" y="6"/>
                </a:lnTo>
                <a:cubicBezTo>
                  <a:pt x="65" y="0"/>
                  <a:pt x="93" y="0"/>
                  <a:pt x="118" y="6"/>
                </a:cubicBezTo>
                <a:lnTo>
                  <a:pt x="144" y="6"/>
                </a:lnTo>
                <a:lnTo>
                  <a:pt x="144" y="28"/>
                </a:lnTo>
                <a:lnTo>
                  <a:pt x="0" y="28"/>
                </a:lnTo>
                <a:lnTo>
                  <a:pt x="0" y="6"/>
                </a:lnTo>
              </a:path>
            </a:pathLst>
          </a:cu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547" name="Rectangle 549"/>
          <p:cNvSpPr>
            <a:spLocks noChangeArrowheads="1"/>
          </p:cNvSpPr>
          <p:nvPr/>
        </p:nvSpPr>
        <p:spPr bwMode="auto">
          <a:xfrm>
            <a:off x="4237038" y="2741613"/>
            <a:ext cx="104775" cy="4762"/>
          </a:xfrm>
          <a:prstGeom prst="rect">
            <a:avLst/>
          </a:prstGeom>
          <a:solidFill>
            <a:srgbClr val="DBDAC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548" name="Rectangle 550"/>
          <p:cNvSpPr>
            <a:spLocks noChangeArrowheads="1"/>
          </p:cNvSpPr>
          <p:nvPr/>
        </p:nvSpPr>
        <p:spPr bwMode="auto">
          <a:xfrm>
            <a:off x="4237038" y="2741613"/>
            <a:ext cx="104775" cy="4762"/>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pic>
        <p:nvPicPr>
          <p:cNvPr id="549" name="Picture 551"/>
          <p:cNvPicPr>
            <a:picLocks noChangeAspect="1" noChangeArrowheads="1"/>
          </p:cNvPicPr>
          <p:nvPr/>
        </p:nvPicPr>
        <p:blipFill>
          <a:blip r:embed="rId133">
            <a:extLst>
              <a:ext uri="{28A0092B-C50C-407E-A947-70E740481C1C}">
                <a14:useLocalDpi xmlns:a14="http://schemas.microsoft.com/office/drawing/2010/main" val="0"/>
              </a:ext>
            </a:extLst>
          </a:blip>
          <a:srcRect/>
          <a:stretch>
            <a:fillRect/>
          </a:stretch>
        </p:blipFill>
        <p:spPr bwMode="auto">
          <a:xfrm>
            <a:off x="4232275" y="2786063"/>
            <a:ext cx="127000" cy="25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550" name="Picture 552"/>
          <p:cNvPicPr>
            <a:picLocks noChangeAspect="1" noChangeArrowheads="1"/>
          </p:cNvPicPr>
          <p:nvPr/>
        </p:nvPicPr>
        <p:blipFill>
          <a:blip r:embed="rId134">
            <a:extLst>
              <a:ext uri="{28A0092B-C50C-407E-A947-70E740481C1C}">
                <a14:useLocalDpi xmlns:a14="http://schemas.microsoft.com/office/drawing/2010/main" val="0"/>
              </a:ext>
            </a:extLst>
          </a:blip>
          <a:srcRect/>
          <a:stretch>
            <a:fillRect/>
          </a:stretch>
        </p:blipFill>
        <p:spPr bwMode="auto">
          <a:xfrm>
            <a:off x="4232275" y="2786063"/>
            <a:ext cx="127000" cy="25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51" name="Freeform 553"/>
          <p:cNvSpPr>
            <a:spLocks/>
          </p:cNvSpPr>
          <p:nvPr/>
        </p:nvSpPr>
        <p:spPr bwMode="auto">
          <a:xfrm>
            <a:off x="4232275" y="2794000"/>
            <a:ext cx="119063" cy="19050"/>
          </a:xfrm>
          <a:custGeom>
            <a:avLst/>
            <a:gdLst>
              <a:gd name="T0" fmla="*/ 0 w 149"/>
              <a:gd name="T1" fmla="*/ 18 h 23"/>
              <a:gd name="T2" fmla="*/ 0 w 149"/>
              <a:gd name="T3" fmla="*/ 6 h 23"/>
              <a:gd name="T4" fmla="*/ 48 w 149"/>
              <a:gd name="T5" fmla="*/ 6 h 23"/>
              <a:gd name="T6" fmla="*/ 101 w 149"/>
              <a:gd name="T7" fmla="*/ 6 h 23"/>
              <a:gd name="T8" fmla="*/ 101 w 149"/>
              <a:gd name="T9" fmla="*/ 6 h 23"/>
              <a:gd name="T10" fmla="*/ 149 w 149"/>
              <a:gd name="T11" fmla="*/ 6 h 23"/>
              <a:gd name="T12" fmla="*/ 149 w 149"/>
              <a:gd name="T13" fmla="*/ 18 h 23"/>
              <a:gd name="T14" fmla="*/ 101 w 149"/>
              <a:gd name="T15" fmla="*/ 18 h 23"/>
              <a:gd name="T16" fmla="*/ 48 w 149"/>
              <a:gd name="T17" fmla="*/ 18 h 23"/>
              <a:gd name="T18" fmla="*/ 48 w 149"/>
              <a:gd name="T19" fmla="*/ 18 h 23"/>
              <a:gd name="T20" fmla="*/ 0 w 149"/>
              <a:gd name="T21" fmla="*/ 18 h 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9"/>
              <a:gd name="T34" fmla="*/ 0 h 23"/>
              <a:gd name="T35" fmla="*/ 149 w 149"/>
              <a:gd name="T36" fmla="*/ 23 h 2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9" h="23">
                <a:moveTo>
                  <a:pt x="0" y="18"/>
                </a:moveTo>
                <a:lnTo>
                  <a:pt x="0" y="6"/>
                </a:lnTo>
                <a:lnTo>
                  <a:pt x="48" y="6"/>
                </a:lnTo>
                <a:cubicBezTo>
                  <a:pt x="64" y="0"/>
                  <a:pt x="85" y="0"/>
                  <a:pt x="101" y="6"/>
                </a:cubicBezTo>
                <a:lnTo>
                  <a:pt x="149" y="6"/>
                </a:lnTo>
                <a:lnTo>
                  <a:pt x="149" y="18"/>
                </a:lnTo>
                <a:lnTo>
                  <a:pt x="101" y="18"/>
                </a:lnTo>
                <a:cubicBezTo>
                  <a:pt x="84" y="23"/>
                  <a:pt x="65" y="23"/>
                  <a:pt x="48" y="18"/>
                </a:cubicBezTo>
                <a:lnTo>
                  <a:pt x="0" y="18"/>
                </a:lnTo>
              </a:path>
            </a:pathLst>
          </a:cu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pic>
        <p:nvPicPr>
          <p:cNvPr id="552" name="Picture 554"/>
          <p:cNvPicPr>
            <a:picLocks noChangeAspect="1" noChangeArrowheads="1"/>
          </p:cNvPicPr>
          <p:nvPr/>
        </p:nvPicPr>
        <p:blipFill>
          <a:blip r:embed="rId135">
            <a:extLst>
              <a:ext uri="{28A0092B-C50C-407E-A947-70E740481C1C}">
                <a14:useLocalDpi xmlns:a14="http://schemas.microsoft.com/office/drawing/2010/main" val="0"/>
              </a:ext>
            </a:extLst>
          </a:blip>
          <a:srcRect/>
          <a:stretch>
            <a:fillRect/>
          </a:stretch>
        </p:blipFill>
        <p:spPr bwMode="auto">
          <a:xfrm>
            <a:off x="4283075" y="2659063"/>
            <a:ext cx="63500" cy="152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553" name="Picture 555"/>
          <p:cNvPicPr>
            <a:picLocks noChangeAspect="1" noChangeArrowheads="1"/>
          </p:cNvPicPr>
          <p:nvPr/>
        </p:nvPicPr>
        <p:blipFill>
          <a:blip r:embed="rId136">
            <a:extLst>
              <a:ext uri="{28A0092B-C50C-407E-A947-70E740481C1C}">
                <a14:useLocalDpi xmlns:a14="http://schemas.microsoft.com/office/drawing/2010/main" val="0"/>
              </a:ext>
            </a:extLst>
          </a:blip>
          <a:srcRect/>
          <a:stretch>
            <a:fillRect/>
          </a:stretch>
        </p:blipFill>
        <p:spPr bwMode="auto">
          <a:xfrm>
            <a:off x="4283075" y="2659063"/>
            <a:ext cx="63500" cy="152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54" name="Freeform 556"/>
          <p:cNvSpPr>
            <a:spLocks noEditPoints="1"/>
          </p:cNvSpPr>
          <p:nvPr/>
        </p:nvSpPr>
        <p:spPr bwMode="auto">
          <a:xfrm>
            <a:off x="4291013" y="2670175"/>
            <a:ext cx="60325" cy="149225"/>
          </a:xfrm>
          <a:custGeom>
            <a:avLst/>
            <a:gdLst>
              <a:gd name="T0" fmla="*/ 27 w 38"/>
              <a:gd name="T1" fmla="*/ 5 h 94"/>
              <a:gd name="T2" fmla="*/ 37 w 38"/>
              <a:gd name="T3" fmla="*/ 5 h 94"/>
              <a:gd name="T4" fmla="*/ 37 w 38"/>
              <a:gd name="T5" fmla="*/ 0 h 94"/>
              <a:gd name="T6" fmla="*/ 27 w 38"/>
              <a:gd name="T7" fmla="*/ 0 h 94"/>
              <a:gd name="T8" fmla="*/ 27 w 38"/>
              <a:gd name="T9" fmla="*/ 5 h 94"/>
              <a:gd name="T10" fmla="*/ 17 w 38"/>
              <a:gd name="T11" fmla="*/ 4 h 94"/>
              <a:gd name="T12" fmla="*/ 10 w 38"/>
              <a:gd name="T13" fmla="*/ 7 h 94"/>
              <a:gd name="T14" fmla="*/ 10 w 38"/>
              <a:gd name="T15" fmla="*/ 0 h 94"/>
              <a:gd name="T16" fmla="*/ 17 w 38"/>
              <a:gd name="T17" fmla="*/ 4 h 94"/>
              <a:gd name="T18" fmla="*/ 0 w 38"/>
              <a:gd name="T19" fmla="*/ 4 h 94"/>
              <a:gd name="T20" fmla="*/ 7 w 38"/>
              <a:gd name="T21" fmla="*/ 0 h 94"/>
              <a:gd name="T22" fmla="*/ 7 w 38"/>
              <a:gd name="T23" fmla="*/ 7 h 94"/>
              <a:gd name="T24" fmla="*/ 0 w 38"/>
              <a:gd name="T25" fmla="*/ 4 h 94"/>
              <a:gd name="T26" fmla="*/ 22 w 38"/>
              <a:gd name="T27" fmla="*/ 59 h 94"/>
              <a:gd name="T28" fmla="*/ 35 w 38"/>
              <a:gd name="T29" fmla="*/ 59 h 94"/>
              <a:gd name="T30" fmla="*/ 35 w 38"/>
              <a:gd name="T31" fmla="*/ 55 h 94"/>
              <a:gd name="T32" fmla="*/ 22 w 38"/>
              <a:gd name="T33" fmla="*/ 55 h 94"/>
              <a:gd name="T34" fmla="*/ 22 w 38"/>
              <a:gd name="T35" fmla="*/ 59 h 94"/>
              <a:gd name="T36" fmla="*/ 25 w 38"/>
              <a:gd name="T37" fmla="*/ 94 h 94"/>
              <a:gd name="T38" fmla="*/ 38 w 38"/>
              <a:gd name="T39" fmla="*/ 94 h 94"/>
              <a:gd name="T40" fmla="*/ 38 w 38"/>
              <a:gd name="T41" fmla="*/ 90 h 94"/>
              <a:gd name="T42" fmla="*/ 25 w 38"/>
              <a:gd name="T43" fmla="*/ 90 h 94"/>
              <a:gd name="T44" fmla="*/ 25 w 38"/>
              <a:gd name="T45" fmla="*/ 94 h 9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8"/>
              <a:gd name="T70" fmla="*/ 0 h 94"/>
              <a:gd name="T71" fmla="*/ 38 w 38"/>
              <a:gd name="T72" fmla="*/ 94 h 9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8" h="94">
                <a:moveTo>
                  <a:pt x="27" y="5"/>
                </a:moveTo>
                <a:lnTo>
                  <a:pt x="37" y="5"/>
                </a:lnTo>
                <a:lnTo>
                  <a:pt x="37" y="0"/>
                </a:lnTo>
                <a:lnTo>
                  <a:pt x="27" y="0"/>
                </a:lnTo>
                <a:lnTo>
                  <a:pt x="27" y="5"/>
                </a:lnTo>
                <a:moveTo>
                  <a:pt x="17" y="4"/>
                </a:moveTo>
                <a:lnTo>
                  <a:pt x="10" y="7"/>
                </a:lnTo>
                <a:lnTo>
                  <a:pt x="10" y="0"/>
                </a:lnTo>
                <a:lnTo>
                  <a:pt x="17" y="4"/>
                </a:lnTo>
                <a:moveTo>
                  <a:pt x="0" y="4"/>
                </a:moveTo>
                <a:lnTo>
                  <a:pt x="7" y="0"/>
                </a:lnTo>
                <a:lnTo>
                  <a:pt x="7" y="7"/>
                </a:lnTo>
                <a:lnTo>
                  <a:pt x="0" y="4"/>
                </a:lnTo>
                <a:moveTo>
                  <a:pt x="22" y="59"/>
                </a:moveTo>
                <a:lnTo>
                  <a:pt x="35" y="59"/>
                </a:lnTo>
                <a:lnTo>
                  <a:pt x="35" y="55"/>
                </a:lnTo>
                <a:lnTo>
                  <a:pt x="22" y="55"/>
                </a:lnTo>
                <a:lnTo>
                  <a:pt x="22" y="59"/>
                </a:lnTo>
                <a:moveTo>
                  <a:pt x="25" y="94"/>
                </a:moveTo>
                <a:lnTo>
                  <a:pt x="38" y="94"/>
                </a:lnTo>
                <a:lnTo>
                  <a:pt x="38" y="90"/>
                </a:lnTo>
                <a:lnTo>
                  <a:pt x="25" y="90"/>
                </a:lnTo>
                <a:lnTo>
                  <a:pt x="25" y="94"/>
                </a:lnTo>
              </a:path>
            </a:pathLst>
          </a:cu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555" name="Freeform 557"/>
          <p:cNvSpPr>
            <a:spLocks noEditPoints="1"/>
          </p:cNvSpPr>
          <p:nvPr/>
        </p:nvSpPr>
        <p:spPr bwMode="auto">
          <a:xfrm>
            <a:off x="4232275" y="2671763"/>
            <a:ext cx="12700" cy="88900"/>
          </a:xfrm>
          <a:custGeom>
            <a:avLst/>
            <a:gdLst>
              <a:gd name="T0" fmla="*/ 2 w 8"/>
              <a:gd name="T1" fmla="*/ 0 h 56"/>
              <a:gd name="T2" fmla="*/ 8 w 8"/>
              <a:gd name="T3" fmla="*/ 0 h 56"/>
              <a:gd name="T4" fmla="*/ 0 w 8"/>
              <a:gd name="T5" fmla="*/ 56 h 56"/>
              <a:gd name="T6" fmla="*/ 6 w 8"/>
              <a:gd name="T7" fmla="*/ 56 h 56"/>
              <a:gd name="T8" fmla="*/ 0 60000 65536"/>
              <a:gd name="T9" fmla="*/ 0 60000 65536"/>
              <a:gd name="T10" fmla="*/ 0 60000 65536"/>
              <a:gd name="T11" fmla="*/ 0 60000 65536"/>
              <a:gd name="T12" fmla="*/ 0 w 8"/>
              <a:gd name="T13" fmla="*/ 0 h 56"/>
              <a:gd name="T14" fmla="*/ 8 w 8"/>
              <a:gd name="T15" fmla="*/ 56 h 56"/>
            </a:gdLst>
            <a:ahLst/>
            <a:cxnLst>
              <a:cxn ang="T8">
                <a:pos x="T0" y="T1"/>
              </a:cxn>
              <a:cxn ang="T9">
                <a:pos x="T2" y="T3"/>
              </a:cxn>
              <a:cxn ang="T10">
                <a:pos x="T4" y="T5"/>
              </a:cxn>
              <a:cxn ang="T11">
                <a:pos x="T6" y="T7"/>
              </a:cxn>
            </a:cxnLst>
            <a:rect l="T12" t="T13" r="T14" b="T15"/>
            <a:pathLst>
              <a:path w="8" h="56">
                <a:moveTo>
                  <a:pt x="2" y="0"/>
                </a:moveTo>
                <a:lnTo>
                  <a:pt x="8" y="0"/>
                </a:lnTo>
                <a:moveTo>
                  <a:pt x="0" y="56"/>
                </a:moveTo>
                <a:lnTo>
                  <a:pt x="6" y="56"/>
                </a:lnTo>
              </a:path>
            </a:pathLst>
          </a:custGeom>
          <a:noFill/>
          <a:ln w="3175" cap="sq">
            <a:solidFill>
              <a:srgbClr val="00FF00"/>
            </a:solidFill>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556" name="Rectangle 558"/>
          <p:cNvSpPr>
            <a:spLocks noChangeArrowheads="1"/>
          </p:cNvSpPr>
          <p:nvPr/>
        </p:nvSpPr>
        <p:spPr bwMode="auto">
          <a:xfrm>
            <a:off x="4194175" y="3027363"/>
            <a:ext cx="12700" cy="177800"/>
          </a:xfrm>
          <a:prstGeom prst="rect">
            <a:avLst/>
          </a:prstGeom>
          <a:solidFill>
            <a:srgbClr val="B3B3B3"/>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557" name="Rectangle 559"/>
          <p:cNvSpPr>
            <a:spLocks noChangeArrowheads="1"/>
          </p:cNvSpPr>
          <p:nvPr/>
        </p:nvSpPr>
        <p:spPr bwMode="auto">
          <a:xfrm>
            <a:off x="4206875" y="3027363"/>
            <a:ext cx="12700" cy="177800"/>
          </a:xfrm>
          <a:prstGeom prst="rect">
            <a:avLst/>
          </a:prstGeom>
          <a:solidFill>
            <a:srgbClr val="6D6D6D"/>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558" name="Rectangle 560"/>
          <p:cNvSpPr>
            <a:spLocks noChangeArrowheads="1"/>
          </p:cNvSpPr>
          <p:nvPr/>
        </p:nvSpPr>
        <p:spPr bwMode="auto">
          <a:xfrm>
            <a:off x="4219575" y="3027363"/>
            <a:ext cx="12700" cy="177800"/>
          </a:xfrm>
          <a:prstGeom prst="rect">
            <a:avLst/>
          </a:prstGeom>
          <a:solidFill>
            <a:srgbClr val="828282"/>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559" name="Rectangle 561"/>
          <p:cNvSpPr>
            <a:spLocks noChangeArrowheads="1"/>
          </p:cNvSpPr>
          <p:nvPr/>
        </p:nvSpPr>
        <p:spPr bwMode="auto">
          <a:xfrm>
            <a:off x="4232275" y="3027363"/>
            <a:ext cx="12700" cy="177800"/>
          </a:xfrm>
          <a:prstGeom prst="rect">
            <a:avLst/>
          </a:prstGeom>
          <a:solidFill>
            <a:srgbClr val="96969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560" name="Rectangle 562"/>
          <p:cNvSpPr>
            <a:spLocks noChangeArrowheads="1"/>
          </p:cNvSpPr>
          <p:nvPr/>
        </p:nvSpPr>
        <p:spPr bwMode="auto">
          <a:xfrm>
            <a:off x="4244975" y="3027363"/>
            <a:ext cx="12700" cy="177800"/>
          </a:xfrm>
          <a:prstGeom prst="rect">
            <a:avLst/>
          </a:prstGeom>
          <a:solidFill>
            <a:srgbClr val="ABABAB"/>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561" name="Rectangle 563"/>
          <p:cNvSpPr>
            <a:spLocks noChangeArrowheads="1"/>
          </p:cNvSpPr>
          <p:nvPr/>
        </p:nvSpPr>
        <p:spPr bwMode="auto">
          <a:xfrm>
            <a:off x="4321175" y="3027363"/>
            <a:ext cx="12700" cy="177800"/>
          </a:xfrm>
          <a:prstGeom prst="rect">
            <a:avLst/>
          </a:prstGeom>
          <a:solidFill>
            <a:srgbClr val="6B6B6B"/>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562" name="Rectangle 564"/>
          <p:cNvSpPr>
            <a:spLocks noChangeArrowheads="1"/>
          </p:cNvSpPr>
          <p:nvPr/>
        </p:nvSpPr>
        <p:spPr bwMode="auto">
          <a:xfrm>
            <a:off x="4333875" y="3027363"/>
            <a:ext cx="12700" cy="177800"/>
          </a:xfrm>
          <a:prstGeom prst="rect">
            <a:avLst/>
          </a:prstGeom>
          <a:solidFill>
            <a:srgbClr val="B0B0B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563" name="Rectangle 565"/>
          <p:cNvSpPr>
            <a:spLocks noChangeArrowheads="1"/>
          </p:cNvSpPr>
          <p:nvPr/>
        </p:nvSpPr>
        <p:spPr bwMode="auto">
          <a:xfrm>
            <a:off x="4346575" y="3027363"/>
            <a:ext cx="12700" cy="177800"/>
          </a:xfrm>
          <a:prstGeom prst="rect">
            <a:avLst/>
          </a:prstGeom>
          <a:solidFill>
            <a:srgbClr val="9C9C9C"/>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564" name="Rectangle 566"/>
          <p:cNvSpPr>
            <a:spLocks noChangeArrowheads="1"/>
          </p:cNvSpPr>
          <p:nvPr/>
        </p:nvSpPr>
        <p:spPr bwMode="auto">
          <a:xfrm>
            <a:off x="4359275" y="3027363"/>
            <a:ext cx="12700" cy="177800"/>
          </a:xfrm>
          <a:prstGeom prst="rect">
            <a:avLst/>
          </a:prstGeom>
          <a:solidFill>
            <a:srgbClr val="878787"/>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565" name="Rectangle 567"/>
          <p:cNvSpPr>
            <a:spLocks noChangeArrowheads="1"/>
          </p:cNvSpPr>
          <p:nvPr/>
        </p:nvSpPr>
        <p:spPr bwMode="auto">
          <a:xfrm>
            <a:off x="4371975" y="3027363"/>
            <a:ext cx="12700" cy="177800"/>
          </a:xfrm>
          <a:prstGeom prst="rect">
            <a:avLst/>
          </a:prstGeom>
          <a:solidFill>
            <a:srgbClr val="727272"/>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566" name="Freeform 568"/>
          <p:cNvSpPr>
            <a:spLocks/>
          </p:cNvSpPr>
          <p:nvPr/>
        </p:nvSpPr>
        <p:spPr bwMode="auto">
          <a:xfrm>
            <a:off x="4173538" y="2511425"/>
            <a:ext cx="315912" cy="731838"/>
          </a:xfrm>
          <a:custGeom>
            <a:avLst/>
            <a:gdLst>
              <a:gd name="T0" fmla="*/ 6 w 199"/>
              <a:gd name="T1" fmla="*/ 461 h 461"/>
              <a:gd name="T2" fmla="*/ 6 w 199"/>
              <a:gd name="T3" fmla="*/ 451 h 461"/>
              <a:gd name="T4" fmla="*/ 0 w 199"/>
              <a:gd name="T5" fmla="*/ 451 h 461"/>
              <a:gd name="T6" fmla="*/ 0 w 199"/>
              <a:gd name="T7" fmla="*/ 51 h 461"/>
              <a:gd name="T8" fmla="*/ 50 w 199"/>
              <a:gd name="T9" fmla="*/ 0 h 461"/>
              <a:gd name="T10" fmla="*/ 199 w 199"/>
              <a:gd name="T11" fmla="*/ 0 h 461"/>
              <a:gd name="T12" fmla="*/ 199 w 199"/>
              <a:gd name="T13" fmla="*/ 400 h 461"/>
              <a:gd name="T14" fmla="*/ 196 w 199"/>
              <a:gd name="T15" fmla="*/ 403 h 461"/>
              <a:gd name="T16" fmla="*/ 196 w 199"/>
              <a:gd name="T17" fmla="*/ 406 h 461"/>
              <a:gd name="T18" fmla="*/ 143 w 199"/>
              <a:gd name="T19" fmla="*/ 461 h 461"/>
              <a:gd name="T20" fmla="*/ 6 w 199"/>
              <a:gd name="T21" fmla="*/ 461 h 46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9"/>
              <a:gd name="T34" fmla="*/ 0 h 461"/>
              <a:gd name="T35" fmla="*/ 199 w 199"/>
              <a:gd name="T36" fmla="*/ 461 h 46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9" h="461">
                <a:moveTo>
                  <a:pt x="6" y="461"/>
                </a:moveTo>
                <a:lnTo>
                  <a:pt x="6" y="451"/>
                </a:lnTo>
                <a:lnTo>
                  <a:pt x="0" y="451"/>
                </a:lnTo>
                <a:lnTo>
                  <a:pt x="0" y="51"/>
                </a:lnTo>
                <a:lnTo>
                  <a:pt x="50" y="0"/>
                </a:lnTo>
                <a:lnTo>
                  <a:pt x="199" y="0"/>
                </a:lnTo>
                <a:lnTo>
                  <a:pt x="199" y="400"/>
                </a:lnTo>
                <a:lnTo>
                  <a:pt x="196" y="403"/>
                </a:lnTo>
                <a:lnTo>
                  <a:pt x="196" y="406"/>
                </a:lnTo>
                <a:lnTo>
                  <a:pt x="143" y="461"/>
                </a:lnTo>
                <a:lnTo>
                  <a:pt x="6" y="461"/>
                </a:lnTo>
              </a:path>
            </a:pathLst>
          </a:custGeom>
          <a:noFill/>
          <a:ln w="11113"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567" name="Rectangle 569"/>
          <p:cNvSpPr>
            <a:spLocks noChangeArrowheads="1"/>
          </p:cNvSpPr>
          <p:nvPr/>
        </p:nvSpPr>
        <p:spPr bwMode="auto">
          <a:xfrm>
            <a:off x="4137025" y="3268663"/>
            <a:ext cx="419100" cy="2746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800" b="0">
                <a:solidFill>
                  <a:srgbClr val="FF00FF"/>
                </a:solidFill>
                <a:latin typeface="Arial" charset="0"/>
              </a:rPr>
              <a:t>Mail</a:t>
            </a:r>
            <a:endParaRPr lang="en-US" sz="1800"/>
          </a:p>
        </p:txBody>
      </p:sp>
      <p:sp>
        <p:nvSpPr>
          <p:cNvPr id="568" name="Rectangle 570"/>
          <p:cNvSpPr>
            <a:spLocks noChangeArrowheads="1"/>
          </p:cNvSpPr>
          <p:nvPr/>
        </p:nvSpPr>
        <p:spPr bwMode="auto">
          <a:xfrm>
            <a:off x="4010025" y="3509963"/>
            <a:ext cx="673100" cy="2746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800" b="0">
                <a:solidFill>
                  <a:srgbClr val="FF00FF"/>
                </a:solidFill>
                <a:latin typeface="Arial" charset="0"/>
              </a:rPr>
              <a:t>Server</a:t>
            </a:r>
            <a:endParaRPr lang="en-US" sz="1800"/>
          </a:p>
        </p:txBody>
      </p:sp>
      <p:sp>
        <p:nvSpPr>
          <p:cNvPr id="569" name="Freeform 571"/>
          <p:cNvSpPr>
            <a:spLocks/>
          </p:cNvSpPr>
          <p:nvPr/>
        </p:nvSpPr>
        <p:spPr bwMode="auto">
          <a:xfrm>
            <a:off x="5110163" y="3141663"/>
            <a:ext cx="84137" cy="101600"/>
          </a:xfrm>
          <a:custGeom>
            <a:avLst/>
            <a:gdLst>
              <a:gd name="T0" fmla="*/ 0 w 53"/>
              <a:gd name="T1" fmla="*/ 64 h 64"/>
              <a:gd name="T2" fmla="*/ 53 w 53"/>
              <a:gd name="T3" fmla="*/ 9 h 64"/>
              <a:gd name="T4" fmla="*/ 53 w 53"/>
              <a:gd name="T5" fmla="*/ 0 h 64"/>
              <a:gd name="T6" fmla="*/ 0 w 53"/>
              <a:gd name="T7" fmla="*/ 54 h 64"/>
              <a:gd name="T8" fmla="*/ 0 w 53"/>
              <a:gd name="T9" fmla="*/ 64 h 64"/>
              <a:gd name="T10" fmla="*/ 0 60000 65536"/>
              <a:gd name="T11" fmla="*/ 0 60000 65536"/>
              <a:gd name="T12" fmla="*/ 0 60000 65536"/>
              <a:gd name="T13" fmla="*/ 0 60000 65536"/>
              <a:gd name="T14" fmla="*/ 0 60000 65536"/>
              <a:gd name="T15" fmla="*/ 0 w 53"/>
              <a:gd name="T16" fmla="*/ 0 h 64"/>
              <a:gd name="T17" fmla="*/ 53 w 53"/>
              <a:gd name="T18" fmla="*/ 64 h 64"/>
            </a:gdLst>
            <a:ahLst/>
            <a:cxnLst>
              <a:cxn ang="T10">
                <a:pos x="T0" y="T1"/>
              </a:cxn>
              <a:cxn ang="T11">
                <a:pos x="T2" y="T3"/>
              </a:cxn>
              <a:cxn ang="T12">
                <a:pos x="T4" y="T5"/>
              </a:cxn>
              <a:cxn ang="T13">
                <a:pos x="T6" y="T7"/>
              </a:cxn>
              <a:cxn ang="T14">
                <a:pos x="T8" y="T9"/>
              </a:cxn>
            </a:cxnLst>
            <a:rect l="T15" t="T16" r="T17" b="T18"/>
            <a:pathLst>
              <a:path w="53" h="64">
                <a:moveTo>
                  <a:pt x="0" y="64"/>
                </a:moveTo>
                <a:lnTo>
                  <a:pt x="53" y="9"/>
                </a:lnTo>
                <a:lnTo>
                  <a:pt x="53" y="0"/>
                </a:lnTo>
                <a:lnTo>
                  <a:pt x="0" y="54"/>
                </a:lnTo>
                <a:lnTo>
                  <a:pt x="0" y="64"/>
                </a:lnTo>
                <a:close/>
              </a:path>
            </a:pathLst>
          </a:custGeom>
          <a:solidFill>
            <a:srgbClr val="9A9A9A"/>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70" name="Freeform 572"/>
          <p:cNvSpPr>
            <a:spLocks/>
          </p:cNvSpPr>
          <p:nvPr/>
        </p:nvSpPr>
        <p:spPr bwMode="auto">
          <a:xfrm>
            <a:off x="4883150" y="2511425"/>
            <a:ext cx="315913" cy="80963"/>
          </a:xfrm>
          <a:custGeom>
            <a:avLst/>
            <a:gdLst>
              <a:gd name="T0" fmla="*/ 0 w 199"/>
              <a:gd name="T1" fmla="*/ 51 h 51"/>
              <a:gd name="T2" fmla="*/ 50 w 199"/>
              <a:gd name="T3" fmla="*/ 0 h 51"/>
              <a:gd name="T4" fmla="*/ 199 w 199"/>
              <a:gd name="T5" fmla="*/ 0 h 51"/>
              <a:gd name="T6" fmla="*/ 149 w 199"/>
              <a:gd name="T7" fmla="*/ 51 h 51"/>
              <a:gd name="T8" fmla="*/ 0 w 199"/>
              <a:gd name="T9" fmla="*/ 51 h 51"/>
              <a:gd name="T10" fmla="*/ 0 60000 65536"/>
              <a:gd name="T11" fmla="*/ 0 60000 65536"/>
              <a:gd name="T12" fmla="*/ 0 60000 65536"/>
              <a:gd name="T13" fmla="*/ 0 60000 65536"/>
              <a:gd name="T14" fmla="*/ 0 60000 65536"/>
              <a:gd name="T15" fmla="*/ 0 w 199"/>
              <a:gd name="T16" fmla="*/ 0 h 51"/>
              <a:gd name="T17" fmla="*/ 199 w 199"/>
              <a:gd name="T18" fmla="*/ 51 h 51"/>
            </a:gdLst>
            <a:ahLst/>
            <a:cxnLst>
              <a:cxn ang="T10">
                <a:pos x="T0" y="T1"/>
              </a:cxn>
              <a:cxn ang="T11">
                <a:pos x="T2" y="T3"/>
              </a:cxn>
              <a:cxn ang="T12">
                <a:pos x="T4" y="T5"/>
              </a:cxn>
              <a:cxn ang="T13">
                <a:pos x="T6" y="T7"/>
              </a:cxn>
              <a:cxn ang="T14">
                <a:pos x="T8" y="T9"/>
              </a:cxn>
            </a:cxnLst>
            <a:rect l="T15" t="T16" r="T17" b="T18"/>
            <a:pathLst>
              <a:path w="199" h="51">
                <a:moveTo>
                  <a:pt x="0" y="51"/>
                </a:moveTo>
                <a:lnTo>
                  <a:pt x="50" y="0"/>
                </a:lnTo>
                <a:lnTo>
                  <a:pt x="199" y="0"/>
                </a:lnTo>
                <a:lnTo>
                  <a:pt x="149" y="51"/>
                </a:lnTo>
                <a:lnTo>
                  <a:pt x="0" y="51"/>
                </a:lnTo>
                <a:close/>
              </a:path>
            </a:pathLst>
          </a:custGeom>
          <a:solidFill>
            <a:srgbClr val="E6E6E6"/>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71" name="Freeform 573"/>
          <p:cNvSpPr>
            <a:spLocks/>
          </p:cNvSpPr>
          <p:nvPr/>
        </p:nvSpPr>
        <p:spPr bwMode="auto">
          <a:xfrm>
            <a:off x="4883150" y="2511425"/>
            <a:ext cx="315913" cy="80963"/>
          </a:xfrm>
          <a:custGeom>
            <a:avLst/>
            <a:gdLst>
              <a:gd name="T0" fmla="*/ 0 w 199"/>
              <a:gd name="T1" fmla="*/ 51 h 51"/>
              <a:gd name="T2" fmla="*/ 50 w 199"/>
              <a:gd name="T3" fmla="*/ 0 h 51"/>
              <a:gd name="T4" fmla="*/ 199 w 199"/>
              <a:gd name="T5" fmla="*/ 0 h 51"/>
              <a:gd name="T6" fmla="*/ 149 w 199"/>
              <a:gd name="T7" fmla="*/ 51 h 51"/>
              <a:gd name="T8" fmla="*/ 0 w 199"/>
              <a:gd name="T9" fmla="*/ 51 h 51"/>
              <a:gd name="T10" fmla="*/ 0 60000 65536"/>
              <a:gd name="T11" fmla="*/ 0 60000 65536"/>
              <a:gd name="T12" fmla="*/ 0 60000 65536"/>
              <a:gd name="T13" fmla="*/ 0 60000 65536"/>
              <a:gd name="T14" fmla="*/ 0 60000 65536"/>
              <a:gd name="T15" fmla="*/ 0 w 199"/>
              <a:gd name="T16" fmla="*/ 0 h 51"/>
              <a:gd name="T17" fmla="*/ 199 w 199"/>
              <a:gd name="T18" fmla="*/ 51 h 51"/>
            </a:gdLst>
            <a:ahLst/>
            <a:cxnLst>
              <a:cxn ang="T10">
                <a:pos x="T0" y="T1"/>
              </a:cxn>
              <a:cxn ang="T11">
                <a:pos x="T2" y="T3"/>
              </a:cxn>
              <a:cxn ang="T12">
                <a:pos x="T4" y="T5"/>
              </a:cxn>
              <a:cxn ang="T13">
                <a:pos x="T6" y="T7"/>
              </a:cxn>
              <a:cxn ang="T14">
                <a:pos x="T8" y="T9"/>
              </a:cxn>
            </a:cxnLst>
            <a:rect l="T15" t="T16" r="T17" b="T18"/>
            <a:pathLst>
              <a:path w="199" h="51">
                <a:moveTo>
                  <a:pt x="0" y="51"/>
                </a:moveTo>
                <a:lnTo>
                  <a:pt x="50" y="0"/>
                </a:lnTo>
                <a:lnTo>
                  <a:pt x="199" y="0"/>
                </a:lnTo>
                <a:lnTo>
                  <a:pt x="149" y="51"/>
                </a:lnTo>
                <a:lnTo>
                  <a:pt x="0" y="51"/>
                </a:lnTo>
                <a:close/>
              </a:path>
            </a:pathLst>
          </a:cu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572" name="Freeform 574"/>
          <p:cNvSpPr>
            <a:spLocks/>
          </p:cNvSpPr>
          <p:nvPr/>
        </p:nvSpPr>
        <p:spPr bwMode="auto">
          <a:xfrm>
            <a:off x="5119688" y="2511425"/>
            <a:ext cx="79375" cy="715963"/>
          </a:xfrm>
          <a:custGeom>
            <a:avLst/>
            <a:gdLst>
              <a:gd name="T0" fmla="*/ 0 w 50"/>
              <a:gd name="T1" fmla="*/ 51 h 451"/>
              <a:gd name="T2" fmla="*/ 50 w 50"/>
              <a:gd name="T3" fmla="*/ 0 h 451"/>
              <a:gd name="T4" fmla="*/ 50 w 50"/>
              <a:gd name="T5" fmla="*/ 400 h 451"/>
              <a:gd name="T6" fmla="*/ 0 w 50"/>
              <a:gd name="T7" fmla="*/ 451 h 451"/>
              <a:gd name="T8" fmla="*/ 0 w 50"/>
              <a:gd name="T9" fmla="*/ 51 h 451"/>
              <a:gd name="T10" fmla="*/ 0 60000 65536"/>
              <a:gd name="T11" fmla="*/ 0 60000 65536"/>
              <a:gd name="T12" fmla="*/ 0 60000 65536"/>
              <a:gd name="T13" fmla="*/ 0 60000 65536"/>
              <a:gd name="T14" fmla="*/ 0 60000 65536"/>
              <a:gd name="T15" fmla="*/ 0 w 50"/>
              <a:gd name="T16" fmla="*/ 0 h 451"/>
              <a:gd name="T17" fmla="*/ 50 w 50"/>
              <a:gd name="T18" fmla="*/ 451 h 451"/>
            </a:gdLst>
            <a:ahLst/>
            <a:cxnLst>
              <a:cxn ang="T10">
                <a:pos x="T0" y="T1"/>
              </a:cxn>
              <a:cxn ang="T11">
                <a:pos x="T2" y="T3"/>
              </a:cxn>
              <a:cxn ang="T12">
                <a:pos x="T4" y="T5"/>
              </a:cxn>
              <a:cxn ang="T13">
                <a:pos x="T6" y="T7"/>
              </a:cxn>
              <a:cxn ang="T14">
                <a:pos x="T8" y="T9"/>
              </a:cxn>
            </a:cxnLst>
            <a:rect l="T15" t="T16" r="T17" b="T18"/>
            <a:pathLst>
              <a:path w="50" h="451">
                <a:moveTo>
                  <a:pt x="0" y="51"/>
                </a:moveTo>
                <a:lnTo>
                  <a:pt x="50" y="0"/>
                </a:lnTo>
                <a:lnTo>
                  <a:pt x="50" y="400"/>
                </a:lnTo>
                <a:lnTo>
                  <a:pt x="0" y="451"/>
                </a:lnTo>
                <a:lnTo>
                  <a:pt x="0" y="51"/>
                </a:lnTo>
                <a:close/>
              </a:path>
            </a:pathLst>
          </a:custGeom>
          <a:solidFill>
            <a:srgbClr val="9A9A9A"/>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73" name="Rectangle 575"/>
          <p:cNvSpPr>
            <a:spLocks noChangeArrowheads="1"/>
          </p:cNvSpPr>
          <p:nvPr/>
        </p:nvSpPr>
        <p:spPr bwMode="auto">
          <a:xfrm>
            <a:off x="4883150" y="2592388"/>
            <a:ext cx="236538" cy="635000"/>
          </a:xfrm>
          <a:prstGeom prst="rect">
            <a:avLst/>
          </a:prstGeom>
          <a:solidFill>
            <a:srgbClr val="C0C0C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574" name="Rectangle 576"/>
          <p:cNvSpPr>
            <a:spLocks noChangeArrowheads="1"/>
          </p:cNvSpPr>
          <p:nvPr/>
        </p:nvSpPr>
        <p:spPr bwMode="auto">
          <a:xfrm>
            <a:off x="4883150" y="2592388"/>
            <a:ext cx="236538" cy="635000"/>
          </a:xfrm>
          <a:prstGeom prst="rect">
            <a:avLst/>
          </a:pr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pic>
        <p:nvPicPr>
          <p:cNvPr id="575" name="Picture 577"/>
          <p:cNvPicPr>
            <a:picLocks noChangeAspect="1" noChangeArrowheads="1"/>
          </p:cNvPicPr>
          <p:nvPr/>
        </p:nvPicPr>
        <p:blipFill>
          <a:blip r:embed="rId137">
            <a:extLst>
              <a:ext uri="{28A0092B-C50C-407E-A947-70E740481C1C}">
                <a14:useLocalDpi xmlns:a14="http://schemas.microsoft.com/office/drawing/2010/main" val="0"/>
              </a:ext>
            </a:extLst>
          </a:blip>
          <a:srcRect/>
          <a:stretch>
            <a:fillRect/>
          </a:stretch>
        </p:blipFill>
        <p:spPr bwMode="auto">
          <a:xfrm>
            <a:off x="4906963" y="2620963"/>
            <a:ext cx="177800" cy="3937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576" name="Picture 578"/>
          <p:cNvPicPr>
            <a:picLocks noChangeAspect="1" noChangeArrowheads="1"/>
          </p:cNvPicPr>
          <p:nvPr/>
        </p:nvPicPr>
        <p:blipFill>
          <a:blip r:embed="rId138">
            <a:extLst>
              <a:ext uri="{28A0092B-C50C-407E-A947-70E740481C1C}">
                <a14:useLocalDpi xmlns:a14="http://schemas.microsoft.com/office/drawing/2010/main" val="0"/>
              </a:ext>
            </a:extLst>
          </a:blip>
          <a:srcRect/>
          <a:stretch>
            <a:fillRect/>
          </a:stretch>
        </p:blipFill>
        <p:spPr bwMode="auto">
          <a:xfrm>
            <a:off x="4906963" y="2620963"/>
            <a:ext cx="177800" cy="3937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77" name="Rectangle 579"/>
          <p:cNvSpPr>
            <a:spLocks noChangeArrowheads="1"/>
          </p:cNvSpPr>
          <p:nvPr/>
        </p:nvSpPr>
        <p:spPr bwMode="auto">
          <a:xfrm>
            <a:off x="4913313" y="2622550"/>
            <a:ext cx="177800" cy="387350"/>
          </a:xfrm>
          <a:prstGeom prst="rect">
            <a:avLst/>
          </a:pr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578" name="Freeform 580"/>
          <p:cNvSpPr>
            <a:spLocks noEditPoints="1"/>
          </p:cNvSpPr>
          <p:nvPr/>
        </p:nvSpPr>
        <p:spPr bwMode="auto">
          <a:xfrm>
            <a:off x="4933950" y="2643188"/>
            <a:ext cx="134938" cy="331787"/>
          </a:xfrm>
          <a:custGeom>
            <a:avLst/>
            <a:gdLst>
              <a:gd name="T0" fmla="*/ 0 w 85"/>
              <a:gd name="T1" fmla="*/ 188 h 209"/>
              <a:gd name="T2" fmla="*/ 85 w 85"/>
              <a:gd name="T3" fmla="*/ 188 h 209"/>
              <a:gd name="T4" fmla="*/ 85 w 85"/>
              <a:gd name="T5" fmla="*/ 209 h 209"/>
              <a:gd name="T6" fmla="*/ 0 w 85"/>
              <a:gd name="T7" fmla="*/ 209 h 209"/>
              <a:gd name="T8" fmla="*/ 0 w 85"/>
              <a:gd name="T9" fmla="*/ 188 h 209"/>
              <a:gd name="T10" fmla="*/ 0 w 85"/>
              <a:gd name="T11" fmla="*/ 156 h 209"/>
              <a:gd name="T12" fmla="*/ 85 w 85"/>
              <a:gd name="T13" fmla="*/ 156 h 209"/>
              <a:gd name="T14" fmla="*/ 85 w 85"/>
              <a:gd name="T15" fmla="*/ 177 h 209"/>
              <a:gd name="T16" fmla="*/ 0 w 85"/>
              <a:gd name="T17" fmla="*/ 177 h 209"/>
              <a:gd name="T18" fmla="*/ 0 w 85"/>
              <a:gd name="T19" fmla="*/ 156 h 209"/>
              <a:gd name="T20" fmla="*/ 0 w 85"/>
              <a:gd name="T21" fmla="*/ 124 h 209"/>
              <a:gd name="T22" fmla="*/ 85 w 85"/>
              <a:gd name="T23" fmla="*/ 124 h 209"/>
              <a:gd name="T24" fmla="*/ 85 w 85"/>
              <a:gd name="T25" fmla="*/ 145 h 209"/>
              <a:gd name="T26" fmla="*/ 0 w 85"/>
              <a:gd name="T27" fmla="*/ 145 h 209"/>
              <a:gd name="T28" fmla="*/ 0 w 85"/>
              <a:gd name="T29" fmla="*/ 124 h 209"/>
              <a:gd name="T30" fmla="*/ 0 w 85"/>
              <a:gd name="T31" fmla="*/ 92 h 209"/>
              <a:gd name="T32" fmla="*/ 85 w 85"/>
              <a:gd name="T33" fmla="*/ 92 h 209"/>
              <a:gd name="T34" fmla="*/ 85 w 85"/>
              <a:gd name="T35" fmla="*/ 113 h 209"/>
              <a:gd name="T36" fmla="*/ 0 w 85"/>
              <a:gd name="T37" fmla="*/ 113 h 209"/>
              <a:gd name="T38" fmla="*/ 0 w 85"/>
              <a:gd name="T39" fmla="*/ 92 h 209"/>
              <a:gd name="T40" fmla="*/ 0 w 85"/>
              <a:gd name="T41" fmla="*/ 47 h 209"/>
              <a:gd name="T42" fmla="*/ 85 w 85"/>
              <a:gd name="T43" fmla="*/ 47 h 209"/>
              <a:gd name="T44" fmla="*/ 85 w 85"/>
              <a:gd name="T45" fmla="*/ 82 h 209"/>
              <a:gd name="T46" fmla="*/ 0 w 85"/>
              <a:gd name="T47" fmla="*/ 82 h 209"/>
              <a:gd name="T48" fmla="*/ 0 w 85"/>
              <a:gd name="T49" fmla="*/ 47 h 209"/>
              <a:gd name="T50" fmla="*/ 0 w 85"/>
              <a:gd name="T51" fmla="*/ 0 h 209"/>
              <a:gd name="T52" fmla="*/ 85 w 85"/>
              <a:gd name="T53" fmla="*/ 0 h 209"/>
              <a:gd name="T54" fmla="*/ 85 w 85"/>
              <a:gd name="T55" fmla="*/ 35 h 209"/>
              <a:gd name="T56" fmla="*/ 0 w 85"/>
              <a:gd name="T57" fmla="*/ 35 h 209"/>
              <a:gd name="T58" fmla="*/ 0 w 85"/>
              <a:gd name="T59" fmla="*/ 0 h 209"/>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85"/>
              <a:gd name="T91" fmla="*/ 0 h 209"/>
              <a:gd name="T92" fmla="*/ 85 w 85"/>
              <a:gd name="T93" fmla="*/ 209 h 209"/>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85" h="209">
                <a:moveTo>
                  <a:pt x="0" y="188"/>
                </a:moveTo>
                <a:lnTo>
                  <a:pt x="85" y="188"/>
                </a:lnTo>
                <a:lnTo>
                  <a:pt x="85" y="209"/>
                </a:lnTo>
                <a:lnTo>
                  <a:pt x="0" y="209"/>
                </a:lnTo>
                <a:lnTo>
                  <a:pt x="0" y="188"/>
                </a:lnTo>
                <a:close/>
                <a:moveTo>
                  <a:pt x="0" y="156"/>
                </a:moveTo>
                <a:lnTo>
                  <a:pt x="85" y="156"/>
                </a:lnTo>
                <a:lnTo>
                  <a:pt x="85" y="177"/>
                </a:lnTo>
                <a:lnTo>
                  <a:pt x="0" y="177"/>
                </a:lnTo>
                <a:lnTo>
                  <a:pt x="0" y="156"/>
                </a:lnTo>
                <a:close/>
                <a:moveTo>
                  <a:pt x="0" y="124"/>
                </a:moveTo>
                <a:lnTo>
                  <a:pt x="85" y="124"/>
                </a:lnTo>
                <a:lnTo>
                  <a:pt x="85" y="145"/>
                </a:lnTo>
                <a:lnTo>
                  <a:pt x="0" y="145"/>
                </a:lnTo>
                <a:lnTo>
                  <a:pt x="0" y="124"/>
                </a:lnTo>
                <a:close/>
                <a:moveTo>
                  <a:pt x="0" y="92"/>
                </a:moveTo>
                <a:lnTo>
                  <a:pt x="85" y="92"/>
                </a:lnTo>
                <a:lnTo>
                  <a:pt x="85" y="113"/>
                </a:lnTo>
                <a:lnTo>
                  <a:pt x="0" y="113"/>
                </a:lnTo>
                <a:lnTo>
                  <a:pt x="0" y="92"/>
                </a:lnTo>
                <a:close/>
                <a:moveTo>
                  <a:pt x="0" y="47"/>
                </a:moveTo>
                <a:lnTo>
                  <a:pt x="85" y="47"/>
                </a:lnTo>
                <a:lnTo>
                  <a:pt x="85" y="82"/>
                </a:lnTo>
                <a:lnTo>
                  <a:pt x="0" y="82"/>
                </a:lnTo>
                <a:lnTo>
                  <a:pt x="0" y="47"/>
                </a:lnTo>
                <a:close/>
                <a:moveTo>
                  <a:pt x="0" y="0"/>
                </a:moveTo>
                <a:lnTo>
                  <a:pt x="85" y="0"/>
                </a:lnTo>
                <a:lnTo>
                  <a:pt x="85" y="35"/>
                </a:lnTo>
                <a:lnTo>
                  <a:pt x="0" y="35"/>
                </a:lnTo>
                <a:lnTo>
                  <a:pt x="0" y="0"/>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79" name="Rectangle 581"/>
          <p:cNvSpPr>
            <a:spLocks noChangeArrowheads="1"/>
          </p:cNvSpPr>
          <p:nvPr/>
        </p:nvSpPr>
        <p:spPr bwMode="auto">
          <a:xfrm>
            <a:off x="4933950" y="2941638"/>
            <a:ext cx="134938" cy="33337"/>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580" name="Rectangle 582"/>
          <p:cNvSpPr>
            <a:spLocks noChangeArrowheads="1"/>
          </p:cNvSpPr>
          <p:nvPr/>
        </p:nvSpPr>
        <p:spPr bwMode="auto">
          <a:xfrm>
            <a:off x="4933950" y="2890838"/>
            <a:ext cx="134938" cy="33337"/>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581" name="Freeform 583"/>
          <p:cNvSpPr>
            <a:spLocks/>
          </p:cNvSpPr>
          <p:nvPr/>
        </p:nvSpPr>
        <p:spPr bwMode="auto">
          <a:xfrm>
            <a:off x="7135813" y="3143250"/>
            <a:ext cx="630237" cy="80963"/>
          </a:xfrm>
          <a:custGeom>
            <a:avLst/>
            <a:gdLst>
              <a:gd name="T0" fmla="*/ 0 w 397"/>
              <a:gd name="T1" fmla="*/ 51 h 51"/>
              <a:gd name="T2" fmla="*/ 99 w 397"/>
              <a:gd name="T3" fmla="*/ 0 h 51"/>
              <a:gd name="T4" fmla="*/ 397 w 397"/>
              <a:gd name="T5" fmla="*/ 0 h 51"/>
              <a:gd name="T6" fmla="*/ 297 w 397"/>
              <a:gd name="T7" fmla="*/ 51 h 51"/>
              <a:gd name="T8" fmla="*/ 0 w 397"/>
              <a:gd name="T9" fmla="*/ 51 h 51"/>
              <a:gd name="T10" fmla="*/ 0 60000 65536"/>
              <a:gd name="T11" fmla="*/ 0 60000 65536"/>
              <a:gd name="T12" fmla="*/ 0 60000 65536"/>
              <a:gd name="T13" fmla="*/ 0 60000 65536"/>
              <a:gd name="T14" fmla="*/ 0 60000 65536"/>
              <a:gd name="T15" fmla="*/ 0 w 397"/>
              <a:gd name="T16" fmla="*/ 0 h 51"/>
              <a:gd name="T17" fmla="*/ 397 w 397"/>
              <a:gd name="T18" fmla="*/ 51 h 51"/>
            </a:gdLst>
            <a:ahLst/>
            <a:cxnLst>
              <a:cxn ang="T10">
                <a:pos x="T0" y="T1"/>
              </a:cxn>
              <a:cxn ang="T11">
                <a:pos x="T2" y="T3"/>
              </a:cxn>
              <a:cxn ang="T12">
                <a:pos x="T4" y="T5"/>
              </a:cxn>
              <a:cxn ang="T13">
                <a:pos x="T6" y="T7"/>
              </a:cxn>
              <a:cxn ang="T14">
                <a:pos x="T8" y="T9"/>
              </a:cxn>
            </a:cxnLst>
            <a:rect l="T15" t="T16" r="T17" b="T18"/>
            <a:pathLst>
              <a:path w="397" h="51">
                <a:moveTo>
                  <a:pt x="0" y="51"/>
                </a:moveTo>
                <a:lnTo>
                  <a:pt x="99" y="0"/>
                </a:lnTo>
                <a:lnTo>
                  <a:pt x="397" y="0"/>
                </a:lnTo>
                <a:lnTo>
                  <a:pt x="297" y="51"/>
                </a:lnTo>
                <a:lnTo>
                  <a:pt x="0" y="51"/>
                </a:lnTo>
                <a:close/>
              </a:path>
            </a:pathLst>
          </a:custGeom>
          <a:solidFill>
            <a:srgbClr val="9A9A9A"/>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82" name="Freeform 584"/>
          <p:cNvSpPr>
            <a:spLocks/>
          </p:cNvSpPr>
          <p:nvPr/>
        </p:nvSpPr>
        <p:spPr bwMode="auto">
          <a:xfrm>
            <a:off x="7135813" y="3143250"/>
            <a:ext cx="630237" cy="80963"/>
          </a:xfrm>
          <a:custGeom>
            <a:avLst/>
            <a:gdLst>
              <a:gd name="T0" fmla="*/ 0 w 397"/>
              <a:gd name="T1" fmla="*/ 51 h 51"/>
              <a:gd name="T2" fmla="*/ 99 w 397"/>
              <a:gd name="T3" fmla="*/ 0 h 51"/>
              <a:gd name="T4" fmla="*/ 397 w 397"/>
              <a:gd name="T5" fmla="*/ 0 h 51"/>
              <a:gd name="T6" fmla="*/ 297 w 397"/>
              <a:gd name="T7" fmla="*/ 51 h 51"/>
              <a:gd name="T8" fmla="*/ 0 w 397"/>
              <a:gd name="T9" fmla="*/ 51 h 51"/>
              <a:gd name="T10" fmla="*/ 0 60000 65536"/>
              <a:gd name="T11" fmla="*/ 0 60000 65536"/>
              <a:gd name="T12" fmla="*/ 0 60000 65536"/>
              <a:gd name="T13" fmla="*/ 0 60000 65536"/>
              <a:gd name="T14" fmla="*/ 0 60000 65536"/>
              <a:gd name="T15" fmla="*/ 0 w 397"/>
              <a:gd name="T16" fmla="*/ 0 h 51"/>
              <a:gd name="T17" fmla="*/ 397 w 397"/>
              <a:gd name="T18" fmla="*/ 51 h 51"/>
            </a:gdLst>
            <a:ahLst/>
            <a:cxnLst>
              <a:cxn ang="T10">
                <a:pos x="T0" y="T1"/>
              </a:cxn>
              <a:cxn ang="T11">
                <a:pos x="T2" y="T3"/>
              </a:cxn>
              <a:cxn ang="T12">
                <a:pos x="T4" y="T5"/>
              </a:cxn>
              <a:cxn ang="T13">
                <a:pos x="T6" y="T7"/>
              </a:cxn>
              <a:cxn ang="T14">
                <a:pos x="T8" y="T9"/>
              </a:cxn>
            </a:cxnLst>
            <a:rect l="T15" t="T16" r="T17" b="T18"/>
            <a:pathLst>
              <a:path w="397" h="51">
                <a:moveTo>
                  <a:pt x="0" y="51"/>
                </a:moveTo>
                <a:lnTo>
                  <a:pt x="99" y="0"/>
                </a:lnTo>
                <a:lnTo>
                  <a:pt x="397" y="0"/>
                </a:lnTo>
                <a:lnTo>
                  <a:pt x="297" y="51"/>
                </a:lnTo>
                <a:lnTo>
                  <a:pt x="0" y="51"/>
                </a:lnTo>
                <a:close/>
              </a:path>
            </a:pathLst>
          </a:cu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583" name="Freeform 585"/>
          <p:cNvSpPr>
            <a:spLocks/>
          </p:cNvSpPr>
          <p:nvPr/>
        </p:nvSpPr>
        <p:spPr bwMode="auto">
          <a:xfrm>
            <a:off x="7607300" y="3143250"/>
            <a:ext cx="158750" cy="122238"/>
          </a:xfrm>
          <a:custGeom>
            <a:avLst/>
            <a:gdLst>
              <a:gd name="T0" fmla="*/ 0 w 100"/>
              <a:gd name="T1" fmla="*/ 77 h 77"/>
              <a:gd name="T2" fmla="*/ 100 w 100"/>
              <a:gd name="T3" fmla="*/ 25 h 77"/>
              <a:gd name="T4" fmla="*/ 100 w 100"/>
              <a:gd name="T5" fmla="*/ 0 h 77"/>
              <a:gd name="T6" fmla="*/ 0 w 100"/>
              <a:gd name="T7" fmla="*/ 51 h 77"/>
              <a:gd name="T8" fmla="*/ 0 w 100"/>
              <a:gd name="T9" fmla="*/ 77 h 77"/>
              <a:gd name="T10" fmla="*/ 0 60000 65536"/>
              <a:gd name="T11" fmla="*/ 0 60000 65536"/>
              <a:gd name="T12" fmla="*/ 0 60000 65536"/>
              <a:gd name="T13" fmla="*/ 0 60000 65536"/>
              <a:gd name="T14" fmla="*/ 0 60000 65536"/>
              <a:gd name="T15" fmla="*/ 0 w 100"/>
              <a:gd name="T16" fmla="*/ 0 h 77"/>
              <a:gd name="T17" fmla="*/ 100 w 100"/>
              <a:gd name="T18" fmla="*/ 77 h 77"/>
            </a:gdLst>
            <a:ahLst/>
            <a:cxnLst>
              <a:cxn ang="T10">
                <a:pos x="T0" y="T1"/>
              </a:cxn>
              <a:cxn ang="T11">
                <a:pos x="T2" y="T3"/>
              </a:cxn>
              <a:cxn ang="T12">
                <a:pos x="T4" y="T5"/>
              </a:cxn>
              <a:cxn ang="T13">
                <a:pos x="T6" y="T7"/>
              </a:cxn>
              <a:cxn ang="T14">
                <a:pos x="T8" y="T9"/>
              </a:cxn>
            </a:cxnLst>
            <a:rect l="T15" t="T16" r="T17" b="T18"/>
            <a:pathLst>
              <a:path w="100" h="77">
                <a:moveTo>
                  <a:pt x="0" y="77"/>
                </a:moveTo>
                <a:lnTo>
                  <a:pt x="100" y="25"/>
                </a:lnTo>
                <a:lnTo>
                  <a:pt x="100" y="0"/>
                </a:lnTo>
                <a:lnTo>
                  <a:pt x="0" y="51"/>
                </a:lnTo>
                <a:lnTo>
                  <a:pt x="0" y="77"/>
                </a:lnTo>
                <a:close/>
              </a:path>
            </a:pathLst>
          </a:custGeom>
          <a:solidFill>
            <a:srgbClr val="666666"/>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84" name="Freeform 586"/>
          <p:cNvSpPr>
            <a:spLocks/>
          </p:cNvSpPr>
          <p:nvPr/>
        </p:nvSpPr>
        <p:spPr bwMode="auto">
          <a:xfrm>
            <a:off x="7607300" y="3143250"/>
            <a:ext cx="158750" cy="122238"/>
          </a:xfrm>
          <a:custGeom>
            <a:avLst/>
            <a:gdLst>
              <a:gd name="T0" fmla="*/ 0 w 100"/>
              <a:gd name="T1" fmla="*/ 77 h 77"/>
              <a:gd name="T2" fmla="*/ 100 w 100"/>
              <a:gd name="T3" fmla="*/ 25 h 77"/>
              <a:gd name="T4" fmla="*/ 100 w 100"/>
              <a:gd name="T5" fmla="*/ 0 h 77"/>
              <a:gd name="T6" fmla="*/ 0 w 100"/>
              <a:gd name="T7" fmla="*/ 51 h 77"/>
              <a:gd name="T8" fmla="*/ 0 w 100"/>
              <a:gd name="T9" fmla="*/ 77 h 77"/>
              <a:gd name="T10" fmla="*/ 0 60000 65536"/>
              <a:gd name="T11" fmla="*/ 0 60000 65536"/>
              <a:gd name="T12" fmla="*/ 0 60000 65536"/>
              <a:gd name="T13" fmla="*/ 0 60000 65536"/>
              <a:gd name="T14" fmla="*/ 0 60000 65536"/>
              <a:gd name="T15" fmla="*/ 0 w 100"/>
              <a:gd name="T16" fmla="*/ 0 h 77"/>
              <a:gd name="T17" fmla="*/ 100 w 100"/>
              <a:gd name="T18" fmla="*/ 77 h 77"/>
            </a:gdLst>
            <a:ahLst/>
            <a:cxnLst>
              <a:cxn ang="T10">
                <a:pos x="T0" y="T1"/>
              </a:cxn>
              <a:cxn ang="T11">
                <a:pos x="T2" y="T3"/>
              </a:cxn>
              <a:cxn ang="T12">
                <a:pos x="T4" y="T5"/>
              </a:cxn>
              <a:cxn ang="T13">
                <a:pos x="T6" y="T7"/>
              </a:cxn>
              <a:cxn ang="T14">
                <a:pos x="T8" y="T9"/>
              </a:cxn>
            </a:cxnLst>
            <a:rect l="T15" t="T16" r="T17" b="T18"/>
            <a:pathLst>
              <a:path w="100" h="77">
                <a:moveTo>
                  <a:pt x="0" y="77"/>
                </a:moveTo>
                <a:lnTo>
                  <a:pt x="100" y="25"/>
                </a:lnTo>
                <a:lnTo>
                  <a:pt x="100" y="0"/>
                </a:lnTo>
                <a:lnTo>
                  <a:pt x="0" y="51"/>
                </a:lnTo>
                <a:lnTo>
                  <a:pt x="0" y="77"/>
                </a:lnTo>
                <a:close/>
              </a:path>
            </a:pathLst>
          </a:cu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585" name="Freeform 587"/>
          <p:cNvSpPr>
            <a:spLocks/>
          </p:cNvSpPr>
          <p:nvPr/>
        </p:nvSpPr>
        <p:spPr bwMode="auto">
          <a:xfrm>
            <a:off x="7300913" y="2859088"/>
            <a:ext cx="590550" cy="263525"/>
          </a:xfrm>
          <a:custGeom>
            <a:avLst/>
            <a:gdLst>
              <a:gd name="T0" fmla="*/ 0 w 372"/>
              <a:gd name="T1" fmla="*/ 166 h 166"/>
              <a:gd name="T2" fmla="*/ 80 w 372"/>
              <a:gd name="T3" fmla="*/ 0 h 166"/>
              <a:gd name="T4" fmla="*/ 372 w 372"/>
              <a:gd name="T5" fmla="*/ 0 h 166"/>
              <a:gd name="T6" fmla="*/ 292 w 372"/>
              <a:gd name="T7" fmla="*/ 166 h 166"/>
              <a:gd name="T8" fmla="*/ 0 w 372"/>
              <a:gd name="T9" fmla="*/ 166 h 166"/>
              <a:gd name="T10" fmla="*/ 0 60000 65536"/>
              <a:gd name="T11" fmla="*/ 0 60000 65536"/>
              <a:gd name="T12" fmla="*/ 0 60000 65536"/>
              <a:gd name="T13" fmla="*/ 0 60000 65536"/>
              <a:gd name="T14" fmla="*/ 0 60000 65536"/>
              <a:gd name="T15" fmla="*/ 0 w 372"/>
              <a:gd name="T16" fmla="*/ 0 h 166"/>
              <a:gd name="T17" fmla="*/ 372 w 372"/>
              <a:gd name="T18" fmla="*/ 166 h 166"/>
            </a:gdLst>
            <a:ahLst/>
            <a:cxnLst>
              <a:cxn ang="T10">
                <a:pos x="T0" y="T1"/>
              </a:cxn>
              <a:cxn ang="T11">
                <a:pos x="T2" y="T3"/>
              </a:cxn>
              <a:cxn ang="T12">
                <a:pos x="T4" y="T5"/>
              </a:cxn>
              <a:cxn ang="T13">
                <a:pos x="T6" y="T7"/>
              </a:cxn>
              <a:cxn ang="T14">
                <a:pos x="T8" y="T9"/>
              </a:cxn>
            </a:cxnLst>
            <a:rect l="T15" t="T16" r="T17" b="T18"/>
            <a:pathLst>
              <a:path w="372" h="166">
                <a:moveTo>
                  <a:pt x="0" y="166"/>
                </a:moveTo>
                <a:lnTo>
                  <a:pt x="80" y="0"/>
                </a:lnTo>
                <a:lnTo>
                  <a:pt x="372" y="0"/>
                </a:lnTo>
                <a:lnTo>
                  <a:pt x="292" y="166"/>
                </a:lnTo>
                <a:lnTo>
                  <a:pt x="0" y="166"/>
                </a:lnTo>
                <a:close/>
              </a:path>
            </a:pathLst>
          </a:custGeom>
          <a:solidFill>
            <a:srgbClr val="9A9A9A"/>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86" name="Freeform 588"/>
          <p:cNvSpPr>
            <a:spLocks/>
          </p:cNvSpPr>
          <p:nvPr/>
        </p:nvSpPr>
        <p:spPr bwMode="auto">
          <a:xfrm>
            <a:off x="7300913" y="2859088"/>
            <a:ext cx="590550" cy="263525"/>
          </a:xfrm>
          <a:custGeom>
            <a:avLst/>
            <a:gdLst>
              <a:gd name="T0" fmla="*/ 0 w 372"/>
              <a:gd name="T1" fmla="*/ 166 h 166"/>
              <a:gd name="T2" fmla="*/ 80 w 372"/>
              <a:gd name="T3" fmla="*/ 0 h 166"/>
              <a:gd name="T4" fmla="*/ 372 w 372"/>
              <a:gd name="T5" fmla="*/ 0 h 166"/>
              <a:gd name="T6" fmla="*/ 292 w 372"/>
              <a:gd name="T7" fmla="*/ 166 h 166"/>
              <a:gd name="T8" fmla="*/ 0 w 372"/>
              <a:gd name="T9" fmla="*/ 166 h 166"/>
              <a:gd name="T10" fmla="*/ 0 60000 65536"/>
              <a:gd name="T11" fmla="*/ 0 60000 65536"/>
              <a:gd name="T12" fmla="*/ 0 60000 65536"/>
              <a:gd name="T13" fmla="*/ 0 60000 65536"/>
              <a:gd name="T14" fmla="*/ 0 60000 65536"/>
              <a:gd name="T15" fmla="*/ 0 w 372"/>
              <a:gd name="T16" fmla="*/ 0 h 166"/>
              <a:gd name="T17" fmla="*/ 372 w 372"/>
              <a:gd name="T18" fmla="*/ 166 h 166"/>
            </a:gdLst>
            <a:ahLst/>
            <a:cxnLst>
              <a:cxn ang="T10">
                <a:pos x="T0" y="T1"/>
              </a:cxn>
              <a:cxn ang="T11">
                <a:pos x="T2" y="T3"/>
              </a:cxn>
              <a:cxn ang="T12">
                <a:pos x="T4" y="T5"/>
              </a:cxn>
              <a:cxn ang="T13">
                <a:pos x="T6" y="T7"/>
              </a:cxn>
              <a:cxn ang="T14">
                <a:pos x="T8" y="T9"/>
              </a:cxn>
            </a:cxnLst>
            <a:rect l="T15" t="T16" r="T17" b="T18"/>
            <a:pathLst>
              <a:path w="372" h="166">
                <a:moveTo>
                  <a:pt x="0" y="166"/>
                </a:moveTo>
                <a:lnTo>
                  <a:pt x="80" y="0"/>
                </a:lnTo>
                <a:lnTo>
                  <a:pt x="372" y="0"/>
                </a:lnTo>
                <a:lnTo>
                  <a:pt x="292" y="166"/>
                </a:lnTo>
                <a:lnTo>
                  <a:pt x="0" y="166"/>
                </a:lnTo>
                <a:close/>
              </a:path>
            </a:pathLst>
          </a:cu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587" name="Rectangle 589"/>
          <p:cNvSpPr>
            <a:spLocks noChangeArrowheads="1"/>
          </p:cNvSpPr>
          <p:nvPr/>
        </p:nvSpPr>
        <p:spPr bwMode="auto">
          <a:xfrm>
            <a:off x="7359650" y="3125788"/>
            <a:ext cx="73025" cy="14287"/>
          </a:xfrm>
          <a:prstGeom prst="rect">
            <a:avLst/>
          </a:prstGeom>
          <a:solidFill>
            <a:srgbClr val="9A9A9A"/>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588" name="Rectangle 590"/>
          <p:cNvSpPr>
            <a:spLocks noChangeArrowheads="1"/>
          </p:cNvSpPr>
          <p:nvPr/>
        </p:nvSpPr>
        <p:spPr bwMode="auto">
          <a:xfrm>
            <a:off x="7359650" y="3125788"/>
            <a:ext cx="73025" cy="14287"/>
          </a:xfrm>
          <a:prstGeom prst="rect">
            <a:avLst/>
          </a:pr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589" name="Rectangle 591"/>
          <p:cNvSpPr>
            <a:spLocks noChangeArrowheads="1"/>
          </p:cNvSpPr>
          <p:nvPr/>
        </p:nvSpPr>
        <p:spPr bwMode="auto">
          <a:xfrm>
            <a:off x="7627938" y="3125788"/>
            <a:ext cx="73025" cy="14287"/>
          </a:xfrm>
          <a:prstGeom prst="rect">
            <a:avLst/>
          </a:prstGeom>
          <a:solidFill>
            <a:srgbClr val="9A9A9A"/>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590" name="Rectangle 592"/>
          <p:cNvSpPr>
            <a:spLocks noChangeArrowheads="1"/>
          </p:cNvSpPr>
          <p:nvPr/>
        </p:nvSpPr>
        <p:spPr bwMode="auto">
          <a:xfrm>
            <a:off x="7627938" y="3125788"/>
            <a:ext cx="73025" cy="14287"/>
          </a:xfrm>
          <a:prstGeom prst="rect">
            <a:avLst/>
          </a:pr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591" name="Freeform 593"/>
          <p:cNvSpPr>
            <a:spLocks/>
          </p:cNvSpPr>
          <p:nvPr/>
        </p:nvSpPr>
        <p:spPr bwMode="auto">
          <a:xfrm>
            <a:off x="7234238" y="3157538"/>
            <a:ext cx="461962" cy="36512"/>
          </a:xfrm>
          <a:custGeom>
            <a:avLst/>
            <a:gdLst>
              <a:gd name="T0" fmla="*/ 43 w 291"/>
              <a:gd name="T1" fmla="*/ 0 h 23"/>
              <a:gd name="T2" fmla="*/ 291 w 291"/>
              <a:gd name="T3" fmla="*/ 0 h 23"/>
              <a:gd name="T4" fmla="*/ 248 w 291"/>
              <a:gd name="T5" fmla="*/ 23 h 23"/>
              <a:gd name="T6" fmla="*/ 0 w 291"/>
              <a:gd name="T7" fmla="*/ 23 h 23"/>
              <a:gd name="T8" fmla="*/ 43 w 291"/>
              <a:gd name="T9" fmla="*/ 0 h 23"/>
              <a:gd name="T10" fmla="*/ 0 60000 65536"/>
              <a:gd name="T11" fmla="*/ 0 60000 65536"/>
              <a:gd name="T12" fmla="*/ 0 60000 65536"/>
              <a:gd name="T13" fmla="*/ 0 60000 65536"/>
              <a:gd name="T14" fmla="*/ 0 60000 65536"/>
              <a:gd name="T15" fmla="*/ 0 w 291"/>
              <a:gd name="T16" fmla="*/ 0 h 23"/>
              <a:gd name="T17" fmla="*/ 291 w 291"/>
              <a:gd name="T18" fmla="*/ 23 h 23"/>
            </a:gdLst>
            <a:ahLst/>
            <a:cxnLst>
              <a:cxn ang="T10">
                <a:pos x="T0" y="T1"/>
              </a:cxn>
              <a:cxn ang="T11">
                <a:pos x="T2" y="T3"/>
              </a:cxn>
              <a:cxn ang="T12">
                <a:pos x="T4" y="T5"/>
              </a:cxn>
              <a:cxn ang="T13">
                <a:pos x="T6" y="T7"/>
              </a:cxn>
              <a:cxn ang="T14">
                <a:pos x="T8" y="T9"/>
              </a:cxn>
            </a:cxnLst>
            <a:rect l="T15" t="T16" r="T17" b="T18"/>
            <a:pathLst>
              <a:path w="291" h="23">
                <a:moveTo>
                  <a:pt x="43" y="0"/>
                </a:moveTo>
                <a:lnTo>
                  <a:pt x="291" y="0"/>
                </a:lnTo>
                <a:lnTo>
                  <a:pt x="248" y="23"/>
                </a:lnTo>
                <a:lnTo>
                  <a:pt x="0" y="23"/>
                </a:lnTo>
                <a:lnTo>
                  <a:pt x="43" y="0"/>
                </a:lnTo>
                <a:close/>
              </a:path>
            </a:pathLst>
          </a:custGeom>
          <a:solidFill>
            <a:srgbClr val="666666"/>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92" name="Freeform 594"/>
          <p:cNvSpPr>
            <a:spLocks/>
          </p:cNvSpPr>
          <p:nvPr/>
        </p:nvSpPr>
        <p:spPr bwMode="auto">
          <a:xfrm>
            <a:off x="7234238" y="3157538"/>
            <a:ext cx="461962" cy="36512"/>
          </a:xfrm>
          <a:custGeom>
            <a:avLst/>
            <a:gdLst>
              <a:gd name="T0" fmla="*/ 43 w 291"/>
              <a:gd name="T1" fmla="*/ 0 h 23"/>
              <a:gd name="T2" fmla="*/ 291 w 291"/>
              <a:gd name="T3" fmla="*/ 0 h 23"/>
              <a:gd name="T4" fmla="*/ 248 w 291"/>
              <a:gd name="T5" fmla="*/ 23 h 23"/>
              <a:gd name="T6" fmla="*/ 0 w 291"/>
              <a:gd name="T7" fmla="*/ 23 h 23"/>
              <a:gd name="T8" fmla="*/ 43 w 291"/>
              <a:gd name="T9" fmla="*/ 0 h 23"/>
              <a:gd name="T10" fmla="*/ 0 60000 65536"/>
              <a:gd name="T11" fmla="*/ 0 60000 65536"/>
              <a:gd name="T12" fmla="*/ 0 60000 65536"/>
              <a:gd name="T13" fmla="*/ 0 60000 65536"/>
              <a:gd name="T14" fmla="*/ 0 60000 65536"/>
              <a:gd name="T15" fmla="*/ 0 w 291"/>
              <a:gd name="T16" fmla="*/ 0 h 23"/>
              <a:gd name="T17" fmla="*/ 291 w 291"/>
              <a:gd name="T18" fmla="*/ 23 h 23"/>
            </a:gdLst>
            <a:ahLst/>
            <a:cxnLst>
              <a:cxn ang="T10">
                <a:pos x="T0" y="T1"/>
              </a:cxn>
              <a:cxn ang="T11">
                <a:pos x="T2" y="T3"/>
              </a:cxn>
              <a:cxn ang="T12">
                <a:pos x="T4" y="T5"/>
              </a:cxn>
              <a:cxn ang="T13">
                <a:pos x="T6" y="T7"/>
              </a:cxn>
              <a:cxn ang="T14">
                <a:pos x="T8" y="T9"/>
              </a:cxn>
            </a:cxnLst>
            <a:rect l="T15" t="T16" r="T17" b="T18"/>
            <a:pathLst>
              <a:path w="291" h="23">
                <a:moveTo>
                  <a:pt x="43" y="0"/>
                </a:moveTo>
                <a:lnTo>
                  <a:pt x="291" y="0"/>
                </a:lnTo>
                <a:lnTo>
                  <a:pt x="248" y="23"/>
                </a:lnTo>
                <a:lnTo>
                  <a:pt x="0" y="23"/>
                </a:lnTo>
                <a:lnTo>
                  <a:pt x="43" y="0"/>
                </a:lnTo>
                <a:close/>
              </a:path>
            </a:pathLst>
          </a:cu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593" name="Rectangle 595"/>
          <p:cNvSpPr>
            <a:spLocks noChangeArrowheads="1"/>
          </p:cNvSpPr>
          <p:nvPr/>
        </p:nvSpPr>
        <p:spPr bwMode="auto">
          <a:xfrm>
            <a:off x="7135813" y="3224213"/>
            <a:ext cx="471487" cy="41275"/>
          </a:xfrm>
          <a:prstGeom prst="rect">
            <a:avLst/>
          </a:prstGeom>
          <a:solidFill>
            <a:srgbClr val="66666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594" name="Rectangle 596"/>
          <p:cNvSpPr>
            <a:spLocks noChangeArrowheads="1"/>
          </p:cNvSpPr>
          <p:nvPr/>
        </p:nvSpPr>
        <p:spPr bwMode="auto">
          <a:xfrm>
            <a:off x="7135813" y="3224213"/>
            <a:ext cx="471487" cy="41275"/>
          </a:xfrm>
          <a:prstGeom prst="rect">
            <a:avLst/>
          </a:pr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595" name="Freeform 597"/>
          <p:cNvSpPr>
            <a:spLocks/>
          </p:cNvSpPr>
          <p:nvPr/>
        </p:nvSpPr>
        <p:spPr bwMode="auto">
          <a:xfrm>
            <a:off x="7366000" y="3203575"/>
            <a:ext cx="79375" cy="9525"/>
          </a:xfrm>
          <a:custGeom>
            <a:avLst/>
            <a:gdLst>
              <a:gd name="T0" fmla="*/ 0 w 50"/>
              <a:gd name="T1" fmla="*/ 6 h 6"/>
              <a:gd name="T2" fmla="*/ 13 w 50"/>
              <a:gd name="T3" fmla="*/ 0 h 6"/>
              <a:gd name="T4" fmla="*/ 50 w 50"/>
              <a:gd name="T5" fmla="*/ 0 h 6"/>
              <a:gd name="T6" fmla="*/ 38 w 50"/>
              <a:gd name="T7" fmla="*/ 6 h 6"/>
              <a:gd name="T8" fmla="*/ 0 w 50"/>
              <a:gd name="T9" fmla="*/ 6 h 6"/>
              <a:gd name="T10" fmla="*/ 0 60000 65536"/>
              <a:gd name="T11" fmla="*/ 0 60000 65536"/>
              <a:gd name="T12" fmla="*/ 0 60000 65536"/>
              <a:gd name="T13" fmla="*/ 0 60000 65536"/>
              <a:gd name="T14" fmla="*/ 0 60000 65536"/>
              <a:gd name="T15" fmla="*/ 0 w 50"/>
              <a:gd name="T16" fmla="*/ 0 h 6"/>
              <a:gd name="T17" fmla="*/ 50 w 50"/>
              <a:gd name="T18" fmla="*/ 6 h 6"/>
            </a:gdLst>
            <a:ahLst/>
            <a:cxnLst>
              <a:cxn ang="T10">
                <a:pos x="T0" y="T1"/>
              </a:cxn>
              <a:cxn ang="T11">
                <a:pos x="T2" y="T3"/>
              </a:cxn>
              <a:cxn ang="T12">
                <a:pos x="T4" y="T5"/>
              </a:cxn>
              <a:cxn ang="T13">
                <a:pos x="T6" y="T7"/>
              </a:cxn>
              <a:cxn ang="T14">
                <a:pos x="T8" y="T9"/>
              </a:cxn>
            </a:cxnLst>
            <a:rect l="T15" t="T16" r="T17" b="T18"/>
            <a:pathLst>
              <a:path w="50" h="6">
                <a:moveTo>
                  <a:pt x="0" y="6"/>
                </a:moveTo>
                <a:lnTo>
                  <a:pt x="13" y="0"/>
                </a:lnTo>
                <a:lnTo>
                  <a:pt x="50" y="0"/>
                </a:lnTo>
                <a:lnTo>
                  <a:pt x="38" y="6"/>
                </a:lnTo>
                <a:lnTo>
                  <a:pt x="0" y="6"/>
                </a:lnTo>
              </a:path>
            </a:pathLst>
          </a:cu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596" name="Rectangle 598"/>
          <p:cNvSpPr>
            <a:spLocks noChangeArrowheads="1"/>
          </p:cNvSpPr>
          <p:nvPr/>
        </p:nvSpPr>
        <p:spPr bwMode="auto">
          <a:xfrm>
            <a:off x="7194550" y="3246438"/>
            <a:ext cx="9525" cy="6350"/>
          </a:xfrm>
          <a:prstGeom prst="rect">
            <a:avLst/>
          </a:prstGeom>
          <a:solidFill>
            <a:srgbClr val="00FF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597" name="Rectangle 599"/>
          <p:cNvSpPr>
            <a:spLocks noChangeArrowheads="1"/>
          </p:cNvSpPr>
          <p:nvPr/>
        </p:nvSpPr>
        <p:spPr bwMode="auto">
          <a:xfrm>
            <a:off x="7234238" y="3246438"/>
            <a:ext cx="9525" cy="6350"/>
          </a:xfrm>
          <a:prstGeom prst="rect">
            <a:avLst/>
          </a:prstGeom>
          <a:solidFill>
            <a:srgbClr val="00FF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598" name="Rectangle 600"/>
          <p:cNvSpPr>
            <a:spLocks noChangeArrowheads="1"/>
          </p:cNvSpPr>
          <p:nvPr/>
        </p:nvSpPr>
        <p:spPr bwMode="auto">
          <a:xfrm>
            <a:off x="7154863" y="3246438"/>
            <a:ext cx="9525" cy="6350"/>
          </a:xfrm>
          <a:prstGeom prst="rect">
            <a:avLst/>
          </a:prstGeom>
          <a:solidFill>
            <a:srgbClr val="FF00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599" name="Freeform 601"/>
          <p:cNvSpPr>
            <a:spLocks/>
          </p:cNvSpPr>
          <p:nvPr/>
        </p:nvSpPr>
        <p:spPr bwMode="auto">
          <a:xfrm>
            <a:off x="7716838" y="3163888"/>
            <a:ext cx="28575" cy="25400"/>
          </a:xfrm>
          <a:custGeom>
            <a:avLst/>
            <a:gdLst>
              <a:gd name="T0" fmla="*/ 0 w 18"/>
              <a:gd name="T1" fmla="*/ 9 h 16"/>
              <a:gd name="T2" fmla="*/ 18 w 18"/>
              <a:gd name="T3" fmla="*/ 0 h 16"/>
              <a:gd name="T4" fmla="*/ 18 w 18"/>
              <a:gd name="T5" fmla="*/ 6 h 16"/>
              <a:gd name="T6" fmla="*/ 0 w 18"/>
              <a:gd name="T7" fmla="*/ 16 h 16"/>
              <a:gd name="T8" fmla="*/ 0 w 18"/>
              <a:gd name="T9" fmla="*/ 9 h 16"/>
              <a:gd name="T10" fmla="*/ 0 60000 65536"/>
              <a:gd name="T11" fmla="*/ 0 60000 65536"/>
              <a:gd name="T12" fmla="*/ 0 60000 65536"/>
              <a:gd name="T13" fmla="*/ 0 60000 65536"/>
              <a:gd name="T14" fmla="*/ 0 60000 65536"/>
              <a:gd name="T15" fmla="*/ 0 w 18"/>
              <a:gd name="T16" fmla="*/ 0 h 16"/>
              <a:gd name="T17" fmla="*/ 18 w 18"/>
              <a:gd name="T18" fmla="*/ 16 h 16"/>
            </a:gdLst>
            <a:ahLst/>
            <a:cxnLst>
              <a:cxn ang="T10">
                <a:pos x="T0" y="T1"/>
              </a:cxn>
              <a:cxn ang="T11">
                <a:pos x="T2" y="T3"/>
              </a:cxn>
              <a:cxn ang="T12">
                <a:pos x="T4" y="T5"/>
              </a:cxn>
              <a:cxn ang="T13">
                <a:pos x="T6" y="T7"/>
              </a:cxn>
              <a:cxn ang="T14">
                <a:pos x="T8" y="T9"/>
              </a:cxn>
            </a:cxnLst>
            <a:rect l="T15" t="T16" r="T17" b="T18"/>
            <a:pathLst>
              <a:path w="18" h="16">
                <a:moveTo>
                  <a:pt x="0" y="9"/>
                </a:moveTo>
                <a:lnTo>
                  <a:pt x="18" y="0"/>
                </a:lnTo>
                <a:lnTo>
                  <a:pt x="18" y="6"/>
                </a:lnTo>
                <a:lnTo>
                  <a:pt x="0" y="16"/>
                </a:lnTo>
                <a:lnTo>
                  <a:pt x="0" y="9"/>
                </a:lnTo>
                <a:close/>
              </a:path>
            </a:pathLst>
          </a:custGeom>
          <a:solidFill>
            <a:srgbClr val="00000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600" name="Rectangle 602"/>
          <p:cNvSpPr>
            <a:spLocks noChangeArrowheads="1"/>
          </p:cNvSpPr>
          <p:nvPr/>
        </p:nvSpPr>
        <p:spPr bwMode="auto">
          <a:xfrm>
            <a:off x="7543800" y="3232150"/>
            <a:ext cx="25400" cy="12700"/>
          </a:xfrm>
          <a:prstGeom prst="rect">
            <a:avLst/>
          </a:prstGeom>
          <a:solidFill>
            <a:srgbClr val="FF00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pic>
        <p:nvPicPr>
          <p:cNvPr id="601" name="Picture 603"/>
          <p:cNvPicPr>
            <a:picLocks noChangeAspect="1" noChangeArrowheads="1"/>
          </p:cNvPicPr>
          <p:nvPr/>
        </p:nvPicPr>
        <p:blipFill>
          <a:blip r:embed="rId139">
            <a:extLst>
              <a:ext uri="{28A0092B-C50C-407E-A947-70E740481C1C}">
                <a14:useLocalDpi xmlns:a14="http://schemas.microsoft.com/office/drawing/2010/main" val="0"/>
              </a:ext>
            </a:extLst>
          </a:blip>
          <a:srcRect/>
          <a:stretch>
            <a:fillRect/>
          </a:stretch>
        </p:blipFill>
        <p:spPr bwMode="auto">
          <a:xfrm>
            <a:off x="7442200" y="3232150"/>
            <a:ext cx="12700" cy="127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02" name="Picture 604"/>
          <p:cNvPicPr>
            <a:picLocks noChangeAspect="1" noChangeArrowheads="1"/>
          </p:cNvPicPr>
          <p:nvPr/>
        </p:nvPicPr>
        <p:blipFill>
          <a:blip r:embed="rId140">
            <a:extLst>
              <a:ext uri="{28A0092B-C50C-407E-A947-70E740481C1C}">
                <a14:useLocalDpi xmlns:a14="http://schemas.microsoft.com/office/drawing/2010/main" val="0"/>
              </a:ext>
            </a:extLst>
          </a:blip>
          <a:srcRect/>
          <a:stretch>
            <a:fillRect/>
          </a:stretch>
        </p:blipFill>
        <p:spPr bwMode="auto">
          <a:xfrm>
            <a:off x="7480300" y="3232150"/>
            <a:ext cx="12700" cy="127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03" name="Picture 605"/>
          <p:cNvPicPr>
            <a:picLocks noChangeAspect="1" noChangeArrowheads="1"/>
          </p:cNvPicPr>
          <p:nvPr/>
        </p:nvPicPr>
        <p:blipFill>
          <a:blip r:embed="rId140">
            <a:extLst>
              <a:ext uri="{28A0092B-C50C-407E-A947-70E740481C1C}">
                <a14:useLocalDpi xmlns:a14="http://schemas.microsoft.com/office/drawing/2010/main" val="0"/>
              </a:ext>
            </a:extLst>
          </a:blip>
          <a:srcRect/>
          <a:stretch>
            <a:fillRect/>
          </a:stretch>
        </p:blipFill>
        <p:spPr bwMode="auto">
          <a:xfrm>
            <a:off x="7493000" y="3232150"/>
            <a:ext cx="12700" cy="127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04" name="Picture 606"/>
          <p:cNvPicPr>
            <a:picLocks noChangeAspect="1" noChangeArrowheads="1"/>
          </p:cNvPicPr>
          <p:nvPr/>
        </p:nvPicPr>
        <p:blipFill>
          <a:blip r:embed="rId141">
            <a:extLst>
              <a:ext uri="{28A0092B-C50C-407E-A947-70E740481C1C}">
                <a14:useLocalDpi xmlns:a14="http://schemas.microsoft.com/office/drawing/2010/main" val="0"/>
              </a:ext>
            </a:extLst>
          </a:blip>
          <a:srcRect/>
          <a:stretch>
            <a:fillRect/>
          </a:stretch>
        </p:blipFill>
        <p:spPr bwMode="auto">
          <a:xfrm>
            <a:off x="7327900" y="2876550"/>
            <a:ext cx="509588" cy="228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05" name="Picture 607"/>
          <p:cNvPicPr>
            <a:picLocks noChangeAspect="1" noChangeArrowheads="1"/>
          </p:cNvPicPr>
          <p:nvPr/>
        </p:nvPicPr>
        <p:blipFill>
          <a:blip r:embed="rId142">
            <a:extLst>
              <a:ext uri="{28A0092B-C50C-407E-A947-70E740481C1C}">
                <a14:useLocalDpi xmlns:a14="http://schemas.microsoft.com/office/drawing/2010/main" val="0"/>
              </a:ext>
            </a:extLst>
          </a:blip>
          <a:srcRect/>
          <a:stretch>
            <a:fillRect/>
          </a:stretch>
        </p:blipFill>
        <p:spPr bwMode="auto">
          <a:xfrm>
            <a:off x="7327900" y="2876550"/>
            <a:ext cx="509588" cy="228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06" name="Freeform 608"/>
          <p:cNvSpPr>
            <a:spLocks/>
          </p:cNvSpPr>
          <p:nvPr/>
        </p:nvSpPr>
        <p:spPr bwMode="auto">
          <a:xfrm>
            <a:off x="7335838" y="2878138"/>
            <a:ext cx="501650" cy="223837"/>
          </a:xfrm>
          <a:custGeom>
            <a:avLst/>
            <a:gdLst>
              <a:gd name="T0" fmla="*/ 0 w 316"/>
              <a:gd name="T1" fmla="*/ 141 h 141"/>
              <a:gd name="T2" fmla="*/ 68 w 316"/>
              <a:gd name="T3" fmla="*/ 0 h 141"/>
              <a:gd name="T4" fmla="*/ 316 w 316"/>
              <a:gd name="T5" fmla="*/ 0 h 141"/>
              <a:gd name="T6" fmla="*/ 247 w 316"/>
              <a:gd name="T7" fmla="*/ 141 h 141"/>
              <a:gd name="T8" fmla="*/ 0 w 316"/>
              <a:gd name="T9" fmla="*/ 141 h 141"/>
              <a:gd name="T10" fmla="*/ 0 60000 65536"/>
              <a:gd name="T11" fmla="*/ 0 60000 65536"/>
              <a:gd name="T12" fmla="*/ 0 60000 65536"/>
              <a:gd name="T13" fmla="*/ 0 60000 65536"/>
              <a:gd name="T14" fmla="*/ 0 60000 65536"/>
              <a:gd name="T15" fmla="*/ 0 w 316"/>
              <a:gd name="T16" fmla="*/ 0 h 141"/>
              <a:gd name="T17" fmla="*/ 316 w 316"/>
              <a:gd name="T18" fmla="*/ 141 h 141"/>
            </a:gdLst>
            <a:ahLst/>
            <a:cxnLst>
              <a:cxn ang="T10">
                <a:pos x="T0" y="T1"/>
              </a:cxn>
              <a:cxn ang="T11">
                <a:pos x="T2" y="T3"/>
              </a:cxn>
              <a:cxn ang="T12">
                <a:pos x="T4" y="T5"/>
              </a:cxn>
              <a:cxn ang="T13">
                <a:pos x="T6" y="T7"/>
              </a:cxn>
              <a:cxn ang="T14">
                <a:pos x="T8" y="T9"/>
              </a:cxn>
            </a:cxnLst>
            <a:rect l="T15" t="T16" r="T17" b="T18"/>
            <a:pathLst>
              <a:path w="316" h="141">
                <a:moveTo>
                  <a:pt x="0" y="141"/>
                </a:moveTo>
                <a:lnTo>
                  <a:pt x="68" y="0"/>
                </a:lnTo>
                <a:lnTo>
                  <a:pt x="316" y="0"/>
                </a:lnTo>
                <a:lnTo>
                  <a:pt x="247" y="141"/>
                </a:lnTo>
                <a:lnTo>
                  <a:pt x="0" y="141"/>
                </a:lnTo>
              </a:path>
            </a:pathLst>
          </a:cu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607" name="Rectangle 609"/>
          <p:cNvSpPr>
            <a:spLocks noChangeArrowheads="1"/>
          </p:cNvSpPr>
          <p:nvPr/>
        </p:nvSpPr>
        <p:spPr bwMode="auto">
          <a:xfrm>
            <a:off x="6756400" y="3335338"/>
            <a:ext cx="1587500" cy="2746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800" b="0">
                <a:latin typeface="Arial" charset="0"/>
              </a:rPr>
              <a:t>Intra2(win2003)</a:t>
            </a:r>
            <a:endParaRPr lang="en-US" sz="1800"/>
          </a:p>
        </p:txBody>
      </p:sp>
      <p:sp>
        <p:nvSpPr>
          <p:cNvPr id="608" name="Rectangle 610"/>
          <p:cNvSpPr>
            <a:spLocks noChangeArrowheads="1"/>
          </p:cNvSpPr>
          <p:nvPr/>
        </p:nvSpPr>
        <p:spPr bwMode="auto">
          <a:xfrm>
            <a:off x="3997325" y="2125663"/>
            <a:ext cx="550863" cy="304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2000" b="0">
                <a:solidFill>
                  <a:srgbClr val="CC0066"/>
                </a:solidFill>
                <a:latin typeface="Arial" charset="0"/>
              </a:rPr>
              <a:t>DMZ</a:t>
            </a:r>
            <a:endParaRPr lang="en-US">
              <a:solidFill>
                <a:srgbClr val="CC0066"/>
              </a:solidFill>
            </a:endParaRPr>
          </a:p>
        </p:txBody>
      </p:sp>
      <p:grpSp>
        <p:nvGrpSpPr>
          <p:cNvPr id="609" name="Group 611"/>
          <p:cNvGrpSpPr>
            <a:grpSpLocks/>
          </p:cNvGrpSpPr>
          <p:nvPr/>
        </p:nvGrpSpPr>
        <p:grpSpPr bwMode="auto">
          <a:xfrm>
            <a:off x="176213" y="3924300"/>
            <a:ext cx="1597025" cy="852488"/>
            <a:chOff x="2207" y="2504"/>
            <a:chExt cx="1006" cy="537"/>
          </a:xfrm>
        </p:grpSpPr>
        <p:sp>
          <p:nvSpPr>
            <p:cNvPr id="610" name="Freeform 612"/>
            <p:cNvSpPr>
              <a:spLocks noEditPoints="1"/>
            </p:cNvSpPr>
            <p:nvPr/>
          </p:nvSpPr>
          <p:spPr bwMode="auto">
            <a:xfrm>
              <a:off x="2234" y="2504"/>
              <a:ext cx="979" cy="346"/>
            </a:xfrm>
            <a:custGeom>
              <a:avLst/>
              <a:gdLst>
                <a:gd name="T0" fmla="*/ 839 w 979"/>
                <a:gd name="T1" fmla="*/ 346 h 346"/>
                <a:gd name="T2" fmla="*/ 923 w 979"/>
                <a:gd name="T3" fmla="*/ 259 h 346"/>
                <a:gd name="T4" fmla="*/ 867 w 979"/>
                <a:gd name="T5" fmla="*/ 317 h 346"/>
                <a:gd name="T6" fmla="*/ 839 w 979"/>
                <a:gd name="T7" fmla="*/ 317 h 346"/>
                <a:gd name="T8" fmla="*/ 839 w 979"/>
                <a:gd name="T9" fmla="*/ 346 h 346"/>
                <a:gd name="T10" fmla="*/ 0 w 979"/>
                <a:gd name="T11" fmla="*/ 346 h 346"/>
                <a:gd name="T12" fmla="*/ 839 w 979"/>
                <a:gd name="T13" fmla="*/ 346 h 346"/>
                <a:gd name="T14" fmla="*/ 839 w 979"/>
                <a:gd name="T15" fmla="*/ 317 h 346"/>
                <a:gd name="T16" fmla="*/ 0 w 979"/>
                <a:gd name="T17" fmla="*/ 317 h 346"/>
                <a:gd name="T18" fmla="*/ 0 w 979"/>
                <a:gd name="T19" fmla="*/ 346 h 346"/>
                <a:gd name="T20" fmla="*/ 979 w 979"/>
                <a:gd name="T21" fmla="*/ 0 h 346"/>
                <a:gd name="T22" fmla="*/ 979 w 979"/>
                <a:gd name="T23" fmla="*/ 202 h 346"/>
                <a:gd name="T24" fmla="*/ 867 w 979"/>
                <a:gd name="T25" fmla="*/ 317 h 346"/>
                <a:gd name="T26" fmla="*/ 867 w 979"/>
                <a:gd name="T27" fmla="*/ 115 h 346"/>
                <a:gd name="T28" fmla="*/ 979 w 979"/>
                <a:gd name="T29" fmla="*/ 0 h 34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79"/>
                <a:gd name="T46" fmla="*/ 0 h 346"/>
                <a:gd name="T47" fmla="*/ 979 w 979"/>
                <a:gd name="T48" fmla="*/ 346 h 34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79" h="346">
                  <a:moveTo>
                    <a:pt x="839" y="346"/>
                  </a:moveTo>
                  <a:lnTo>
                    <a:pt x="923" y="259"/>
                  </a:lnTo>
                  <a:lnTo>
                    <a:pt x="867" y="317"/>
                  </a:lnTo>
                  <a:lnTo>
                    <a:pt x="839" y="317"/>
                  </a:lnTo>
                  <a:lnTo>
                    <a:pt x="839" y="346"/>
                  </a:lnTo>
                  <a:close/>
                  <a:moveTo>
                    <a:pt x="0" y="346"/>
                  </a:moveTo>
                  <a:lnTo>
                    <a:pt x="839" y="346"/>
                  </a:lnTo>
                  <a:lnTo>
                    <a:pt x="839" y="317"/>
                  </a:lnTo>
                  <a:lnTo>
                    <a:pt x="0" y="317"/>
                  </a:lnTo>
                  <a:lnTo>
                    <a:pt x="0" y="346"/>
                  </a:lnTo>
                  <a:close/>
                  <a:moveTo>
                    <a:pt x="979" y="0"/>
                  </a:moveTo>
                  <a:lnTo>
                    <a:pt x="979" y="202"/>
                  </a:lnTo>
                  <a:lnTo>
                    <a:pt x="867" y="317"/>
                  </a:lnTo>
                  <a:lnTo>
                    <a:pt x="867" y="115"/>
                  </a:lnTo>
                  <a:lnTo>
                    <a:pt x="979" y="0"/>
                  </a:lnTo>
                  <a:close/>
                </a:path>
              </a:pathLst>
            </a:custGeom>
            <a:solidFill>
              <a:srgbClr val="9A9A9A"/>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611" name="Freeform 613"/>
            <p:cNvSpPr>
              <a:spLocks/>
            </p:cNvSpPr>
            <p:nvPr/>
          </p:nvSpPr>
          <p:spPr bwMode="auto">
            <a:xfrm>
              <a:off x="2207" y="2504"/>
              <a:ext cx="1006" cy="115"/>
            </a:xfrm>
            <a:custGeom>
              <a:avLst/>
              <a:gdLst>
                <a:gd name="T0" fmla="*/ 0 w 1006"/>
                <a:gd name="T1" fmla="*/ 115 h 115"/>
                <a:gd name="T2" fmla="*/ 111 w 1006"/>
                <a:gd name="T3" fmla="*/ 0 h 115"/>
                <a:gd name="T4" fmla="*/ 1006 w 1006"/>
                <a:gd name="T5" fmla="*/ 0 h 115"/>
                <a:gd name="T6" fmla="*/ 894 w 1006"/>
                <a:gd name="T7" fmla="*/ 115 h 115"/>
                <a:gd name="T8" fmla="*/ 0 w 1006"/>
                <a:gd name="T9" fmla="*/ 115 h 115"/>
                <a:gd name="T10" fmla="*/ 0 60000 65536"/>
                <a:gd name="T11" fmla="*/ 0 60000 65536"/>
                <a:gd name="T12" fmla="*/ 0 60000 65536"/>
                <a:gd name="T13" fmla="*/ 0 60000 65536"/>
                <a:gd name="T14" fmla="*/ 0 60000 65536"/>
                <a:gd name="T15" fmla="*/ 0 w 1006"/>
                <a:gd name="T16" fmla="*/ 0 h 115"/>
                <a:gd name="T17" fmla="*/ 1006 w 1006"/>
                <a:gd name="T18" fmla="*/ 115 h 115"/>
              </a:gdLst>
              <a:ahLst/>
              <a:cxnLst>
                <a:cxn ang="T10">
                  <a:pos x="T0" y="T1"/>
                </a:cxn>
                <a:cxn ang="T11">
                  <a:pos x="T2" y="T3"/>
                </a:cxn>
                <a:cxn ang="T12">
                  <a:pos x="T4" y="T5"/>
                </a:cxn>
                <a:cxn ang="T13">
                  <a:pos x="T6" y="T7"/>
                </a:cxn>
                <a:cxn ang="T14">
                  <a:pos x="T8" y="T9"/>
                </a:cxn>
              </a:cxnLst>
              <a:rect l="T15" t="T16" r="T17" b="T18"/>
              <a:pathLst>
                <a:path w="1006" h="115">
                  <a:moveTo>
                    <a:pt x="0" y="115"/>
                  </a:moveTo>
                  <a:lnTo>
                    <a:pt x="111" y="0"/>
                  </a:lnTo>
                  <a:lnTo>
                    <a:pt x="1006" y="0"/>
                  </a:lnTo>
                  <a:lnTo>
                    <a:pt x="894" y="115"/>
                  </a:lnTo>
                  <a:lnTo>
                    <a:pt x="0" y="115"/>
                  </a:lnTo>
                  <a:close/>
                </a:path>
              </a:pathLst>
            </a:custGeom>
            <a:solidFill>
              <a:srgbClr val="E6E6E6"/>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612" name="Rectangle 614"/>
            <p:cNvSpPr>
              <a:spLocks noChangeArrowheads="1"/>
            </p:cNvSpPr>
            <p:nvPr/>
          </p:nvSpPr>
          <p:spPr bwMode="auto">
            <a:xfrm>
              <a:off x="2207" y="2619"/>
              <a:ext cx="894" cy="202"/>
            </a:xfrm>
            <a:prstGeom prst="rect">
              <a:avLst/>
            </a:prstGeom>
            <a:solidFill>
              <a:srgbClr val="C0C0C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613" name="Rectangle 615"/>
            <p:cNvSpPr>
              <a:spLocks noChangeArrowheads="1"/>
            </p:cNvSpPr>
            <p:nvPr/>
          </p:nvSpPr>
          <p:spPr bwMode="auto">
            <a:xfrm>
              <a:off x="2207" y="2619"/>
              <a:ext cx="894" cy="202"/>
            </a:xfrm>
            <a:prstGeom prst="rect">
              <a:avLst/>
            </a:pr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614" name="Rectangle 616"/>
            <p:cNvSpPr>
              <a:spLocks noChangeArrowheads="1"/>
            </p:cNvSpPr>
            <p:nvPr/>
          </p:nvSpPr>
          <p:spPr bwMode="auto">
            <a:xfrm>
              <a:off x="2220" y="2734"/>
              <a:ext cx="867" cy="72"/>
            </a:xfrm>
            <a:prstGeom prst="rect">
              <a:avLst/>
            </a:prstGeom>
            <a:solidFill>
              <a:srgbClr val="DBDAC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pic>
          <p:nvPicPr>
            <p:cNvPr id="615" name="Picture 617"/>
            <p:cNvPicPr>
              <a:picLocks noChangeAspect="1" noChangeArrowheads="1"/>
            </p:cNvPicPr>
            <p:nvPr/>
          </p:nvPicPr>
          <p:blipFill>
            <a:blip r:embed="rId85">
              <a:extLst>
                <a:ext uri="{28A0092B-C50C-407E-A947-70E740481C1C}">
                  <a14:useLocalDpi xmlns:a14="http://schemas.microsoft.com/office/drawing/2010/main" val="0"/>
                </a:ext>
              </a:extLst>
            </a:blip>
            <a:srcRect/>
            <a:stretch>
              <a:fillRect/>
            </a:stretch>
          </p:blipFill>
          <p:spPr bwMode="auto">
            <a:xfrm>
              <a:off x="2266"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16" name="Picture 618"/>
            <p:cNvPicPr>
              <a:picLocks noChangeAspect="1" noChangeArrowheads="1"/>
            </p:cNvPicPr>
            <p:nvPr/>
          </p:nvPicPr>
          <p:blipFill>
            <a:blip r:embed="rId86">
              <a:extLst>
                <a:ext uri="{28A0092B-C50C-407E-A947-70E740481C1C}">
                  <a14:useLocalDpi xmlns:a14="http://schemas.microsoft.com/office/drawing/2010/main" val="0"/>
                </a:ext>
              </a:extLst>
            </a:blip>
            <a:srcRect/>
            <a:stretch>
              <a:fillRect/>
            </a:stretch>
          </p:blipFill>
          <p:spPr bwMode="auto">
            <a:xfrm>
              <a:off x="2266"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17" name="Picture 619"/>
            <p:cNvPicPr>
              <a:picLocks noChangeAspect="1" noChangeArrowheads="1"/>
            </p:cNvPicPr>
            <p:nvPr/>
          </p:nvPicPr>
          <p:blipFill>
            <a:blip r:embed="rId87">
              <a:extLst>
                <a:ext uri="{28A0092B-C50C-407E-A947-70E740481C1C}">
                  <a14:useLocalDpi xmlns:a14="http://schemas.microsoft.com/office/drawing/2010/main" val="0"/>
                </a:ext>
              </a:extLst>
            </a:blip>
            <a:srcRect/>
            <a:stretch>
              <a:fillRect/>
            </a:stretch>
          </p:blipFill>
          <p:spPr bwMode="auto">
            <a:xfrm>
              <a:off x="2266"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18" name="Picture 620"/>
            <p:cNvPicPr>
              <a:picLocks noChangeAspect="1" noChangeArrowheads="1"/>
            </p:cNvPicPr>
            <p:nvPr/>
          </p:nvPicPr>
          <p:blipFill>
            <a:blip r:embed="rId88">
              <a:extLst>
                <a:ext uri="{28A0092B-C50C-407E-A947-70E740481C1C}">
                  <a14:useLocalDpi xmlns:a14="http://schemas.microsoft.com/office/drawing/2010/main" val="0"/>
                </a:ext>
              </a:extLst>
            </a:blip>
            <a:srcRect/>
            <a:stretch>
              <a:fillRect/>
            </a:stretch>
          </p:blipFill>
          <p:spPr bwMode="auto">
            <a:xfrm>
              <a:off x="2266"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19" name="Picture 621"/>
            <p:cNvPicPr>
              <a:picLocks noChangeAspect="1" noChangeArrowheads="1"/>
            </p:cNvPicPr>
            <p:nvPr/>
          </p:nvPicPr>
          <p:blipFill>
            <a:blip r:embed="rId89">
              <a:extLst>
                <a:ext uri="{28A0092B-C50C-407E-A947-70E740481C1C}">
                  <a14:useLocalDpi xmlns:a14="http://schemas.microsoft.com/office/drawing/2010/main" val="0"/>
                </a:ext>
              </a:extLst>
            </a:blip>
            <a:srcRect/>
            <a:stretch>
              <a:fillRect/>
            </a:stretch>
          </p:blipFill>
          <p:spPr bwMode="auto">
            <a:xfrm>
              <a:off x="2882"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20" name="Picture 622"/>
            <p:cNvPicPr>
              <a:picLocks noChangeAspect="1" noChangeArrowheads="1"/>
            </p:cNvPicPr>
            <p:nvPr/>
          </p:nvPicPr>
          <p:blipFill>
            <a:blip r:embed="rId90">
              <a:extLst>
                <a:ext uri="{28A0092B-C50C-407E-A947-70E740481C1C}">
                  <a14:useLocalDpi xmlns:a14="http://schemas.microsoft.com/office/drawing/2010/main" val="0"/>
                </a:ext>
              </a:extLst>
            </a:blip>
            <a:srcRect/>
            <a:stretch>
              <a:fillRect/>
            </a:stretch>
          </p:blipFill>
          <p:spPr bwMode="auto">
            <a:xfrm>
              <a:off x="2882"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21" name="Picture 623"/>
            <p:cNvPicPr>
              <a:picLocks noChangeAspect="1" noChangeArrowheads="1"/>
            </p:cNvPicPr>
            <p:nvPr/>
          </p:nvPicPr>
          <p:blipFill>
            <a:blip r:embed="rId91">
              <a:extLst>
                <a:ext uri="{28A0092B-C50C-407E-A947-70E740481C1C}">
                  <a14:useLocalDpi xmlns:a14="http://schemas.microsoft.com/office/drawing/2010/main" val="0"/>
                </a:ext>
              </a:extLst>
            </a:blip>
            <a:srcRect/>
            <a:stretch>
              <a:fillRect/>
            </a:stretch>
          </p:blipFill>
          <p:spPr bwMode="auto">
            <a:xfrm>
              <a:off x="2882"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22" name="Picture 624"/>
            <p:cNvPicPr>
              <a:picLocks noChangeAspect="1" noChangeArrowheads="1"/>
            </p:cNvPicPr>
            <p:nvPr/>
          </p:nvPicPr>
          <p:blipFill>
            <a:blip r:embed="rId92">
              <a:extLst>
                <a:ext uri="{28A0092B-C50C-407E-A947-70E740481C1C}">
                  <a14:useLocalDpi xmlns:a14="http://schemas.microsoft.com/office/drawing/2010/main" val="0"/>
                </a:ext>
              </a:extLst>
            </a:blip>
            <a:srcRect/>
            <a:stretch>
              <a:fillRect/>
            </a:stretch>
          </p:blipFill>
          <p:spPr bwMode="auto">
            <a:xfrm>
              <a:off x="2882"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23" name="Picture 625"/>
            <p:cNvPicPr>
              <a:picLocks noChangeAspect="1" noChangeArrowheads="1"/>
            </p:cNvPicPr>
            <p:nvPr/>
          </p:nvPicPr>
          <p:blipFill>
            <a:blip r:embed="rId93">
              <a:extLst>
                <a:ext uri="{28A0092B-C50C-407E-A947-70E740481C1C}">
                  <a14:useLocalDpi xmlns:a14="http://schemas.microsoft.com/office/drawing/2010/main" val="0"/>
                </a:ext>
              </a:extLst>
            </a:blip>
            <a:srcRect/>
            <a:stretch>
              <a:fillRect/>
            </a:stretch>
          </p:blipFill>
          <p:spPr bwMode="auto">
            <a:xfrm>
              <a:off x="2810"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24" name="Picture 626"/>
            <p:cNvPicPr>
              <a:picLocks noChangeAspect="1" noChangeArrowheads="1"/>
            </p:cNvPicPr>
            <p:nvPr/>
          </p:nvPicPr>
          <p:blipFill>
            <a:blip r:embed="rId94">
              <a:extLst>
                <a:ext uri="{28A0092B-C50C-407E-A947-70E740481C1C}">
                  <a14:useLocalDpi xmlns:a14="http://schemas.microsoft.com/office/drawing/2010/main" val="0"/>
                </a:ext>
              </a:extLst>
            </a:blip>
            <a:srcRect/>
            <a:stretch>
              <a:fillRect/>
            </a:stretch>
          </p:blipFill>
          <p:spPr bwMode="auto">
            <a:xfrm>
              <a:off x="2810"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25" name="Picture 627"/>
            <p:cNvPicPr>
              <a:picLocks noChangeAspect="1" noChangeArrowheads="1"/>
            </p:cNvPicPr>
            <p:nvPr/>
          </p:nvPicPr>
          <p:blipFill>
            <a:blip r:embed="rId95">
              <a:extLst>
                <a:ext uri="{28A0092B-C50C-407E-A947-70E740481C1C}">
                  <a14:useLocalDpi xmlns:a14="http://schemas.microsoft.com/office/drawing/2010/main" val="0"/>
                </a:ext>
              </a:extLst>
            </a:blip>
            <a:srcRect/>
            <a:stretch>
              <a:fillRect/>
            </a:stretch>
          </p:blipFill>
          <p:spPr bwMode="auto">
            <a:xfrm>
              <a:off x="2810"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26" name="Picture 628"/>
            <p:cNvPicPr>
              <a:picLocks noChangeAspect="1" noChangeArrowheads="1"/>
            </p:cNvPicPr>
            <p:nvPr/>
          </p:nvPicPr>
          <p:blipFill>
            <a:blip r:embed="rId96">
              <a:extLst>
                <a:ext uri="{28A0092B-C50C-407E-A947-70E740481C1C}">
                  <a14:useLocalDpi xmlns:a14="http://schemas.microsoft.com/office/drawing/2010/main" val="0"/>
                </a:ext>
              </a:extLst>
            </a:blip>
            <a:srcRect/>
            <a:stretch>
              <a:fillRect/>
            </a:stretch>
          </p:blipFill>
          <p:spPr bwMode="auto">
            <a:xfrm>
              <a:off x="2810"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27" name="Picture 629"/>
            <p:cNvPicPr>
              <a:picLocks noChangeAspect="1" noChangeArrowheads="1"/>
            </p:cNvPicPr>
            <p:nvPr/>
          </p:nvPicPr>
          <p:blipFill>
            <a:blip r:embed="rId97">
              <a:extLst>
                <a:ext uri="{28A0092B-C50C-407E-A947-70E740481C1C}">
                  <a14:useLocalDpi xmlns:a14="http://schemas.microsoft.com/office/drawing/2010/main" val="0"/>
                </a:ext>
              </a:extLst>
            </a:blip>
            <a:srcRect/>
            <a:stretch>
              <a:fillRect/>
            </a:stretch>
          </p:blipFill>
          <p:spPr bwMode="auto">
            <a:xfrm>
              <a:off x="2602"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28" name="Picture 630"/>
            <p:cNvPicPr>
              <a:picLocks noChangeAspect="1" noChangeArrowheads="1"/>
            </p:cNvPicPr>
            <p:nvPr/>
          </p:nvPicPr>
          <p:blipFill>
            <a:blip r:embed="rId98">
              <a:extLst>
                <a:ext uri="{28A0092B-C50C-407E-A947-70E740481C1C}">
                  <a14:useLocalDpi xmlns:a14="http://schemas.microsoft.com/office/drawing/2010/main" val="0"/>
                </a:ext>
              </a:extLst>
            </a:blip>
            <a:srcRect/>
            <a:stretch>
              <a:fillRect/>
            </a:stretch>
          </p:blipFill>
          <p:spPr bwMode="auto">
            <a:xfrm>
              <a:off x="2602"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29" name="Picture 631"/>
            <p:cNvPicPr>
              <a:picLocks noChangeAspect="1" noChangeArrowheads="1"/>
            </p:cNvPicPr>
            <p:nvPr/>
          </p:nvPicPr>
          <p:blipFill>
            <a:blip r:embed="rId99">
              <a:extLst>
                <a:ext uri="{28A0092B-C50C-407E-A947-70E740481C1C}">
                  <a14:useLocalDpi xmlns:a14="http://schemas.microsoft.com/office/drawing/2010/main" val="0"/>
                </a:ext>
              </a:extLst>
            </a:blip>
            <a:srcRect/>
            <a:stretch>
              <a:fillRect/>
            </a:stretch>
          </p:blipFill>
          <p:spPr bwMode="auto">
            <a:xfrm>
              <a:off x="2602"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30" name="Picture 632"/>
            <p:cNvPicPr>
              <a:picLocks noChangeAspect="1" noChangeArrowheads="1"/>
            </p:cNvPicPr>
            <p:nvPr/>
          </p:nvPicPr>
          <p:blipFill>
            <a:blip r:embed="rId100">
              <a:extLst>
                <a:ext uri="{28A0092B-C50C-407E-A947-70E740481C1C}">
                  <a14:useLocalDpi xmlns:a14="http://schemas.microsoft.com/office/drawing/2010/main" val="0"/>
                </a:ext>
              </a:extLst>
            </a:blip>
            <a:srcRect/>
            <a:stretch>
              <a:fillRect/>
            </a:stretch>
          </p:blipFill>
          <p:spPr bwMode="auto">
            <a:xfrm>
              <a:off x="2602"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31" name="Picture 633"/>
            <p:cNvPicPr>
              <a:picLocks noChangeAspect="1" noChangeArrowheads="1"/>
            </p:cNvPicPr>
            <p:nvPr/>
          </p:nvPicPr>
          <p:blipFill>
            <a:blip r:embed="rId101">
              <a:extLst>
                <a:ext uri="{28A0092B-C50C-407E-A947-70E740481C1C}">
                  <a14:useLocalDpi xmlns:a14="http://schemas.microsoft.com/office/drawing/2010/main" val="0"/>
                </a:ext>
              </a:extLst>
            </a:blip>
            <a:srcRect/>
            <a:stretch>
              <a:fillRect/>
            </a:stretch>
          </p:blipFill>
          <p:spPr bwMode="auto">
            <a:xfrm>
              <a:off x="2538"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32" name="Picture 634"/>
            <p:cNvPicPr>
              <a:picLocks noChangeAspect="1" noChangeArrowheads="1"/>
            </p:cNvPicPr>
            <p:nvPr/>
          </p:nvPicPr>
          <p:blipFill>
            <a:blip r:embed="rId102">
              <a:extLst>
                <a:ext uri="{28A0092B-C50C-407E-A947-70E740481C1C}">
                  <a14:useLocalDpi xmlns:a14="http://schemas.microsoft.com/office/drawing/2010/main" val="0"/>
                </a:ext>
              </a:extLst>
            </a:blip>
            <a:srcRect/>
            <a:stretch>
              <a:fillRect/>
            </a:stretch>
          </p:blipFill>
          <p:spPr bwMode="auto">
            <a:xfrm>
              <a:off x="2538"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33" name="Picture 635"/>
            <p:cNvPicPr>
              <a:picLocks noChangeAspect="1" noChangeArrowheads="1"/>
            </p:cNvPicPr>
            <p:nvPr/>
          </p:nvPicPr>
          <p:blipFill>
            <a:blip r:embed="rId103">
              <a:extLst>
                <a:ext uri="{28A0092B-C50C-407E-A947-70E740481C1C}">
                  <a14:useLocalDpi xmlns:a14="http://schemas.microsoft.com/office/drawing/2010/main" val="0"/>
                </a:ext>
              </a:extLst>
            </a:blip>
            <a:srcRect/>
            <a:stretch>
              <a:fillRect/>
            </a:stretch>
          </p:blipFill>
          <p:spPr bwMode="auto">
            <a:xfrm>
              <a:off x="2538"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34" name="Picture 636"/>
            <p:cNvPicPr>
              <a:picLocks noChangeAspect="1" noChangeArrowheads="1"/>
            </p:cNvPicPr>
            <p:nvPr/>
          </p:nvPicPr>
          <p:blipFill>
            <a:blip r:embed="rId104">
              <a:extLst>
                <a:ext uri="{28A0092B-C50C-407E-A947-70E740481C1C}">
                  <a14:useLocalDpi xmlns:a14="http://schemas.microsoft.com/office/drawing/2010/main" val="0"/>
                </a:ext>
              </a:extLst>
            </a:blip>
            <a:srcRect/>
            <a:stretch>
              <a:fillRect/>
            </a:stretch>
          </p:blipFill>
          <p:spPr bwMode="auto">
            <a:xfrm>
              <a:off x="2538"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35" name="Picture 637"/>
            <p:cNvPicPr>
              <a:picLocks noChangeAspect="1" noChangeArrowheads="1"/>
            </p:cNvPicPr>
            <p:nvPr/>
          </p:nvPicPr>
          <p:blipFill>
            <a:blip r:embed="rId105">
              <a:extLst>
                <a:ext uri="{28A0092B-C50C-407E-A947-70E740481C1C}">
                  <a14:useLocalDpi xmlns:a14="http://schemas.microsoft.com/office/drawing/2010/main" val="0"/>
                </a:ext>
              </a:extLst>
            </a:blip>
            <a:srcRect/>
            <a:stretch>
              <a:fillRect/>
            </a:stretch>
          </p:blipFill>
          <p:spPr bwMode="auto">
            <a:xfrm>
              <a:off x="2466"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36" name="Picture 638"/>
            <p:cNvPicPr>
              <a:picLocks noChangeAspect="1" noChangeArrowheads="1"/>
            </p:cNvPicPr>
            <p:nvPr/>
          </p:nvPicPr>
          <p:blipFill>
            <a:blip r:embed="rId106">
              <a:extLst>
                <a:ext uri="{28A0092B-C50C-407E-A947-70E740481C1C}">
                  <a14:useLocalDpi xmlns:a14="http://schemas.microsoft.com/office/drawing/2010/main" val="0"/>
                </a:ext>
              </a:extLst>
            </a:blip>
            <a:srcRect/>
            <a:stretch>
              <a:fillRect/>
            </a:stretch>
          </p:blipFill>
          <p:spPr bwMode="auto">
            <a:xfrm>
              <a:off x="2466"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37" name="Picture 639"/>
            <p:cNvPicPr>
              <a:picLocks noChangeAspect="1" noChangeArrowheads="1"/>
            </p:cNvPicPr>
            <p:nvPr/>
          </p:nvPicPr>
          <p:blipFill>
            <a:blip r:embed="rId107">
              <a:extLst>
                <a:ext uri="{28A0092B-C50C-407E-A947-70E740481C1C}">
                  <a14:useLocalDpi xmlns:a14="http://schemas.microsoft.com/office/drawing/2010/main" val="0"/>
                </a:ext>
              </a:extLst>
            </a:blip>
            <a:srcRect/>
            <a:stretch>
              <a:fillRect/>
            </a:stretch>
          </p:blipFill>
          <p:spPr bwMode="auto">
            <a:xfrm>
              <a:off x="2466"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38" name="Picture 640"/>
            <p:cNvPicPr>
              <a:picLocks noChangeAspect="1" noChangeArrowheads="1"/>
            </p:cNvPicPr>
            <p:nvPr/>
          </p:nvPicPr>
          <p:blipFill>
            <a:blip r:embed="rId108">
              <a:extLst>
                <a:ext uri="{28A0092B-C50C-407E-A947-70E740481C1C}">
                  <a14:useLocalDpi xmlns:a14="http://schemas.microsoft.com/office/drawing/2010/main" val="0"/>
                </a:ext>
              </a:extLst>
            </a:blip>
            <a:srcRect/>
            <a:stretch>
              <a:fillRect/>
            </a:stretch>
          </p:blipFill>
          <p:spPr bwMode="auto">
            <a:xfrm>
              <a:off x="2466"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39" name="Picture 641"/>
            <p:cNvPicPr>
              <a:picLocks noChangeAspect="1" noChangeArrowheads="1"/>
            </p:cNvPicPr>
            <p:nvPr/>
          </p:nvPicPr>
          <p:blipFill>
            <a:blip r:embed="rId109">
              <a:extLst>
                <a:ext uri="{28A0092B-C50C-407E-A947-70E740481C1C}">
                  <a14:useLocalDpi xmlns:a14="http://schemas.microsoft.com/office/drawing/2010/main" val="0"/>
                </a:ext>
              </a:extLst>
            </a:blip>
            <a:srcRect/>
            <a:stretch>
              <a:fillRect/>
            </a:stretch>
          </p:blipFill>
          <p:spPr bwMode="auto">
            <a:xfrm>
              <a:off x="2402"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40" name="Picture 642"/>
            <p:cNvPicPr>
              <a:picLocks noChangeAspect="1" noChangeArrowheads="1"/>
            </p:cNvPicPr>
            <p:nvPr/>
          </p:nvPicPr>
          <p:blipFill>
            <a:blip r:embed="rId110">
              <a:extLst>
                <a:ext uri="{28A0092B-C50C-407E-A947-70E740481C1C}">
                  <a14:useLocalDpi xmlns:a14="http://schemas.microsoft.com/office/drawing/2010/main" val="0"/>
                </a:ext>
              </a:extLst>
            </a:blip>
            <a:srcRect/>
            <a:stretch>
              <a:fillRect/>
            </a:stretch>
          </p:blipFill>
          <p:spPr bwMode="auto">
            <a:xfrm>
              <a:off x="2402"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41" name="Picture 643"/>
            <p:cNvPicPr>
              <a:picLocks noChangeAspect="1" noChangeArrowheads="1"/>
            </p:cNvPicPr>
            <p:nvPr/>
          </p:nvPicPr>
          <p:blipFill>
            <a:blip r:embed="rId111">
              <a:extLst>
                <a:ext uri="{28A0092B-C50C-407E-A947-70E740481C1C}">
                  <a14:useLocalDpi xmlns:a14="http://schemas.microsoft.com/office/drawing/2010/main" val="0"/>
                </a:ext>
              </a:extLst>
            </a:blip>
            <a:srcRect/>
            <a:stretch>
              <a:fillRect/>
            </a:stretch>
          </p:blipFill>
          <p:spPr bwMode="auto">
            <a:xfrm>
              <a:off x="2402"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42" name="Picture 644"/>
            <p:cNvPicPr>
              <a:picLocks noChangeAspect="1" noChangeArrowheads="1"/>
            </p:cNvPicPr>
            <p:nvPr/>
          </p:nvPicPr>
          <p:blipFill>
            <a:blip r:embed="rId112">
              <a:extLst>
                <a:ext uri="{28A0092B-C50C-407E-A947-70E740481C1C}">
                  <a14:useLocalDpi xmlns:a14="http://schemas.microsoft.com/office/drawing/2010/main" val="0"/>
                </a:ext>
              </a:extLst>
            </a:blip>
            <a:srcRect/>
            <a:stretch>
              <a:fillRect/>
            </a:stretch>
          </p:blipFill>
          <p:spPr bwMode="auto">
            <a:xfrm>
              <a:off x="2402"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43" name="Picture 645"/>
            <p:cNvPicPr>
              <a:picLocks noChangeAspect="1" noChangeArrowheads="1"/>
            </p:cNvPicPr>
            <p:nvPr/>
          </p:nvPicPr>
          <p:blipFill>
            <a:blip r:embed="rId113">
              <a:extLst>
                <a:ext uri="{28A0092B-C50C-407E-A947-70E740481C1C}">
                  <a14:useLocalDpi xmlns:a14="http://schemas.microsoft.com/office/drawing/2010/main" val="0"/>
                </a:ext>
              </a:extLst>
            </a:blip>
            <a:srcRect/>
            <a:stretch>
              <a:fillRect/>
            </a:stretch>
          </p:blipFill>
          <p:spPr bwMode="auto">
            <a:xfrm>
              <a:off x="2330"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44" name="Picture 646"/>
            <p:cNvPicPr>
              <a:picLocks noChangeAspect="1" noChangeArrowheads="1"/>
            </p:cNvPicPr>
            <p:nvPr/>
          </p:nvPicPr>
          <p:blipFill>
            <a:blip r:embed="rId114">
              <a:extLst>
                <a:ext uri="{28A0092B-C50C-407E-A947-70E740481C1C}">
                  <a14:useLocalDpi xmlns:a14="http://schemas.microsoft.com/office/drawing/2010/main" val="0"/>
                </a:ext>
              </a:extLst>
            </a:blip>
            <a:srcRect/>
            <a:stretch>
              <a:fillRect/>
            </a:stretch>
          </p:blipFill>
          <p:spPr bwMode="auto">
            <a:xfrm>
              <a:off x="2330"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45" name="Picture 647"/>
            <p:cNvPicPr>
              <a:picLocks noChangeAspect="1" noChangeArrowheads="1"/>
            </p:cNvPicPr>
            <p:nvPr/>
          </p:nvPicPr>
          <p:blipFill>
            <a:blip r:embed="rId115">
              <a:extLst>
                <a:ext uri="{28A0092B-C50C-407E-A947-70E740481C1C}">
                  <a14:useLocalDpi xmlns:a14="http://schemas.microsoft.com/office/drawing/2010/main" val="0"/>
                </a:ext>
              </a:extLst>
            </a:blip>
            <a:srcRect/>
            <a:stretch>
              <a:fillRect/>
            </a:stretch>
          </p:blipFill>
          <p:spPr bwMode="auto">
            <a:xfrm>
              <a:off x="2330"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46" name="Picture 648"/>
            <p:cNvPicPr>
              <a:picLocks noChangeAspect="1" noChangeArrowheads="1"/>
            </p:cNvPicPr>
            <p:nvPr/>
          </p:nvPicPr>
          <p:blipFill>
            <a:blip r:embed="rId116">
              <a:extLst>
                <a:ext uri="{28A0092B-C50C-407E-A947-70E740481C1C}">
                  <a14:useLocalDpi xmlns:a14="http://schemas.microsoft.com/office/drawing/2010/main" val="0"/>
                </a:ext>
              </a:extLst>
            </a:blip>
            <a:srcRect/>
            <a:stretch>
              <a:fillRect/>
            </a:stretch>
          </p:blipFill>
          <p:spPr bwMode="auto">
            <a:xfrm>
              <a:off x="2330"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47" name="Picture 649"/>
            <p:cNvPicPr>
              <a:picLocks noChangeAspect="1" noChangeArrowheads="1"/>
            </p:cNvPicPr>
            <p:nvPr/>
          </p:nvPicPr>
          <p:blipFill>
            <a:blip r:embed="rId117">
              <a:extLst>
                <a:ext uri="{28A0092B-C50C-407E-A947-70E740481C1C}">
                  <a14:useLocalDpi xmlns:a14="http://schemas.microsoft.com/office/drawing/2010/main" val="0"/>
                </a:ext>
              </a:extLst>
            </a:blip>
            <a:srcRect/>
            <a:stretch>
              <a:fillRect/>
            </a:stretch>
          </p:blipFill>
          <p:spPr bwMode="auto">
            <a:xfrm>
              <a:off x="2674"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48" name="Picture 650"/>
            <p:cNvPicPr>
              <a:picLocks noChangeAspect="1" noChangeArrowheads="1"/>
            </p:cNvPicPr>
            <p:nvPr/>
          </p:nvPicPr>
          <p:blipFill>
            <a:blip r:embed="rId118">
              <a:extLst>
                <a:ext uri="{28A0092B-C50C-407E-A947-70E740481C1C}">
                  <a14:useLocalDpi xmlns:a14="http://schemas.microsoft.com/office/drawing/2010/main" val="0"/>
                </a:ext>
              </a:extLst>
            </a:blip>
            <a:srcRect/>
            <a:stretch>
              <a:fillRect/>
            </a:stretch>
          </p:blipFill>
          <p:spPr bwMode="auto">
            <a:xfrm>
              <a:off x="2674"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49" name="Picture 651"/>
            <p:cNvPicPr>
              <a:picLocks noChangeAspect="1" noChangeArrowheads="1"/>
            </p:cNvPicPr>
            <p:nvPr/>
          </p:nvPicPr>
          <p:blipFill>
            <a:blip r:embed="rId119">
              <a:extLst>
                <a:ext uri="{28A0092B-C50C-407E-A947-70E740481C1C}">
                  <a14:useLocalDpi xmlns:a14="http://schemas.microsoft.com/office/drawing/2010/main" val="0"/>
                </a:ext>
              </a:extLst>
            </a:blip>
            <a:srcRect/>
            <a:stretch>
              <a:fillRect/>
            </a:stretch>
          </p:blipFill>
          <p:spPr bwMode="auto">
            <a:xfrm>
              <a:off x="2674"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50" name="Picture 652"/>
            <p:cNvPicPr>
              <a:picLocks noChangeAspect="1" noChangeArrowheads="1"/>
            </p:cNvPicPr>
            <p:nvPr/>
          </p:nvPicPr>
          <p:blipFill>
            <a:blip r:embed="rId120">
              <a:extLst>
                <a:ext uri="{28A0092B-C50C-407E-A947-70E740481C1C}">
                  <a14:useLocalDpi xmlns:a14="http://schemas.microsoft.com/office/drawing/2010/main" val="0"/>
                </a:ext>
              </a:extLst>
            </a:blip>
            <a:srcRect/>
            <a:stretch>
              <a:fillRect/>
            </a:stretch>
          </p:blipFill>
          <p:spPr bwMode="auto">
            <a:xfrm>
              <a:off x="2746"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51" name="Picture 653"/>
            <p:cNvPicPr>
              <a:picLocks noChangeAspect="1" noChangeArrowheads="1"/>
            </p:cNvPicPr>
            <p:nvPr/>
          </p:nvPicPr>
          <p:blipFill>
            <a:blip r:embed="rId121">
              <a:extLst>
                <a:ext uri="{28A0092B-C50C-407E-A947-70E740481C1C}">
                  <a14:useLocalDpi xmlns:a14="http://schemas.microsoft.com/office/drawing/2010/main" val="0"/>
                </a:ext>
              </a:extLst>
            </a:blip>
            <a:srcRect/>
            <a:stretch>
              <a:fillRect/>
            </a:stretch>
          </p:blipFill>
          <p:spPr bwMode="auto">
            <a:xfrm>
              <a:off x="2746"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52" name="Picture 654"/>
            <p:cNvPicPr>
              <a:picLocks noChangeAspect="1" noChangeArrowheads="1"/>
            </p:cNvPicPr>
            <p:nvPr/>
          </p:nvPicPr>
          <p:blipFill>
            <a:blip r:embed="rId122">
              <a:extLst>
                <a:ext uri="{28A0092B-C50C-407E-A947-70E740481C1C}">
                  <a14:useLocalDpi xmlns:a14="http://schemas.microsoft.com/office/drawing/2010/main" val="0"/>
                </a:ext>
              </a:extLst>
            </a:blip>
            <a:srcRect/>
            <a:stretch>
              <a:fillRect/>
            </a:stretch>
          </p:blipFill>
          <p:spPr bwMode="auto">
            <a:xfrm>
              <a:off x="2746"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53" name="Picture 655"/>
            <p:cNvPicPr>
              <a:picLocks noChangeAspect="1" noChangeArrowheads="1"/>
            </p:cNvPicPr>
            <p:nvPr/>
          </p:nvPicPr>
          <p:blipFill>
            <a:blip r:embed="rId123">
              <a:extLst>
                <a:ext uri="{28A0092B-C50C-407E-A947-70E740481C1C}">
                  <a14:useLocalDpi xmlns:a14="http://schemas.microsoft.com/office/drawing/2010/main" val="0"/>
                </a:ext>
              </a:extLst>
            </a:blip>
            <a:srcRect/>
            <a:stretch>
              <a:fillRect/>
            </a:stretch>
          </p:blipFill>
          <p:spPr bwMode="auto">
            <a:xfrm>
              <a:off x="2746"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54" name="Rectangle 656"/>
            <p:cNvSpPr>
              <a:spLocks noChangeArrowheads="1"/>
            </p:cNvSpPr>
            <p:nvPr/>
          </p:nvSpPr>
          <p:spPr bwMode="auto">
            <a:xfrm>
              <a:off x="2258" y="2740"/>
              <a:ext cx="808" cy="8"/>
            </a:xfrm>
            <a:prstGeom prst="rect">
              <a:avLst/>
            </a:prstGeom>
            <a:solidFill>
              <a:srgbClr val="DCDCDC"/>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655" name="Rectangle 657"/>
            <p:cNvSpPr>
              <a:spLocks noChangeArrowheads="1"/>
            </p:cNvSpPr>
            <p:nvPr/>
          </p:nvSpPr>
          <p:spPr bwMode="auto">
            <a:xfrm>
              <a:off x="2258" y="2748"/>
              <a:ext cx="808" cy="8"/>
            </a:xfrm>
            <a:prstGeom prst="rect">
              <a:avLst/>
            </a:prstGeom>
            <a:solidFill>
              <a:srgbClr val="DADADA"/>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656" name="Rectangle 658"/>
            <p:cNvSpPr>
              <a:spLocks noChangeArrowheads="1"/>
            </p:cNvSpPr>
            <p:nvPr/>
          </p:nvSpPr>
          <p:spPr bwMode="auto">
            <a:xfrm>
              <a:off x="2258" y="2756"/>
              <a:ext cx="808" cy="8"/>
            </a:xfrm>
            <a:prstGeom prst="rect">
              <a:avLst/>
            </a:prstGeom>
            <a:solidFill>
              <a:srgbClr val="C4C4C4"/>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657" name="Rectangle 659"/>
            <p:cNvSpPr>
              <a:spLocks noChangeArrowheads="1"/>
            </p:cNvSpPr>
            <p:nvPr/>
          </p:nvSpPr>
          <p:spPr bwMode="auto">
            <a:xfrm>
              <a:off x="2258" y="2764"/>
              <a:ext cx="808" cy="8"/>
            </a:xfrm>
            <a:prstGeom prst="rect">
              <a:avLst/>
            </a:prstGeom>
            <a:solidFill>
              <a:srgbClr val="AEAEAE"/>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658" name="Rectangle 660"/>
            <p:cNvSpPr>
              <a:spLocks noChangeArrowheads="1"/>
            </p:cNvSpPr>
            <p:nvPr/>
          </p:nvSpPr>
          <p:spPr bwMode="auto">
            <a:xfrm>
              <a:off x="2258" y="2772"/>
              <a:ext cx="808" cy="8"/>
            </a:xfrm>
            <a:prstGeom prst="rect">
              <a:avLst/>
            </a:prstGeom>
            <a:solidFill>
              <a:srgbClr val="9C9C9C"/>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659" name="Rectangle 661"/>
            <p:cNvSpPr>
              <a:spLocks noChangeArrowheads="1"/>
            </p:cNvSpPr>
            <p:nvPr/>
          </p:nvSpPr>
          <p:spPr bwMode="auto">
            <a:xfrm>
              <a:off x="2258" y="2780"/>
              <a:ext cx="808" cy="8"/>
            </a:xfrm>
            <a:prstGeom prst="rect">
              <a:avLst/>
            </a:prstGeom>
            <a:solidFill>
              <a:srgbClr val="B3B3B3"/>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660" name="Rectangle 662"/>
            <p:cNvSpPr>
              <a:spLocks noChangeArrowheads="1"/>
            </p:cNvSpPr>
            <p:nvPr/>
          </p:nvSpPr>
          <p:spPr bwMode="auto">
            <a:xfrm>
              <a:off x="2258" y="2788"/>
              <a:ext cx="808" cy="8"/>
            </a:xfrm>
            <a:prstGeom prst="rect">
              <a:avLst/>
            </a:prstGeom>
            <a:solidFill>
              <a:srgbClr val="C9C9C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661" name="Freeform 663"/>
            <p:cNvSpPr>
              <a:spLocks noEditPoints="1"/>
            </p:cNvSpPr>
            <p:nvPr/>
          </p:nvSpPr>
          <p:spPr bwMode="auto">
            <a:xfrm>
              <a:off x="2258" y="2744"/>
              <a:ext cx="808" cy="55"/>
            </a:xfrm>
            <a:custGeom>
              <a:avLst/>
              <a:gdLst>
                <a:gd name="T0" fmla="*/ 795 w 808"/>
                <a:gd name="T1" fmla="*/ 55 h 55"/>
                <a:gd name="T2" fmla="*/ 688 w 808"/>
                <a:gd name="T3" fmla="*/ 0 h 55"/>
                <a:gd name="T4" fmla="*/ 626 w 808"/>
                <a:gd name="T5" fmla="*/ 37 h 55"/>
                <a:gd name="T6" fmla="*/ 647 w 808"/>
                <a:gd name="T7" fmla="*/ 51 h 55"/>
                <a:gd name="T8" fmla="*/ 654 w 808"/>
                <a:gd name="T9" fmla="*/ 37 h 55"/>
                <a:gd name="T10" fmla="*/ 619 w 808"/>
                <a:gd name="T11" fmla="*/ 2 h 55"/>
                <a:gd name="T12" fmla="*/ 626 w 808"/>
                <a:gd name="T13" fmla="*/ 37 h 55"/>
                <a:gd name="T14" fmla="*/ 557 w 808"/>
                <a:gd name="T15" fmla="*/ 51 h 55"/>
                <a:gd name="T16" fmla="*/ 578 w 808"/>
                <a:gd name="T17" fmla="*/ 37 h 55"/>
                <a:gd name="T18" fmla="*/ 585 w 808"/>
                <a:gd name="T19" fmla="*/ 2 h 55"/>
                <a:gd name="T20" fmla="*/ 551 w 808"/>
                <a:gd name="T21" fmla="*/ 37 h 55"/>
                <a:gd name="T22" fmla="*/ 489 w 808"/>
                <a:gd name="T23" fmla="*/ 37 h 55"/>
                <a:gd name="T24" fmla="*/ 509 w 808"/>
                <a:gd name="T25" fmla="*/ 51 h 55"/>
                <a:gd name="T26" fmla="*/ 516 w 808"/>
                <a:gd name="T27" fmla="*/ 37 h 55"/>
                <a:gd name="T28" fmla="*/ 482 w 808"/>
                <a:gd name="T29" fmla="*/ 2 h 55"/>
                <a:gd name="T30" fmla="*/ 489 w 808"/>
                <a:gd name="T31" fmla="*/ 37 h 55"/>
                <a:gd name="T32" fmla="*/ 420 w 808"/>
                <a:gd name="T33" fmla="*/ 51 h 55"/>
                <a:gd name="T34" fmla="*/ 441 w 808"/>
                <a:gd name="T35" fmla="*/ 37 h 55"/>
                <a:gd name="T36" fmla="*/ 447 w 808"/>
                <a:gd name="T37" fmla="*/ 2 h 55"/>
                <a:gd name="T38" fmla="*/ 413 w 808"/>
                <a:gd name="T39" fmla="*/ 37 h 55"/>
                <a:gd name="T40" fmla="*/ 351 w 808"/>
                <a:gd name="T41" fmla="*/ 37 h 55"/>
                <a:gd name="T42" fmla="*/ 372 w 808"/>
                <a:gd name="T43" fmla="*/ 51 h 55"/>
                <a:gd name="T44" fmla="*/ 379 w 808"/>
                <a:gd name="T45" fmla="*/ 37 h 55"/>
                <a:gd name="T46" fmla="*/ 344 w 808"/>
                <a:gd name="T47" fmla="*/ 2 h 55"/>
                <a:gd name="T48" fmla="*/ 351 w 808"/>
                <a:gd name="T49" fmla="*/ 37 h 55"/>
                <a:gd name="T50" fmla="*/ 282 w 808"/>
                <a:gd name="T51" fmla="*/ 51 h 55"/>
                <a:gd name="T52" fmla="*/ 303 w 808"/>
                <a:gd name="T53" fmla="*/ 37 h 55"/>
                <a:gd name="T54" fmla="*/ 310 w 808"/>
                <a:gd name="T55" fmla="*/ 2 h 55"/>
                <a:gd name="T56" fmla="*/ 276 w 808"/>
                <a:gd name="T57" fmla="*/ 37 h 55"/>
                <a:gd name="T58" fmla="*/ 214 w 808"/>
                <a:gd name="T59" fmla="*/ 37 h 55"/>
                <a:gd name="T60" fmla="*/ 234 w 808"/>
                <a:gd name="T61" fmla="*/ 51 h 55"/>
                <a:gd name="T62" fmla="*/ 241 w 808"/>
                <a:gd name="T63" fmla="*/ 37 h 55"/>
                <a:gd name="T64" fmla="*/ 207 w 808"/>
                <a:gd name="T65" fmla="*/ 2 h 55"/>
                <a:gd name="T66" fmla="*/ 214 w 808"/>
                <a:gd name="T67" fmla="*/ 37 h 55"/>
                <a:gd name="T68" fmla="*/ 145 w 808"/>
                <a:gd name="T69" fmla="*/ 51 h 55"/>
                <a:gd name="T70" fmla="*/ 166 w 808"/>
                <a:gd name="T71" fmla="*/ 37 h 55"/>
                <a:gd name="T72" fmla="*/ 172 w 808"/>
                <a:gd name="T73" fmla="*/ 2 h 55"/>
                <a:gd name="T74" fmla="*/ 138 w 808"/>
                <a:gd name="T75" fmla="*/ 37 h 55"/>
                <a:gd name="T76" fmla="*/ 76 w 808"/>
                <a:gd name="T77" fmla="*/ 37 h 55"/>
                <a:gd name="T78" fmla="*/ 96 w 808"/>
                <a:gd name="T79" fmla="*/ 51 h 55"/>
                <a:gd name="T80" fmla="*/ 104 w 808"/>
                <a:gd name="T81" fmla="*/ 37 h 55"/>
                <a:gd name="T82" fmla="*/ 69 w 808"/>
                <a:gd name="T83" fmla="*/ 2 h 55"/>
                <a:gd name="T84" fmla="*/ 76 w 808"/>
                <a:gd name="T85" fmla="*/ 37 h 55"/>
                <a:gd name="T86" fmla="*/ 7 w 808"/>
                <a:gd name="T87" fmla="*/ 51 h 55"/>
                <a:gd name="T88" fmla="*/ 28 w 808"/>
                <a:gd name="T89" fmla="*/ 37 h 55"/>
                <a:gd name="T90" fmla="*/ 34 w 808"/>
                <a:gd name="T91" fmla="*/ 2 h 55"/>
                <a:gd name="T92" fmla="*/ 0 w 808"/>
                <a:gd name="T93" fmla="*/ 37 h 55"/>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808"/>
                <a:gd name="T142" fmla="*/ 0 h 55"/>
                <a:gd name="T143" fmla="*/ 808 w 808"/>
                <a:gd name="T144" fmla="*/ 55 h 55"/>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808" h="55">
                  <a:moveTo>
                    <a:pt x="701" y="55"/>
                  </a:moveTo>
                  <a:lnTo>
                    <a:pt x="795" y="55"/>
                  </a:lnTo>
                  <a:lnTo>
                    <a:pt x="808" y="0"/>
                  </a:lnTo>
                  <a:lnTo>
                    <a:pt x="688" y="0"/>
                  </a:lnTo>
                  <a:lnTo>
                    <a:pt x="701" y="55"/>
                  </a:lnTo>
                  <a:moveTo>
                    <a:pt x="626" y="37"/>
                  </a:moveTo>
                  <a:lnTo>
                    <a:pt x="626" y="51"/>
                  </a:lnTo>
                  <a:lnTo>
                    <a:pt x="647" y="51"/>
                  </a:lnTo>
                  <a:lnTo>
                    <a:pt x="647" y="37"/>
                  </a:lnTo>
                  <a:lnTo>
                    <a:pt x="654" y="37"/>
                  </a:lnTo>
                  <a:lnTo>
                    <a:pt x="654" y="2"/>
                  </a:lnTo>
                  <a:lnTo>
                    <a:pt x="619" y="2"/>
                  </a:lnTo>
                  <a:lnTo>
                    <a:pt x="619" y="37"/>
                  </a:lnTo>
                  <a:lnTo>
                    <a:pt x="626" y="37"/>
                  </a:lnTo>
                  <a:moveTo>
                    <a:pt x="557" y="37"/>
                  </a:moveTo>
                  <a:lnTo>
                    <a:pt x="557" y="51"/>
                  </a:lnTo>
                  <a:lnTo>
                    <a:pt x="578" y="51"/>
                  </a:lnTo>
                  <a:lnTo>
                    <a:pt x="578" y="37"/>
                  </a:lnTo>
                  <a:lnTo>
                    <a:pt x="585" y="37"/>
                  </a:lnTo>
                  <a:lnTo>
                    <a:pt x="585" y="2"/>
                  </a:lnTo>
                  <a:lnTo>
                    <a:pt x="551" y="2"/>
                  </a:lnTo>
                  <a:lnTo>
                    <a:pt x="551" y="37"/>
                  </a:lnTo>
                  <a:lnTo>
                    <a:pt x="557" y="37"/>
                  </a:lnTo>
                  <a:moveTo>
                    <a:pt x="489" y="37"/>
                  </a:moveTo>
                  <a:lnTo>
                    <a:pt x="489" y="51"/>
                  </a:lnTo>
                  <a:lnTo>
                    <a:pt x="509" y="51"/>
                  </a:lnTo>
                  <a:lnTo>
                    <a:pt x="509" y="37"/>
                  </a:lnTo>
                  <a:lnTo>
                    <a:pt x="516" y="37"/>
                  </a:lnTo>
                  <a:lnTo>
                    <a:pt x="516" y="2"/>
                  </a:lnTo>
                  <a:lnTo>
                    <a:pt x="482" y="2"/>
                  </a:lnTo>
                  <a:lnTo>
                    <a:pt x="482" y="37"/>
                  </a:lnTo>
                  <a:lnTo>
                    <a:pt x="489" y="37"/>
                  </a:lnTo>
                  <a:moveTo>
                    <a:pt x="420" y="37"/>
                  </a:moveTo>
                  <a:lnTo>
                    <a:pt x="420" y="51"/>
                  </a:lnTo>
                  <a:lnTo>
                    <a:pt x="441" y="51"/>
                  </a:lnTo>
                  <a:lnTo>
                    <a:pt x="441" y="37"/>
                  </a:lnTo>
                  <a:lnTo>
                    <a:pt x="447" y="37"/>
                  </a:lnTo>
                  <a:lnTo>
                    <a:pt x="447" y="2"/>
                  </a:lnTo>
                  <a:lnTo>
                    <a:pt x="413" y="2"/>
                  </a:lnTo>
                  <a:lnTo>
                    <a:pt x="413" y="37"/>
                  </a:lnTo>
                  <a:lnTo>
                    <a:pt x="420" y="37"/>
                  </a:lnTo>
                  <a:moveTo>
                    <a:pt x="351" y="37"/>
                  </a:moveTo>
                  <a:lnTo>
                    <a:pt x="351" y="51"/>
                  </a:lnTo>
                  <a:lnTo>
                    <a:pt x="372" y="51"/>
                  </a:lnTo>
                  <a:lnTo>
                    <a:pt x="372" y="37"/>
                  </a:lnTo>
                  <a:lnTo>
                    <a:pt x="379" y="37"/>
                  </a:lnTo>
                  <a:lnTo>
                    <a:pt x="379" y="2"/>
                  </a:lnTo>
                  <a:lnTo>
                    <a:pt x="344" y="2"/>
                  </a:lnTo>
                  <a:lnTo>
                    <a:pt x="344" y="37"/>
                  </a:lnTo>
                  <a:lnTo>
                    <a:pt x="351" y="37"/>
                  </a:lnTo>
                  <a:moveTo>
                    <a:pt x="282" y="37"/>
                  </a:moveTo>
                  <a:lnTo>
                    <a:pt x="282" y="51"/>
                  </a:lnTo>
                  <a:lnTo>
                    <a:pt x="303" y="51"/>
                  </a:lnTo>
                  <a:lnTo>
                    <a:pt x="303" y="37"/>
                  </a:lnTo>
                  <a:lnTo>
                    <a:pt x="310" y="37"/>
                  </a:lnTo>
                  <a:lnTo>
                    <a:pt x="310" y="2"/>
                  </a:lnTo>
                  <a:lnTo>
                    <a:pt x="276" y="2"/>
                  </a:lnTo>
                  <a:lnTo>
                    <a:pt x="276" y="37"/>
                  </a:lnTo>
                  <a:lnTo>
                    <a:pt x="282" y="37"/>
                  </a:lnTo>
                  <a:moveTo>
                    <a:pt x="214" y="37"/>
                  </a:moveTo>
                  <a:lnTo>
                    <a:pt x="214" y="51"/>
                  </a:lnTo>
                  <a:lnTo>
                    <a:pt x="234" y="51"/>
                  </a:lnTo>
                  <a:lnTo>
                    <a:pt x="234" y="37"/>
                  </a:lnTo>
                  <a:lnTo>
                    <a:pt x="241" y="37"/>
                  </a:lnTo>
                  <a:lnTo>
                    <a:pt x="241" y="2"/>
                  </a:lnTo>
                  <a:lnTo>
                    <a:pt x="207" y="2"/>
                  </a:lnTo>
                  <a:lnTo>
                    <a:pt x="207" y="37"/>
                  </a:lnTo>
                  <a:lnTo>
                    <a:pt x="214" y="37"/>
                  </a:lnTo>
                  <a:moveTo>
                    <a:pt x="145" y="37"/>
                  </a:moveTo>
                  <a:lnTo>
                    <a:pt x="145" y="51"/>
                  </a:lnTo>
                  <a:lnTo>
                    <a:pt x="166" y="51"/>
                  </a:lnTo>
                  <a:lnTo>
                    <a:pt x="166" y="37"/>
                  </a:lnTo>
                  <a:lnTo>
                    <a:pt x="172" y="37"/>
                  </a:lnTo>
                  <a:lnTo>
                    <a:pt x="172" y="2"/>
                  </a:lnTo>
                  <a:lnTo>
                    <a:pt x="138" y="2"/>
                  </a:lnTo>
                  <a:lnTo>
                    <a:pt x="138" y="37"/>
                  </a:lnTo>
                  <a:lnTo>
                    <a:pt x="145" y="37"/>
                  </a:lnTo>
                  <a:moveTo>
                    <a:pt x="76" y="37"/>
                  </a:moveTo>
                  <a:lnTo>
                    <a:pt x="76" y="51"/>
                  </a:lnTo>
                  <a:lnTo>
                    <a:pt x="96" y="51"/>
                  </a:lnTo>
                  <a:lnTo>
                    <a:pt x="96" y="37"/>
                  </a:lnTo>
                  <a:lnTo>
                    <a:pt x="104" y="37"/>
                  </a:lnTo>
                  <a:lnTo>
                    <a:pt x="104" y="2"/>
                  </a:lnTo>
                  <a:lnTo>
                    <a:pt x="69" y="2"/>
                  </a:lnTo>
                  <a:lnTo>
                    <a:pt x="69" y="37"/>
                  </a:lnTo>
                  <a:lnTo>
                    <a:pt x="76" y="37"/>
                  </a:lnTo>
                  <a:moveTo>
                    <a:pt x="7" y="37"/>
                  </a:moveTo>
                  <a:lnTo>
                    <a:pt x="7" y="51"/>
                  </a:lnTo>
                  <a:lnTo>
                    <a:pt x="28" y="51"/>
                  </a:lnTo>
                  <a:lnTo>
                    <a:pt x="28" y="37"/>
                  </a:lnTo>
                  <a:lnTo>
                    <a:pt x="34" y="37"/>
                  </a:lnTo>
                  <a:lnTo>
                    <a:pt x="34" y="2"/>
                  </a:lnTo>
                  <a:lnTo>
                    <a:pt x="0" y="2"/>
                  </a:lnTo>
                  <a:lnTo>
                    <a:pt x="0" y="37"/>
                  </a:lnTo>
                  <a:lnTo>
                    <a:pt x="7" y="37"/>
                  </a:lnTo>
                </a:path>
              </a:pathLst>
            </a:cu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662" name="Freeform 664"/>
            <p:cNvSpPr>
              <a:spLocks/>
            </p:cNvSpPr>
            <p:nvPr/>
          </p:nvSpPr>
          <p:spPr bwMode="auto">
            <a:xfrm>
              <a:off x="2207" y="2504"/>
              <a:ext cx="1006" cy="346"/>
            </a:xfrm>
            <a:custGeom>
              <a:avLst/>
              <a:gdLst>
                <a:gd name="T0" fmla="*/ 27 w 1006"/>
                <a:gd name="T1" fmla="*/ 346 h 346"/>
                <a:gd name="T2" fmla="*/ 27 w 1006"/>
                <a:gd name="T3" fmla="*/ 317 h 346"/>
                <a:gd name="T4" fmla="*/ 0 w 1006"/>
                <a:gd name="T5" fmla="*/ 317 h 346"/>
                <a:gd name="T6" fmla="*/ 0 w 1006"/>
                <a:gd name="T7" fmla="*/ 115 h 346"/>
                <a:gd name="T8" fmla="*/ 111 w 1006"/>
                <a:gd name="T9" fmla="*/ 0 h 346"/>
                <a:gd name="T10" fmla="*/ 1006 w 1006"/>
                <a:gd name="T11" fmla="*/ 0 h 346"/>
                <a:gd name="T12" fmla="*/ 1006 w 1006"/>
                <a:gd name="T13" fmla="*/ 202 h 346"/>
                <a:gd name="T14" fmla="*/ 866 w 1006"/>
                <a:gd name="T15" fmla="*/ 346 h 346"/>
                <a:gd name="T16" fmla="*/ 27 w 1006"/>
                <a:gd name="T17" fmla="*/ 346 h 3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06"/>
                <a:gd name="T28" fmla="*/ 0 h 346"/>
                <a:gd name="T29" fmla="*/ 1006 w 1006"/>
                <a:gd name="T30" fmla="*/ 346 h 34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06" h="346">
                  <a:moveTo>
                    <a:pt x="27" y="346"/>
                  </a:moveTo>
                  <a:lnTo>
                    <a:pt x="27" y="317"/>
                  </a:lnTo>
                  <a:lnTo>
                    <a:pt x="0" y="317"/>
                  </a:lnTo>
                  <a:lnTo>
                    <a:pt x="0" y="115"/>
                  </a:lnTo>
                  <a:lnTo>
                    <a:pt x="111" y="0"/>
                  </a:lnTo>
                  <a:lnTo>
                    <a:pt x="1006" y="0"/>
                  </a:lnTo>
                  <a:lnTo>
                    <a:pt x="1006" y="202"/>
                  </a:lnTo>
                  <a:lnTo>
                    <a:pt x="866" y="346"/>
                  </a:lnTo>
                  <a:lnTo>
                    <a:pt x="27" y="346"/>
                  </a:lnTo>
                </a:path>
              </a:pathLst>
            </a:custGeom>
            <a:noFill/>
            <a:ln w="11113"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663" name="Rectangle 665"/>
            <p:cNvSpPr>
              <a:spLocks noChangeArrowheads="1"/>
            </p:cNvSpPr>
            <p:nvPr/>
          </p:nvSpPr>
          <p:spPr bwMode="auto">
            <a:xfrm>
              <a:off x="2570" y="2868"/>
              <a:ext cx="232" cy="17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800" b="0">
                  <a:solidFill>
                    <a:schemeClr val="bg1"/>
                  </a:solidFill>
                  <a:latin typeface="Arial" charset="0"/>
                </a:rPr>
                <a:t>SW</a:t>
              </a:r>
              <a:endParaRPr lang="en-US" sz="1800">
                <a:solidFill>
                  <a:schemeClr val="bg1"/>
                </a:solidFill>
              </a:endParaRPr>
            </a:p>
          </p:txBody>
        </p:sp>
      </p:grpSp>
      <p:sp>
        <p:nvSpPr>
          <p:cNvPr id="664" name="Rectangle 666"/>
          <p:cNvSpPr>
            <a:spLocks noChangeArrowheads="1"/>
          </p:cNvSpPr>
          <p:nvPr/>
        </p:nvSpPr>
        <p:spPr bwMode="auto">
          <a:xfrm>
            <a:off x="976313" y="3028950"/>
            <a:ext cx="119062" cy="990600"/>
          </a:xfrm>
          <a:prstGeom prst="rect">
            <a:avLst/>
          </a:prstGeom>
          <a:solidFill>
            <a:srgbClr val="FFFF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665" name="Rectangle 664"/>
          <p:cNvSpPr/>
          <p:nvPr/>
        </p:nvSpPr>
        <p:spPr>
          <a:xfrm>
            <a:off x="2400407" y="6283233"/>
            <a:ext cx="3494090" cy="369332"/>
          </a:xfrm>
          <a:prstGeom prst="rect">
            <a:avLst/>
          </a:prstGeom>
        </p:spPr>
        <p:txBody>
          <a:bodyPr wrap="none">
            <a:spAutoFit/>
          </a:bodyPr>
          <a:lstStyle/>
          <a:p>
            <a:r>
              <a:rPr lang="en-US" dirty="0">
                <a:solidFill>
                  <a:srgbClr val="000000"/>
                </a:solidFill>
                <a:latin typeface="Arial" charset="0"/>
              </a:rPr>
              <a:t>From C. Edward Chow at UCCS</a:t>
            </a:r>
            <a:endParaRPr lang="en-US" b="0" dirty="0">
              <a:solidFill>
                <a:srgbClr val="000000"/>
              </a:solidFill>
              <a:latin typeface="Times New Roman" charset="0"/>
            </a:endParaRPr>
          </a:p>
        </p:txBody>
      </p:sp>
    </p:spTree>
    <p:extLst>
      <p:ext uri="{BB962C8B-B14F-4D97-AF65-F5344CB8AC3E}">
        <p14:creationId xmlns:p14="http://schemas.microsoft.com/office/powerpoint/2010/main" val="32516729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Complete Mediation</a:t>
            </a:r>
          </a:p>
        </p:txBody>
      </p:sp>
      <p:grpSp>
        <p:nvGrpSpPr>
          <p:cNvPr id="4" name="Group 1129"/>
          <p:cNvGrpSpPr>
            <a:grpSpLocks/>
          </p:cNvGrpSpPr>
          <p:nvPr/>
        </p:nvGrpSpPr>
        <p:grpSpPr bwMode="auto">
          <a:xfrm>
            <a:off x="176213" y="2032000"/>
            <a:ext cx="8828087" cy="3890963"/>
            <a:chOff x="111" y="1280"/>
            <a:chExt cx="5561" cy="2451"/>
          </a:xfrm>
        </p:grpSpPr>
        <p:sp>
          <p:nvSpPr>
            <p:cNvPr id="5" name="Rectangle 944"/>
            <p:cNvSpPr>
              <a:spLocks noChangeArrowheads="1"/>
            </p:cNvSpPr>
            <p:nvPr/>
          </p:nvSpPr>
          <p:spPr bwMode="auto">
            <a:xfrm>
              <a:off x="3488" y="1712"/>
              <a:ext cx="592" cy="1720"/>
            </a:xfrm>
            <a:prstGeom prst="rect">
              <a:avLst/>
            </a:prstGeom>
            <a:solidFill>
              <a:srgbClr val="FFCCFF"/>
            </a:solidFill>
            <a:ln w="9525">
              <a:solidFill>
                <a:schemeClr val="tx1"/>
              </a:solidFill>
              <a:miter lim="800000"/>
              <a:headEnd/>
              <a:tailEnd/>
            </a:ln>
          </p:spPr>
          <p:txBody>
            <a:bodyPr wrap="none" anchor="ctr"/>
            <a:lstStyle/>
            <a:p>
              <a:pPr eaLnBrk="1" hangingPunct="1"/>
              <a:endParaRPr lang="en-US">
                <a:solidFill>
                  <a:srgbClr val="FFFF00"/>
                </a:solidFill>
              </a:endParaRPr>
            </a:p>
            <a:p>
              <a:endParaRPr lang="en-US"/>
            </a:p>
          </p:txBody>
        </p:sp>
        <p:sp>
          <p:nvSpPr>
            <p:cNvPr id="6" name="Rectangle 947"/>
            <p:cNvSpPr>
              <a:spLocks noChangeArrowheads="1"/>
            </p:cNvSpPr>
            <p:nvPr/>
          </p:nvSpPr>
          <p:spPr bwMode="auto">
            <a:xfrm>
              <a:off x="1224" y="1784"/>
              <a:ext cx="680" cy="1680"/>
            </a:xfrm>
            <a:prstGeom prst="rect">
              <a:avLst/>
            </a:prstGeom>
            <a:solidFill>
              <a:srgbClr val="FFCCFF"/>
            </a:solidFill>
            <a:ln w="9525">
              <a:solidFill>
                <a:schemeClr val="tx1"/>
              </a:solidFill>
              <a:miter lim="800000"/>
              <a:headEnd/>
              <a:tailEnd/>
            </a:ln>
          </p:spPr>
          <p:txBody>
            <a:bodyPr wrap="none" anchor="ctr"/>
            <a:lstStyle/>
            <a:p>
              <a:pPr eaLnBrk="1" hangingPunct="1"/>
              <a:endParaRPr lang="en-US">
                <a:solidFill>
                  <a:srgbClr val="FFFF00"/>
                </a:solidFill>
              </a:endParaRPr>
            </a:p>
            <a:p>
              <a:endParaRPr lang="en-US"/>
            </a:p>
          </p:txBody>
        </p:sp>
        <p:sp>
          <p:nvSpPr>
            <p:cNvPr id="7" name="Rectangle 1128"/>
            <p:cNvSpPr>
              <a:spLocks noChangeArrowheads="1"/>
            </p:cNvSpPr>
            <p:nvPr/>
          </p:nvSpPr>
          <p:spPr bwMode="auto">
            <a:xfrm>
              <a:off x="1301" y="3099"/>
              <a:ext cx="399" cy="38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2000" b="0">
                  <a:solidFill>
                    <a:srgbClr val="FF7C80"/>
                  </a:solidFill>
                  <a:latin typeface="Arial" charset="0"/>
                </a:rPr>
                <a:t>IPS</a:t>
              </a:r>
              <a:br>
                <a:rPr lang="en-US" sz="2000" b="0">
                  <a:solidFill>
                    <a:srgbClr val="FF7C80"/>
                  </a:solidFill>
                  <a:latin typeface="Arial" charset="0"/>
                </a:rPr>
              </a:br>
              <a:r>
                <a:rPr lang="en-US" sz="2000" b="0">
                  <a:solidFill>
                    <a:srgbClr val="FF7C80"/>
                  </a:solidFill>
                  <a:latin typeface="Arial" charset="0"/>
                </a:rPr>
                <a:t>Outer</a:t>
              </a:r>
              <a:endParaRPr lang="en-US">
                <a:solidFill>
                  <a:srgbClr val="FF7C80"/>
                </a:solidFill>
              </a:endParaRPr>
            </a:p>
          </p:txBody>
        </p:sp>
        <p:sp>
          <p:nvSpPr>
            <p:cNvPr id="8" name="Rectangle 673"/>
            <p:cNvSpPr>
              <a:spLocks noChangeArrowheads="1"/>
            </p:cNvSpPr>
            <p:nvPr/>
          </p:nvSpPr>
          <p:spPr bwMode="auto">
            <a:xfrm>
              <a:off x="1944" y="1304"/>
              <a:ext cx="1496" cy="2416"/>
            </a:xfrm>
            <a:prstGeom prst="rect">
              <a:avLst/>
            </a:prstGeom>
            <a:solidFill>
              <a:srgbClr val="FFCC99"/>
            </a:solidFill>
            <a:ln w="9525">
              <a:solidFill>
                <a:schemeClr val="tx1"/>
              </a:solidFill>
              <a:miter lim="800000"/>
              <a:headEnd/>
              <a:tailEnd/>
            </a:ln>
          </p:spPr>
          <p:txBody>
            <a:bodyPr wrap="none" anchor="ctr"/>
            <a:lstStyle/>
            <a:p>
              <a:pPr eaLnBrk="1" hangingPunct="1"/>
              <a:endParaRPr lang="en-US">
                <a:solidFill>
                  <a:srgbClr val="FFFF00"/>
                </a:solidFill>
              </a:endParaRPr>
            </a:p>
            <a:p>
              <a:endParaRPr lang="en-US"/>
            </a:p>
          </p:txBody>
        </p:sp>
        <p:sp>
          <p:nvSpPr>
            <p:cNvPr id="9" name="Rectangle 943"/>
            <p:cNvSpPr>
              <a:spLocks noChangeArrowheads="1"/>
            </p:cNvSpPr>
            <p:nvPr/>
          </p:nvSpPr>
          <p:spPr bwMode="auto">
            <a:xfrm>
              <a:off x="2295" y="2732"/>
              <a:ext cx="75" cy="624"/>
            </a:xfrm>
            <a:prstGeom prst="rect">
              <a:avLst/>
            </a:prstGeom>
            <a:solidFill>
              <a:srgbClr val="FFFF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0" name="Rectangle 16"/>
            <p:cNvSpPr>
              <a:spLocks noChangeArrowheads="1"/>
            </p:cNvSpPr>
            <p:nvPr/>
          </p:nvSpPr>
          <p:spPr bwMode="auto">
            <a:xfrm>
              <a:off x="4160" y="1280"/>
              <a:ext cx="1512" cy="2448"/>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1" name="Rectangle 892"/>
            <p:cNvSpPr>
              <a:spLocks noChangeArrowheads="1"/>
            </p:cNvSpPr>
            <p:nvPr/>
          </p:nvSpPr>
          <p:spPr bwMode="auto">
            <a:xfrm>
              <a:off x="4912" y="2668"/>
              <a:ext cx="497" cy="77"/>
            </a:xfrm>
            <a:prstGeom prst="rect">
              <a:avLst/>
            </a:prstGeom>
            <a:solidFill>
              <a:srgbClr val="FFFF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2" name="Rectangle 839"/>
            <p:cNvSpPr>
              <a:spLocks noChangeArrowheads="1"/>
            </p:cNvSpPr>
            <p:nvPr/>
          </p:nvSpPr>
          <p:spPr bwMode="auto">
            <a:xfrm>
              <a:off x="3071" y="2644"/>
              <a:ext cx="75" cy="624"/>
            </a:xfrm>
            <a:prstGeom prst="rect">
              <a:avLst/>
            </a:prstGeom>
            <a:solidFill>
              <a:srgbClr val="FFFF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3" name="Rectangle 672"/>
            <p:cNvSpPr>
              <a:spLocks noChangeArrowheads="1"/>
            </p:cNvSpPr>
            <p:nvPr/>
          </p:nvSpPr>
          <p:spPr bwMode="auto">
            <a:xfrm>
              <a:off x="4623" y="2660"/>
              <a:ext cx="75" cy="624"/>
            </a:xfrm>
            <a:prstGeom prst="rect">
              <a:avLst/>
            </a:prstGeom>
            <a:solidFill>
              <a:srgbClr val="FFFF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4" name="Rectangle 21"/>
            <p:cNvSpPr>
              <a:spLocks noChangeArrowheads="1"/>
            </p:cNvSpPr>
            <p:nvPr/>
          </p:nvSpPr>
          <p:spPr bwMode="auto">
            <a:xfrm>
              <a:off x="4631" y="2036"/>
              <a:ext cx="75" cy="624"/>
            </a:xfrm>
            <a:prstGeom prst="rect">
              <a:avLst/>
            </a:prstGeom>
            <a:solidFill>
              <a:srgbClr val="FFFF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5" name="Rectangle 23"/>
            <p:cNvSpPr>
              <a:spLocks noChangeArrowheads="1"/>
            </p:cNvSpPr>
            <p:nvPr/>
          </p:nvSpPr>
          <p:spPr bwMode="auto">
            <a:xfrm>
              <a:off x="3880" y="2620"/>
              <a:ext cx="497" cy="77"/>
            </a:xfrm>
            <a:prstGeom prst="rect">
              <a:avLst/>
            </a:prstGeom>
            <a:solidFill>
              <a:srgbClr val="FFFF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6" name="Freeform 112"/>
            <p:cNvSpPr>
              <a:spLocks/>
            </p:cNvSpPr>
            <p:nvPr/>
          </p:nvSpPr>
          <p:spPr bwMode="auto">
            <a:xfrm>
              <a:off x="4379" y="3407"/>
              <a:ext cx="398" cy="52"/>
            </a:xfrm>
            <a:custGeom>
              <a:avLst/>
              <a:gdLst>
                <a:gd name="T0" fmla="*/ 0 w 398"/>
                <a:gd name="T1" fmla="*/ 52 h 52"/>
                <a:gd name="T2" fmla="*/ 99 w 398"/>
                <a:gd name="T3" fmla="*/ 0 h 52"/>
                <a:gd name="T4" fmla="*/ 398 w 398"/>
                <a:gd name="T5" fmla="*/ 0 h 52"/>
                <a:gd name="T6" fmla="*/ 299 w 398"/>
                <a:gd name="T7" fmla="*/ 52 h 52"/>
                <a:gd name="T8" fmla="*/ 0 w 398"/>
                <a:gd name="T9" fmla="*/ 52 h 52"/>
                <a:gd name="T10" fmla="*/ 0 60000 65536"/>
                <a:gd name="T11" fmla="*/ 0 60000 65536"/>
                <a:gd name="T12" fmla="*/ 0 60000 65536"/>
                <a:gd name="T13" fmla="*/ 0 60000 65536"/>
                <a:gd name="T14" fmla="*/ 0 60000 65536"/>
                <a:gd name="T15" fmla="*/ 0 w 398"/>
                <a:gd name="T16" fmla="*/ 0 h 52"/>
                <a:gd name="T17" fmla="*/ 398 w 398"/>
                <a:gd name="T18" fmla="*/ 52 h 52"/>
              </a:gdLst>
              <a:ahLst/>
              <a:cxnLst>
                <a:cxn ang="T10">
                  <a:pos x="T0" y="T1"/>
                </a:cxn>
                <a:cxn ang="T11">
                  <a:pos x="T2" y="T3"/>
                </a:cxn>
                <a:cxn ang="T12">
                  <a:pos x="T4" y="T5"/>
                </a:cxn>
                <a:cxn ang="T13">
                  <a:pos x="T6" y="T7"/>
                </a:cxn>
                <a:cxn ang="T14">
                  <a:pos x="T8" y="T9"/>
                </a:cxn>
              </a:cxnLst>
              <a:rect l="T15" t="T16" r="T17" b="T18"/>
              <a:pathLst>
                <a:path w="398" h="52">
                  <a:moveTo>
                    <a:pt x="0" y="52"/>
                  </a:moveTo>
                  <a:lnTo>
                    <a:pt x="99" y="0"/>
                  </a:lnTo>
                  <a:lnTo>
                    <a:pt x="398" y="0"/>
                  </a:lnTo>
                  <a:lnTo>
                    <a:pt x="299" y="52"/>
                  </a:lnTo>
                  <a:lnTo>
                    <a:pt x="0" y="52"/>
                  </a:lnTo>
                  <a:close/>
                </a:path>
              </a:pathLst>
            </a:custGeom>
            <a:solidFill>
              <a:srgbClr val="9A9A9A"/>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7" name="Freeform 113"/>
            <p:cNvSpPr>
              <a:spLocks/>
            </p:cNvSpPr>
            <p:nvPr/>
          </p:nvSpPr>
          <p:spPr bwMode="auto">
            <a:xfrm>
              <a:off x="4379" y="3407"/>
              <a:ext cx="398" cy="52"/>
            </a:xfrm>
            <a:custGeom>
              <a:avLst/>
              <a:gdLst>
                <a:gd name="T0" fmla="*/ 0 w 398"/>
                <a:gd name="T1" fmla="*/ 52 h 52"/>
                <a:gd name="T2" fmla="*/ 99 w 398"/>
                <a:gd name="T3" fmla="*/ 0 h 52"/>
                <a:gd name="T4" fmla="*/ 398 w 398"/>
                <a:gd name="T5" fmla="*/ 0 h 52"/>
                <a:gd name="T6" fmla="*/ 299 w 398"/>
                <a:gd name="T7" fmla="*/ 52 h 52"/>
                <a:gd name="T8" fmla="*/ 0 w 398"/>
                <a:gd name="T9" fmla="*/ 52 h 52"/>
                <a:gd name="T10" fmla="*/ 0 60000 65536"/>
                <a:gd name="T11" fmla="*/ 0 60000 65536"/>
                <a:gd name="T12" fmla="*/ 0 60000 65536"/>
                <a:gd name="T13" fmla="*/ 0 60000 65536"/>
                <a:gd name="T14" fmla="*/ 0 60000 65536"/>
                <a:gd name="T15" fmla="*/ 0 w 398"/>
                <a:gd name="T16" fmla="*/ 0 h 52"/>
                <a:gd name="T17" fmla="*/ 398 w 398"/>
                <a:gd name="T18" fmla="*/ 52 h 52"/>
              </a:gdLst>
              <a:ahLst/>
              <a:cxnLst>
                <a:cxn ang="T10">
                  <a:pos x="T0" y="T1"/>
                </a:cxn>
                <a:cxn ang="T11">
                  <a:pos x="T2" y="T3"/>
                </a:cxn>
                <a:cxn ang="T12">
                  <a:pos x="T4" y="T5"/>
                </a:cxn>
                <a:cxn ang="T13">
                  <a:pos x="T6" y="T7"/>
                </a:cxn>
                <a:cxn ang="T14">
                  <a:pos x="T8" y="T9"/>
                </a:cxn>
              </a:cxnLst>
              <a:rect l="T15" t="T16" r="T17" b="T18"/>
              <a:pathLst>
                <a:path w="398" h="52">
                  <a:moveTo>
                    <a:pt x="0" y="52"/>
                  </a:moveTo>
                  <a:lnTo>
                    <a:pt x="99" y="0"/>
                  </a:lnTo>
                  <a:lnTo>
                    <a:pt x="398" y="0"/>
                  </a:lnTo>
                  <a:lnTo>
                    <a:pt x="299" y="52"/>
                  </a:lnTo>
                  <a:lnTo>
                    <a:pt x="0" y="52"/>
                  </a:lnTo>
                  <a:close/>
                </a:path>
              </a:pathLst>
            </a:cu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18" name="Freeform 114"/>
            <p:cNvSpPr>
              <a:spLocks/>
            </p:cNvSpPr>
            <p:nvPr/>
          </p:nvSpPr>
          <p:spPr bwMode="auto">
            <a:xfrm>
              <a:off x="4678" y="3407"/>
              <a:ext cx="99" cy="77"/>
            </a:xfrm>
            <a:custGeom>
              <a:avLst/>
              <a:gdLst>
                <a:gd name="T0" fmla="*/ 0 w 99"/>
                <a:gd name="T1" fmla="*/ 77 h 77"/>
                <a:gd name="T2" fmla="*/ 99 w 99"/>
                <a:gd name="T3" fmla="*/ 26 h 77"/>
                <a:gd name="T4" fmla="*/ 99 w 99"/>
                <a:gd name="T5" fmla="*/ 0 h 77"/>
                <a:gd name="T6" fmla="*/ 0 w 99"/>
                <a:gd name="T7" fmla="*/ 52 h 77"/>
                <a:gd name="T8" fmla="*/ 0 w 99"/>
                <a:gd name="T9" fmla="*/ 77 h 77"/>
                <a:gd name="T10" fmla="*/ 0 60000 65536"/>
                <a:gd name="T11" fmla="*/ 0 60000 65536"/>
                <a:gd name="T12" fmla="*/ 0 60000 65536"/>
                <a:gd name="T13" fmla="*/ 0 60000 65536"/>
                <a:gd name="T14" fmla="*/ 0 60000 65536"/>
                <a:gd name="T15" fmla="*/ 0 w 99"/>
                <a:gd name="T16" fmla="*/ 0 h 77"/>
                <a:gd name="T17" fmla="*/ 99 w 99"/>
                <a:gd name="T18" fmla="*/ 77 h 77"/>
              </a:gdLst>
              <a:ahLst/>
              <a:cxnLst>
                <a:cxn ang="T10">
                  <a:pos x="T0" y="T1"/>
                </a:cxn>
                <a:cxn ang="T11">
                  <a:pos x="T2" y="T3"/>
                </a:cxn>
                <a:cxn ang="T12">
                  <a:pos x="T4" y="T5"/>
                </a:cxn>
                <a:cxn ang="T13">
                  <a:pos x="T6" y="T7"/>
                </a:cxn>
                <a:cxn ang="T14">
                  <a:pos x="T8" y="T9"/>
                </a:cxn>
              </a:cxnLst>
              <a:rect l="T15" t="T16" r="T17" b="T18"/>
              <a:pathLst>
                <a:path w="99" h="77">
                  <a:moveTo>
                    <a:pt x="0" y="77"/>
                  </a:moveTo>
                  <a:lnTo>
                    <a:pt x="99" y="26"/>
                  </a:lnTo>
                  <a:lnTo>
                    <a:pt x="99" y="0"/>
                  </a:lnTo>
                  <a:lnTo>
                    <a:pt x="0" y="52"/>
                  </a:lnTo>
                  <a:lnTo>
                    <a:pt x="0" y="77"/>
                  </a:lnTo>
                  <a:close/>
                </a:path>
              </a:pathLst>
            </a:custGeom>
            <a:solidFill>
              <a:srgbClr val="666666"/>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9" name="Freeform 115"/>
            <p:cNvSpPr>
              <a:spLocks/>
            </p:cNvSpPr>
            <p:nvPr/>
          </p:nvSpPr>
          <p:spPr bwMode="auto">
            <a:xfrm>
              <a:off x="4678" y="3407"/>
              <a:ext cx="99" cy="77"/>
            </a:xfrm>
            <a:custGeom>
              <a:avLst/>
              <a:gdLst>
                <a:gd name="T0" fmla="*/ 0 w 99"/>
                <a:gd name="T1" fmla="*/ 77 h 77"/>
                <a:gd name="T2" fmla="*/ 99 w 99"/>
                <a:gd name="T3" fmla="*/ 26 h 77"/>
                <a:gd name="T4" fmla="*/ 99 w 99"/>
                <a:gd name="T5" fmla="*/ 0 h 77"/>
                <a:gd name="T6" fmla="*/ 0 w 99"/>
                <a:gd name="T7" fmla="*/ 52 h 77"/>
                <a:gd name="T8" fmla="*/ 0 w 99"/>
                <a:gd name="T9" fmla="*/ 77 h 77"/>
                <a:gd name="T10" fmla="*/ 0 60000 65536"/>
                <a:gd name="T11" fmla="*/ 0 60000 65536"/>
                <a:gd name="T12" fmla="*/ 0 60000 65536"/>
                <a:gd name="T13" fmla="*/ 0 60000 65536"/>
                <a:gd name="T14" fmla="*/ 0 60000 65536"/>
                <a:gd name="T15" fmla="*/ 0 w 99"/>
                <a:gd name="T16" fmla="*/ 0 h 77"/>
                <a:gd name="T17" fmla="*/ 99 w 99"/>
                <a:gd name="T18" fmla="*/ 77 h 77"/>
              </a:gdLst>
              <a:ahLst/>
              <a:cxnLst>
                <a:cxn ang="T10">
                  <a:pos x="T0" y="T1"/>
                </a:cxn>
                <a:cxn ang="T11">
                  <a:pos x="T2" y="T3"/>
                </a:cxn>
                <a:cxn ang="T12">
                  <a:pos x="T4" y="T5"/>
                </a:cxn>
                <a:cxn ang="T13">
                  <a:pos x="T6" y="T7"/>
                </a:cxn>
                <a:cxn ang="T14">
                  <a:pos x="T8" y="T9"/>
                </a:cxn>
              </a:cxnLst>
              <a:rect l="T15" t="T16" r="T17" b="T18"/>
              <a:pathLst>
                <a:path w="99" h="77">
                  <a:moveTo>
                    <a:pt x="0" y="77"/>
                  </a:moveTo>
                  <a:lnTo>
                    <a:pt x="99" y="26"/>
                  </a:lnTo>
                  <a:lnTo>
                    <a:pt x="99" y="0"/>
                  </a:lnTo>
                  <a:lnTo>
                    <a:pt x="0" y="52"/>
                  </a:lnTo>
                  <a:lnTo>
                    <a:pt x="0" y="77"/>
                  </a:lnTo>
                  <a:close/>
                </a:path>
              </a:pathLst>
            </a:cu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20" name="Freeform 116"/>
            <p:cNvSpPr>
              <a:spLocks/>
            </p:cNvSpPr>
            <p:nvPr/>
          </p:nvSpPr>
          <p:spPr bwMode="auto">
            <a:xfrm>
              <a:off x="4483" y="3228"/>
              <a:ext cx="373" cy="167"/>
            </a:xfrm>
            <a:custGeom>
              <a:avLst/>
              <a:gdLst>
                <a:gd name="T0" fmla="*/ 0 w 373"/>
                <a:gd name="T1" fmla="*/ 167 h 167"/>
                <a:gd name="T2" fmla="*/ 81 w 373"/>
                <a:gd name="T3" fmla="*/ 0 h 167"/>
                <a:gd name="T4" fmla="*/ 373 w 373"/>
                <a:gd name="T5" fmla="*/ 0 h 167"/>
                <a:gd name="T6" fmla="*/ 292 w 373"/>
                <a:gd name="T7" fmla="*/ 167 h 167"/>
                <a:gd name="T8" fmla="*/ 0 w 373"/>
                <a:gd name="T9" fmla="*/ 167 h 167"/>
                <a:gd name="T10" fmla="*/ 0 60000 65536"/>
                <a:gd name="T11" fmla="*/ 0 60000 65536"/>
                <a:gd name="T12" fmla="*/ 0 60000 65536"/>
                <a:gd name="T13" fmla="*/ 0 60000 65536"/>
                <a:gd name="T14" fmla="*/ 0 60000 65536"/>
                <a:gd name="T15" fmla="*/ 0 w 373"/>
                <a:gd name="T16" fmla="*/ 0 h 167"/>
                <a:gd name="T17" fmla="*/ 373 w 373"/>
                <a:gd name="T18" fmla="*/ 167 h 167"/>
              </a:gdLst>
              <a:ahLst/>
              <a:cxnLst>
                <a:cxn ang="T10">
                  <a:pos x="T0" y="T1"/>
                </a:cxn>
                <a:cxn ang="T11">
                  <a:pos x="T2" y="T3"/>
                </a:cxn>
                <a:cxn ang="T12">
                  <a:pos x="T4" y="T5"/>
                </a:cxn>
                <a:cxn ang="T13">
                  <a:pos x="T6" y="T7"/>
                </a:cxn>
                <a:cxn ang="T14">
                  <a:pos x="T8" y="T9"/>
                </a:cxn>
              </a:cxnLst>
              <a:rect l="T15" t="T16" r="T17" b="T18"/>
              <a:pathLst>
                <a:path w="373" h="167">
                  <a:moveTo>
                    <a:pt x="0" y="167"/>
                  </a:moveTo>
                  <a:lnTo>
                    <a:pt x="81" y="0"/>
                  </a:lnTo>
                  <a:lnTo>
                    <a:pt x="373" y="0"/>
                  </a:lnTo>
                  <a:lnTo>
                    <a:pt x="292" y="167"/>
                  </a:lnTo>
                  <a:lnTo>
                    <a:pt x="0" y="167"/>
                  </a:lnTo>
                  <a:close/>
                </a:path>
              </a:pathLst>
            </a:custGeom>
            <a:solidFill>
              <a:srgbClr val="9A9A9A"/>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1" name="Freeform 117"/>
            <p:cNvSpPr>
              <a:spLocks/>
            </p:cNvSpPr>
            <p:nvPr/>
          </p:nvSpPr>
          <p:spPr bwMode="auto">
            <a:xfrm>
              <a:off x="4483" y="3228"/>
              <a:ext cx="373" cy="167"/>
            </a:xfrm>
            <a:custGeom>
              <a:avLst/>
              <a:gdLst>
                <a:gd name="T0" fmla="*/ 0 w 373"/>
                <a:gd name="T1" fmla="*/ 167 h 167"/>
                <a:gd name="T2" fmla="*/ 81 w 373"/>
                <a:gd name="T3" fmla="*/ 0 h 167"/>
                <a:gd name="T4" fmla="*/ 373 w 373"/>
                <a:gd name="T5" fmla="*/ 0 h 167"/>
                <a:gd name="T6" fmla="*/ 292 w 373"/>
                <a:gd name="T7" fmla="*/ 167 h 167"/>
                <a:gd name="T8" fmla="*/ 0 w 373"/>
                <a:gd name="T9" fmla="*/ 167 h 167"/>
                <a:gd name="T10" fmla="*/ 0 60000 65536"/>
                <a:gd name="T11" fmla="*/ 0 60000 65536"/>
                <a:gd name="T12" fmla="*/ 0 60000 65536"/>
                <a:gd name="T13" fmla="*/ 0 60000 65536"/>
                <a:gd name="T14" fmla="*/ 0 60000 65536"/>
                <a:gd name="T15" fmla="*/ 0 w 373"/>
                <a:gd name="T16" fmla="*/ 0 h 167"/>
                <a:gd name="T17" fmla="*/ 373 w 373"/>
                <a:gd name="T18" fmla="*/ 167 h 167"/>
              </a:gdLst>
              <a:ahLst/>
              <a:cxnLst>
                <a:cxn ang="T10">
                  <a:pos x="T0" y="T1"/>
                </a:cxn>
                <a:cxn ang="T11">
                  <a:pos x="T2" y="T3"/>
                </a:cxn>
                <a:cxn ang="T12">
                  <a:pos x="T4" y="T5"/>
                </a:cxn>
                <a:cxn ang="T13">
                  <a:pos x="T6" y="T7"/>
                </a:cxn>
                <a:cxn ang="T14">
                  <a:pos x="T8" y="T9"/>
                </a:cxn>
              </a:cxnLst>
              <a:rect l="T15" t="T16" r="T17" b="T18"/>
              <a:pathLst>
                <a:path w="373" h="167">
                  <a:moveTo>
                    <a:pt x="0" y="167"/>
                  </a:moveTo>
                  <a:lnTo>
                    <a:pt x="81" y="0"/>
                  </a:lnTo>
                  <a:lnTo>
                    <a:pt x="373" y="0"/>
                  </a:lnTo>
                  <a:lnTo>
                    <a:pt x="292" y="167"/>
                  </a:lnTo>
                  <a:lnTo>
                    <a:pt x="0" y="167"/>
                  </a:lnTo>
                  <a:close/>
                </a:path>
              </a:pathLst>
            </a:cu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22" name="Rectangle 118"/>
            <p:cNvSpPr>
              <a:spLocks noChangeArrowheads="1"/>
            </p:cNvSpPr>
            <p:nvPr/>
          </p:nvSpPr>
          <p:spPr bwMode="auto">
            <a:xfrm>
              <a:off x="4520" y="3396"/>
              <a:ext cx="47" cy="10"/>
            </a:xfrm>
            <a:prstGeom prst="rect">
              <a:avLst/>
            </a:prstGeom>
            <a:solidFill>
              <a:srgbClr val="9A9A9A"/>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3" name="Rectangle 119"/>
            <p:cNvSpPr>
              <a:spLocks noChangeArrowheads="1"/>
            </p:cNvSpPr>
            <p:nvPr/>
          </p:nvSpPr>
          <p:spPr bwMode="auto">
            <a:xfrm>
              <a:off x="4520" y="3396"/>
              <a:ext cx="47" cy="10"/>
            </a:xfrm>
            <a:prstGeom prst="rect">
              <a:avLst/>
            </a:pr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24" name="Rectangle 120"/>
            <p:cNvSpPr>
              <a:spLocks noChangeArrowheads="1"/>
            </p:cNvSpPr>
            <p:nvPr/>
          </p:nvSpPr>
          <p:spPr bwMode="auto">
            <a:xfrm>
              <a:off x="4690" y="3396"/>
              <a:ext cx="46" cy="10"/>
            </a:xfrm>
            <a:prstGeom prst="rect">
              <a:avLst/>
            </a:prstGeom>
            <a:solidFill>
              <a:srgbClr val="9A9A9A"/>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5" name="Rectangle 121"/>
            <p:cNvSpPr>
              <a:spLocks noChangeArrowheads="1"/>
            </p:cNvSpPr>
            <p:nvPr/>
          </p:nvSpPr>
          <p:spPr bwMode="auto">
            <a:xfrm>
              <a:off x="4690" y="3396"/>
              <a:ext cx="46" cy="10"/>
            </a:xfrm>
            <a:prstGeom prst="rect">
              <a:avLst/>
            </a:pr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26" name="Freeform 122"/>
            <p:cNvSpPr>
              <a:spLocks/>
            </p:cNvSpPr>
            <p:nvPr/>
          </p:nvSpPr>
          <p:spPr bwMode="auto">
            <a:xfrm>
              <a:off x="4441" y="3417"/>
              <a:ext cx="292" cy="22"/>
            </a:xfrm>
            <a:custGeom>
              <a:avLst/>
              <a:gdLst>
                <a:gd name="T0" fmla="*/ 44 w 292"/>
                <a:gd name="T1" fmla="*/ 0 h 22"/>
                <a:gd name="T2" fmla="*/ 292 w 292"/>
                <a:gd name="T3" fmla="*/ 0 h 22"/>
                <a:gd name="T4" fmla="*/ 249 w 292"/>
                <a:gd name="T5" fmla="*/ 22 h 22"/>
                <a:gd name="T6" fmla="*/ 0 w 292"/>
                <a:gd name="T7" fmla="*/ 22 h 22"/>
                <a:gd name="T8" fmla="*/ 44 w 292"/>
                <a:gd name="T9" fmla="*/ 0 h 22"/>
                <a:gd name="T10" fmla="*/ 0 60000 65536"/>
                <a:gd name="T11" fmla="*/ 0 60000 65536"/>
                <a:gd name="T12" fmla="*/ 0 60000 65536"/>
                <a:gd name="T13" fmla="*/ 0 60000 65536"/>
                <a:gd name="T14" fmla="*/ 0 60000 65536"/>
                <a:gd name="T15" fmla="*/ 0 w 292"/>
                <a:gd name="T16" fmla="*/ 0 h 22"/>
                <a:gd name="T17" fmla="*/ 292 w 292"/>
                <a:gd name="T18" fmla="*/ 22 h 22"/>
              </a:gdLst>
              <a:ahLst/>
              <a:cxnLst>
                <a:cxn ang="T10">
                  <a:pos x="T0" y="T1"/>
                </a:cxn>
                <a:cxn ang="T11">
                  <a:pos x="T2" y="T3"/>
                </a:cxn>
                <a:cxn ang="T12">
                  <a:pos x="T4" y="T5"/>
                </a:cxn>
                <a:cxn ang="T13">
                  <a:pos x="T6" y="T7"/>
                </a:cxn>
                <a:cxn ang="T14">
                  <a:pos x="T8" y="T9"/>
                </a:cxn>
              </a:cxnLst>
              <a:rect l="T15" t="T16" r="T17" b="T18"/>
              <a:pathLst>
                <a:path w="292" h="22">
                  <a:moveTo>
                    <a:pt x="44" y="0"/>
                  </a:moveTo>
                  <a:lnTo>
                    <a:pt x="292" y="0"/>
                  </a:lnTo>
                  <a:lnTo>
                    <a:pt x="249" y="22"/>
                  </a:lnTo>
                  <a:lnTo>
                    <a:pt x="0" y="22"/>
                  </a:lnTo>
                  <a:lnTo>
                    <a:pt x="44" y="0"/>
                  </a:lnTo>
                  <a:close/>
                </a:path>
              </a:pathLst>
            </a:custGeom>
            <a:solidFill>
              <a:srgbClr val="666666"/>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7" name="Freeform 123"/>
            <p:cNvSpPr>
              <a:spLocks/>
            </p:cNvSpPr>
            <p:nvPr/>
          </p:nvSpPr>
          <p:spPr bwMode="auto">
            <a:xfrm>
              <a:off x="4441" y="3417"/>
              <a:ext cx="292" cy="22"/>
            </a:xfrm>
            <a:custGeom>
              <a:avLst/>
              <a:gdLst>
                <a:gd name="T0" fmla="*/ 44 w 292"/>
                <a:gd name="T1" fmla="*/ 0 h 22"/>
                <a:gd name="T2" fmla="*/ 292 w 292"/>
                <a:gd name="T3" fmla="*/ 0 h 22"/>
                <a:gd name="T4" fmla="*/ 249 w 292"/>
                <a:gd name="T5" fmla="*/ 22 h 22"/>
                <a:gd name="T6" fmla="*/ 0 w 292"/>
                <a:gd name="T7" fmla="*/ 22 h 22"/>
                <a:gd name="T8" fmla="*/ 44 w 292"/>
                <a:gd name="T9" fmla="*/ 0 h 22"/>
                <a:gd name="T10" fmla="*/ 0 60000 65536"/>
                <a:gd name="T11" fmla="*/ 0 60000 65536"/>
                <a:gd name="T12" fmla="*/ 0 60000 65536"/>
                <a:gd name="T13" fmla="*/ 0 60000 65536"/>
                <a:gd name="T14" fmla="*/ 0 60000 65536"/>
                <a:gd name="T15" fmla="*/ 0 w 292"/>
                <a:gd name="T16" fmla="*/ 0 h 22"/>
                <a:gd name="T17" fmla="*/ 292 w 292"/>
                <a:gd name="T18" fmla="*/ 22 h 22"/>
              </a:gdLst>
              <a:ahLst/>
              <a:cxnLst>
                <a:cxn ang="T10">
                  <a:pos x="T0" y="T1"/>
                </a:cxn>
                <a:cxn ang="T11">
                  <a:pos x="T2" y="T3"/>
                </a:cxn>
                <a:cxn ang="T12">
                  <a:pos x="T4" y="T5"/>
                </a:cxn>
                <a:cxn ang="T13">
                  <a:pos x="T6" y="T7"/>
                </a:cxn>
                <a:cxn ang="T14">
                  <a:pos x="T8" y="T9"/>
                </a:cxn>
              </a:cxnLst>
              <a:rect l="T15" t="T16" r="T17" b="T18"/>
              <a:pathLst>
                <a:path w="292" h="22">
                  <a:moveTo>
                    <a:pt x="44" y="0"/>
                  </a:moveTo>
                  <a:lnTo>
                    <a:pt x="292" y="0"/>
                  </a:lnTo>
                  <a:lnTo>
                    <a:pt x="249" y="22"/>
                  </a:lnTo>
                  <a:lnTo>
                    <a:pt x="0" y="22"/>
                  </a:lnTo>
                  <a:lnTo>
                    <a:pt x="44" y="0"/>
                  </a:lnTo>
                  <a:close/>
                </a:path>
              </a:pathLst>
            </a:cu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28" name="Rectangle 124"/>
            <p:cNvSpPr>
              <a:spLocks noChangeArrowheads="1"/>
            </p:cNvSpPr>
            <p:nvPr/>
          </p:nvSpPr>
          <p:spPr bwMode="auto">
            <a:xfrm>
              <a:off x="4379" y="3459"/>
              <a:ext cx="299" cy="25"/>
            </a:xfrm>
            <a:prstGeom prst="rect">
              <a:avLst/>
            </a:prstGeom>
            <a:solidFill>
              <a:srgbClr val="66666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9" name="Rectangle 125"/>
            <p:cNvSpPr>
              <a:spLocks noChangeArrowheads="1"/>
            </p:cNvSpPr>
            <p:nvPr/>
          </p:nvSpPr>
          <p:spPr bwMode="auto">
            <a:xfrm>
              <a:off x="4379" y="3459"/>
              <a:ext cx="299" cy="25"/>
            </a:xfrm>
            <a:prstGeom prst="rect">
              <a:avLst/>
            </a:pr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30" name="Freeform 126"/>
            <p:cNvSpPr>
              <a:spLocks/>
            </p:cNvSpPr>
            <p:nvPr/>
          </p:nvSpPr>
          <p:spPr bwMode="auto">
            <a:xfrm>
              <a:off x="4525" y="3445"/>
              <a:ext cx="50" cy="7"/>
            </a:xfrm>
            <a:custGeom>
              <a:avLst/>
              <a:gdLst>
                <a:gd name="T0" fmla="*/ 0 w 50"/>
                <a:gd name="T1" fmla="*/ 7 h 7"/>
                <a:gd name="T2" fmla="*/ 12 w 50"/>
                <a:gd name="T3" fmla="*/ 0 h 7"/>
                <a:gd name="T4" fmla="*/ 50 w 50"/>
                <a:gd name="T5" fmla="*/ 0 h 7"/>
                <a:gd name="T6" fmla="*/ 37 w 50"/>
                <a:gd name="T7" fmla="*/ 7 h 7"/>
                <a:gd name="T8" fmla="*/ 0 w 50"/>
                <a:gd name="T9" fmla="*/ 7 h 7"/>
                <a:gd name="T10" fmla="*/ 0 60000 65536"/>
                <a:gd name="T11" fmla="*/ 0 60000 65536"/>
                <a:gd name="T12" fmla="*/ 0 60000 65536"/>
                <a:gd name="T13" fmla="*/ 0 60000 65536"/>
                <a:gd name="T14" fmla="*/ 0 60000 65536"/>
                <a:gd name="T15" fmla="*/ 0 w 50"/>
                <a:gd name="T16" fmla="*/ 0 h 7"/>
                <a:gd name="T17" fmla="*/ 50 w 50"/>
                <a:gd name="T18" fmla="*/ 7 h 7"/>
              </a:gdLst>
              <a:ahLst/>
              <a:cxnLst>
                <a:cxn ang="T10">
                  <a:pos x="T0" y="T1"/>
                </a:cxn>
                <a:cxn ang="T11">
                  <a:pos x="T2" y="T3"/>
                </a:cxn>
                <a:cxn ang="T12">
                  <a:pos x="T4" y="T5"/>
                </a:cxn>
                <a:cxn ang="T13">
                  <a:pos x="T6" y="T7"/>
                </a:cxn>
                <a:cxn ang="T14">
                  <a:pos x="T8" y="T9"/>
                </a:cxn>
              </a:cxnLst>
              <a:rect l="T15" t="T16" r="T17" b="T18"/>
              <a:pathLst>
                <a:path w="50" h="7">
                  <a:moveTo>
                    <a:pt x="0" y="7"/>
                  </a:moveTo>
                  <a:lnTo>
                    <a:pt x="12" y="0"/>
                  </a:lnTo>
                  <a:lnTo>
                    <a:pt x="50" y="0"/>
                  </a:lnTo>
                  <a:lnTo>
                    <a:pt x="37" y="7"/>
                  </a:lnTo>
                  <a:lnTo>
                    <a:pt x="0" y="7"/>
                  </a:lnTo>
                </a:path>
              </a:pathLst>
            </a:cu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pic>
          <p:nvPicPr>
            <p:cNvPr id="31" name="Picture 12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85" y="3469"/>
              <a:ext cx="24" cy="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2" name="Picture 1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85" y="3469"/>
              <a:ext cx="24" cy="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3" name="Picture 1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09" y="3469"/>
              <a:ext cx="24" cy="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4" name="Picture 13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09" y="3469"/>
              <a:ext cx="24" cy="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5" name="Picture 13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33" y="3469"/>
              <a:ext cx="24" cy="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36" name="Rectangle 132"/>
            <p:cNvSpPr>
              <a:spLocks noChangeArrowheads="1"/>
            </p:cNvSpPr>
            <p:nvPr/>
          </p:nvSpPr>
          <p:spPr bwMode="auto">
            <a:xfrm>
              <a:off x="4416" y="3473"/>
              <a:ext cx="7" cy="3"/>
            </a:xfrm>
            <a:prstGeom prst="rect">
              <a:avLst/>
            </a:prstGeom>
            <a:solidFill>
              <a:srgbClr val="00FF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7" name="Rectangle 133"/>
            <p:cNvSpPr>
              <a:spLocks noChangeArrowheads="1"/>
            </p:cNvSpPr>
            <p:nvPr/>
          </p:nvSpPr>
          <p:spPr bwMode="auto">
            <a:xfrm>
              <a:off x="4441" y="3473"/>
              <a:ext cx="6" cy="3"/>
            </a:xfrm>
            <a:prstGeom prst="rect">
              <a:avLst/>
            </a:prstGeom>
            <a:solidFill>
              <a:srgbClr val="00FF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8" name="Rectangle 134"/>
            <p:cNvSpPr>
              <a:spLocks noChangeArrowheads="1"/>
            </p:cNvSpPr>
            <p:nvPr/>
          </p:nvSpPr>
          <p:spPr bwMode="auto">
            <a:xfrm>
              <a:off x="4392" y="3473"/>
              <a:ext cx="6" cy="3"/>
            </a:xfrm>
            <a:prstGeom prst="rect">
              <a:avLst/>
            </a:prstGeom>
            <a:solidFill>
              <a:srgbClr val="FF00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9" name="Freeform 135"/>
            <p:cNvSpPr>
              <a:spLocks/>
            </p:cNvSpPr>
            <p:nvPr/>
          </p:nvSpPr>
          <p:spPr bwMode="auto">
            <a:xfrm>
              <a:off x="4746" y="3420"/>
              <a:ext cx="18" cy="16"/>
            </a:xfrm>
            <a:custGeom>
              <a:avLst/>
              <a:gdLst>
                <a:gd name="T0" fmla="*/ 0 w 18"/>
                <a:gd name="T1" fmla="*/ 10 h 16"/>
                <a:gd name="T2" fmla="*/ 18 w 18"/>
                <a:gd name="T3" fmla="*/ 0 h 16"/>
                <a:gd name="T4" fmla="*/ 18 w 18"/>
                <a:gd name="T5" fmla="*/ 7 h 16"/>
                <a:gd name="T6" fmla="*/ 0 w 18"/>
                <a:gd name="T7" fmla="*/ 16 h 16"/>
                <a:gd name="T8" fmla="*/ 0 w 18"/>
                <a:gd name="T9" fmla="*/ 10 h 16"/>
                <a:gd name="T10" fmla="*/ 0 60000 65536"/>
                <a:gd name="T11" fmla="*/ 0 60000 65536"/>
                <a:gd name="T12" fmla="*/ 0 60000 65536"/>
                <a:gd name="T13" fmla="*/ 0 60000 65536"/>
                <a:gd name="T14" fmla="*/ 0 60000 65536"/>
                <a:gd name="T15" fmla="*/ 0 w 18"/>
                <a:gd name="T16" fmla="*/ 0 h 16"/>
                <a:gd name="T17" fmla="*/ 18 w 18"/>
                <a:gd name="T18" fmla="*/ 16 h 16"/>
              </a:gdLst>
              <a:ahLst/>
              <a:cxnLst>
                <a:cxn ang="T10">
                  <a:pos x="T0" y="T1"/>
                </a:cxn>
                <a:cxn ang="T11">
                  <a:pos x="T2" y="T3"/>
                </a:cxn>
                <a:cxn ang="T12">
                  <a:pos x="T4" y="T5"/>
                </a:cxn>
                <a:cxn ang="T13">
                  <a:pos x="T6" y="T7"/>
                </a:cxn>
                <a:cxn ang="T14">
                  <a:pos x="T8" y="T9"/>
                </a:cxn>
              </a:cxnLst>
              <a:rect l="T15" t="T16" r="T17" b="T18"/>
              <a:pathLst>
                <a:path w="18" h="16">
                  <a:moveTo>
                    <a:pt x="0" y="10"/>
                  </a:moveTo>
                  <a:lnTo>
                    <a:pt x="18" y="0"/>
                  </a:lnTo>
                  <a:lnTo>
                    <a:pt x="18" y="7"/>
                  </a:lnTo>
                  <a:lnTo>
                    <a:pt x="0" y="16"/>
                  </a:lnTo>
                  <a:lnTo>
                    <a:pt x="0" y="10"/>
                  </a:lnTo>
                  <a:close/>
                </a:path>
              </a:pathLst>
            </a:custGeom>
            <a:solidFill>
              <a:srgbClr val="00000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pic>
          <p:nvPicPr>
            <p:cNvPr id="40" name="Picture 13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85" y="3461"/>
              <a:ext cx="8" cy="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1" name="Picture 13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05" y="3237"/>
              <a:ext cx="320" cy="1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2" name="Picture 13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05" y="3237"/>
              <a:ext cx="320" cy="1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3" name="Freeform 139"/>
            <p:cNvSpPr>
              <a:spLocks/>
            </p:cNvSpPr>
            <p:nvPr/>
          </p:nvSpPr>
          <p:spPr bwMode="auto">
            <a:xfrm>
              <a:off x="4506" y="3241"/>
              <a:ext cx="315" cy="141"/>
            </a:xfrm>
            <a:custGeom>
              <a:avLst/>
              <a:gdLst>
                <a:gd name="T0" fmla="*/ 0 w 315"/>
                <a:gd name="T1" fmla="*/ 141 h 141"/>
                <a:gd name="T2" fmla="*/ 68 w 315"/>
                <a:gd name="T3" fmla="*/ 0 h 141"/>
                <a:gd name="T4" fmla="*/ 315 w 315"/>
                <a:gd name="T5" fmla="*/ 0 h 141"/>
                <a:gd name="T6" fmla="*/ 247 w 315"/>
                <a:gd name="T7" fmla="*/ 141 h 141"/>
                <a:gd name="T8" fmla="*/ 0 w 315"/>
                <a:gd name="T9" fmla="*/ 141 h 141"/>
                <a:gd name="T10" fmla="*/ 0 60000 65536"/>
                <a:gd name="T11" fmla="*/ 0 60000 65536"/>
                <a:gd name="T12" fmla="*/ 0 60000 65536"/>
                <a:gd name="T13" fmla="*/ 0 60000 65536"/>
                <a:gd name="T14" fmla="*/ 0 60000 65536"/>
                <a:gd name="T15" fmla="*/ 0 w 315"/>
                <a:gd name="T16" fmla="*/ 0 h 141"/>
                <a:gd name="T17" fmla="*/ 315 w 315"/>
                <a:gd name="T18" fmla="*/ 141 h 141"/>
              </a:gdLst>
              <a:ahLst/>
              <a:cxnLst>
                <a:cxn ang="T10">
                  <a:pos x="T0" y="T1"/>
                </a:cxn>
                <a:cxn ang="T11">
                  <a:pos x="T2" y="T3"/>
                </a:cxn>
                <a:cxn ang="T12">
                  <a:pos x="T4" y="T5"/>
                </a:cxn>
                <a:cxn ang="T13">
                  <a:pos x="T6" y="T7"/>
                </a:cxn>
                <a:cxn ang="T14">
                  <a:pos x="T8" y="T9"/>
                </a:cxn>
              </a:cxnLst>
              <a:rect l="T15" t="T16" r="T17" b="T18"/>
              <a:pathLst>
                <a:path w="315" h="141">
                  <a:moveTo>
                    <a:pt x="0" y="141"/>
                  </a:moveTo>
                  <a:lnTo>
                    <a:pt x="68" y="0"/>
                  </a:lnTo>
                  <a:lnTo>
                    <a:pt x="315" y="0"/>
                  </a:lnTo>
                  <a:lnTo>
                    <a:pt x="247" y="141"/>
                  </a:lnTo>
                  <a:lnTo>
                    <a:pt x="0" y="141"/>
                  </a:lnTo>
                </a:path>
              </a:pathLst>
            </a:cu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44" name="Rectangle 140"/>
            <p:cNvSpPr>
              <a:spLocks noChangeArrowheads="1"/>
            </p:cNvSpPr>
            <p:nvPr/>
          </p:nvSpPr>
          <p:spPr bwMode="auto">
            <a:xfrm>
              <a:off x="4817" y="3237"/>
              <a:ext cx="8" cy="16"/>
            </a:xfrm>
            <a:prstGeom prst="rect">
              <a:avLst/>
            </a:prstGeom>
            <a:solidFill>
              <a:srgbClr val="FF3C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5" name="Rectangle 141"/>
            <p:cNvSpPr>
              <a:spLocks noChangeArrowheads="1"/>
            </p:cNvSpPr>
            <p:nvPr/>
          </p:nvSpPr>
          <p:spPr bwMode="auto">
            <a:xfrm>
              <a:off x="4825" y="3237"/>
              <a:ext cx="8" cy="16"/>
            </a:xfrm>
            <a:prstGeom prst="rect">
              <a:avLst/>
            </a:prstGeom>
            <a:solidFill>
              <a:srgbClr val="FFCD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6" name="Rectangle 142"/>
            <p:cNvSpPr>
              <a:spLocks noChangeArrowheads="1"/>
            </p:cNvSpPr>
            <p:nvPr/>
          </p:nvSpPr>
          <p:spPr bwMode="auto">
            <a:xfrm>
              <a:off x="4833" y="3237"/>
              <a:ext cx="8" cy="16"/>
            </a:xfrm>
            <a:prstGeom prst="rect">
              <a:avLst/>
            </a:prstGeom>
            <a:solidFill>
              <a:srgbClr val="FF60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7" name="Freeform 143"/>
            <p:cNvSpPr>
              <a:spLocks/>
            </p:cNvSpPr>
            <p:nvPr/>
          </p:nvSpPr>
          <p:spPr bwMode="auto">
            <a:xfrm>
              <a:off x="4378" y="3228"/>
              <a:ext cx="478" cy="256"/>
            </a:xfrm>
            <a:custGeom>
              <a:avLst/>
              <a:gdLst>
                <a:gd name="T0" fmla="*/ 0 w 478"/>
                <a:gd name="T1" fmla="*/ 256 h 256"/>
                <a:gd name="T2" fmla="*/ 0 w 478"/>
                <a:gd name="T3" fmla="*/ 231 h 256"/>
                <a:gd name="T4" fmla="*/ 99 w 478"/>
                <a:gd name="T5" fmla="*/ 179 h 256"/>
                <a:gd name="T6" fmla="*/ 142 w 478"/>
                <a:gd name="T7" fmla="*/ 179 h 256"/>
                <a:gd name="T8" fmla="*/ 142 w 478"/>
                <a:gd name="T9" fmla="*/ 167 h 256"/>
                <a:gd name="T10" fmla="*/ 105 w 478"/>
                <a:gd name="T11" fmla="*/ 167 h 256"/>
                <a:gd name="T12" fmla="*/ 186 w 478"/>
                <a:gd name="T13" fmla="*/ 0 h 256"/>
                <a:gd name="T14" fmla="*/ 478 w 478"/>
                <a:gd name="T15" fmla="*/ 0 h 256"/>
                <a:gd name="T16" fmla="*/ 397 w 478"/>
                <a:gd name="T17" fmla="*/ 167 h 256"/>
                <a:gd name="T18" fmla="*/ 360 w 478"/>
                <a:gd name="T19" fmla="*/ 167 h 256"/>
                <a:gd name="T20" fmla="*/ 360 w 478"/>
                <a:gd name="T21" fmla="*/ 179 h 256"/>
                <a:gd name="T22" fmla="*/ 397 w 478"/>
                <a:gd name="T23" fmla="*/ 179 h 256"/>
                <a:gd name="T24" fmla="*/ 397 w 478"/>
                <a:gd name="T25" fmla="*/ 205 h 256"/>
                <a:gd name="T26" fmla="*/ 298 w 478"/>
                <a:gd name="T27" fmla="*/ 256 h 256"/>
                <a:gd name="T28" fmla="*/ 0 w 478"/>
                <a:gd name="T29" fmla="*/ 256 h 25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78"/>
                <a:gd name="T46" fmla="*/ 0 h 256"/>
                <a:gd name="T47" fmla="*/ 478 w 478"/>
                <a:gd name="T48" fmla="*/ 256 h 25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78" h="256">
                  <a:moveTo>
                    <a:pt x="0" y="256"/>
                  </a:moveTo>
                  <a:lnTo>
                    <a:pt x="0" y="231"/>
                  </a:lnTo>
                  <a:lnTo>
                    <a:pt x="99" y="179"/>
                  </a:lnTo>
                  <a:lnTo>
                    <a:pt x="142" y="179"/>
                  </a:lnTo>
                  <a:lnTo>
                    <a:pt x="142" y="167"/>
                  </a:lnTo>
                  <a:lnTo>
                    <a:pt x="105" y="167"/>
                  </a:lnTo>
                  <a:lnTo>
                    <a:pt x="186" y="0"/>
                  </a:lnTo>
                  <a:lnTo>
                    <a:pt x="478" y="0"/>
                  </a:lnTo>
                  <a:lnTo>
                    <a:pt x="397" y="167"/>
                  </a:lnTo>
                  <a:lnTo>
                    <a:pt x="360" y="167"/>
                  </a:lnTo>
                  <a:lnTo>
                    <a:pt x="360" y="179"/>
                  </a:lnTo>
                  <a:lnTo>
                    <a:pt x="397" y="179"/>
                  </a:lnTo>
                  <a:lnTo>
                    <a:pt x="397" y="205"/>
                  </a:lnTo>
                  <a:lnTo>
                    <a:pt x="298" y="256"/>
                  </a:lnTo>
                  <a:lnTo>
                    <a:pt x="0" y="256"/>
                  </a:lnTo>
                </a:path>
              </a:pathLst>
            </a:custGeom>
            <a:noFill/>
            <a:ln w="11113"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48" name="Rectangle 144"/>
            <p:cNvSpPr>
              <a:spLocks noChangeArrowheads="1"/>
            </p:cNvSpPr>
            <p:nvPr/>
          </p:nvSpPr>
          <p:spPr bwMode="auto">
            <a:xfrm>
              <a:off x="4203" y="3501"/>
              <a:ext cx="720" cy="17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800">
                  <a:latin typeface="Arial" charset="0"/>
                </a:rPr>
                <a:t>Intra1 (XP)</a:t>
              </a:r>
              <a:endParaRPr lang="en-US" sz="1800"/>
            </a:p>
          </p:txBody>
        </p:sp>
        <p:grpSp>
          <p:nvGrpSpPr>
            <p:cNvPr id="49" name="Group 663"/>
            <p:cNvGrpSpPr>
              <a:grpSpLocks/>
            </p:cNvGrpSpPr>
            <p:nvPr/>
          </p:nvGrpSpPr>
          <p:grpSpPr bwMode="auto">
            <a:xfrm>
              <a:off x="304" y="1331"/>
              <a:ext cx="721" cy="833"/>
              <a:chOff x="1208" y="979"/>
              <a:chExt cx="1265" cy="977"/>
            </a:xfrm>
          </p:grpSpPr>
          <p:sp>
            <p:nvSpPr>
              <p:cNvPr id="916" name="Freeform 176"/>
              <p:cNvSpPr>
                <a:spLocks noEditPoints="1"/>
              </p:cNvSpPr>
              <p:nvPr/>
            </p:nvSpPr>
            <p:spPr bwMode="auto">
              <a:xfrm>
                <a:off x="1368" y="1108"/>
                <a:ext cx="943" cy="706"/>
              </a:xfrm>
              <a:custGeom>
                <a:avLst/>
                <a:gdLst>
                  <a:gd name="T0" fmla="*/ 157 w 943"/>
                  <a:gd name="T1" fmla="*/ 609 h 706"/>
                  <a:gd name="T2" fmla="*/ 471 w 943"/>
                  <a:gd name="T3" fmla="*/ 366 h 706"/>
                  <a:gd name="T4" fmla="*/ 471 w 943"/>
                  <a:gd name="T5" fmla="*/ 706 h 706"/>
                  <a:gd name="T6" fmla="*/ 471 w 943"/>
                  <a:gd name="T7" fmla="*/ 366 h 706"/>
                  <a:gd name="T8" fmla="*/ 516 w 943"/>
                  <a:gd name="T9" fmla="*/ 620 h 706"/>
                  <a:gd name="T10" fmla="*/ 471 w 943"/>
                  <a:gd name="T11" fmla="*/ 366 h 706"/>
                  <a:gd name="T12" fmla="*/ 943 w 943"/>
                  <a:gd name="T13" fmla="*/ 366 h 706"/>
                  <a:gd name="T14" fmla="*/ 471 w 943"/>
                  <a:gd name="T15" fmla="*/ 366 h 706"/>
                  <a:gd name="T16" fmla="*/ 786 w 943"/>
                  <a:gd name="T17" fmla="*/ 122 h 706"/>
                  <a:gd name="T18" fmla="*/ 471 w 943"/>
                  <a:gd name="T19" fmla="*/ 366 h 706"/>
                  <a:gd name="T20" fmla="*/ 471 w 943"/>
                  <a:gd name="T21" fmla="*/ 0 h 706"/>
                  <a:gd name="T22" fmla="*/ 471 w 943"/>
                  <a:gd name="T23" fmla="*/ 366 h 706"/>
                  <a:gd name="T24" fmla="*/ 255 w 943"/>
                  <a:gd name="T25" fmla="*/ 163 h 706"/>
                  <a:gd name="T26" fmla="*/ 471 w 943"/>
                  <a:gd name="T27" fmla="*/ 366 h 706"/>
                  <a:gd name="T28" fmla="*/ 0 w 943"/>
                  <a:gd name="T29" fmla="*/ 366 h 706"/>
                  <a:gd name="T30" fmla="*/ 471 w 943"/>
                  <a:gd name="T31" fmla="*/ 366 h 70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43"/>
                  <a:gd name="T49" fmla="*/ 0 h 706"/>
                  <a:gd name="T50" fmla="*/ 943 w 943"/>
                  <a:gd name="T51" fmla="*/ 706 h 70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43" h="706">
                    <a:moveTo>
                      <a:pt x="157" y="609"/>
                    </a:moveTo>
                    <a:lnTo>
                      <a:pt x="471" y="366"/>
                    </a:lnTo>
                    <a:moveTo>
                      <a:pt x="471" y="706"/>
                    </a:moveTo>
                    <a:lnTo>
                      <a:pt x="471" y="366"/>
                    </a:lnTo>
                    <a:moveTo>
                      <a:pt x="516" y="620"/>
                    </a:moveTo>
                    <a:lnTo>
                      <a:pt x="471" y="366"/>
                    </a:lnTo>
                    <a:moveTo>
                      <a:pt x="943" y="366"/>
                    </a:moveTo>
                    <a:lnTo>
                      <a:pt x="471" y="366"/>
                    </a:lnTo>
                    <a:moveTo>
                      <a:pt x="786" y="122"/>
                    </a:moveTo>
                    <a:lnTo>
                      <a:pt x="471" y="366"/>
                    </a:lnTo>
                    <a:moveTo>
                      <a:pt x="471" y="0"/>
                    </a:moveTo>
                    <a:lnTo>
                      <a:pt x="471" y="366"/>
                    </a:lnTo>
                    <a:moveTo>
                      <a:pt x="255" y="163"/>
                    </a:moveTo>
                    <a:lnTo>
                      <a:pt x="471" y="366"/>
                    </a:lnTo>
                    <a:moveTo>
                      <a:pt x="0" y="366"/>
                    </a:moveTo>
                    <a:lnTo>
                      <a:pt x="471" y="366"/>
                    </a:lnTo>
                  </a:path>
                </a:pathLst>
              </a:cu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pic>
            <p:nvPicPr>
              <p:cNvPr id="917" name="Picture 17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08" y="979"/>
                <a:ext cx="1265" cy="9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918" name="Picture 17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208" y="979"/>
                <a:ext cx="1265" cy="9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919" name="Picture 17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280" y="1332"/>
                <a:ext cx="961" cy="4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920" name="Picture 18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280" y="1332"/>
                <a:ext cx="961" cy="4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921" name="Picture 18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800" y="1043"/>
                <a:ext cx="489" cy="43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922" name="Picture 18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800" y="1043"/>
                <a:ext cx="489" cy="43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923" name="Picture 18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912" y="1444"/>
                <a:ext cx="473" cy="25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924" name="Rectangle 184"/>
              <p:cNvSpPr>
                <a:spLocks noChangeArrowheads="1"/>
              </p:cNvSpPr>
              <p:nvPr/>
            </p:nvSpPr>
            <p:spPr bwMode="auto">
              <a:xfrm>
                <a:off x="1394" y="1404"/>
                <a:ext cx="949" cy="2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2000" b="0">
                    <a:solidFill>
                      <a:srgbClr val="00FF00"/>
                    </a:solidFill>
                    <a:latin typeface="Arial" charset="0"/>
                  </a:rPr>
                  <a:t>Internet</a:t>
                </a:r>
                <a:endParaRPr lang="en-US"/>
              </a:p>
            </p:txBody>
          </p:sp>
        </p:grpSp>
        <p:sp>
          <p:nvSpPr>
            <p:cNvPr id="50" name="Rectangle 185"/>
            <p:cNvSpPr>
              <a:spLocks noChangeArrowheads="1"/>
            </p:cNvSpPr>
            <p:nvPr/>
          </p:nvSpPr>
          <p:spPr bwMode="auto">
            <a:xfrm>
              <a:off x="858" y="2595"/>
              <a:ext cx="695" cy="77"/>
            </a:xfrm>
            <a:prstGeom prst="rect">
              <a:avLst/>
            </a:prstGeom>
            <a:solidFill>
              <a:srgbClr val="FFFF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51" name="Rectangle 187"/>
            <p:cNvSpPr>
              <a:spLocks noChangeArrowheads="1"/>
            </p:cNvSpPr>
            <p:nvPr/>
          </p:nvSpPr>
          <p:spPr bwMode="auto">
            <a:xfrm>
              <a:off x="1513" y="2619"/>
              <a:ext cx="746" cy="77"/>
            </a:xfrm>
            <a:prstGeom prst="rect">
              <a:avLst/>
            </a:prstGeom>
            <a:solidFill>
              <a:srgbClr val="FFFF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52" name="Rectangle 321"/>
            <p:cNvSpPr>
              <a:spLocks noChangeArrowheads="1"/>
            </p:cNvSpPr>
            <p:nvPr/>
          </p:nvSpPr>
          <p:spPr bwMode="auto">
            <a:xfrm>
              <a:off x="3123" y="2623"/>
              <a:ext cx="745" cy="77"/>
            </a:xfrm>
            <a:prstGeom prst="rect">
              <a:avLst/>
            </a:prstGeom>
            <a:solidFill>
              <a:srgbClr val="FFFF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grpSp>
          <p:nvGrpSpPr>
            <p:cNvPr id="53" name="Group 668"/>
            <p:cNvGrpSpPr>
              <a:grpSpLocks/>
            </p:cNvGrpSpPr>
            <p:nvPr/>
          </p:nvGrpSpPr>
          <p:grpSpPr bwMode="auto">
            <a:xfrm>
              <a:off x="4285" y="2490"/>
              <a:ext cx="782" cy="463"/>
              <a:chOff x="2229" y="2818"/>
              <a:chExt cx="782" cy="463"/>
            </a:xfrm>
          </p:grpSpPr>
          <p:sp>
            <p:nvSpPr>
              <p:cNvPr id="867" name="Freeform 455"/>
              <p:cNvSpPr>
                <a:spLocks noEditPoints="1"/>
              </p:cNvSpPr>
              <p:nvPr/>
            </p:nvSpPr>
            <p:spPr bwMode="auto">
              <a:xfrm>
                <a:off x="2250" y="2818"/>
                <a:ext cx="761" cy="269"/>
              </a:xfrm>
              <a:custGeom>
                <a:avLst/>
                <a:gdLst>
                  <a:gd name="T0" fmla="*/ 652 w 761"/>
                  <a:gd name="T1" fmla="*/ 269 h 269"/>
                  <a:gd name="T2" fmla="*/ 718 w 761"/>
                  <a:gd name="T3" fmla="*/ 202 h 269"/>
                  <a:gd name="T4" fmla="*/ 674 w 761"/>
                  <a:gd name="T5" fmla="*/ 247 h 269"/>
                  <a:gd name="T6" fmla="*/ 652 w 761"/>
                  <a:gd name="T7" fmla="*/ 247 h 269"/>
                  <a:gd name="T8" fmla="*/ 652 w 761"/>
                  <a:gd name="T9" fmla="*/ 269 h 269"/>
                  <a:gd name="T10" fmla="*/ 0 w 761"/>
                  <a:gd name="T11" fmla="*/ 269 h 269"/>
                  <a:gd name="T12" fmla="*/ 652 w 761"/>
                  <a:gd name="T13" fmla="*/ 269 h 269"/>
                  <a:gd name="T14" fmla="*/ 652 w 761"/>
                  <a:gd name="T15" fmla="*/ 247 h 269"/>
                  <a:gd name="T16" fmla="*/ 0 w 761"/>
                  <a:gd name="T17" fmla="*/ 247 h 269"/>
                  <a:gd name="T18" fmla="*/ 0 w 761"/>
                  <a:gd name="T19" fmla="*/ 269 h 269"/>
                  <a:gd name="T20" fmla="*/ 761 w 761"/>
                  <a:gd name="T21" fmla="*/ 0 h 269"/>
                  <a:gd name="T22" fmla="*/ 761 w 761"/>
                  <a:gd name="T23" fmla="*/ 157 h 269"/>
                  <a:gd name="T24" fmla="*/ 674 w 761"/>
                  <a:gd name="T25" fmla="*/ 247 h 269"/>
                  <a:gd name="T26" fmla="*/ 674 w 761"/>
                  <a:gd name="T27" fmla="*/ 90 h 269"/>
                  <a:gd name="T28" fmla="*/ 761 w 761"/>
                  <a:gd name="T29" fmla="*/ 0 h 26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61"/>
                  <a:gd name="T46" fmla="*/ 0 h 269"/>
                  <a:gd name="T47" fmla="*/ 761 w 761"/>
                  <a:gd name="T48" fmla="*/ 269 h 26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61" h="269">
                    <a:moveTo>
                      <a:pt x="652" y="269"/>
                    </a:moveTo>
                    <a:lnTo>
                      <a:pt x="718" y="202"/>
                    </a:lnTo>
                    <a:lnTo>
                      <a:pt x="674" y="247"/>
                    </a:lnTo>
                    <a:lnTo>
                      <a:pt x="652" y="247"/>
                    </a:lnTo>
                    <a:lnTo>
                      <a:pt x="652" y="269"/>
                    </a:lnTo>
                    <a:close/>
                    <a:moveTo>
                      <a:pt x="0" y="269"/>
                    </a:moveTo>
                    <a:lnTo>
                      <a:pt x="652" y="269"/>
                    </a:lnTo>
                    <a:lnTo>
                      <a:pt x="652" y="247"/>
                    </a:lnTo>
                    <a:lnTo>
                      <a:pt x="0" y="247"/>
                    </a:lnTo>
                    <a:lnTo>
                      <a:pt x="0" y="269"/>
                    </a:lnTo>
                    <a:close/>
                    <a:moveTo>
                      <a:pt x="761" y="0"/>
                    </a:moveTo>
                    <a:lnTo>
                      <a:pt x="761" y="157"/>
                    </a:lnTo>
                    <a:lnTo>
                      <a:pt x="674" y="247"/>
                    </a:lnTo>
                    <a:lnTo>
                      <a:pt x="674" y="90"/>
                    </a:lnTo>
                    <a:lnTo>
                      <a:pt x="761" y="0"/>
                    </a:lnTo>
                    <a:close/>
                  </a:path>
                </a:pathLst>
              </a:custGeom>
              <a:solidFill>
                <a:srgbClr val="9A9A9A"/>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868" name="Freeform 456"/>
              <p:cNvSpPr>
                <a:spLocks/>
              </p:cNvSpPr>
              <p:nvPr/>
            </p:nvSpPr>
            <p:spPr bwMode="auto">
              <a:xfrm>
                <a:off x="2229" y="2818"/>
                <a:ext cx="782" cy="90"/>
              </a:xfrm>
              <a:custGeom>
                <a:avLst/>
                <a:gdLst>
                  <a:gd name="T0" fmla="*/ 0 w 782"/>
                  <a:gd name="T1" fmla="*/ 90 h 90"/>
                  <a:gd name="T2" fmla="*/ 87 w 782"/>
                  <a:gd name="T3" fmla="*/ 0 h 90"/>
                  <a:gd name="T4" fmla="*/ 782 w 782"/>
                  <a:gd name="T5" fmla="*/ 0 h 90"/>
                  <a:gd name="T6" fmla="*/ 695 w 782"/>
                  <a:gd name="T7" fmla="*/ 90 h 90"/>
                  <a:gd name="T8" fmla="*/ 0 w 782"/>
                  <a:gd name="T9" fmla="*/ 90 h 90"/>
                  <a:gd name="T10" fmla="*/ 0 60000 65536"/>
                  <a:gd name="T11" fmla="*/ 0 60000 65536"/>
                  <a:gd name="T12" fmla="*/ 0 60000 65536"/>
                  <a:gd name="T13" fmla="*/ 0 60000 65536"/>
                  <a:gd name="T14" fmla="*/ 0 60000 65536"/>
                  <a:gd name="T15" fmla="*/ 0 w 782"/>
                  <a:gd name="T16" fmla="*/ 0 h 90"/>
                  <a:gd name="T17" fmla="*/ 782 w 782"/>
                  <a:gd name="T18" fmla="*/ 90 h 90"/>
                </a:gdLst>
                <a:ahLst/>
                <a:cxnLst>
                  <a:cxn ang="T10">
                    <a:pos x="T0" y="T1"/>
                  </a:cxn>
                  <a:cxn ang="T11">
                    <a:pos x="T2" y="T3"/>
                  </a:cxn>
                  <a:cxn ang="T12">
                    <a:pos x="T4" y="T5"/>
                  </a:cxn>
                  <a:cxn ang="T13">
                    <a:pos x="T6" y="T7"/>
                  </a:cxn>
                  <a:cxn ang="T14">
                    <a:pos x="T8" y="T9"/>
                  </a:cxn>
                </a:cxnLst>
                <a:rect l="T15" t="T16" r="T17" b="T18"/>
                <a:pathLst>
                  <a:path w="782" h="90">
                    <a:moveTo>
                      <a:pt x="0" y="90"/>
                    </a:moveTo>
                    <a:lnTo>
                      <a:pt x="87" y="0"/>
                    </a:lnTo>
                    <a:lnTo>
                      <a:pt x="782" y="0"/>
                    </a:lnTo>
                    <a:lnTo>
                      <a:pt x="695" y="90"/>
                    </a:lnTo>
                    <a:lnTo>
                      <a:pt x="0" y="90"/>
                    </a:lnTo>
                    <a:close/>
                  </a:path>
                </a:pathLst>
              </a:custGeom>
              <a:solidFill>
                <a:srgbClr val="E6E6E6"/>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869" name="Rectangle 457"/>
              <p:cNvSpPr>
                <a:spLocks noChangeArrowheads="1"/>
              </p:cNvSpPr>
              <p:nvPr/>
            </p:nvSpPr>
            <p:spPr bwMode="auto">
              <a:xfrm>
                <a:off x="2229" y="2908"/>
                <a:ext cx="695" cy="157"/>
              </a:xfrm>
              <a:prstGeom prst="rect">
                <a:avLst/>
              </a:prstGeom>
              <a:solidFill>
                <a:srgbClr val="C0C0C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870" name="Rectangle 458"/>
              <p:cNvSpPr>
                <a:spLocks noChangeArrowheads="1"/>
              </p:cNvSpPr>
              <p:nvPr/>
            </p:nvSpPr>
            <p:spPr bwMode="auto">
              <a:xfrm>
                <a:off x="2229" y="2908"/>
                <a:ext cx="695" cy="157"/>
              </a:xfrm>
              <a:prstGeom prst="rect">
                <a:avLst/>
              </a:pr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871" name="Rectangle 459"/>
              <p:cNvSpPr>
                <a:spLocks noChangeArrowheads="1"/>
              </p:cNvSpPr>
              <p:nvPr/>
            </p:nvSpPr>
            <p:spPr bwMode="auto">
              <a:xfrm>
                <a:off x="2239" y="2997"/>
                <a:ext cx="674" cy="56"/>
              </a:xfrm>
              <a:prstGeom prst="rect">
                <a:avLst/>
              </a:prstGeom>
              <a:solidFill>
                <a:srgbClr val="DBDAC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pic>
            <p:nvPicPr>
              <p:cNvPr id="872" name="Picture 46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273" y="2956"/>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873" name="Picture 46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273" y="2956"/>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874" name="Picture 46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273" y="2932"/>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875" name="Picture 46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753" y="2956"/>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876" name="Picture 464"/>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753" y="2956"/>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877" name="Picture 465"/>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753" y="2932"/>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878" name="Picture 466"/>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697" y="2956"/>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879" name="Picture 467"/>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697" y="2956"/>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880" name="Picture 468"/>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2697" y="2932"/>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881" name="Picture 469"/>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697" y="2932"/>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882" name="Picture 470"/>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2537" y="2956"/>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883" name="Picture 471"/>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2537" y="2956"/>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884" name="Picture 472"/>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2537" y="2932"/>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885" name="Picture 473"/>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2537" y="2932"/>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886" name="Picture 474"/>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2481" y="2956"/>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887" name="Picture 475"/>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2481" y="2956"/>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888" name="Picture 476"/>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2481" y="2932"/>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889" name="Picture 477"/>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2481" y="2932"/>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890" name="Picture 478"/>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2433" y="2956"/>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891" name="Picture 479"/>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2433" y="2956"/>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892" name="Picture 48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433" y="2932"/>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893" name="Picture 481"/>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2377" y="2956"/>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894" name="Picture 482"/>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2377" y="2956"/>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895" name="Picture 483"/>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2377" y="2932"/>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896" name="Picture 484"/>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2377" y="2932"/>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897" name="Picture 485"/>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2321" y="2956"/>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898" name="Picture 486"/>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2321" y="2956"/>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899" name="Picture 487"/>
              <p:cNvPicPr>
                <a:picLocks noChangeAspect="1" noChangeArrowheads="1"/>
              </p:cNvPicPr>
              <p:nvPr/>
            </p:nvPicPr>
            <p:blipFill>
              <a:blip r:embed="rId43">
                <a:extLst>
                  <a:ext uri="{28A0092B-C50C-407E-A947-70E740481C1C}">
                    <a14:useLocalDpi xmlns:a14="http://schemas.microsoft.com/office/drawing/2010/main" val="0"/>
                  </a:ext>
                </a:extLst>
              </a:blip>
              <a:srcRect/>
              <a:stretch>
                <a:fillRect/>
              </a:stretch>
            </p:blipFill>
            <p:spPr bwMode="auto">
              <a:xfrm>
                <a:off x="2321" y="2932"/>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900" name="Picture 488"/>
              <p:cNvPicPr>
                <a:picLocks noChangeAspect="1" noChangeArrowheads="1"/>
              </p:cNvPicPr>
              <p:nvPr/>
            </p:nvPicPr>
            <p:blipFill>
              <a:blip r:embed="rId44">
                <a:extLst>
                  <a:ext uri="{28A0092B-C50C-407E-A947-70E740481C1C}">
                    <a14:useLocalDpi xmlns:a14="http://schemas.microsoft.com/office/drawing/2010/main" val="0"/>
                  </a:ext>
                </a:extLst>
              </a:blip>
              <a:srcRect/>
              <a:stretch>
                <a:fillRect/>
              </a:stretch>
            </p:blipFill>
            <p:spPr bwMode="auto">
              <a:xfrm>
                <a:off x="2321" y="2932"/>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901" name="Picture 489"/>
              <p:cNvPicPr>
                <a:picLocks noChangeAspect="1" noChangeArrowheads="1"/>
              </p:cNvPicPr>
              <p:nvPr/>
            </p:nvPicPr>
            <p:blipFill>
              <a:blip r:embed="rId45">
                <a:extLst>
                  <a:ext uri="{28A0092B-C50C-407E-A947-70E740481C1C}">
                    <a14:useLocalDpi xmlns:a14="http://schemas.microsoft.com/office/drawing/2010/main" val="0"/>
                  </a:ext>
                </a:extLst>
              </a:blip>
              <a:srcRect/>
              <a:stretch>
                <a:fillRect/>
              </a:stretch>
            </p:blipFill>
            <p:spPr bwMode="auto">
              <a:xfrm>
                <a:off x="2593" y="2956"/>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902" name="Picture 490"/>
              <p:cNvPicPr>
                <a:picLocks noChangeAspect="1" noChangeArrowheads="1"/>
              </p:cNvPicPr>
              <p:nvPr/>
            </p:nvPicPr>
            <p:blipFill>
              <a:blip r:embed="rId46">
                <a:extLst>
                  <a:ext uri="{28A0092B-C50C-407E-A947-70E740481C1C}">
                    <a14:useLocalDpi xmlns:a14="http://schemas.microsoft.com/office/drawing/2010/main" val="0"/>
                  </a:ext>
                </a:extLst>
              </a:blip>
              <a:srcRect/>
              <a:stretch>
                <a:fillRect/>
              </a:stretch>
            </p:blipFill>
            <p:spPr bwMode="auto">
              <a:xfrm>
                <a:off x="2593" y="2956"/>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903" name="Picture 491"/>
              <p:cNvPicPr>
                <a:picLocks noChangeAspect="1" noChangeArrowheads="1"/>
              </p:cNvPicPr>
              <p:nvPr/>
            </p:nvPicPr>
            <p:blipFill>
              <a:blip r:embed="rId47">
                <a:extLst>
                  <a:ext uri="{28A0092B-C50C-407E-A947-70E740481C1C}">
                    <a14:useLocalDpi xmlns:a14="http://schemas.microsoft.com/office/drawing/2010/main" val="0"/>
                  </a:ext>
                </a:extLst>
              </a:blip>
              <a:srcRect/>
              <a:stretch>
                <a:fillRect/>
              </a:stretch>
            </p:blipFill>
            <p:spPr bwMode="auto">
              <a:xfrm>
                <a:off x="2593" y="2932"/>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904" name="Picture 492"/>
              <p:cNvPicPr>
                <a:picLocks noChangeAspect="1" noChangeArrowheads="1"/>
              </p:cNvPicPr>
              <p:nvPr/>
            </p:nvPicPr>
            <p:blipFill>
              <a:blip r:embed="rId48">
                <a:extLst>
                  <a:ext uri="{28A0092B-C50C-407E-A947-70E740481C1C}">
                    <a14:useLocalDpi xmlns:a14="http://schemas.microsoft.com/office/drawing/2010/main" val="0"/>
                  </a:ext>
                </a:extLst>
              </a:blip>
              <a:srcRect/>
              <a:stretch>
                <a:fillRect/>
              </a:stretch>
            </p:blipFill>
            <p:spPr bwMode="auto">
              <a:xfrm>
                <a:off x="2649" y="2956"/>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905" name="Picture 493"/>
              <p:cNvPicPr>
                <a:picLocks noChangeAspect="1" noChangeArrowheads="1"/>
              </p:cNvPicPr>
              <p:nvPr/>
            </p:nvPicPr>
            <p:blipFill>
              <a:blip r:embed="rId49">
                <a:extLst>
                  <a:ext uri="{28A0092B-C50C-407E-A947-70E740481C1C}">
                    <a14:useLocalDpi xmlns:a14="http://schemas.microsoft.com/office/drawing/2010/main" val="0"/>
                  </a:ext>
                </a:extLst>
              </a:blip>
              <a:srcRect/>
              <a:stretch>
                <a:fillRect/>
              </a:stretch>
            </p:blipFill>
            <p:spPr bwMode="auto">
              <a:xfrm>
                <a:off x="2649" y="2956"/>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906" name="Picture 494"/>
              <p:cNvPicPr>
                <a:picLocks noChangeAspect="1" noChangeArrowheads="1"/>
              </p:cNvPicPr>
              <p:nvPr/>
            </p:nvPicPr>
            <p:blipFill>
              <a:blip r:embed="rId50">
                <a:extLst>
                  <a:ext uri="{28A0092B-C50C-407E-A947-70E740481C1C}">
                    <a14:useLocalDpi xmlns:a14="http://schemas.microsoft.com/office/drawing/2010/main" val="0"/>
                  </a:ext>
                </a:extLst>
              </a:blip>
              <a:srcRect/>
              <a:stretch>
                <a:fillRect/>
              </a:stretch>
            </p:blipFill>
            <p:spPr bwMode="auto">
              <a:xfrm>
                <a:off x="2649" y="2932"/>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907" name="Rectangle 495"/>
              <p:cNvSpPr>
                <a:spLocks noChangeArrowheads="1"/>
              </p:cNvSpPr>
              <p:nvPr/>
            </p:nvSpPr>
            <p:spPr bwMode="auto">
              <a:xfrm>
                <a:off x="2265" y="3004"/>
                <a:ext cx="632" cy="8"/>
              </a:xfrm>
              <a:prstGeom prst="rect">
                <a:avLst/>
              </a:prstGeom>
              <a:solidFill>
                <a:srgbClr val="E6E6E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908" name="Rectangle 496"/>
              <p:cNvSpPr>
                <a:spLocks noChangeArrowheads="1"/>
              </p:cNvSpPr>
              <p:nvPr/>
            </p:nvSpPr>
            <p:spPr bwMode="auto">
              <a:xfrm>
                <a:off x="2265" y="3012"/>
                <a:ext cx="632" cy="8"/>
              </a:xfrm>
              <a:prstGeom prst="rect">
                <a:avLst/>
              </a:prstGeom>
              <a:solidFill>
                <a:srgbClr val="CACACA"/>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909" name="Rectangle 497"/>
              <p:cNvSpPr>
                <a:spLocks noChangeArrowheads="1"/>
              </p:cNvSpPr>
              <p:nvPr/>
            </p:nvSpPr>
            <p:spPr bwMode="auto">
              <a:xfrm>
                <a:off x="2265" y="3020"/>
                <a:ext cx="632" cy="8"/>
              </a:xfrm>
              <a:prstGeom prst="rect">
                <a:avLst/>
              </a:prstGeom>
              <a:solidFill>
                <a:srgbClr val="ADADAD"/>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910" name="Rectangle 498"/>
              <p:cNvSpPr>
                <a:spLocks noChangeArrowheads="1"/>
              </p:cNvSpPr>
              <p:nvPr/>
            </p:nvSpPr>
            <p:spPr bwMode="auto">
              <a:xfrm>
                <a:off x="2265" y="3028"/>
                <a:ext cx="632" cy="8"/>
              </a:xfrm>
              <a:prstGeom prst="rect">
                <a:avLst/>
              </a:prstGeom>
              <a:solidFill>
                <a:srgbClr val="A4A4A4"/>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911" name="Rectangle 499"/>
              <p:cNvSpPr>
                <a:spLocks noChangeArrowheads="1"/>
              </p:cNvSpPr>
              <p:nvPr/>
            </p:nvSpPr>
            <p:spPr bwMode="auto">
              <a:xfrm>
                <a:off x="2265" y="3036"/>
                <a:ext cx="632" cy="8"/>
              </a:xfrm>
              <a:prstGeom prst="rect">
                <a:avLst/>
              </a:prstGeom>
              <a:solidFill>
                <a:srgbClr val="BFBFB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912" name="Rectangle 500"/>
              <p:cNvSpPr>
                <a:spLocks noChangeArrowheads="1"/>
              </p:cNvSpPr>
              <p:nvPr/>
            </p:nvSpPr>
            <p:spPr bwMode="auto">
              <a:xfrm>
                <a:off x="2265" y="3044"/>
                <a:ext cx="632" cy="8"/>
              </a:xfrm>
              <a:prstGeom prst="rect">
                <a:avLst/>
              </a:prstGeom>
              <a:solidFill>
                <a:srgbClr val="DCDCDC"/>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913" name="Freeform 501"/>
              <p:cNvSpPr>
                <a:spLocks noEditPoints="1"/>
              </p:cNvSpPr>
              <p:nvPr/>
            </p:nvSpPr>
            <p:spPr bwMode="auto">
              <a:xfrm>
                <a:off x="2269" y="3004"/>
                <a:ext cx="628" cy="43"/>
              </a:xfrm>
              <a:custGeom>
                <a:avLst/>
                <a:gdLst>
                  <a:gd name="T0" fmla="*/ 618 w 628"/>
                  <a:gd name="T1" fmla="*/ 43 h 43"/>
                  <a:gd name="T2" fmla="*/ 535 w 628"/>
                  <a:gd name="T3" fmla="*/ 0 h 43"/>
                  <a:gd name="T4" fmla="*/ 487 w 628"/>
                  <a:gd name="T5" fmla="*/ 30 h 43"/>
                  <a:gd name="T6" fmla="*/ 503 w 628"/>
                  <a:gd name="T7" fmla="*/ 41 h 43"/>
                  <a:gd name="T8" fmla="*/ 508 w 628"/>
                  <a:gd name="T9" fmla="*/ 30 h 43"/>
                  <a:gd name="T10" fmla="*/ 481 w 628"/>
                  <a:gd name="T11" fmla="*/ 2 h 43"/>
                  <a:gd name="T12" fmla="*/ 487 w 628"/>
                  <a:gd name="T13" fmla="*/ 30 h 43"/>
                  <a:gd name="T14" fmla="*/ 433 w 628"/>
                  <a:gd name="T15" fmla="*/ 41 h 43"/>
                  <a:gd name="T16" fmla="*/ 449 w 628"/>
                  <a:gd name="T17" fmla="*/ 30 h 43"/>
                  <a:gd name="T18" fmla="*/ 455 w 628"/>
                  <a:gd name="T19" fmla="*/ 2 h 43"/>
                  <a:gd name="T20" fmla="*/ 428 w 628"/>
                  <a:gd name="T21" fmla="*/ 30 h 43"/>
                  <a:gd name="T22" fmla="*/ 380 w 628"/>
                  <a:gd name="T23" fmla="*/ 30 h 43"/>
                  <a:gd name="T24" fmla="*/ 396 w 628"/>
                  <a:gd name="T25" fmla="*/ 41 h 43"/>
                  <a:gd name="T26" fmla="*/ 401 w 628"/>
                  <a:gd name="T27" fmla="*/ 30 h 43"/>
                  <a:gd name="T28" fmla="*/ 374 w 628"/>
                  <a:gd name="T29" fmla="*/ 2 h 43"/>
                  <a:gd name="T30" fmla="*/ 380 w 628"/>
                  <a:gd name="T31" fmla="*/ 30 h 43"/>
                  <a:gd name="T32" fmla="*/ 326 w 628"/>
                  <a:gd name="T33" fmla="*/ 41 h 43"/>
                  <a:gd name="T34" fmla="*/ 342 w 628"/>
                  <a:gd name="T35" fmla="*/ 30 h 43"/>
                  <a:gd name="T36" fmla="*/ 347 w 628"/>
                  <a:gd name="T37" fmla="*/ 2 h 43"/>
                  <a:gd name="T38" fmla="*/ 321 w 628"/>
                  <a:gd name="T39" fmla="*/ 30 h 43"/>
                  <a:gd name="T40" fmla="*/ 272 w 628"/>
                  <a:gd name="T41" fmla="*/ 30 h 43"/>
                  <a:gd name="T42" fmla="*/ 288 w 628"/>
                  <a:gd name="T43" fmla="*/ 41 h 43"/>
                  <a:gd name="T44" fmla="*/ 294 w 628"/>
                  <a:gd name="T45" fmla="*/ 30 h 43"/>
                  <a:gd name="T46" fmla="*/ 267 w 628"/>
                  <a:gd name="T47" fmla="*/ 2 h 43"/>
                  <a:gd name="T48" fmla="*/ 272 w 628"/>
                  <a:gd name="T49" fmla="*/ 30 h 43"/>
                  <a:gd name="T50" fmla="*/ 219 w 628"/>
                  <a:gd name="T51" fmla="*/ 41 h 43"/>
                  <a:gd name="T52" fmla="*/ 235 w 628"/>
                  <a:gd name="T53" fmla="*/ 30 h 43"/>
                  <a:gd name="T54" fmla="*/ 240 w 628"/>
                  <a:gd name="T55" fmla="*/ 2 h 43"/>
                  <a:gd name="T56" fmla="*/ 214 w 628"/>
                  <a:gd name="T57" fmla="*/ 30 h 43"/>
                  <a:gd name="T58" fmla="*/ 165 w 628"/>
                  <a:gd name="T59" fmla="*/ 30 h 43"/>
                  <a:gd name="T60" fmla="*/ 182 w 628"/>
                  <a:gd name="T61" fmla="*/ 41 h 43"/>
                  <a:gd name="T62" fmla="*/ 187 w 628"/>
                  <a:gd name="T63" fmla="*/ 30 h 43"/>
                  <a:gd name="T64" fmla="*/ 160 w 628"/>
                  <a:gd name="T65" fmla="*/ 2 h 43"/>
                  <a:gd name="T66" fmla="*/ 165 w 628"/>
                  <a:gd name="T67" fmla="*/ 30 h 43"/>
                  <a:gd name="T68" fmla="*/ 112 w 628"/>
                  <a:gd name="T69" fmla="*/ 41 h 43"/>
                  <a:gd name="T70" fmla="*/ 128 w 628"/>
                  <a:gd name="T71" fmla="*/ 30 h 43"/>
                  <a:gd name="T72" fmla="*/ 133 w 628"/>
                  <a:gd name="T73" fmla="*/ 2 h 43"/>
                  <a:gd name="T74" fmla="*/ 107 w 628"/>
                  <a:gd name="T75" fmla="*/ 30 h 43"/>
                  <a:gd name="T76" fmla="*/ 59 w 628"/>
                  <a:gd name="T77" fmla="*/ 30 h 43"/>
                  <a:gd name="T78" fmla="*/ 75 w 628"/>
                  <a:gd name="T79" fmla="*/ 41 h 43"/>
                  <a:gd name="T80" fmla="*/ 80 w 628"/>
                  <a:gd name="T81" fmla="*/ 30 h 43"/>
                  <a:gd name="T82" fmla="*/ 53 w 628"/>
                  <a:gd name="T83" fmla="*/ 2 h 43"/>
                  <a:gd name="T84" fmla="*/ 59 w 628"/>
                  <a:gd name="T85" fmla="*/ 30 h 43"/>
                  <a:gd name="T86" fmla="*/ 5 w 628"/>
                  <a:gd name="T87" fmla="*/ 41 h 43"/>
                  <a:gd name="T88" fmla="*/ 21 w 628"/>
                  <a:gd name="T89" fmla="*/ 30 h 43"/>
                  <a:gd name="T90" fmla="*/ 26 w 628"/>
                  <a:gd name="T91" fmla="*/ 2 h 43"/>
                  <a:gd name="T92" fmla="*/ 0 w 628"/>
                  <a:gd name="T93" fmla="*/ 30 h 43"/>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628"/>
                  <a:gd name="T142" fmla="*/ 0 h 43"/>
                  <a:gd name="T143" fmla="*/ 628 w 628"/>
                  <a:gd name="T144" fmla="*/ 43 h 43"/>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628" h="43">
                    <a:moveTo>
                      <a:pt x="545" y="43"/>
                    </a:moveTo>
                    <a:lnTo>
                      <a:pt x="618" y="43"/>
                    </a:lnTo>
                    <a:lnTo>
                      <a:pt x="628" y="0"/>
                    </a:lnTo>
                    <a:lnTo>
                      <a:pt x="535" y="0"/>
                    </a:lnTo>
                    <a:lnTo>
                      <a:pt x="545" y="43"/>
                    </a:lnTo>
                    <a:moveTo>
                      <a:pt x="487" y="30"/>
                    </a:moveTo>
                    <a:lnTo>
                      <a:pt x="487" y="41"/>
                    </a:lnTo>
                    <a:lnTo>
                      <a:pt x="503" y="41"/>
                    </a:lnTo>
                    <a:lnTo>
                      <a:pt x="503" y="30"/>
                    </a:lnTo>
                    <a:lnTo>
                      <a:pt x="508" y="30"/>
                    </a:lnTo>
                    <a:lnTo>
                      <a:pt x="508" y="2"/>
                    </a:lnTo>
                    <a:lnTo>
                      <a:pt x="481" y="2"/>
                    </a:lnTo>
                    <a:lnTo>
                      <a:pt x="481" y="30"/>
                    </a:lnTo>
                    <a:lnTo>
                      <a:pt x="487" y="30"/>
                    </a:lnTo>
                    <a:moveTo>
                      <a:pt x="433" y="30"/>
                    </a:moveTo>
                    <a:lnTo>
                      <a:pt x="433" y="41"/>
                    </a:lnTo>
                    <a:lnTo>
                      <a:pt x="449" y="41"/>
                    </a:lnTo>
                    <a:lnTo>
                      <a:pt x="449" y="30"/>
                    </a:lnTo>
                    <a:lnTo>
                      <a:pt x="455" y="30"/>
                    </a:lnTo>
                    <a:lnTo>
                      <a:pt x="455" y="2"/>
                    </a:lnTo>
                    <a:lnTo>
                      <a:pt x="428" y="2"/>
                    </a:lnTo>
                    <a:lnTo>
                      <a:pt x="428" y="30"/>
                    </a:lnTo>
                    <a:lnTo>
                      <a:pt x="433" y="30"/>
                    </a:lnTo>
                    <a:moveTo>
                      <a:pt x="380" y="30"/>
                    </a:moveTo>
                    <a:lnTo>
                      <a:pt x="380" y="41"/>
                    </a:lnTo>
                    <a:lnTo>
                      <a:pt x="396" y="41"/>
                    </a:lnTo>
                    <a:lnTo>
                      <a:pt x="396" y="30"/>
                    </a:lnTo>
                    <a:lnTo>
                      <a:pt x="401" y="30"/>
                    </a:lnTo>
                    <a:lnTo>
                      <a:pt x="401" y="2"/>
                    </a:lnTo>
                    <a:lnTo>
                      <a:pt x="374" y="2"/>
                    </a:lnTo>
                    <a:lnTo>
                      <a:pt x="374" y="30"/>
                    </a:lnTo>
                    <a:lnTo>
                      <a:pt x="380" y="30"/>
                    </a:lnTo>
                    <a:moveTo>
                      <a:pt x="326" y="30"/>
                    </a:moveTo>
                    <a:lnTo>
                      <a:pt x="326" y="41"/>
                    </a:lnTo>
                    <a:lnTo>
                      <a:pt x="342" y="41"/>
                    </a:lnTo>
                    <a:lnTo>
                      <a:pt x="342" y="30"/>
                    </a:lnTo>
                    <a:lnTo>
                      <a:pt x="347" y="30"/>
                    </a:lnTo>
                    <a:lnTo>
                      <a:pt x="347" y="2"/>
                    </a:lnTo>
                    <a:lnTo>
                      <a:pt x="321" y="2"/>
                    </a:lnTo>
                    <a:lnTo>
                      <a:pt x="321" y="30"/>
                    </a:lnTo>
                    <a:lnTo>
                      <a:pt x="326" y="30"/>
                    </a:lnTo>
                    <a:moveTo>
                      <a:pt x="272" y="30"/>
                    </a:moveTo>
                    <a:lnTo>
                      <a:pt x="272" y="41"/>
                    </a:lnTo>
                    <a:lnTo>
                      <a:pt x="288" y="41"/>
                    </a:lnTo>
                    <a:lnTo>
                      <a:pt x="288" y="30"/>
                    </a:lnTo>
                    <a:lnTo>
                      <a:pt x="294" y="30"/>
                    </a:lnTo>
                    <a:lnTo>
                      <a:pt x="294" y="2"/>
                    </a:lnTo>
                    <a:lnTo>
                      <a:pt x="267" y="2"/>
                    </a:lnTo>
                    <a:lnTo>
                      <a:pt x="267" y="30"/>
                    </a:lnTo>
                    <a:lnTo>
                      <a:pt x="272" y="30"/>
                    </a:lnTo>
                    <a:moveTo>
                      <a:pt x="219" y="30"/>
                    </a:moveTo>
                    <a:lnTo>
                      <a:pt x="219" y="41"/>
                    </a:lnTo>
                    <a:lnTo>
                      <a:pt x="235" y="41"/>
                    </a:lnTo>
                    <a:lnTo>
                      <a:pt x="235" y="30"/>
                    </a:lnTo>
                    <a:lnTo>
                      <a:pt x="240" y="30"/>
                    </a:lnTo>
                    <a:lnTo>
                      <a:pt x="240" y="2"/>
                    </a:lnTo>
                    <a:lnTo>
                      <a:pt x="214" y="2"/>
                    </a:lnTo>
                    <a:lnTo>
                      <a:pt x="214" y="30"/>
                    </a:lnTo>
                    <a:lnTo>
                      <a:pt x="219" y="30"/>
                    </a:lnTo>
                    <a:moveTo>
                      <a:pt x="165" y="30"/>
                    </a:moveTo>
                    <a:lnTo>
                      <a:pt x="165" y="41"/>
                    </a:lnTo>
                    <a:lnTo>
                      <a:pt x="182" y="41"/>
                    </a:lnTo>
                    <a:lnTo>
                      <a:pt x="182" y="30"/>
                    </a:lnTo>
                    <a:lnTo>
                      <a:pt x="187" y="30"/>
                    </a:lnTo>
                    <a:lnTo>
                      <a:pt x="187" y="2"/>
                    </a:lnTo>
                    <a:lnTo>
                      <a:pt x="160" y="2"/>
                    </a:lnTo>
                    <a:lnTo>
                      <a:pt x="160" y="30"/>
                    </a:lnTo>
                    <a:lnTo>
                      <a:pt x="165" y="30"/>
                    </a:lnTo>
                    <a:moveTo>
                      <a:pt x="112" y="30"/>
                    </a:moveTo>
                    <a:lnTo>
                      <a:pt x="112" y="41"/>
                    </a:lnTo>
                    <a:lnTo>
                      <a:pt x="128" y="41"/>
                    </a:lnTo>
                    <a:lnTo>
                      <a:pt x="128" y="30"/>
                    </a:lnTo>
                    <a:lnTo>
                      <a:pt x="133" y="30"/>
                    </a:lnTo>
                    <a:lnTo>
                      <a:pt x="133" y="2"/>
                    </a:lnTo>
                    <a:lnTo>
                      <a:pt x="107" y="2"/>
                    </a:lnTo>
                    <a:lnTo>
                      <a:pt x="107" y="30"/>
                    </a:lnTo>
                    <a:lnTo>
                      <a:pt x="112" y="30"/>
                    </a:lnTo>
                    <a:moveTo>
                      <a:pt x="59" y="30"/>
                    </a:moveTo>
                    <a:lnTo>
                      <a:pt x="59" y="41"/>
                    </a:lnTo>
                    <a:lnTo>
                      <a:pt x="75" y="41"/>
                    </a:lnTo>
                    <a:lnTo>
                      <a:pt x="75" y="30"/>
                    </a:lnTo>
                    <a:lnTo>
                      <a:pt x="80" y="30"/>
                    </a:lnTo>
                    <a:lnTo>
                      <a:pt x="80" y="2"/>
                    </a:lnTo>
                    <a:lnTo>
                      <a:pt x="53" y="2"/>
                    </a:lnTo>
                    <a:lnTo>
                      <a:pt x="53" y="30"/>
                    </a:lnTo>
                    <a:lnTo>
                      <a:pt x="59" y="30"/>
                    </a:lnTo>
                    <a:moveTo>
                      <a:pt x="5" y="30"/>
                    </a:moveTo>
                    <a:lnTo>
                      <a:pt x="5" y="41"/>
                    </a:lnTo>
                    <a:lnTo>
                      <a:pt x="21" y="41"/>
                    </a:lnTo>
                    <a:lnTo>
                      <a:pt x="21" y="30"/>
                    </a:lnTo>
                    <a:lnTo>
                      <a:pt x="26" y="30"/>
                    </a:lnTo>
                    <a:lnTo>
                      <a:pt x="26" y="2"/>
                    </a:lnTo>
                    <a:lnTo>
                      <a:pt x="0" y="2"/>
                    </a:lnTo>
                    <a:lnTo>
                      <a:pt x="0" y="30"/>
                    </a:lnTo>
                    <a:lnTo>
                      <a:pt x="5" y="30"/>
                    </a:lnTo>
                  </a:path>
                </a:pathLst>
              </a:cu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914" name="Freeform 502"/>
              <p:cNvSpPr>
                <a:spLocks/>
              </p:cNvSpPr>
              <p:nvPr/>
            </p:nvSpPr>
            <p:spPr bwMode="auto">
              <a:xfrm>
                <a:off x="2229" y="2818"/>
                <a:ext cx="782" cy="269"/>
              </a:xfrm>
              <a:custGeom>
                <a:avLst/>
                <a:gdLst>
                  <a:gd name="T0" fmla="*/ 21 w 782"/>
                  <a:gd name="T1" fmla="*/ 269 h 269"/>
                  <a:gd name="T2" fmla="*/ 21 w 782"/>
                  <a:gd name="T3" fmla="*/ 247 h 269"/>
                  <a:gd name="T4" fmla="*/ 0 w 782"/>
                  <a:gd name="T5" fmla="*/ 247 h 269"/>
                  <a:gd name="T6" fmla="*/ 0 w 782"/>
                  <a:gd name="T7" fmla="*/ 90 h 269"/>
                  <a:gd name="T8" fmla="*/ 87 w 782"/>
                  <a:gd name="T9" fmla="*/ 0 h 269"/>
                  <a:gd name="T10" fmla="*/ 782 w 782"/>
                  <a:gd name="T11" fmla="*/ 0 h 269"/>
                  <a:gd name="T12" fmla="*/ 782 w 782"/>
                  <a:gd name="T13" fmla="*/ 157 h 269"/>
                  <a:gd name="T14" fmla="*/ 673 w 782"/>
                  <a:gd name="T15" fmla="*/ 269 h 269"/>
                  <a:gd name="T16" fmla="*/ 21 w 782"/>
                  <a:gd name="T17" fmla="*/ 269 h 26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82"/>
                  <a:gd name="T28" fmla="*/ 0 h 269"/>
                  <a:gd name="T29" fmla="*/ 782 w 782"/>
                  <a:gd name="T30" fmla="*/ 269 h 26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82" h="269">
                    <a:moveTo>
                      <a:pt x="21" y="269"/>
                    </a:moveTo>
                    <a:lnTo>
                      <a:pt x="21" y="247"/>
                    </a:lnTo>
                    <a:lnTo>
                      <a:pt x="0" y="247"/>
                    </a:lnTo>
                    <a:lnTo>
                      <a:pt x="0" y="90"/>
                    </a:lnTo>
                    <a:lnTo>
                      <a:pt x="87" y="0"/>
                    </a:lnTo>
                    <a:lnTo>
                      <a:pt x="782" y="0"/>
                    </a:lnTo>
                    <a:lnTo>
                      <a:pt x="782" y="157"/>
                    </a:lnTo>
                    <a:lnTo>
                      <a:pt x="673" y="269"/>
                    </a:lnTo>
                    <a:lnTo>
                      <a:pt x="21" y="269"/>
                    </a:lnTo>
                  </a:path>
                </a:pathLst>
              </a:custGeom>
              <a:noFill/>
              <a:ln w="11113"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915" name="Rectangle 503"/>
              <p:cNvSpPr>
                <a:spLocks noChangeArrowheads="1"/>
              </p:cNvSpPr>
              <p:nvPr/>
            </p:nvSpPr>
            <p:spPr bwMode="auto">
              <a:xfrm>
                <a:off x="2497" y="3108"/>
                <a:ext cx="232" cy="17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800" b="0">
                    <a:latin typeface="Arial" charset="0"/>
                  </a:rPr>
                  <a:t>SW</a:t>
                </a:r>
                <a:endParaRPr lang="en-US" sz="1800"/>
              </a:p>
            </p:txBody>
          </p:sp>
        </p:grpSp>
        <p:sp>
          <p:nvSpPr>
            <p:cNvPr id="54" name="Rectangle 25"/>
            <p:cNvSpPr>
              <a:spLocks noChangeArrowheads="1"/>
            </p:cNvSpPr>
            <p:nvPr/>
          </p:nvSpPr>
          <p:spPr bwMode="auto">
            <a:xfrm>
              <a:off x="2207" y="2008"/>
              <a:ext cx="74" cy="624"/>
            </a:xfrm>
            <a:prstGeom prst="rect">
              <a:avLst/>
            </a:prstGeom>
            <a:solidFill>
              <a:srgbClr val="FFFF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55" name="Rectangle 26"/>
            <p:cNvSpPr>
              <a:spLocks noChangeArrowheads="1"/>
            </p:cNvSpPr>
            <p:nvPr/>
          </p:nvSpPr>
          <p:spPr bwMode="auto">
            <a:xfrm>
              <a:off x="2207" y="2008"/>
              <a:ext cx="74" cy="624"/>
            </a:xfrm>
            <a:prstGeom prst="rect">
              <a:avLst/>
            </a:prstGeom>
            <a:noFill/>
            <a:ln w="11113"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56" name="Rectangle 27"/>
            <p:cNvSpPr>
              <a:spLocks noChangeArrowheads="1"/>
            </p:cNvSpPr>
            <p:nvPr/>
          </p:nvSpPr>
          <p:spPr bwMode="auto">
            <a:xfrm>
              <a:off x="2666" y="1992"/>
              <a:ext cx="75" cy="563"/>
            </a:xfrm>
            <a:prstGeom prst="rect">
              <a:avLst/>
            </a:prstGeom>
            <a:solidFill>
              <a:srgbClr val="FFFF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57" name="Rectangle 28"/>
            <p:cNvSpPr>
              <a:spLocks noChangeArrowheads="1"/>
            </p:cNvSpPr>
            <p:nvPr/>
          </p:nvSpPr>
          <p:spPr bwMode="auto">
            <a:xfrm>
              <a:off x="2666" y="1992"/>
              <a:ext cx="75" cy="563"/>
            </a:xfrm>
            <a:prstGeom prst="rect">
              <a:avLst/>
            </a:prstGeom>
            <a:noFill/>
            <a:ln w="11113"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58" name="Rectangle 29"/>
            <p:cNvSpPr>
              <a:spLocks noChangeArrowheads="1"/>
            </p:cNvSpPr>
            <p:nvPr/>
          </p:nvSpPr>
          <p:spPr bwMode="auto">
            <a:xfrm>
              <a:off x="3126" y="1987"/>
              <a:ext cx="74" cy="624"/>
            </a:xfrm>
            <a:prstGeom prst="rect">
              <a:avLst/>
            </a:prstGeom>
            <a:solidFill>
              <a:srgbClr val="FFFF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59" name="Rectangle 30"/>
            <p:cNvSpPr>
              <a:spLocks noChangeArrowheads="1"/>
            </p:cNvSpPr>
            <p:nvPr/>
          </p:nvSpPr>
          <p:spPr bwMode="auto">
            <a:xfrm>
              <a:off x="3126" y="1987"/>
              <a:ext cx="74" cy="624"/>
            </a:xfrm>
            <a:prstGeom prst="rect">
              <a:avLst/>
            </a:prstGeom>
            <a:noFill/>
            <a:ln w="11113"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grpSp>
          <p:nvGrpSpPr>
            <p:cNvPr id="60" name="Group 733"/>
            <p:cNvGrpSpPr>
              <a:grpSpLocks/>
            </p:cNvGrpSpPr>
            <p:nvPr/>
          </p:nvGrpSpPr>
          <p:grpSpPr bwMode="auto">
            <a:xfrm>
              <a:off x="2182" y="1582"/>
              <a:ext cx="199" cy="461"/>
              <a:chOff x="2182" y="1582"/>
              <a:chExt cx="199" cy="461"/>
            </a:xfrm>
          </p:grpSpPr>
          <p:sp>
            <p:nvSpPr>
              <p:cNvPr id="819" name="Freeform 33"/>
              <p:cNvSpPr>
                <a:spLocks/>
              </p:cNvSpPr>
              <p:nvPr/>
            </p:nvSpPr>
            <p:spPr bwMode="auto">
              <a:xfrm>
                <a:off x="2324" y="1979"/>
                <a:ext cx="54" cy="64"/>
              </a:xfrm>
              <a:custGeom>
                <a:avLst/>
                <a:gdLst>
                  <a:gd name="T0" fmla="*/ 0 w 54"/>
                  <a:gd name="T1" fmla="*/ 64 h 64"/>
                  <a:gd name="T2" fmla="*/ 54 w 54"/>
                  <a:gd name="T3" fmla="*/ 9 h 64"/>
                  <a:gd name="T4" fmla="*/ 54 w 54"/>
                  <a:gd name="T5" fmla="*/ 0 h 64"/>
                  <a:gd name="T6" fmla="*/ 0 w 54"/>
                  <a:gd name="T7" fmla="*/ 54 h 64"/>
                  <a:gd name="T8" fmla="*/ 0 w 54"/>
                  <a:gd name="T9" fmla="*/ 64 h 64"/>
                  <a:gd name="T10" fmla="*/ 0 60000 65536"/>
                  <a:gd name="T11" fmla="*/ 0 60000 65536"/>
                  <a:gd name="T12" fmla="*/ 0 60000 65536"/>
                  <a:gd name="T13" fmla="*/ 0 60000 65536"/>
                  <a:gd name="T14" fmla="*/ 0 60000 65536"/>
                  <a:gd name="T15" fmla="*/ 0 w 54"/>
                  <a:gd name="T16" fmla="*/ 0 h 64"/>
                  <a:gd name="T17" fmla="*/ 54 w 54"/>
                  <a:gd name="T18" fmla="*/ 64 h 64"/>
                </a:gdLst>
                <a:ahLst/>
                <a:cxnLst>
                  <a:cxn ang="T10">
                    <a:pos x="T0" y="T1"/>
                  </a:cxn>
                  <a:cxn ang="T11">
                    <a:pos x="T2" y="T3"/>
                  </a:cxn>
                  <a:cxn ang="T12">
                    <a:pos x="T4" y="T5"/>
                  </a:cxn>
                  <a:cxn ang="T13">
                    <a:pos x="T6" y="T7"/>
                  </a:cxn>
                  <a:cxn ang="T14">
                    <a:pos x="T8" y="T9"/>
                  </a:cxn>
                </a:cxnLst>
                <a:rect l="T15" t="T16" r="T17" b="T18"/>
                <a:pathLst>
                  <a:path w="54" h="64">
                    <a:moveTo>
                      <a:pt x="0" y="64"/>
                    </a:moveTo>
                    <a:lnTo>
                      <a:pt x="54" y="9"/>
                    </a:lnTo>
                    <a:lnTo>
                      <a:pt x="54" y="0"/>
                    </a:lnTo>
                    <a:lnTo>
                      <a:pt x="0" y="54"/>
                    </a:lnTo>
                    <a:lnTo>
                      <a:pt x="0" y="64"/>
                    </a:lnTo>
                    <a:close/>
                  </a:path>
                </a:pathLst>
              </a:custGeom>
              <a:solidFill>
                <a:srgbClr val="9A9A9A"/>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820" name="Freeform 34"/>
              <p:cNvSpPr>
                <a:spLocks/>
              </p:cNvSpPr>
              <p:nvPr/>
            </p:nvSpPr>
            <p:spPr bwMode="auto">
              <a:xfrm>
                <a:off x="2182" y="1582"/>
                <a:ext cx="199" cy="51"/>
              </a:xfrm>
              <a:custGeom>
                <a:avLst/>
                <a:gdLst>
                  <a:gd name="T0" fmla="*/ 0 w 199"/>
                  <a:gd name="T1" fmla="*/ 51 h 51"/>
                  <a:gd name="T2" fmla="*/ 49 w 199"/>
                  <a:gd name="T3" fmla="*/ 0 h 51"/>
                  <a:gd name="T4" fmla="*/ 199 w 199"/>
                  <a:gd name="T5" fmla="*/ 0 h 51"/>
                  <a:gd name="T6" fmla="*/ 149 w 199"/>
                  <a:gd name="T7" fmla="*/ 51 h 51"/>
                  <a:gd name="T8" fmla="*/ 0 w 199"/>
                  <a:gd name="T9" fmla="*/ 51 h 51"/>
                  <a:gd name="T10" fmla="*/ 0 60000 65536"/>
                  <a:gd name="T11" fmla="*/ 0 60000 65536"/>
                  <a:gd name="T12" fmla="*/ 0 60000 65536"/>
                  <a:gd name="T13" fmla="*/ 0 60000 65536"/>
                  <a:gd name="T14" fmla="*/ 0 60000 65536"/>
                  <a:gd name="T15" fmla="*/ 0 w 199"/>
                  <a:gd name="T16" fmla="*/ 0 h 51"/>
                  <a:gd name="T17" fmla="*/ 199 w 199"/>
                  <a:gd name="T18" fmla="*/ 51 h 51"/>
                </a:gdLst>
                <a:ahLst/>
                <a:cxnLst>
                  <a:cxn ang="T10">
                    <a:pos x="T0" y="T1"/>
                  </a:cxn>
                  <a:cxn ang="T11">
                    <a:pos x="T2" y="T3"/>
                  </a:cxn>
                  <a:cxn ang="T12">
                    <a:pos x="T4" y="T5"/>
                  </a:cxn>
                  <a:cxn ang="T13">
                    <a:pos x="T6" y="T7"/>
                  </a:cxn>
                  <a:cxn ang="T14">
                    <a:pos x="T8" y="T9"/>
                  </a:cxn>
                </a:cxnLst>
                <a:rect l="T15" t="T16" r="T17" b="T18"/>
                <a:pathLst>
                  <a:path w="199" h="51">
                    <a:moveTo>
                      <a:pt x="0" y="51"/>
                    </a:moveTo>
                    <a:lnTo>
                      <a:pt x="49" y="0"/>
                    </a:lnTo>
                    <a:lnTo>
                      <a:pt x="199" y="0"/>
                    </a:lnTo>
                    <a:lnTo>
                      <a:pt x="149" y="51"/>
                    </a:lnTo>
                    <a:lnTo>
                      <a:pt x="0" y="51"/>
                    </a:lnTo>
                    <a:close/>
                  </a:path>
                </a:pathLst>
              </a:custGeom>
              <a:solidFill>
                <a:srgbClr val="E6E6E6"/>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821" name="Freeform 35"/>
              <p:cNvSpPr>
                <a:spLocks/>
              </p:cNvSpPr>
              <p:nvPr/>
            </p:nvSpPr>
            <p:spPr bwMode="auto">
              <a:xfrm>
                <a:off x="2182" y="1582"/>
                <a:ext cx="199" cy="51"/>
              </a:xfrm>
              <a:custGeom>
                <a:avLst/>
                <a:gdLst>
                  <a:gd name="T0" fmla="*/ 0 w 199"/>
                  <a:gd name="T1" fmla="*/ 51 h 51"/>
                  <a:gd name="T2" fmla="*/ 49 w 199"/>
                  <a:gd name="T3" fmla="*/ 0 h 51"/>
                  <a:gd name="T4" fmla="*/ 199 w 199"/>
                  <a:gd name="T5" fmla="*/ 0 h 51"/>
                  <a:gd name="T6" fmla="*/ 149 w 199"/>
                  <a:gd name="T7" fmla="*/ 51 h 51"/>
                  <a:gd name="T8" fmla="*/ 0 w 199"/>
                  <a:gd name="T9" fmla="*/ 51 h 51"/>
                  <a:gd name="T10" fmla="*/ 0 60000 65536"/>
                  <a:gd name="T11" fmla="*/ 0 60000 65536"/>
                  <a:gd name="T12" fmla="*/ 0 60000 65536"/>
                  <a:gd name="T13" fmla="*/ 0 60000 65536"/>
                  <a:gd name="T14" fmla="*/ 0 60000 65536"/>
                  <a:gd name="T15" fmla="*/ 0 w 199"/>
                  <a:gd name="T16" fmla="*/ 0 h 51"/>
                  <a:gd name="T17" fmla="*/ 199 w 199"/>
                  <a:gd name="T18" fmla="*/ 51 h 51"/>
                </a:gdLst>
                <a:ahLst/>
                <a:cxnLst>
                  <a:cxn ang="T10">
                    <a:pos x="T0" y="T1"/>
                  </a:cxn>
                  <a:cxn ang="T11">
                    <a:pos x="T2" y="T3"/>
                  </a:cxn>
                  <a:cxn ang="T12">
                    <a:pos x="T4" y="T5"/>
                  </a:cxn>
                  <a:cxn ang="T13">
                    <a:pos x="T6" y="T7"/>
                  </a:cxn>
                  <a:cxn ang="T14">
                    <a:pos x="T8" y="T9"/>
                  </a:cxn>
                </a:cxnLst>
                <a:rect l="T15" t="T16" r="T17" b="T18"/>
                <a:pathLst>
                  <a:path w="199" h="51">
                    <a:moveTo>
                      <a:pt x="0" y="51"/>
                    </a:moveTo>
                    <a:lnTo>
                      <a:pt x="49" y="0"/>
                    </a:lnTo>
                    <a:lnTo>
                      <a:pt x="199" y="0"/>
                    </a:lnTo>
                    <a:lnTo>
                      <a:pt x="149" y="51"/>
                    </a:lnTo>
                    <a:lnTo>
                      <a:pt x="0" y="51"/>
                    </a:lnTo>
                    <a:close/>
                  </a:path>
                </a:pathLst>
              </a:cu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822" name="Freeform 36"/>
              <p:cNvSpPr>
                <a:spLocks/>
              </p:cNvSpPr>
              <p:nvPr/>
            </p:nvSpPr>
            <p:spPr bwMode="auto">
              <a:xfrm>
                <a:off x="2331" y="1582"/>
                <a:ext cx="50" cy="451"/>
              </a:xfrm>
              <a:custGeom>
                <a:avLst/>
                <a:gdLst>
                  <a:gd name="T0" fmla="*/ 0 w 50"/>
                  <a:gd name="T1" fmla="*/ 51 h 451"/>
                  <a:gd name="T2" fmla="*/ 50 w 50"/>
                  <a:gd name="T3" fmla="*/ 0 h 451"/>
                  <a:gd name="T4" fmla="*/ 50 w 50"/>
                  <a:gd name="T5" fmla="*/ 400 h 451"/>
                  <a:gd name="T6" fmla="*/ 0 w 50"/>
                  <a:gd name="T7" fmla="*/ 451 h 451"/>
                  <a:gd name="T8" fmla="*/ 0 w 50"/>
                  <a:gd name="T9" fmla="*/ 51 h 451"/>
                  <a:gd name="T10" fmla="*/ 0 60000 65536"/>
                  <a:gd name="T11" fmla="*/ 0 60000 65536"/>
                  <a:gd name="T12" fmla="*/ 0 60000 65536"/>
                  <a:gd name="T13" fmla="*/ 0 60000 65536"/>
                  <a:gd name="T14" fmla="*/ 0 60000 65536"/>
                  <a:gd name="T15" fmla="*/ 0 w 50"/>
                  <a:gd name="T16" fmla="*/ 0 h 451"/>
                  <a:gd name="T17" fmla="*/ 50 w 50"/>
                  <a:gd name="T18" fmla="*/ 451 h 451"/>
                </a:gdLst>
                <a:ahLst/>
                <a:cxnLst>
                  <a:cxn ang="T10">
                    <a:pos x="T0" y="T1"/>
                  </a:cxn>
                  <a:cxn ang="T11">
                    <a:pos x="T2" y="T3"/>
                  </a:cxn>
                  <a:cxn ang="T12">
                    <a:pos x="T4" y="T5"/>
                  </a:cxn>
                  <a:cxn ang="T13">
                    <a:pos x="T6" y="T7"/>
                  </a:cxn>
                  <a:cxn ang="T14">
                    <a:pos x="T8" y="T9"/>
                  </a:cxn>
                </a:cxnLst>
                <a:rect l="T15" t="T16" r="T17" b="T18"/>
                <a:pathLst>
                  <a:path w="50" h="451">
                    <a:moveTo>
                      <a:pt x="0" y="51"/>
                    </a:moveTo>
                    <a:lnTo>
                      <a:pt x="50" y="0"/>
                    </a:lnTo>
                    <a:lnTo>
                      <a:pt x="50" y="400"/>
                    </a:lnTo>
                    <a:lnTo>
                      <a:pt x="0" y="451"/>
                    </a:lnTo>
                    <a:lnTo>
                      <a:pt x="0" y="51"/>
                    </a:lnTo>
                    <a:close/>
                  </a:path>
                </a:pathLst>
              </a:custGeom>
              <a:solidFill>
                <a:srgbClr val="9A9A9A"/>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823" name="Rectangle 37"/>
              <p:cNvSpPr>
                <a:spLocks noChangeArrowheads="1"/>
              </p:cNvSpPr>
              <p:nvPr/>
            </p:nvSpPr>
            <p:spPr bwMode="auto">
              <a:xfrm>
                <a:off x="2182" y="1633"/>
                <a:ext cx="149" cy="400"/>
              </a:xfrm>
              <a:prstGeom prst="rect">
                <a:avLst/>
              </a:prstGeom>
              <a:solidFill>
                <a:srgbClr val="C0C0C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824" name="Rectangle 38"/>
              <p:cNvSpPr>
                <a:spLocks noChangeArrowheads="1"/>
              </p:cNvSpPr>
              <p:nvPr/>
            </p:nvSpPr>
            <p:spPr bwMode="auto">
              <a:xfrm>
                <a:off x="2182" y="1633"/>
                <a:ext cx="149" cy="400"/>
              </a:xfrm>
              <a:prstGeom prst="rect">
                <a:avLst/>
              </a:pr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pic>
            <p:nvPicPr>
              <p:cNvPr id="825" name="Picture 39"/>
              <p:cNvPicPr>
                <a:picLocks noChangeAspect="1" noChangeArrowheads="1"/>
              </p:cNvPicPr>
              <p:nvPr/>
            </p:nvPicPr>
            <p:blipFill>
              <a:blip r:embed="rId51">
                <a:extLst>
                  <a:ext uri="{28A0092B-C50C-407E-A947-70E740481C1C}">
                    <a14:useLocalDpi xmlns:a14="http://schemas.microsoft.com/office/drawing/2010/main" val="0"/>
                  </a:ext>
                </a:extLst>
              </a:blip>
              <a:srcRect/>
              <a:stretch>
                <a:fillRect/>
              </a:stretch>
            </p:blipFill>
            <p:spPr bwMode="auto">
              <a:xfrm>
                <a:off x="2194" y="1651"/>
                <a:ext cx="112"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826" name="Picture 40"/>
              <p:cNvPicPr>
                <a:picLocks noChangeAspect="1" noChangeArrowheads="1"/>
              </p:cNvPicPr>
              <p:nvPr/>
            </p:nvPicPr>
            <p:blipFill>
              <a:blip r:embed="rId52">
                <a:extLst>
                  <a:ext uri="{28A0092B-C50C-407E-A947-70E740481C1C}">
                    <a14:useLocalDpi xmlns:a14="http://schemas.microsoft.com/office/drawing/2010/main" val="0"/>
                  </a:ext>
                </a:extLst>
              </a:blip>
              <a:srcRect/>
              <a:stretch>
                <a:fillRect/>
              </a:stretch>
            </p:blipFill>
            <p:spPr bwMode="auto">
              <a:xfrm>
                <a:off x="2194" y="1651"/>
                <a:ext cx="112"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27" name="Rectangle 41"/>
              <p:cNvSpPr>
                <a:spLocks noChangeArrowheads="1"/>
              </p:cNvSpPr>
              <p:nvPr/>
            </p:nvSpPr>
            <p:spPr bwMode="auto">
              <a:xfrm>
                <a:off x="2200" y="1652"/>
                <a:ext cx="112" cy="244"/>
              </a:xfrm>
              <a:prstGeom prst="rect">
                <a:avLst/>
              </a:pr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828" name="Freeform 42"/>
              <p:cNvSpPr>
                <a:spLocks noEditPoints="1"/>
              </p:cNvSpPr>
              <p:nvPr/>
            </p:nvSpPr>
            <p:spPr bwMode="auto">
              <a:xfrm>
                <a:off x="2214" y="1665"/>
                <a:ext cx="85" cy="209"/>
              </a:xfrm>
              <a:custGeom>
                <a:avLst/>
                <a:gdLst>
                  <a:gd name="T0" fmla="*/ 0 w 85"/>
                  <a:gd name="T1" fmla="*/ 188 h 209"/>
                  <a:gd name="T2" fmla="*/ 85 w 85"/>
                  <a:gd name="T3" fmla="*/ 188 h 209"/>
                  <a:gd name="T4" fmla="*/ 85 w 85"/>
                  <a:gd name="T5" fmla="*/ 209 h 209"/>
                  <a:gd name="T6" fmla="*/ 0 w 85"/>
                  <a:gd name="T7" fmla="*/ 209 h 209"/>
                  <a:gd name="T8" fmla="*/ 0 w 85"/>
                  <a:gd name="T9" fmla="*/ 188 h 209"/>
                  <a:gd name="T10" fmla="*/ 0 w 85"/>
                  <a:gd name="T11" fmla="*/ 156 h 209"/>
                  <a:gd name="T12" fmla="*/ 85 w 85"/>
                  <a:gd name="T13" fmla="*/ 156 h 209"/>
                  <a:gd name="T14" fmla="*/ 85 w 85"/>
                  <a:gd name="T15" fmla="*/ 177 h 209"/>
                  <a:gd name="T16" fmla="*/ 0 w 85"/>
                  <a:gd name="T17" fmla="*/ 177 h 209"/>
                  <a:gd name="T18" fmla="*/ 0 w 85"/>
                  <a:gd name="T19" fmla="*/ 156 h 209"/>
                  <a:gd name="T20" fmla="*/ 0 w 85"/>
                  <a:gd name="T21" fmla="*/ 124 h 209"/>
                  <a:gd name="T22" fmla="*/ 85 w 85"/>
                  <a:gd name="T23" fmla="*/ 124 h 209"/>
                  <a:gd name="T24" fmla="*/ 85 w 85"/>
                  <a:gd name="T25" fmla="*/ 145 h 209"/>
                  <a:gd name="T26" fmla="*/ 0 w 85"/>
                  <a:gd name="T27" fmla="*/ 145 h 209"/>
                  <a:gd name="T28" fmla="*/ 0 w 85"/>
                  <a:gd name="T29" fmla="*/ 124 h 209"/>
                  <a:gd name="T30" fmla="*/ 0 w 85"/>
                  <a:gd name="T31" fmla="*/ 92 h 209"/>
                  <a:gd name="T32" fmla="*/ 85 w 85"/>
                  <a:gd name="T33" fmla="*/ 92 h 209"/>
                  <a:gd name="T34" fmla="*/ 85 w 85"/>
                  <a:gd name="T35" fmla="*/ 113 h 209"/>
                  <a:gd name="T36" fmla="*/ 0 w 85"/>
                  <a:gd name="T37" fmla="*/ 113 h 209"/>
                  <a:gd name="T38" fmla="*/ 0 w 85"/>
                  <a:gd name="T39" fmla="*/ 92 h 209"/>
                  <a:gd name="T40" fmla="*/ 0 w 85"/>
                  <a:gd name="T41" fmla="*/ 47 h 209"/>
                  <a:gd name="T42" fmla="*/ 85 w 85"/>
                  <a:gd name="T43" fmla="*/ 47 h 209"/>
                  <a:gd name="T44" fmla="*/ 85 w 85"/>
                  <a:gd name="T45" fmla="*/ 82 h 209"/>
                  <a:gd name="T46" fmla="*/ 0 w 85"/>
                  <a:gd name="T47" fmla="*/ 82 h 209"/>
                  <a:gd name="T48" fmla="*/ 0 w 85"/>
                  <a:gd name="T49" fmla="*/ 47 h 209"/>
                  <a:gd name="T50" fmla="*/ 0 w 85"/>
                  <a:gd name="T51" fmla="*/ 0 h 209"/>
                  <a:gd name="T52" fmla="*/ 85 w 85"/>
                  <a:gd name="T53" fmla="*/ 0 h 209"/>
                  <a:gd name="T54" fmla="*/ 85 w 85"/>
                  <a:gd name="T55" fmla="*/ 35 h 209"/>
                  <a:gd name="T56" fmla="*/ 0 w 85"/>
                  <a:gd name="T57" fmla="*/ 35 h 209"/>
                  <a:gd name="T58" fmla="*/ 0 w 85"/>
                  <a:gd name="T59" fmla="*/ 0 h 209"/>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85"/>
                  <a:gd name="T91" fmla="*/ 0 h 209"/>
                  <a:gd name="T92" fmla="*/ 85 w 85"/>
                  <a:gd name="T93" fmla="*/ 209 h 209"/>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85" h="209">
                    <a:moveTo>
                      <a:pt x="0" y="188"/>
                    </a:moveTo>
                    <a:lnTo>
                      <a:pt x="85" y="188"/>
                    </a:lnTo>
                    <a:lnTo>
                      <a:pt x="85" y="209"/>
                    </a:lnTo>
                    <a:lnTo>
                      <a:pt x="0" y="209"/>
                    </a:lnTo>
                    <a:lnTo>
                      <a:pt x="0" y="188"/>
                    </a:lnTo>
                    <a:close/>
                    <a:moveTo>
                      <a:pt x="0" y="156"/>
                    </a:moveTo>
                    <a:lnTo>
                      <a:pt x="85" y="156"/>
                    </a:lnTo>
                    <a:lnTo>
                      <a:pt x="85" y="177"/>
                    </a:lnTo>
                    <a:lnTo>
                      <a:pt x="0" y="177"/>
                    </a:lnTo>
                    <a:lnTo>
                      <a:pt x="0" y="156"/>
                    </a:lnTo>
                    <a:close/>
                    <a:moveTo>
                      <a:pt x="0" y="124"/>
                    </a:moveTo>
                    <a:lnTo>
                      <a:pt x="85" y="124"/>
                    </a:lnTo>
                    <a:lnTo>
                      <a:pt x="85" y="145"/>
                    </a:lnTo>
                    <a:lnTo>
                      <a:pt x="0" y="145"/>
                    </a:lnTo>
                    <a:lnTo>
                      <a:pt x="0" y="124"/>
                    </a:lnTo>
                    <a:close/>
                    <a:moveTo>
                      <a:pt x="0" y="92"/>
                    </a:moveTo>
                    <a:lnTo>
                      <a:pt x="85" y="92"/>
                    </a:lnTo>
                    <a:lnTo>
                      <a:pt x="85" y="113"/>
                    </a:lnTo>
                    <a:lnTo>
                      <a:pt x="0" y="113"/>
                    </a:lnTo>
                    <a:lnTo>
                      <a:pt x="0" y="92"/>
                    </a:lnTo>
                    <a:close/>
                    <a:moveTo>
                      <a:pt x="0" y="47"/>
                    </a:moveTo>
                    <a:lnTo>
                      <a:pt x="85" y="47"/>
                    </a:lnTo>
                    <a:lnTo>
                      <a:pt x="85" y="82"/>
                    </a:lnTo>
                    <a:lnTo>
                      <a:pt x="0" y="82"/>
                    </a:lnTo>
                    <a:lnTo>
                      <a:pt x="0" y="47"/>
                    </a:lnTo>
                    <a:close/>
                    <a:moveTo>
                      <a:pt x="0" y="0"/>
                    </a:moveTo>
                    <a:lnTo>
                      <a:pt x="85" y="0"/>
                    </a:lnTo>
                    <a:lnTo>
                      <a:pt x="85" y="35"/>
                    </a:lnTo>
                    <a:lnTo>
                      <a:pt x="0" y="35"/>
                    </a:lnTo>
                    <a:lnTo>
                      <a:pt x="0" y="0"/>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829" name="Rectangle 43"/>
              <p:cNvSpPr>
                <a:spLocks noChangeArrowheads="1"/>
              </p:cNvSpPr>
              <p:nvPr/>
            </p:nvSpPr>
            <p:spPr bwMode="auto">
              <a:xfrm>
                <a:off x="2214" y="1853"/>
                <a:ext cx="85" cy="21"/>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830" name="Rectangle 44"/>
              <p:cNvSpPr>
                <a:spLocks noChangeArrowheads="1"/>
              </p:cNvSpPr>
              <p:nvPr/>
            </p:nvSpPr>
            <p:spPr bwMode="auto">
              <a:xfrm>
                <a:off x="2214" y="1821"/>
                <a:ext cx="85" cy="21"/>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831" name="Rectangle 45"/>
              <p:cNvSpPr>
                <a:spLocks noChangeArrowheads="1"/>
              </p:cNvSpPr>
              <p:nvPr/>
            </p:nvSpPr>
            <p:spPr bwMode="auto">
              <a:xfrm>
                <a:off x="2214" y="1789"/>
                <a:ext cx="85" cy="21"/>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832" name="Rectangle 46"/>
              <p:cNvSpPr>
                <a:spLocks noChangeArrowheads="1"/>
              </p:cNvSpPr>
              <p:nvPr/>
            </p:nvSpPr>
            <p:spPr bwMode="auto">
              <a:xfrm>
                <a:off x="2214" y="1757"/>
                <a:ext cx="85" cy="21"/>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833" name="Rectangle 47"/>
              <p:cNvSpPr>
                <a:spLocks noChangeArrowheads="1"/>
              </p:cNvSpPr>
              <p:nvPr/>
            </p:nvSpPr>
            <p:spPr bwMode="auto">
              <a:xfrm>
                <a:off x="2214" y="1712"/>
                <a:ext cx="85" cy="35"/>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834" name="Rectangle 48"/>
              <p:cNvSpPr>
                <a:spLocks noChangeArrowheads="1"/>
              </p:cNvSpPr>
              <p:nvPr/>
            </p:nvSpPr>
            <p:spPr bwMode="auto">
              <a:xfrm>
                <a:off x="2214" y="1665"/>
                <a:ext cx="85" cy="35"/>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835" name="Rectangle 49"/>
              <p:cNvSpPr>
                <a:spLocks noChangeArrowheads="1"/>
              </p:cNvSpPr>
              <p:nvPr/>
            </p:nvSpPr>
            <p:spPr bwMode="auto">
              <a:xfrm>
                <a:off x="2188" y="2033"/>
                <a:ext cx="136" cy="10"/>
              </a:xfrm>
              <a:prstGeom prst="rect">
                <a:avLst/>
              </a:prstGeom>
              <a:solidFill>
                <a:srgbClr val="9A9A9A"/>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pic>
            <p:nvPicPr>
              <p:cNvPr id="836" name="Picture 50"/>
              <p:cNvPicPr>
                <a:picLocks noChangeAspect="1" noChangeArrowheads="1"/>
              </p:cNvPicPr>
              <p:nvPr/>
            </p:nvPicPr>
            <p:blipFill>
              <a:blip r:embed="rId53">
                <a:extLst>
                  <a:ext uri="{28A0092B-C50C-407E-A947-70E740481C1C}">
                    <a14:useLocalDpi xmlns:a14="http://schemas.microsoft.com/office/drawing/2010/main" val="0"/>
                  </a:ext>
                </a:extLst>
              </a:blip>
              <a:srcRect/>
              <a:stretch>
                <a:fillRect/>
              </a:stretch>
            </p:blipFill>
            <p:spPr bwMode="auto">
              <a:xfrm>
                <a:off x="2242" y="1915"/>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837" name="Picture 51"/>
              <p:cNvPicPr>
                <a:picLocks noChangeAspect="1" noChangeArrowheads="1"/>
              </p:cNvPicPr>
              <p:nvPr/>
            </p:nvPicPr>
            <p:blipFill>
              <a:blip r:embed="rId54">
                <a:extLst>
                  <a:ext uri="{28A0092B-C50C-407E-A947-70E740481C1C}">
                    <a14:useLocalDpi xmlns:a14="http://schemas.microsoft.com/office/drawing/2010/main" val="0"/>
                  </a:ext>
                </a:extLst>
              </a:blip>
              <a:srcRect/>
              <a:stretch>
                <a:fillRect/>
              </a:stretch>
            </p:blipFill>
            <p:spPr bwMode="auto">
              <a:xfrm>
                <a:off x="2242" y="1915"/>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838" name="Picture 52"/>
              <p:cNvPicPr>
                <a:picLocks noChangeAspect="1" noChangeArrowheads="1"/>
              </p:cNvPicPr>
              <p:nvPr/>
            </p:nvPicPr>
            <p:blipFill>
              <a:blip r:embed="rId55">
                <a:extLst>
                  <a:ext uri="{28A0092B-C50C-407E-A947-70E740481C1C}">
                    <a14:useLocalDpi xmlns:a14="http://schemas.microsoft.com/office/drawing/2010/main" val="0"/>
                  </a:ext>
                </a:extLst>
              </a:blip>
              <a:srcRect/>
              <a:stretch>
                <a:fillRect/>
              </a:stretch>
            </p:blipFill>
            <p:spPr bwMode="auto">
              <a:xfrm>
                <a:off x="2250" y="1923"/>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839" name="Picture 53"/>
              <p:cNvPicPr>
                <a:picLocks noChangeAspect="1" noChangeArrowheads="1"/>
              </p:cNvPicPr>
              <p:nvPr/>
            </p:nvPicPr>
            <p:blipFill>
              <a:blip r:embed="rId56">
                <a:extLst>
                  <a:ext uri="{28A0092B-C50C-407E-A947-70E740481C1C}">
                    <a14:useLocalDpi xmlns:a14="http://schemas.microsoft.com/office/drawing/2010/main" val="0"/>
                  </a:ext>
                </a:extLst>
              </a:blip>
              <a:srcRect/>
              <a:stretch>
                <a:fillRect/>
              </a:stretch>
            </p:blipFill>
            <p:spPr bwMode="auto">
              <a:xfrm>
                <a:off x="2250" y="1947"/>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840" name="Picture 54"/>
              <p:cNvPicPr>
                <a:picLocks noChangeAspect="1" noChangeArrowheads="1"/>
              </p:cNvPicPr>
              <p:nvPr/>
            </p:nvPicPr>
            <p:blipFill>
              <a:blip r:embed="rId57">
                <a:extLst>
                  <a:ext uri="{28A0092B-C50C-407E-A947-70E740481C1C}">
                    <a14:useLocalDpi xmlns:a14="http://schemas.microsoft.com/office/drawing/2010/main" val="0"/>
                  </a:ext>
                </a:extLst>
              </a:blip>
              <a:srcRect/>
              <a:stretch>
                <a:fillRect/>
              </a:stretch>
            </p:blipFill>
            <p:spPr bwMode="auto">
              <a:xfrm>
                <a:off x="2250" y="1947"/>
                <a:ext cx="8" cy="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41" name="Rectangle 55"/>
              <p:cNvSpPr>
                <a:spLocks noChangeArrowheads="1"/>
              </p:cNvSpPr>
              <p:nvPr/>
            </p:nvSpPr>
            <p:spPr bwMode="auto">
              <a:xfrm>
                <a:off x="2234" y="1683"/>
                <a:ext cx="13" cy="3"/>
              </a:xfrm>
              <a:prstGeom prst="rect">
                <a:avLst/>
              </a:prstGeom>
              <a:solidFill>
                <a:srgbClr val="9A9A9A"/>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pic>
            <p:nvPicPr>
              <p:cNvPr id="842" name="Picture 56"/>
              <p:cNvPicPr>
                <a:picLocks noChangeAspect="1" noChangeArrowheads="1"/>
              </p:cNvPicPr>
              <p:nvPr/>
            </p:nvPicPr>
            <p:blipFill>
              <a:blip r:embed="rId58">
                <a:extLst>
                  <a:ext uri="{28A0092B-C50C-407E-A947-70E740481C1C}">
                    <a14:useLocalDpi xmlns:a14="http://schemas.microsoft.com/office/drawing/2010/main" val="0"/>
                  </a:ext>
                </a:extLst>
              </a:blip>
              <a:srcRect/>
              <a:stretch>
                <a:fillRect/>
              </a:stretch>
            </p:blipFill>
            <p:spPr bwMode="auto">
              <a:xfrm>
                <a:off x="2218" y="1667"/>
                <a:ext cx="72" cy="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43" name="Rectangle 57"/>
              <p:cNvSpPr>
                <a:spLocks noChangeArrowheads="1"/>
              </p:cNvSpPr>
              <p:nvPr/>
            </p:nvSpPr>
            <p:spPr bwMode="auto">
              <a:xfrm>
                <a:off x="2220" y="1672"/>
                <a:ext cx="72" cy="6"/>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pic>
            <p:nvPicPr>
              <p:cNvPr id="844" name="Picture 58"/>
              <p:cNvPicPr>
                <a:picLocks noChangeAspect="1" noChangeArrowheads="1"/>
              </p:cNvPicPr>
              <p:nvPr/>
            </p:nvPicPr>
            <p:blipFill>
              <a:blip r:embed="rId59">
                <a:extLst>
                  <a:ext uri="{28A0092B-C50C-407E-A947-70E740481C1C}">
                    <a14:useLocalDpi xmlns:a14="http://schemas.microsoft.com/office/drawing/2010/main" val="0"/>
                  </a:ext>
                </a:extLst>
              </a:blip>
              <a:srcRect/>
              <a:stretch>
                <a:fillRect/>
              </a:stretch>
            </p:blipFill>
            <p:spPr bwMode="auto">
              <a:xfrm>
                <a:off x="2218" y="1715"/>
                <a:ext cx="72"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845" name="Picture 59"/>
              <p:cNvPicPr>
                <a:picLocks noChangeAspect="1" noChangeArrowheads="1"/>
              </p:cNvPicPr>
              <p:nvPr/>
            </p:nvPicPr>
            <p:blipFill>
              <a:blip r:embed="rId60">
                <a:extLst>
                  <a:ext uri="{28A0092B-C50C-407E-A947-70E740481C1C}">
                    <a14:useLocalDpi xmlns:a14="http://schemas.microsoft.com/office/drawing/2010/main" val="0"/>
                  </a:ext>
                </a:extLst>
              </a:blip>
              <a:srcRect/>
              <a:stretch>
                <a:fillRect/>
              </a:stretch>
            </p:blipFill>
            <p:spPr bwMode="auto">
              <a:xfrm>
                <a:off x="2218" y="1715"/>
                <a:ext cx="72"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46" name="Freeform 60"/>
              <p:cNvSpPr>
                <a:spLocks/>
              </p:cNvSpPr>
              <p:nvPr/>
            </p:nvSpPr>
            <p:spPr bwMode="auto">
              <a:xfrm>
                <a:off x="2219" y="1720"/>
                <a:ext cx="72" cy="14"/>
              </a:xfrm>
              <a:custGeom>
                <a:avLst/>
                <a:gdLst>
                  <a:gd name="T0" fmla="*/ 0 w 144"/>
                  <a:gd name="T1" fmla="*/ 6 h 28"/>
                  <a:gd name="T2" fmla="*/ 39 w 144"/>
                  <a:gd name="T3" fmla="*/ 6 h 28"/>
                  <a:gd name="T4" fmla="*/ 117 w 144"/>
                  <a:gd name="T5" fmla="*/ 6 h 28"/>
                  <a:gd name="T6" fmla="*/ 117 w 144"/>
                  <a:gd name="T7" fmla="*/ 6 h 28"/>
                  <a:gd name="T8" fmla="*/ 144 w 144"/>
                  <a:gd name="T9" fmla="*/ 6 h 28"/>
                  <a:gd name="T10" fmla="*/ 144 w 144"/>
                  <a:gd name="T11" fmla="*/ 28 h 28"/>
                  <a:gd name="T12" fmla="*/ 0 w 144"/>
                  <a:gd name="T13" fmla="*/ 28 h 28"/>
                  <a:gd name="T14" fmla="*/ 0 w 144"/>
                  <a:gd name="T15" fmla="*/ 6 h 28"/>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28"/>
                  <a:gd name="T26" fmla="*/ 144 w 144"/>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28">
                    <a:moveTo>
                      <a:pt x="0" y="6"/>
                    </a:moveTo>
                    <a:lnTo>
                      <a:pt x="39" y="6"/>
                    </a:lnTo>
                    <a:cubicBezTo>
                      <a:pt x="64" y="0"/>
                      <a:pt x="92" y="0"/>
                      <a:pt x="117" y="6"/>
                    </a:cubicBezTo>
                    <a:lnTo>
                      <a:pt x="144" y="6"/>
                    </a:lnTo>
                    <a:lnTo>
                      <a:pt x="144" y="28"/>
                    </a:lnTo>
                    <a:lnTo>
                      <a:pt x="0" y="28"/>
                    </a:lnTo>
                    <a:lnTo>
                      <a:pt x="0" y="6"/>
                    </a:lnTo>
                  </a:path>
                </a:pathLst>
              </a:cu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847" name="Rectangle 61"/>
              <p:cNvSpPr>
                <a:spLocks noChangeArrowheads="1"/>
              </p:cNvSpPr>
              <p:nvPr/>
            </p:nvSpPr>
            <p:spPr bwMode="auto">
              <a:xfrm>
                <a:off x="2222" y="1727"/>
                <a:ext cx="65" cy="3"/>
              </a:xfrm>
              <a:prstGeom prst="rect">
                <a:avLst/>
              </a:prstGeom>
              <a:solidFill>
                <a:srgbClr val="DBDAC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848" name="Rectangle 62"/>
              <p:cNvSpPr>
                <a:spLocks noChangeArrowheads="1"/>
              </p:cNvSpPr>
              <p:nvPr/>
            </p:nvSpPr>
            <p:spPr bwMode="auto">
              <a:xfrm>
                <a:off x="2222" y="1727"/>
                <a:ext cx="65" cy="3"/>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pic>
            <p:nvPicPr>
              <p:cNvPr id="849" name="Picture 63"/>
              <p:cNvPicPr>
                <a:picLocks noChangeAspect="1" noChangeArrowheads="1"/>
              </p:cNvPicPr>
              <p:nvPr/>
            </p:nvPicPr>
            <p:blipFill>
              <a:blip r:embed="rId61">
                <a:extLst>
                  <a:ext uri="{28A0092B-C50C-407E-A947-70E740481C1C}">
                    <a14:useLocalDpi xmlns:a14="http://schemas.microsoft.com/office/drawing/2010/main" val="0"/>
                  </a:ext>
                </a:extLst>
              </a:blip>
              <a:srcRect/>
              <a:stretch>
                <a:fillRect/>
              </a:stretch>
            </p:blipFill>
            <p:spPr bwMode="auto">
              <a:xfrm>
                <a:off x="2218" y="1755"/>
                <a:ext cx="80"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850" name="Picture 64"/>
              <p:cNvPicPr>
                <a:picLocks noChangeAspect="1" noChangeArrowheads="1"/>
              </p:cNvPicPr>
              <p:nvPr/>
            </p:nvPicPr>
            <p:blipFill>
              <a:blip r:embed="rId62">
                <a:extLst>
                  <a:ext uri="{28A0092B-C50C-407E-A947-70E740481C1C}">
                    <a14:useLocalDpi xmlns:a14="http://schemas.microsoft.com/office/drawing/2010/main" val="0"/>
                  </a:ext>
                </a:extLst>
              </a:blip>
              <a:srcRect/>
              <a:stretch>
                <a:fillRect/>
              </a:stretch>
            </p:blipFill>
            <p:spPr bwMode="auto">
              <a:xfrm>
                <a:off x="2218" y="1755"/>
                <a:ext cx="80"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51" name="Freeform 65"/>
              <p:cNvSpPr>
                <a:spLocks/>
              </p:cNvSpPr>
              <p:nvPr/>
            </p:nvSpPr>
            <p:spPr bwMode="auto">
              <a:xfrm>
                <a:off x="2219" y="1760"/>
                <a:ext cx="74" cy="12"/>
              </a:xfrm>
              <a:custGeom>
                <a:avLst/>
                <a:gdLst>
                  <a:gd name="T0" fmla="*/ 0 w 149"/>
                  <a:gd name="T1" fmla="*/ 18 h 23"/>
                  <a:gd name="T2" fmla="*/ 0 w 149"/>
                  <a:gd name="T3" fmla="*/ 6 h 23"/>
                  <a:gd name="T4" fmla="*/ 48 w 149"/>
                  <a:gd name="T5" fmla="*/ 6 h 23"/>
                  <a:gd name="T6" fmla="*/ 102 w 149"/>
                  <a:gd name="T7" fmla="*/ 6 h 23"/>
                  <a:gd name="T8" fmla="*/ 102 w 149"/>
                  <a:gd name="T9" fmla="*/ 6 h 23"/>
                  <a:gd name="T10" fmla="*/ 149 w 149"/>
                  <a:gd name="T11" fmla="*/ 6 h 23"/>
                  <a:gd name="T12" fmla="*/ 149 w 149"/>
                  <a:gd name="T13" fmla="*/ 18 h 23"/>
                  <a:gd name="T14" fmla="*/ 102 w 149"/>
                  <a:gd name="T15" fmla="*/ 18 h 23"/>
                  <a:gd name="T16" fmla="*/ 48 w 149"/>
                  <a:gd name="T17" fmla="*/ 18 h 23"/>
                  <a:gd name="T18" fmla="*/ 48 w 149"/>
                  <a:gd name="T19" fmla="*/ 18 h 23"/>
                  <a:gd name="T20" fmla="*/ 0 w 149"/>
                  <a:gd name="T21" fmla="*/ 18 h 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9"/>
                  <a:gd name="T34" fmla="*/ 0 h 23"/>
                  <a:gd name="T35" fmla="*/ 149 w 149"/>
                  <a:gd name="T36" fmla="*/ 23 h 2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9" h="23">
                    <a:moveTo>
                      <a:pt x="0" y="18"/>
                    </a:moveTo>
                    <a:lnTo>
                      <a:pt x="0" y="6"/>
                    </a:lnTo>
                    <a:lnTo>
                      <a:pt x="48" y="6"/>
                    </a:lnTo>
                    <a:cubicBezTo>
                      <a:pt x="65" y="0"/>
                      <a:pt x="85" y="0"/>
                      <a:pt x="102" y="6"/>
                    </a:cubicBezTo>
                    <a:lnTo>
                      <a:pt x="149" y="6"/>
                    </a:lnTo>
                    <a:lnTo>
                      <a:pt x="149" y="18"/>
                    </a:lnTo>
                    <a:lnTo>
                      <a:pt x="102" y="18"/>
                    </a:lnTo>
                    <a:cubicBezTo>
                      <a:pt x="85" y="23"/>
                      <a:pt x="65" y="23"/>
                      <a:pt x="48" y="18"/>
                    </a:cubicBezTo>
                    <a:lnTo>
                      <a:pt x="0" y="18"/>
                    </a:lnTo>
                  </a:path>
                </a:pathLst>
              </a:cu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pic>
            <p:nvPicPr>
              <p:cNvPr id="852" name="Picture 66"/>
              <p:cNvPicPr>
                <a:picLocks noChangeAspect="1" noChangeArrowheads="1"/>
              </p:cNvPicPr>
              <p:nvPr/>
            </p:nvPicPr>
            <p:blipFill>
              <a:blip r:embed="rId63">
                <a:extLst>
                  <a:ext uri="{28A0092B-C50C-407E-A947-70E740481C1C}">
                    <a14:useLocalDpi xmlns:a14="http://schemas.microsoft.com/office/drawing/2010/main" val="0"/>
                  </a:ext>
                </a:extLst>
              </a:blip>
              <a:srcRect/>
              <a:stretch>
                <a:fillRect/>
              </a:stretch>
            </p:blipFill>
            <p:spPr bwMode="auto">
              <a:xfrm>
                <a:off x="2250" y="1675"/>
                <a:ext cx="40" cy="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853" name="Picture 67"/>
              <p:cNvPicPr>
                <a:picLocks noChangeAspect="1" noChangeArrowheads="1"/>
              </p:cNvPicPr>
              <p:nvPr/>
            </p:nvPicPr>
            <p:blipFill>
              <a:blip r:embed="rId64">
                <a:extLst>
                  <a:ext uri="{28A0092B-C50C-407E-A947-70E740481C1C}">
                    <a14:useLocalDpi xmlns:a14="http://schemas.microsoft.com/office/drawing/2010/main" val="0"/>
                  </a:ext>
                </a:extLst>
              </a:blip>
              <a:srcRect/>
              <a:stretch>
                <a:fillRect/>
              </a:stretch>
            </p:blipFill>
            <p:spPr bwMode="auto">
              <a:xfrm>
                <a:off x="2250" y="1675"/>
                <a:ext cx="40" cy="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54" name="Freeform 68"/>
              <p:cNvSpPr>
                <a:spLocks noEditPoints="1"/>
              </p:cNvSpPr>
              <p:nvPr/>
            </p:nvSpPr>
            <p:spPr bwMode="auto">
              <a:xfrm>
                <a:off x="2256" y="1682"/>
                <a:ext cx="37" cy="94"/>
              </a:xfrm>
              <a:custGeom>
                <a:avLst/>
                <a:gdLst>
                  <a:gd name="T0" fmla="*/ 26 w 37"/>
                  <a:gd name="T1" fmla="*/ 5 h 94"/>
                  <a:gd name="T2" fmla="*/ 36 w 37"/>
                  <a:gd name="T3" fmla="*/ 5 h 94"/>
                  <a:gd name="T4" fmla="*/ 36 w 37"/>
                  <a:gd name="T5" fmla="*/ 0 h 94"/>
                  <a:gd name="T6" fmla="*/ 26 w 37"/>
                  <a:gd name="T7" fmla="*/ 0 h 94"/>
                  <a:gd name="T8" fmla="*/ 26 w 37"/>
                  <a:gd name="T9" fmla="*/ 5 h 94"/>
                  <a:gd name="T10" fmla="*/ 16 w 37"/>
                  <a:gd name="T11" fmla="*/ 4 h 94"/>
                  <a:gd name="T12" fmla="*/ 10 w 37"/>
                  <a:gd name="T13" fmla="*/ 7 h 94"/>
                  <a:gd name="T14" fmla="*/ 10 w 37"/>
                  <a:gd name="T15" fmla="*/ 0 h 94"/>
                  <a:gd name="T16" fmla="*/ 16 w 37"/>
                  <a:gd name="T17" fmla="*/ 4 h 94"/>
                  <a:gd name="T18" fmla="*/ 0 w 37"/>
                  <a:gd name="T19" fmla="*/ 4 h 94"/>
                  <a:gd name="T20" fmla="*/ 7 w 37"/>
                  <a:gd name="T21" fmla="*/ 0 h 94"/>
                  <a:gd name="T22" fmla="*/ 7 w 37"/>
                  <a:gd name="T23" fmla="*/ 7 h 94"/>
                  <a:gd name="T24" fmla="*/ 0 w 37"/>
                  <a:gd name="T25" fmla="*/ 4 h 94"/>
                  <a:gd name="T26" fmla="*/ 21 w 37"/>
                  <a:gd name="T27" fmla="*/ 59 h 94"/>
                  <a:gd name="T28" fmla="*/ 34 w 37"/>
                  <a:gd name="T29" fmla="*/ 59 h 94"/>
                  <a:gd name="T30" fmla="*/ 34 w 37"/>
                  <a:gd name="T31" fmla="*/ 55 h 94"/>
                  <a:gd name="T32" fmla="*/ 21 w 37"/>
                  <a:gd name="T33" fmla="*/ 55 h 94"/>
                  <a:gd name="T34" fmla="*/ 21 w 37"/>
                  <a:gd name="T35" fmla="*/ 59 h 94"/>
                  <a:gd name="T36" fmla="*/ 24 w 37"/>
                  <a:gd name="T37" fmla="*/ 94 h 94"/>
                  <a:gd name="T38" fmla="*/ 37 w 37"/>
                  <a:gd name="T39" fmla="*/ 94 h 94"/>
                  <a:gd name="T40" fmla="*/ 37 w 37"/>
                  <a:gd name="T41" fmla="*/ 90 h 94"/>
                  <a:gd name="T42" fmla="*/ 24 w 37"/>
                  <a:gd name="T43" fmla="*/ 90 h 94"/>
                  <a:gd name="T44" fmla="*/ 24 w 37"/>
                  <a:gd name="T45" fmla="*/ 94 h 9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7"/>
                  <a:gd name="T70" fmla="*/ 0 h 94"/>
                  <a:gd name="T71" fmla="*/ 37 w 37"/>
                  <a:gd name="T72" fmla="*/ 94 h 9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7" h="94">
                    <a:moveTo>
                      <a:pt x="26" y="5"/>
                    </a:moveTo>
                    <a:lnTo>
                      <a:pt x="36" y="5"/>
                    </a:lnTo>
                    <a:lnTo>
                      <a:pt x="36" y="0"/>
                    </a:lnTo>
                    <a:lnTo>
                      <a:pt x="26" y="0"/>
                    </a:lnTo>
                    <a:lnTo>
                      <a:pt x="26" y="5"/>
                    </a:lnTo>
                    <a:moveTo>
                      <a:pt x="16" y="4"/>
                    </a:moveTo>
                    <a:lnTo>
                      <a:pt x="10" y="7"/>
                    </a:lnTo>
                    <a:lnTo>
                      <a:pt x="10" y="0"/>
                    </a:lnTo>
                    <a:lnTo>
                      <a:pt x="16" y="4"/>
                    </a:lnTo>
                    <a:moveTo>
                      <a:pt x="0" y="4"/>
                    </a:moveTo>
                    <a:lnTo>
                      <a:pt x="7" y="0"/>
                    </a:lnTo>
                    <a:lnTo>
                      <a:pt x="7" y="7"/>
                    </a:lnTo>
                    <a:lnTo>
                      <a:pt x="0" y="4"/>
                    </a:lnTo>
                    <a:moveTo>
                      <a:pt x="21" y="59"/>
                    </a:moveTo>
                    <a:lnTo>
                      <a:pt x="34" y="59"/>
                    </a:lnTo>
                    <a:lnTo>
                      <a:pt x="34" y="55"/>
                    </a:lnTo>
                    <a:lnTo>
                      <a:pt x="21" y="55"/>
                    </a:lnTo>
                    <a:lnTo>
                      <a:pt x="21" y="59"/>
                    </a:lnTo>
                    <a:moveTo>
                      <a:pt x="24" y="94"/>
                    </a:moveTo>
                    <a:lnTo>
                      <a:pt x="37" y="94"/>
                    </a:lnTo>
                    <a:lnTo>
                      <a:pt x="37" y="90"/>
                    </a:lnTo>
                    <a:lnTo>
                      <a:pt x="24" y="90"/>
                    </a:lnTo>
                    <a:lnTo>
                      <a:pt x="24" y="94"/>
                    </a:lnTo>
                  </a:path>
                </a:pathLst>
              </a:cu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855" name="Freeform 69"/>
              <p:cNvSpPr>
                <a:spLocks noEditPoints="1"/>
              </p:cNvSpPr>
              <p:nvPr/>
            </p:nvSpPr>
            <p:spPr bwMode="auto">
              <a:xfrm>
                <a:off x="2219" y="1683"/>
                <a:ext cx="8" cy="56"/>
              </a:xfrm>
              <a:custGeom>
                <a:avLst/>
                <a:gdLst>
                  <a:gd name="T0" fmla="*/ 1 w 8"/>
                  <a:gd name="T1" fmla="*/ 0 h 56"/>
                  <a:gd name="T2" fmla="*/ 8 w 8"/>
                  <a:gd name="T3" fmla="*/ 0 h 56"/>
                  <a:gd name="T4" fmla="*/ 0 w 8"/>
                  <a:gd name="T5" fmla="*/ 56 h 56"/>
                  <a:gd name="T6" fmla="*/ 6 w 8"/>
                  <a:gd name="T7" fmla="*/ 56 h 56"/>
                  <a:gd name="T8" fmla="*/ 0 60000 65536"/>
                  <a:gd name="T9" fmla="*/ 0 60000 65536"/>
                  <a:gd name="T10" fmla="*/ 0 60000 65536"/>
                  <a:gd name="T11" fmla="*/ 0 60000 65536"/>
                  <a:gd name="T12" fmla="*/ 0 w 8"/>
                  <a:gd name="T13" fmla="*/ 0 h 56"/>
                  <a:gd name="T14" fmla="*/ 8 w 8"/>
                  <a:gd name="T15" fmla="*/ 56 h 56"/>
                </a:gdLst>
                <a:ahLst/>
                <a:cxnLst>
                  <a:cxn ang="T8">
                    <a:pos x="T0" y="T1"/>
                  </a:cxn>
                  <a:cxn ang="T9">
                    <a:pos x="T2" y="T3"/>
                  </a:cxn>
                  <a:cxn ang="T10">
                    <a:pos x="T4" y="T5"/>
                  </a:cxn>
                  <a:cxn ang="T11">
                    <a:pos x="T6" y="T7"/>
                  </a:cxn>
                </a:cxnLst>
                <a:rect l="T12" t="T13" r="T14" b="T15"/>
                <a:pathLst>
                  <a:path w="8" h="56">
                    <a:moveTo>
                      <a:pt x="1" y="0"/>
                    </a:moveTo>
                    <a:lnTo>
                      <a:pt x="8" y="0"/>
                    </a:lnTo>
                    <a:moveTo>
                      <a:pt x="0" y="56"/>
                    </a:moveTo>
                    <a:lnTo>
                      <a:pt x="6" y="56"/>
                    </a:lnTo>
                  </a:path>
                </a:pathLst>
              </a:custGeom>
              <a:noFill/>
              <a:ln w="3175" cap="sq">
                <a:solidFill>
                  <a:srgbClr val="00FF00"/>
                </a:solidFill>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856" name="Rectangle 70"/>
              <p:cNvSpPr>
                <a:spLocks noChangeArrowheads="1"/>
              </p:cNvSpPr>
              <p:nvPr/>
            </p:nvSpPr>
            <p:spPr bwMode="auto">
              <a:xfrm>
                <a:off x="2194" y="1907"/>
                <a:ext cx="8" cy="112"/>
              </a:xfrm>
              <a:prstGeom prst="rect">
                <a:avLst/>
              </a:prstGeom>
              <a:solidFill>
                <a:srgbClr val="B0B0B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857" name="Rectangle 71"/>
              <p:cNvSpPr>
                <a:spLocks noChangeArrowheads="1"/>
              </p:cNvSpPr>
              <p:nvPr/>
            </p:nvSpPr>
            <p:spPr bwMode="auto">
              <a:xfrm>
                <a:off x="2202" y="1907"/>
                <a:ext cx="8" cy="112"/>
              </a:xfrm>
              <a:prstGeom prst="rect">
                <a:avLst/>
              </a:prstGeom>
              <a:solidFill>
                <a:srgbClr val="6B6B6B"/>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858" name="Rectangle 72"/>
              <p:cNvSpPr>
                <a:spLocks noChangeArrowheads="1"/>
              </p:cNvSpPr>
              <p:nvPr/>
            </p:nvSpPr>
            <p:spPr bwMode="auto">
              <a:xfrm>
                <a:off x="2210" y="1907"/>
                <a:ext cx="8" cy="112"/>
              </a:xfrm>
              <a:prstGeom prst="rect">
                <a:avLst/>
              </a:prstGeom>
              <a:solidFill>
                <a:srgbClr val="7F7F7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859" name="Rectangle 73"/>
              <p:cNvSpPr>
                <a:spLocks noChangeArrowheads="1"/>
              </p:cNvSpPr>
              <p:nvPr/>
            </p:nvSpPr>
            <p:spPr bwMode="auto">
              <a:xfrm>
                <a:off x="2218" y="1907"/>
                <a:ext cx="8" cy="112"/>
              </a:xfrm>
              <a:prstGeom prst="rect">
                <a:avLst/>
              </a:prstGeom>
              <a:solidFill>
                <a:srgbClr val="939393"/>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860" name="Rectangle 74"/>
              <p:cNvSpPr>
                <a:spLocks noChangeArrowheads="1"/>
              </p:cNvSpPr>
              <p:nvPr/>
            </p:nvSpPr>
            <p:spPr bwMode="auto">
              <a:xfrm>
                <a:off x="2226" y="1907"/>
                <a:ext cx="8" cy="112"/>
              </a:xfrm>
              <a:prstGeom prst="rect">
                <a:avLst/>
              </a:prstGeom>
              <a:solidFill>
                <a:srgbClr val="A8A8A8"/>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861" name="Rectangle 75"/>
              <p:cNvSpPr>
                <a:spLocks noChangeArrowheads="1"/>
              </p:cNvSpPr>
              <p:nvPr/>
            </p:nvSpPr>
            <p:spPr bwMode="auto">
              <a:xfrm>
                <a:off x="2274" y="1907"/>
                <a:ext cx="8" cy="112"/>
              </a:xfrm>
              <a:prstGeom prst="rect">
                <a:avLst/>
              </a:prstGeom>
              <a:solidFill>
                <a:srgbClr val="6E6E6E"/>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862" name="Rectangle 76"/>
              <p:cNvSpPr>
                <a:spLocks noChangeArrowheads="1"/>
              </p:cNvSpPr>
              <p:nvPr/>
            </p:nvSpPr>
            <p:spPr bwMode="auto">
              <a:xfrm>
                <a:off x="2282" y="1907"/>
                <a:ext cx="8" cy="112"/>
              </a:xfrm>
              <a:prstGeom prst="rect">
                <a:avLst/>
              </a:prstGeom>
              <a:solidFill>
                <a:srgbClr val="B3B3B3"/>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863" name="Rectangle 77"/>
              <p:cNvSpPr>
                <a:spLocks noChangeArrowheads="1"/>
              </p:cNvSpPr>
              <p:nvPr/>
            </p:nvSpPr>
            <p:spPr bwMode="auto">
              <a:xfrm>
                <a:off x="2290" y="1907"/>
                <a:ext cx="8" cy="112"/>
              </a:xfrm>
              <a:prstGeom prst="rect">
                <a:avLst/>
              </a:prstGeom>
              <a:solidFill>
                <a:srgbClr val="9E9E9E"/>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864" name="Rectangle 78"/>
              <p:cNvSpPr>
                <a:spLocks noChangeArrowheads="1"/>
              </p:cNvSpPr>
              <p:nvPr/>
            </p:nvSpPr>
            <p:spPr bwMode="auto">
              <a:xfrm>
                <a:off x="2298" y="1907"/>
                <a:ext cx="8" cy="112"/>
              </a:xfrm>
              <a:prstGeom prst="rect">
                <a:avLst/>
              </a:prstGeom>
              <a:solidFill>
                <a:srgbClr val="8A8A8A"/>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865" name="Rectangle 79"/>
              <p:cNvSpPr>
                <a:spLocks noChangeArrowheads="1"/>
              </p:cNvSpPr>
              <p:nvPr/>
            </p:nvSpPr>
            <p:spPr bwMode="auto">
              <a:xfrm>
                <a:off x="2306" y="1907"/>
                <a:ext cx="8" cy="112"/>
              </a:xfrm>
              <a:prstGeom prst="rect">
                <a:avLst/>
              </a:prstGeom>
              <a:solidFill>
                <a:srgbClr val="757575"/>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866" name="Freeform 80"/>
              <p:cNvSpPr>
                <a:spLocks/>
              </p:cNvSpPr>
              <p:nvPr/>
            </p:nvSpPr>
            <p:spPr bwMode="auto">
              <a:xfrm>
                <a:off x="2182" y="1582"/>
                <a:ext cx="199" cy="461"/>
              </a:xfrm>
              <a:custGeom>
                <a:avLst/>
                <a:gdLst>
                  <a:gd name="T0" fmla="*/ 6 w 199"/>
                  <a:gd name="T1" fmla="*/ 461 h 461"/>
                  <a:gd name="T2" fmla="*/ 6 w 199"/>
                  <a:gd name="T3" fmla="*/ 451 h 461"/>
                  <a:gd name="T4" fmla="*/ 0 w 199"/>
                  <a:gd name="T5" fmla="*/ 451 h 461"/>
                  <a:gd name="T6" fmla="*/ 0 w 199"/>
                  <a:gd name="T7" fmla="*/ 51 h 461"/>
                  <a:gd name="T8" fmla="*/ 49 w 199"/>
                  <a:gd name="T9" fmla="*/ 0 h 461"/>
                  <a:gd name="T10" fmla="*/ 199 w 199"/>
                  <a:gd name="T11" fmla="*/ 0 h 461"/>
                  <a:gd name="T12" fmla="*/ 199 w 199"/>
                  <a:gd name="T13" fmla="*/ 400 h 461"/>
                  <a:gd name="T14" fmla="*/ 196 w 199"/>
                  <a:gd name="T15" fmla="*/ 403 h 461"/>
                  <a:gd name="T16" fmla="*/ 196 w 199"/>
                  <a:gd name="T17" fmla="*/ 406 h 461"/>
                  <a:gd name="T18" fmla="*/ 142 w 199"/>
                  <a:gd name="T19" fmla="*/ 461 h 461"/>
                  <a:gd name="T20" fmla="*/ 6 w 199"/>
                  <a:gd name="T21" fmla="*/ 461 h 46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9"/>
                  <a:gd name="T34" fmla="*/ 0 h 461"/>
                  <a:gd name="T35" fmla="*/ 199 w 199"/>
                  <a:gd name="T36" fmla="*/ 461 h 46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9" h="461">
                    <a:moveTo>
                      <a:pt x="6" y="461"/>
                    </a:moveTo>
                    <a:lnTo>
                      <a:pt x="6" y="451"/>
                    </a:lnTo>
                    <a:lnTo>
                      <a:pt x="0" y="451"/>
                    </a:lnTo>
                    <a:lnTo>
                      <a:pt x="0" y="51"/>
                    </a:lnTo>
                    <a:lnTo>
                      <a:pt x="49" y="0"/>
                    </a:lnTo>
                    <a:lnTo>
                      <a:pt x="199" y="0"/>
                    </a:lnTo>
                    <a:lnTo>
                      <a:pt x="199" y="400"/>
                    </a:lnTo>
                    <a:lnTo>
                      <a:pt x="196" y="403"/>
                    </a:lnTo>
                    <a:lnTo>
                      <a:pt x="196" y="406"/>
                    </a:lnTo>
                    <a:lnTo>
                      <a:pt x="142" y="461"/>
                    </a:lnTo>
                    <a:lnTo>
                      <a:pt x="6" y="461"/>
                    </a:lnTo>
                  </a:path>
                </a:pathLst>
              </a:custGeom>
              <a:noFill/>
              <a:ln w="11113"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grpSp>
        <p:sp>
          <p:nvSpPr>
            <p:cNvPr id="61" name="Rectangle 81"/>
            <p:cNvSpPr>
              <a:spLocks noChangeArrowheads="1"/>
            </p:cNvSpPr>
            <p:nvPr/>
          </p:nvSpPr>
          <p:spPr bwMode="auto">
            <a:xfrm>
              <a:off x="2142" y="2059"/>
              <a:ext cx="304" cy="17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800" b="0">
                  <a:solidFill>
                    <a:schemeClr val="accent2"/>
                  </a:solidFill>
                  <a:latin typeface="Arial" charset="0"/>
                </a:rPr>
                <a:t>DNS</a:t>
              </a:r>
              <a:endParaRPr lang="en-US" sz="1800">
                <a:solidFill>
                  <a:schemeClr val="accent2"/>
                </a:solidFill>
              </a:endParaRPr>
            </a:p>
          </p:txBody>
        </p:sp>
        <p:sp>
          <p:nvSpPr>
            <p:cNvPr id="62" name="Rectangle 82"/>
            <p:cNvSpPr>
              <a:spLocks noChangeArrowheads="1"/>
            </p:cNvSpPr>
            <p:nvPr/>
          </p:nvSpPr>
          <p:spPr bwMode="auto">
            <a:xfrm>
              <a:off x="2078" y="2211"/>
              <a:ext cx="424" cy="17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800" b="0">
                  <a:solidFill>
                    <a:schemeClr val="accent2"/>
                  </a:solidFill>
                  <a:latin typeface="Arial" charset="0"/>
                </a:rPr>
                <a:t>Server</a:t>
              </a:r>
              <a:endParaRPr lang="en-US" sz="1800">
                <a:solidFill>
                  <a:schemeClr val="accent2"/>
                </a:solidFill>
              </a:endParaRPr>
            </a:p>
          </p:txBody>
        </p:sp>
        <p:sp>
          <p:nvSpPr>
            <p:cNvPr id="63" name="Rectangle 622"/>
            <p:cNvSpPr>
              <a:spLocks noChangeArrowheads="1"/>
            </p:cNvSpPr>
            <p:nvPr/>
          </p:nvSpPr>
          <p:spPr bwMode="auto">
            <a:xfrm>
              <a:off x="3108" y="1789"/>
              <a:ext cx="85" cy="21"/>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64" name="Rectangle 623"/>
            <p:cNvSpPr>
              <a:spLocks noChangeArrowheads="1"/>
            </p:cNvSpPr>
            <p:nvPr/>
          </p:nvSpPr>
          <p:spPr bwMode="auto">
            <a:xfrm>
              <a:off x="3108" y="1757"/>
              <a:ext cx="85" cy="21"/>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65" name="Rectangle 624"/>
            <p:cNvSpPr>
              <a:spLocks noChangeArrowheads="1"/>
            </p:cNvSpPr>
            <p:nvPr/>
          </p:nvSpPr>
          <p:spPr bwMode="auto">
            <a:xfrm>
              <a:off x="3108" y="1712"/>
              <a:ext cx="85" cy="35"/>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66" name="Rectangle 625"/>
            <p:cNvSpPr>
              <a:spLocks noChangeArrowheads="1"/>
            </p:cNvSpPr>
            <p:nvPr/>
          </p:nvSpPr>
          <p:spPr bwMode="auto">
            <a:xfrm>
              <a:off x="3108" y="1665"/>
              <a:ext cx="85" cy="35"/>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67" name="Rectangle 626"/>
            <p:cNvSpPr>
              <a:spLocks noChangeArrowheads="1"/>
            </p:cNvSpPr>
            <p:nvPr/>
          </p:nvSpPr>
          <p:spPr bwMode="auto">
            <a:xfrm>
              <a:off x="3083" y="2033"/>
              <a:ext cx="136" cy="10"/>
            </a:xfrm>
            <a:prstGeom prst="rect">
              <a:avLst/>
            </a:prstGeom>
            <a:solidFill>
              <a:srgbClr val="9A9A9A"/>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pic>
          <p:nvPicPr>
            <p:cNvPr id="68" name="Picture 627"/>
            <p:cNvPicPr>
              <a:picLocks noChangeAspect="1" noChangeArrowheads="1"/>
            </p:cNvPicPr>
            <p:nvPr/>
          </p:nvPicPr>
          <p:blipFill>
            <a:blip r:embed="rId65">
              <a:extLst>
                <a:ext uri="{28A0092B-C50C-407E-A947-70E740481C1C}">
                  <a14:useLocalDpi xmlns:a14="http://schemas.microsoft.com/office/drawing/2010/main" val="0"/>
                </a:ext>
              </a:extLst>
            </a:blip>
            <a:srcRect/>
            <a:stretch>
              <a:fillRect/>
            </a:stretch>
          </p:blipFill>
          <p:spPr bwMode="auto">
            <a:xfrm>
              <a:off x="3139" y="1915"/>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9" name="Picture 628"/>
            <p:cNvPicPr>
              <a:picLocks noChangeAspect="1" noChangeArrowheads="1"/>
            </p:cNvPicPr>
            <p:nvPr/>
          </p:nvPicPr>
          <p:blipFill>
            <a:blip r:embed="rId66">
              <a:extLst>
                <a:ext uri="{28A0092B-C50C-407E-A947-70E740481C1C}">
                  <a14:useLocalDpi xmlns:a14="http://schemas.microsoft.com/office/drawing/2010/main" val="0"/>
                </a:ext>
              </a:extLst>
            </a:blip>
            <a:srcRect/>
            <a:stretch>
              <a:fillRect/>
            </a:stretch>
          </p:blipFill>
          <p:spPr bwMode="auto">
            <a:xfrm>
              <a:off x="3139" y="1923"/>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0" name="Picture 629"/>
            <p:cNvPicPr>
              <a:picLocks noChangeAspect="1" noChangeArrowheads="1"/>
            </p:cNvPicPr>
            <p:nvPr/>
          </p:nvPicPr>
          <p:blipFill>
            <a:blip r:embed="rId67">
              <a:extLst>
                <a:ext uri="{28A0092B-C50C-407E-A947-70E740481C1C}">
                  <a14:useLocalDpi xmlns:a14="http://schemas.microsoft.com/office/drawing/2010/main" val="0"/>
                </a:ext>
              </a:extLst>
            </a:blip>
            <a:srcRect/>
            <a:stretch>
              <a:fillRect/>
            </a:stretch>
          </p:blipFill>
          <p:spPr bwMode="auto">
            <a:xfrm>
              <a:off x="3139" y="1923"/>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1" name="Picture 630"/>
            <p:cNvPicPr>
              <a:picLocks noChangeAspect="1" noChangeArrowheads="1"/>
            </p:cNvPicPr>
            <p:nvPr/>
          </p:nvPicPr>
          <p:blipFill>
            <a:blip r:embed="rId68">
              <a:extLst>
                <a:ext uri="{28A0092B-C50C-407E-A947-70E740481C1C}">
                  <a14:useLocalDpi xmlns:a14="http://schemas.microsoft.com/office/drawing/2010/main" val="0"/>
                </a:ext>
              </a:extLst>
            </a:blip>
            <a:srcRect/>
            <a:stretch>
              <a:fillRect/>
            </a:stretch>
          </p:blipFill>
          <p:spPr bwMode="auto">
            <a:xfrm>
              <a:off x="3139" y="1947"/>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2" name="Picture 631"/>
            <p:cNvPicPr>
              <a:picLocks noChangeAspect="1" noChangeArrowheads="1"/>
            </p:cNvPicPr>
            <p:nvPr/>
          </p:nvPicPr>
          <p:blipFill>
            <a:blip r:embed="rId69">
              <a:extLst>
                <a:ext uri="{28A0092B-C50C-407E-A947-70E740481C1C}">
                  <a14:useLocalDpi xmlns:a14="http://schemas.microsoft.com/office/drawing/2010/main" val="0"/>
                </a:ext>
              </a:extLst>
            </a:blip>
            <a:srcRect/>
            <a:stretch>
              <a:fillRect/>
            </a:stretch>
          </p:blipFill>
          <p:spPr bwMode="auto">
            <a:xfrm>
              <a:off x="3139" y="1947"/>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73" name="Rectangle 632"/>
            <p:cNvSpPr>
              <a:spLocks noChangeArrowheads="1"/>
            </p:cNvSpPr>
            <p:nvPr/>
          </p:nvSpPr>
          <p:spPr bwMode="auto">
            <a:xfrm>
              <a:off x="3129" y="1683"/>
              <a:ext cx="13" cy="3"/>
            </a:xfrm>
            <a:prstGeom prst="rect">
              <a:avLst/>
            </a:prstGeom>
            <a:solidFill>
              <a:srgbClr val="9A9A9A"/>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pic>
          <p:nvPicPr>
            <p:cNvPr id="74" name="Picture 633"/>
            <p:cNvPicPr>
              <a:picLocks noChangeAspect="1" noChangeArrowheads="1"/>
            </p:cNvPicPr>
            <p:nvPr/>
          </p:nvPicPr>
          <p:blipFill>
            <a:blip r:embed="rId58">
              <a:extLst>
                <a:ext uri="{28A0092B-C50C-407E-A947-70E740481C1C}">
                  <a14:useLocalDpi xmlns:a14="http://schemas.microsoft.com/office/drawing/2010/main" val="0"/>
                </a:ext>
              </a:extLst>
            </a:blip>
            <a:srcRect/>
            <a:stretch>
              <a:fillRect/>
            </a:stretch>
          </p:blipFill>
          <p:spPr bwMode="auto">
            <a:xfrm>
              <a:off x="3115" y="1667"/>
              <a:ext cx="72" cy="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75" name="Rectangle 634"/>
            <p:cNvSpPr>
              <a:spLocks noChangeArrowheads="1"/>
            </p:cNvSpPr>
            <p:nvPr/>
          </p:nvSpPr>
          <p:spPr bwMode="auto">
            <a:xfrm>
              <a:off x="3115" y="1672"/>
              <a:ext cx="72" cy="6"/>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pic>
          <p:nvPicPr>
            <p:cNvPr id="76" name="Picture 635"/>
            <p:cNvPicPr>
              <a:picLocks noChangeAspect="1" noChangeArrowheads="1"/>
            </p:cNvPicPr>
            <p:nvPr/>
          </p:nvPicPr>
          <p:blipFill>
            <a:blip r:embed="rId70">
              <a:extLst>
                <a:ext uri="{28A0092B-C50C-407E-A947-70E740481C1C}">
                  <a14:useLocalDpi xmlns:a14="http://schemas.microsoft.com/office/drawing/2010/main" val="0"/>
                </a:ext>
              </a:extLst>
            </a:blip>
            <a:srcRect/>
            <a:stretch>
              <a:fillRect/>
            </a:stretch>
          </p:blipFill>
          <p:spPr bwMode="auto">
            <a:xfrm>
              <a:off x="3107" y="1715"/>
              <a:ext cx="72"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7" name="Picture 636"/>
            <p:cNvPicPr>
              <a:picLocks noChangeAspect="1" noChangeArrowheads="1"/>
            </p:cNvPicPr>
            <p:nvPr/>
          </p:nvPicPr>
          <p:blipFill>
            <a:blip r:embed="rId71">
              <a:extLst>
                <a:ext uri="{28A0092B-C50C-407E-A947-70E740481C1C}">
                  <a14:useLocalDpi xmlns:a14="http://schemas.microsoft.com/office/drawing/2010/main" val="0"/>
                </a:ext>
              </a:extLst>
            </a:blip>
            <a:srcRect/>
            <a:stretch>
              <a:fillRect/>
            </a:stretch>
          </p:blipFill>
          <p:spPr bwMode="auto">
            <a:xfrm>
              <a:off x="3107" y="1715"/>
              <a:ext cx="72"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78" name="Freeform 637"/>
            <p:cNvSpPr>
              <a:spLocks/>
            </p:cNvSpPr>
            <p:nvPr/>
          </p:nvSpPr>
          <p:spPr bwMode="auto">
            <a:xfrm>
              <a:off x="3113" y="1720"/>
              <a:ext cx="72" cy="14"/>
            </a:xfrm>
            <a:custGeom>
              <a:avLst/>
              <a:gdLst>
                <a:gd name="T0" fmla="*/ 0 w 144"/>
                <a:gd name="T1" fmla="*/ 6 h 28"/>
                <a:gd name="T2" fmla="*/ 39 w 144"/>
                <a:gd name="T3" fmla="*/ 6 h 28"/>
                <a:gd name="T4" fmla="*/ 118 w 144"/>
                <a:gd name="T5" fmla="*/ 6 h 28"/>
                <a:gd name="T6" fmla="*/ 118 w 144"/>
                <a:gd name="T7" fmla="*/ 6 h 28"/>
                <a:gd name="T8" fmla="*/ 144 w 144"/>
                <a:gd name="T9" fmla="*/ 6 h 28"/>
                <a:gd name="T10" fmla="*/ 144 w 144"/>
                <a:gd name="T11" fmla="*/ 28 h 28"/>
                <a:gd name="T12" fmla="*/ 0 w 144"/>
                <a:gd name="T13" fmla="*/ 28 h 28"/>
                <a:gd name="T14" fmla="*/ 0 w 144"/>
                <a:gd name="T15" fmla="*/ 6 h 28"/>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28"/>
                <a:gd name="T26" fmla="*/ 144 w 144"/>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28">
                  <a:moveTo>
                    <a:pt x="0" y="6"/>
                  </a:moveTo>
                  <a:lnTo>
                    <a:pt x="39" y="6"/>
                  </a:lnTo>
                  <a:cubicBezTo>
                    <a:pt x="65" y="0"/>
                    <a:pt x="92" y="0"/>
                    <a:pt x="118" y="6"/>
                  </a:cubicBezTo>
                  <a:lnTo>
                    <a:pt x="144" y="6"/>
                  </a:lnTo>
                  <a:lnTo>
                    <a:pt x="144" y="28"/>
                  </a:lnTo>
                  <a:lnTo>
                    <a:pt x="0" y="28"/>
                  </a:lnTo>
                  <a:lnTo>
                    <a:pt x="0" y="6"/>
                  </a:lnTo>
                </a:path>
              </a:pathLst>
            </a:cu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79" name="Rectangle 638"/>
            <p:cNvSpPr>
              <a:spLocks noChangeArrowheads="1"/>
            </p:cNvSpPr>
            <p:nvPr/>
          </p:nvSpPr>
          <p:spPr bwMode="auto">
            <a:xfrm>
              <a:off x="3117" y="1727"/>
              <a:ext cx="65" cy="3"/>
            </a:xfrm>
            <a:prstGeom prst="rect">
              <a:avLst/>
            </a:prstGeom>
            <a:solidFill>
              <a:srgbClr val="DBDAC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80" name="Rectangle 639"/>
            <p:cNvSpPr>
              <a:spLocks noChangeArrowheads="1"/>
            </p:cNvSpPr>
            <p:nvPr/>
          </p:nvSpPr>
          <p:spPr bwMode="auto">
            <a:xfrm>
              <a:off x="3117" y="1727"/>
              <a:ext cx="65" cy="3"/>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pic>
          <p:nvPicPr>
            <p:cNvPr id="81" name="Picture 640"/>
            <p:cNvPicPr>
              <a:picLocks noChangeAspect="1" noChangeArrowheads="1"/>
            </p:cNvPicPr>
            <p:nvPr/>
          </p:nvPicPr>
          <p:blipFill>
            <a:blip r:embed="rId72">
              <a:extLst>
                <a:ext uri="{28A0092B-C50C-407E-A947-70E740481C1C}">
                  <a14:useLocalDpi xmlns:a14="http://schemas.microsoft.com/office/drawing/2010/main" val="0"/>
                </a:ext>
              </a:extLst>
            </a:blip>
            <a:srcRect/>
            <a:stretch>
              <a:fillRect/>
            </a:stretch>
          </p:blipFill>
          <p:spPr bwMode="auto">
            <a:xfrm>
              <a:off x="3107" y="1755"/>
              <a:ext cx="80"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82" name="Picture 641"/>
            <p:cNvPicPr>
              <a:picLocks noChangeAspect="1" noChangeArrowheads="1"/>
            </p:cNvPicPr>
            <p:nvPr/>
          </p:nvPicPr>
          <p:blipFill>
            <a:blip r:embed="rId73">
              <a:extLst>
                <a:ext uri="{28A0092B-C50C-407E-A947-70E740481C1C}">
                  <a14:useLocalDpi xmlns:a14="http://schemas.microsoft.com/office/drawing/2010/main" val="0"/>
                </a:ext>
              </a:extLst>
            </a:blip>
            <a:srcRect/>
            <a:stretch>
              <a:fillRect/>
            </a:stretch>
          </p:blipFill>
          <p:spPr bwMode="auto">
            <a:xfrm>
              <a:off x="3107" y="1755"/>
              <a:ext cx="80"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3" name="Freeform 642"/>
            <p:cNvSpPr>
              <a:spLocks/>
            </p:cNvSpPr>
            <p:nvPr/>
          </p:nvSpPr>
          <p:spPr bwMode="auto">
            <a:xfrm>
              <a:off x="3114" y="1760"/>
              <a:ext cx="74" cy="12"/>
            </a:xfrm>
            <a:custGeom>
              <a:avLst/>
              <a:gdLst>
                <a:gd name="T0" fmla="*/ 0 w 149"/>
                <a:gd name="T1" fmla="*/ 18 h 23"/>
                <a:gd name="T2" fmla="*/ 0 w 149"/>
                <a:gd name="T3" fmla="*/ 6 h 23"/>
                <a:gd name="T4" fmla="*/ 47 w 149"/>
                <a:gd name="T5" fmla="*/ 6 h 23"/>
                <a:gd name="T6" fmla="*/ 101 w 149"/>
                <a:gd name="T7" fmla="*/ 6 h 23"/>
                <a:gd name="T8" fmla="*/ 101 w 149"/>
                <a:gd name="T9" fmla="*/ 6 h 23"/>
                <a:gd name="T10" fmla="*/ 149 w 149"/>
                <a:gd name="T11" fmla="*/ 6 h 23"/>
                <a:gd name="T12" fmla="*/ 149 w 149"/>
                <a:gd name="T13" fmla="*/ 18 h 23"/>
                <a:gd name="T14" fmla="*/ 101 w 149"/>
                <a:gd name="T15" fmla="*/ 18 h 23"/>
                <a:gd name="T16" fmla="*/ 47 w 149"/>
                <a:gd name="T17" fmla="*/ 18 h 23"/>
                <a:gd name="T18" fmla="*/ 47 w 149"/>
                <a:gd name="T19" fmla="*/ 18 h 23"/>
                <a:gd name="T20" fmla="*/ 0 w 149"/>
                <a:gd name="T21" fmla="*/ 18 h 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9"/>
                <a:gd name="T34" fmla="*/ 0 h 23"/>
                <a:gd name="T35" fmla="*/ 149 w 149"/>
                <a:gd name="T36" fmla="*/ 23 h 2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9" h="23">
                  <a:moveTo>
                    <a:pt x="0" y="18"/>
                  </a:moveTo>
                  <a:lnTo>
                    <a:pt x="0" y="6"/>
                  </a:lnTo>
                  <a:lnTo>
                    <a:pt x="47" y="6"/>
                  </a:lnTo>
                  <a:cubicBezTo>
                    <a:pt x="64" y="0"/>
                    <a:pt x="84" y="0"/>
                    <a:pt x="101" y="6"/>
                  </a:cubicBezTo>
                  <a:lnTo>
                    <a:pt x="149" y="6"/>
                  </a:lnTo>
                  <a:lnTo>
                    <a:pt x="149" y="18"/>
                  </a:lnTo>
                  <a:lnTo>
                    <a:pt x="101" y="18"/>
                  </a:lnTo>
                  <a:cubicBezTo>
                    <a:pt x="84" y="23"/>
                    <a:pt x="64" y="23"/>
                    <a:pt x="47" y="18"/>
                  </a:cubicBezTo>
                  <a:lnTo>
                    <a:pt x="0" y="18"/>
                  </a:lnTo>
                </a:path>
              </a:pathLst>
            </a:cu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pic>
          <p:nvPicPr>
            <p:cNvPr id="84" name="Picture 643"/>
            <p:cNvPicPr>
              <a:picLocks noChangeAspect="1" noChangeArrowheads="1"/>
            </p:cNvPicPr>
            <p:nvPr/>
          </p:nvPicPr>
          <p:blipFill>
            <a:blip r:embed="rId74">
              <a:extLst>
                <a:ext uri="{28A0092B-C50C-407E-A947-70E740481C1C}">
                  <a14:useLocalDpi xmlns:a14="http://schemas.microsoft.com/office/drawing/2010/main" val="0"/>
                </a:ext>
              </a:extLst>
            </a:blip>
            <a:srcRect/>
            <a:stretch>
              <a:fillRect/>
            </a:stretch>
          </p:blipFill>
          <p:spPr bwMode="auto">
            <a:xfrm>
              <a:off x="3147" y="1675"/>
              <a:ext cx="40" cy="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85" name="Picture 644"/>
            <p:cNvPicPr>
              <a:picLocks noChangeAspect="1" noChangeArrowheads="1"/>
            </p:cNvPicPr>
            <p:nvPr/>
          </p:nvPicPr>
          <p:blipFill>
            <a:blip r:embed="rId75">
              <a:extLst>
                <a:ext uri="{28A0092B-C50C-407E-A947-70E740481C1C}">
                  <a14:useLocalDpi xmlns:a14="http://schemas.microsoft.com/office/drawing/2010/main" val="0"/>
                </a:ext>
              </a:extLst>
            </a:blip>
            <a:srcRect/>
            <a:stretch>
              <a:fillRect/>
            </a:stretch>
          </p:blipFill>
          <p:spPr bwMode="auto">
            <a:xfrm>
              <a:off x="3147" y="1675"/>
              <a:ext cx="40" cy="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6" name="Freeform 645"/>
            <p:cNvSpPr>
              <a:spLocks noEditPoints="1"/>
            </p:cNvSpPr>
            <p:nvPr/>
          </p:nvSpPr>
          <p:spPr bwMode="auto">
            <a:xfrm>
              <a:off x="3151" y="1682"/>
              <a:ext cx="37" cy="94"/>
            </a:xfrm>
            <a:custGeom>
              <a:avLst/>
              <a:gdLst>
                <a:gd name="T0" fmla="*/ 26 w 37"/>
                <a:gd name="T1" fmla="*/ 5 h 94"/>
                <a:gd name="T2" fmla="*/ 36 w 37"/>
                <a:gd name="T3" fmla="*/ 5 h 94"/>
                <a:gd name="T4" fmla="*/ 36 w 37"/>
                <a:gd name="T5" fmla="*/ 0 h 94"/>
                <a:gd name="T6" fmla="*/ 26 w 37"/>
                <a:gd name="T7" fmla="*/ 0 h 94"/>
                <a:gd name="T8" fmla="*/ 26 w 37"/>
                <a:gd name="T9" fmla="*/ 5 h 94"/>
                <a:gd name="T10" fmla="*/ 16 w 37"/>
                <a:gd name="T11" fmla="*/ 4 h 94"/>
                <a:gd name="T12" fmla="*/ 10 w 37"/>
                <a:gd name="T13" fmla="*/ 7 h 94"/>
                <a:gd name="T14" fmla="*/ 10 w 37"/>
                <a:gd name="T15" fmla="*/ 0 h 94"/>
                <a:gd name="T16" fmla="*/ 16 w 37"/>
                <a:gd name="T17" fmla="*/ 4 h 94"/>
                <a:gd name="T18" fmla="*/ 0 w 37"/>
                <a:gd name="T19" fmla="*/ 4 h 94"/>
                <a:gd name="T20" fmla="*/ 6 w 37"/>
                <a:gd name="T21" fmla="*/ 0 h 94"/>
                <a:gd name="T22" fmla="*/ 6 w 37"/>
                <a:gd name="T23" fmla="*/ 7 h 94"/>
                <a:gd name="T24" fmla="*/ 0 w 37"/>
                <a:gd name="T25" fmla="*/ 4 h 94"/>
                <a:gd name="T26" fmla="*/ 21 w 37"/>
                <a:gd name="T27" fmla="*/ 59 h 94"/>
                <a:gd name="T28" fmla="*/ 34 w 37"/>
                <a:gd name="T29" fmla="*/ 59 h 94"/>
                <a:gd name="T30" fmla="*/ 34 w 37"/>
                <a:gd name="T31" fmla="*/ 55 h 94"/>
                <a:gd name="T32" fmla="*/ 21 w 37"/>
                <a:gd name="T33" fmla="*/ 55 h 94"/>
                <a:gd name="T34" fmla="*/ 21 w 37"/>
                <a:gd name="T35" fmla="*/ 59 h 94"/>
                <a:gd name="T36" fmla="*/ 24 w 37"/>
                <a:gd name="T37" fmla="*/ 94 h 94"/>
                <a:gd name="T38" fmla="*/ 37 w 37"/>
                <a:gd name="T39" fmla="*/ 94 h 94"/>
                <a:gd name="T40" fmla="*/ 37 w 37"/>
                <a:gd name="T41" fmla="*/ 90 h 94"/>
                <a:gd name="T42" fmla="*/ 24 w 37"/>
                <a:gd name="T43" fmla="*/ 90 h 94"/>
                <a:gd name="T44" fmla="*/ 24 w 37"/>
                <a:gd name="T45" fmla="*/ 94 h 9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7"/>
                <a:gd name="T70" fmla="*/ 0 h 94"/>
                <a:gd name="T71" fmla="*/ 37 w 37"/>
                <a:gd name="T72" fmla="*/ 94 h 9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7" h="94">
                  <a:moveTo>
                    <a:pt x="26" y="5"/>
                  </a:moveTo>
                  <a:lnTo>
                    <a:pt x="36" y="5"/>
                  </a:lnTo>
                  <a:lnTo>
                    <a:pt x="36" y="0"/>
                  </a:lnTo>
                  <a:lnTo>
                    <a:pt x="26" y="0"/>
                  </a:lnTo>
                  <a:lnTo>
                    <a:pt x="26" y="5"/>
                  </a:lnTo>
                  <a:moveTo>
                    <a:pt x="16" y="4"/>
                  </a:moveTo>
                  <a:lnTo>
                    <a:pt x="10" y="7"/>
                  </a:lnTo>
                  <a:lnTo>
                    <a:pt x="10" y="0"/>
                  </a:lnTo>
                  <a:lnTo>
                    <a:pt x="16" y="4"/>
                  </a:lnTo>
                  <a:moveTo>
                    <a:pt x="0" y="4"/>
                  </a:moveTo>
                  <a:lnTo>
                    <a:pt x="6" y="0"/>
                  </a:lnTo>
                  <a:lnTo>
                    <a:pt x="6" y="7"/>
                  </a:lnTo>
                  <a:lnTo>
                    <a:pt x="0" y="4"/>
                  </a:lnTo>
                  <a:moveTo>
                    <a:pt x="21" y="59"/>
                  </a:moveTo>
                  <a:lnTo>
                    <a:pt x="34" y="59"/>
                  </a:lnTo>
                  <a:lnTo>
                    <a:pt x="34" y="55"/>
                  </a:lnTo>
                  <a:lnTo>
                    <a:pt x="21" y="55"/>
                  </a:lnTo>
                  <a:lnTo>
                    <a:pt x="21" y="59"/>
                  </a:lnTo>
                  <a:moveTo>
                    <a:pt x="24" y="94"/>
                  </a:moveTo>
                  <a:lnTo>
                    <a:pt x="37" y="94"/>
                  </a:lnTo>
                  <a:lnTo>
                    <a:pt x="37" y="90"/>
                  </a:lnTo>
                  <a:lnTo>
                    <a:pt x="24" y="90"/>
                  </a:lnTo>
                  <a:lnTo>
                    <a:pt x="24" y="94"/>
                  </a:lnTo>
                </a:path>
              </a:pathLst>
            </a:cu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87" name="Freeform 646"/>
            <p:cNvSpPr>
              <a:spLocks noEditPoints="1"/>
            </p:cNvSpPr>
            <p:nvPr/>
          </p:nvSpPr>
          <p:spPr bwMode="auto">
            <a:xfrm>
              <a:off x="3114" y="1683"/>
              <a:ext cx="7" cy="56"/>
            </a:xfrm>
            <a:custGeom>
              <a:avLst/>
              <a:gdLst>
                <a:gd name="T0" fmla="*/ 1 w 7"/>
                <a:gd name="T1" fmla="*/ 0 h 56"/>
                <a:gd name="T2" fmla="*/ 7 w 7"/>
                <a:gd name="T3" fmla="*/ 0 h 56"/>
                <a:gd name="T4" fmla="*/ 0 w 7"/>
                <a:gd name="T5" fmla="*/ 56 h 56"/>
                <a:gd name="T6" fmla="*/ 6 w 7"/>
                <a:gd name="T7" fmla="*/ 56 h 56"/>
                <a:gd name="T8" fmla="*/ 0 60000 65536"/>
                <a:gd name="T9" fmla="*/ 0 60000 65536"/>
                <a:gd name="T10" fmla="*/ 0 60000 65536"/>
                <a:gd name="T11" fmla="*/ 0 60000 65536"/>
                <a:gd name="T12" fmla="*/ 0 w 7"/>
                <a:gd name="T13" fmla="*/ 0 h 56"/>
                <a:gd name="T14" fmla="*/ 7 w 7"/>
                <a:gd name="T15" fmla="*/ 56 h 56"/>
              </a:gdLst>
              <a:ahLst/>
              <a:cxnLst>
                <a:cxn ang="T8">
                  <a:pos x="T0" y="T1"/>
                </a:cxn>
                <a:cxn ang="T9">
                  <a:pos x="T2" y="T3"/>
                </a:cxn>
                <a:cxn ang="T10">
                  <a:pos x="T4" y="T5"/>
                </a:cxn>
                <a:cxn ang="T11">
                  <a:pos x="T6" y="T7"/>
                </a:cxn>
              </a:cxnLst>
              <a:rect l="T12" t="T13" r="T14" b="T15"/>
              <a:pathLst>
                <a:path w="7" h="56">
                  <a:moveTo>
                    <a:pt x="1" y="0"/>
                  </a:moveTo>
                  <a:lnTo>
                    <a:pt x="7" y="0"/>
                  </a:lnTo>
                  <a:moveTo>
                    <a:pt x="0" y="56"/>
                  </a:moveTo>
                  <a:lnTo>
                    <a:pt x="6" y="56"/>
                  </a:lnTo>
                </a:path>
              </a:pathLst>
            </a:custGeom>
            <a:noFill/>
            <a:ln w="3175" cap="sq">
              <a:solidFill>
                <a:srgbClr val="00FF00"/>
              </a:solidFill>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88" name="Rectangle 647"/>
            <p:cNvSpPr>
              <a:spLocks noChangeArrowheads="1"/>
            </p:cNvSpPr>
            <p:nvPr/>
          </p:nvSpPr>
          <p:spPr bwMode="auto">
            <a:xfrm>
              <a:off x="3091" y="1907"/>
              <a:ext cx="8" cy="112"/>
            </a:xfrm>
            <a:prstGeom prst="rect">
              <a:avLst/>
            </a:prstGeom>
            <a:solidFill>
              <a:srgbClr val="B6B6B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89" name="Rectangle 648"/>
            <p:cNvSpPr>
              <a:spLocks noChangeArrowheads="1"/>
            </p:cNvSpPr>
            <p:nvPr/>
          </p:nvSpPr>
          <p:spPr bwMode="auto">
            <a:xfrm>
              <a:off x="3099" y="1907"/>
              <a:ext cx="8" cy="112"/>
            </a:xfrm>
            <a:prstGeom prst="rect">
              <a:avLst/>
            </a:prstGeom>
            <a:solidFill>
              <a:srgbClr val="70707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90" name="Rectangle 649"/>
            <p:cNvSpPr>
              <a:spLocks noChangeArrowheads="1"/>
            </p:cNvSpPr>
            <p:nvPr/>
          </p:nvSpPr>
          <p:spPr bwMode="auto">
            <a:xfrm>
              <a:off x="3107" y="1907"/>
              <a:ext cx="8" cy="112"/>
            </a:xfrm>
            <a:prstGeom prst="rect">
              <a:avLst/>
            </a:prstGeom>
            <a:solidFill>
              <a:srgbClr val="858585"/>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91" name="Rectangle 650"/>
            <p:cNvSpPr>
              <a:spLocks noChangeArrowheads="1"/>
            </p:cNvSpPr>
            <p:nvPr/>
          </p:nvSpPr>
          <p:spPr bwMode="auto">
            <a:xfrm>
              <a:off x="3115" y="1907"/>
              <a:ext cx="8" cy="112"/>
            </a:xfrm>
            <a:prstGeom prst="rect">
              <a:avLst/>
            </a:prstGeom>
            <a:solidFill>
              <a:srgbClr val="9A9A9A"/>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92" name="Rectangle 651"/>
            <p:cNvSpPr>
              <a:spLocks noChangeArrowheads="1"/>
            </p:cNvSpPr>
            <p:nvPr/>
          </p:nvSpPr>
          <p:spPr bwMode="auto">
            <a:xfrm>
              <a:off x="3123" y="1907"/>
              <a:ext cx="8" cy="112"/>
            </a:xfrm>
            <a:prstGeom prst="rect">
              <a:avLst/>
            </a:prstGeom>
            <a:solidFill>
              <a:srgbClr val="AEAEAE"/>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93" name="Rectangle 652"/>
            <p:cNvSpPr>
              <a:spLocks noChangeArrowheads="1"/>
            </p:cNvSpPr>
            <p:nvPr/>
          </p:nvSpPr>
          <p:spPr bwMode="auto">
            <a:xfrm>
              <a:off x="3171" y="1907"/>
              <a:ext cx="8" cy="112"/>
            </a:xfrm>
            <a:prstGeom prst="rect">
              <a:avLst/>
            </a:prstGeom>
            <a:solidFill>
              <a:srgbClr val="686868"/>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94" name="Rectangle 653"/>
            <p:cNvSpPr>
              <a:spLocks noChangeArrowheads="1"/>
            </p:cNvSpPr>
            <p:nvPr/>
          </p:nvSpPr>
          <p:spPr bwMode="auto">
            <a:xfrm>
              <a:off x="3179" y="1907"/>
              <a:ext cx="8" cy="112"/>
            </a:xfrm>
            <a:prstGeom prst="rect">
              <a:avLst/>
            </a:prstGeom>
            <a:solidFill>
              <a:srgbClr val="ADADAD"/>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95" name="Rectangle 654"/>
            <p:cNvSpPr>
              <a:spLocks noChangeArrowheads="1"/>
            </p:cNvSpPr>
            <p:nvPr/>
          </p:nvSpPr>
          <p:spPr bwMode="auto">
            <a:xfrm>
              <a:off x="3187" y="1907"/>
              <a:ext cx="8" cy="112"/>
            </a:xfrm>
            <a:prstGeom prst="rect">
              <a:avLst/>
            </a:prstGeom>
            <a:solidFill>
              <a:srgbClr val="99999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96" name="Rectangle 655"/>
            <p:cNvSpPr>
              <a:spLocks noChangeArrowheads="1"/>
            </p:cNvSpPr>
            <p:nvPr/>
          </p:nvSpPr>
          <p:spPr bwMode="auto">
            <a:xfrm>
              <a:off x="3195" y="1907"/>
              <a:ext cx="8" cy="112"/>
            </a:xfrm>
            <a:prstGeom prst="rect">
              <a:avLst/>
            </a:prstGeom>
            <a:solidFill>
              <a:srgbClr val="848484"/>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97" name="Rectangle 656"/>
            <p:cNvSpPr>
              <a:spLocks noChangeArrowheads="1"/>
            </p:cNvSpPr>
            <p:nvPr/>
          </p:nvSpPr>
          <p:spPr bwMode="auto">
            <a:xfrm>
              <a:off x="3203" y="1907"/>
              <a:ext cx="8" cy="112"/>
            </a:xfrm>
            <a:prstGeom prst="rect">
              <a:avLst/>
            </a:prstGeom>
            <a:solidFill>
              <a:srgbClr val="6F6F6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98" name="Freeform 657"/>
            <p:cNvSpPr>
              <a:spLocks/>
            </p:cNvSpPr>
            <p:nvPr/>
          </p:nvSpPr>
          <p:spPr bwMode="auto">
            <a:xfrm>
              <a:off x="3076" y="1582"/>
              <a:ext cx="199" cy="461"/>
            </a:xfrm>
            <a:custGeom>
              <a:avLst/>
              <a:gdLst>
                <a:gd name="T0" fmla="*/ 7 w 199"/>
                <a:gd name="T1" fmla="*/ 461 h 461"/>
                <a:gd name="T2" fmla="*/ 7 w 199"/>
                <a:gd name="T3" fmla="*/ 451 h 461"/>
                <a:gd name="T4" fmla="*/ 0 w 199"/>
                <a:gd name="T5" fmla="*/ 451 h 461"/>
                <a:gd name="T6" fmla="*/ 0 w 199"/>
                <a:gd name="T7" fmla="*/ 51 h 461"/>
                <a:gd name="T8" fmla="*/ 50 w 199"/>
                <a:gd name="T9" fmla="*/ 0 h 461"/>
                <a:gd name="T10" fmla="*/ 199 w 199"/>
                <a:gd name="T11" fmla="*/ 0 h 461"/>
                <a:gd name="T12" fmla="*/ 199 w 199"/>
                <a:gd name="T13" fmla="*/ 400 h 461"/>
                <a:gd name="T14" fmla="*/ 196 w 199"/>
                <a:gd name="T15" fmla="*/ 403 h 461"/>
                <a:gd name="T16" fmla="*/ 196 w 199"/>
                <a:gd name="T17" fmla="*/ 406 h 461"/>
                <a:gd name="T18" fmla="*/ 143 w 199"/>
                <a:gd name="T19" fmla="*/ 461 h 461"/>
                <a:gd name="T20" fmla="*/ 7 w 199"/>
                <a:gd name="T21" fmla="*/ 461 h 46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9"/>
                <a:gd name="T34" fmla="*/ 0 h 461"/>
                <a:gd name="T35" fmla="*/ 199 w 199"/>
                <a:gd name="T36" fmla="*/ 461 h 46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9" h="461">
                  <a:moveTo>
                    <a:pt x="7" y="461"/>
                  </a:moveTo>
                  <a:lnTo>
                    <a:pt x="7" y="451"/>
                  </a:lnTo>
                  <a:lnTo>
                    <a:pt x="0" y="451"/>
                  </a:lnTo>
                  <a:lnTo>
                    <a:pt x="0" y="51"/>
                  </a:lnTo>
                  <a:lnTo>
                    <a:pt x="50" y="0"/>
                  </a:lnTo>
                  <a:lnTo>
                    <a:pt x="199" y="0"/>
                  </a:lnTo>
                  <a:lnTo>
                    <a:pt x="199" y="400"/>
                  </a:lnTo>
                  <a:lnTo>
                    <a:pt x="196" y="403"/>
                  </a:lnTo>
                  <a:lnTo>
                    <a:pt x="196" y="406"/>
                  </a:lnTo>
                  <a:lnTo>
                    <a:pt x="143" y="461"/>
                  </a:lnTo>
                  <a:lnTo>
                    <a:pt x="7" y="461"/>
                  </a:lnTo>
                </a:path>
              </a:pathLst>
            </a:custGeom>
            <a:noFill/>
            <a:ln w="11113"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99" name="Rectangle 658"/>
            <p:cNvSpPr>
              <a:spLocks noChangeArrowheads="1"/>
            </p:cNvSpPr>
            <p:nvPr/>
          </p:nvSpPr>
          <p:spPr bwMode="auto">
            <a:xfrm>
              <a:off x="3038" y="2059"/>
              <a:ext cx="296" cy="17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800" b="0">
                  <a:solidFill>
                    <a:srgbClr val="FF0000"/>
                  </a:solidFill>
                  <a:latin typeface="Arial" charset="0"/>
                </a:rPr>
                <a:t>Web</a:t>
              </a:r>
              <a:endParaRPr lang="en-US" sz="1800"/>
            </a:p>
          </p:txBody>
        </p:sp>
        <p:sp>
          <p:nvSpPr>
            <p:cNvPr id="100" name="Rectangle 659"/>
            <p:cNvSpPr>
              <a:spLocks noChangeArrowheads="1"/>
            </p:cNvSpPr>
            <p:nvPr/>
          </p:nvSpPr>
          <p:spPr bwMode="auto">
            <a:xfrm>
              <a:off x="2974" y="2211"/>
              <a:ext cx="424" cy="17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800" b="0">
                  <a:solidFill>
                    <a:srgbClr val="FF0000"/>
                  </a:solidFill>
                  <a:latin typeface="Arial" charset="0"/>
                </a:rPr>
                <a:t>Server</a:t>
              </a:r>
              <a:endParaRPr lang="en-US" sz="1800"/>
            </a:p>
          </p:txBody>
        </p:sp>
        <p:sp>
          <p:nvSpPr>
            <p:cNvPr id="101" name="Rectangle 660"/>
            <p:cNvSpPr>
              <a:spLocks noChangeArrowheads="1"/>
            </p:cNvSpPr>
            <p:nvPr/>
          </p:nvSpPr>
          <p:spPr bwMode="auto">
            <a:xfrm>
              <a:off x="4461" y="1331"/>
              <a:ext cx="541" cy="1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2000" b="0">
                  <a:solidFill>
                    <a:srgbClr val="008000"/>
                  </a:solidFill>
                  <a:latin typeface="Arial" charset="0"/>
                </a:rPr>
                <a:t>Intranet</a:t>
              </a:r>
              <a:endParaRPr lang="en-US">
                <a:solidFill>
                  <a:srgbClr val="008000"/>
                </a:solidFill>
              </a:endParaRPr>
            </a:p>
          </p:txBody>
        </p:sp>
        <p:grpSp>
          <p:nvGrpSpPr>
            <p:cNvPr id="102" name="Group 675"/>
            <p:cNvGrpSpPr>
              <a:grpSpLocks/>
            </p:cNvGrpSpPr>
            <p:nvPr/>
          </p:nvGrpSpPr>
          <p:grpSpPr bwMode="auto">
            <a:xfrm>
              <a:off x="2207" y="2504"/>
              <a:ext cx="1006" cy="537"/>
              <a:chOff x="2207" y="2504"/>
              <a:chExt cx="1006" cy="537"/>
            </a:xfrm>
          </p:grpSpPr>
          <p:sp>
            <p:nvSpPr>
              <p:cNvPr id="765" name="Freeform 504"/>
              <p:cNvSpPr>
                <a:spLocks noEditPoints="1"/>
              </p:cNvSpPr>
              <p:nvPr/>
            </p:nvSpPr>
            <p:spPr bwMode="auto">
              <a:xfrm>
                <a:off x="2234" y="2504"/>
                <a:ext cx="979" cy="346"/>
              </a:xfrm>
              <a:custGeom>
                <a:avLst/>
                <a:gdLst>
                  <a:gd name="T0" fmla="*/ 839 w 979"/>
                  <a:gd name="T1" fmla="*/ 346 h 346"/>
                  <a:gd name="T2" fmla="*/ 923 w 979"/>
                  <a:gd name="T3" fmla="*/ 259 h 346"/>
                  <a:gd name="T4" fmla="*/ 867 w 979"/>
                  <a:gd name="T5" fmla="*/ 317 h 346"/>
                  <a:gd name="T6" fmla="*/ 839 w 979"/>
                  <a:gd name="T7" fmla="*/ 317 h 346"/>
                  <a:gd name="T8" fmla="*/ 839 w 979"/>
                  <a:gd name="T9" fmla="*/ 346 h 346"/>
                  <a:gd name="T10" fmla="*/ 0 w 979"/>
                  <a:gd name="T11" fmla="*/ 346 h 346"/>
                  <a:gd name="T12" fmla="*/ 839 w 979"/>
                  <a:gd name="T13" fmla="*/ 346 h 346"/>
                  <a:gd name="T14" fmla="*/ 839 w 979"/>
                  <a:gd name="T15" fmla="*/ 317 h 346"/>
                  <a:gd name="T16" fmla="*/ 0 w 979"/>
                  <a:gd name="T17" fmla="*/ 317 h 346"/>
                  <a:gd name="T18" fmla="*/ 0 w 979"/>
                  <a:gd name="T19" fmla="*/ 346 h 346"/>
                  <a:gd name="T20" fmla="*/ 979 w 979"/>
                  <a:gd name="T21" fmla="*/ 0 h 346"/>
                  <a:gd name="T22" fmla="*/ 979 w 979"/>
                  <a:gd name="T23" fmla="*/ 202 h 346"/>
                  <a:gd name="T24" fmla="*/ 867 w 979"/>
                  <a:gd name="T25" fmla="*/ 317 h 346"/>
                  <a:gd name="T26" fmla="*/ 867 w 979"/>
                  <a:gd name="T27" fmla="*/ 115 h 346"/>
                  <a:gd name="T28" fmla="*/ 979 w 979"/>
                  <a:gd name="T29" fmla="*/ 0 h 34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79"/>
                  <a:gd name="T46" fmla="*/ 0 h 346"/>
                  <a:gd name="T47" fmla="*/ 979 w 979"/>
                  <a:gd name="T48" fmla="*/ 346 h 34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79" h="346">
                    <a:moveTo>
                      <a:pt x="839" y="346"/>
                    </a:moveTo>
                    <a:lnTo>
                      <a:pt x="923" y="259"/>
                    </a:lnTo>
                    <a:lnTo>
                      <a:pt x="867" y="317"/>
                    </a:lnTo>
                    <a:lnTo>
                      <a:pt x="839" y="317"/>
                    </a:lnTo>
                    <a:lnTo>
                      <a:pt x="839" y="346"/>
                    </a:lnTo>
                    <a:close/>
                    <a:moveTo>
                      <a:pt x="0" y="346"/>
                    </a:moveTo>
                    <a:lnTo>
                      <a:pt x="839" y="346"/>
                    </a:lnTo>
                    <a:lnTo>
                      <a:pt x="839" y="317"/>
                    </a:lnTo>
                    <a:lnTo>
                      <a:pt x="0" y="317"/>
                    </a:lnTo>
                    <a:lnTo>
                      <a:pt x="0" y="346"/>
                    </a:lnTo>
                    <a:close/>
                    <a:moveTo>
                      <a:pt x="979" y="0"/>
                    </a:moveTo>
                    <a:lnTo>
                      <a:pt x="979" y="202"/>
                    </a:lnTo>
                    <a:lnTo>
                      <a:pt x="867" y="317"/>
                    </a:lnTo>
                    <a:lnTo>
                      <a:pt x="867" y="115"/>
                    </a:lnTo>
                    <a:lnTo>
                      <a:pt x="979" y="0"/>
                    </a:lnTo>
                    <a:close/>
                  </a:path>
                </a:pathLst>
              </a:custGeom>
              <a:solidFill>
                <a:srgbClr val="9A9A9A"/>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766" name="Freeform 505"/>
              <p:cNvSpPr>
                <a:spLocks/>
              </p:cNvSpPr>
              <p:nvPr/>
            </p:nvSpPr>
            <p:spPr bwMode="auto">
              <a:xfrm>
                <a:off x="2207" y="2504"/>
                <a:ext cx="1006" cy="115"/>
              </a:xfrm>
              <a:custGeom>
                <a:avLst/>
                <a:gdLst>
                  <a:gd name="T0" fmla="*/ 0 w 1006"/>
                  <a:gd name="T1" fmla="*/ 115 h 115"/>
                  <a:gd name="T2" fmla="*/ 111 w 1006"/>
                  <a:gd name="T3" fmla="*/ 0 h 115"/>
                  <a:gd name="T4" fmla="*/ 1006 w 1006"/>
                  <a:gd name="T5" fmla="*/ 0 h 115"/>
                  <a:gd name="T6" fmla="*/ 894 w 1006"/>
                  <a:gd name="T7" fmla="*/ 115 h 115"/>
                  <a:gd name="T8" fmla="*/ 0 w 1006"/>
                  <a:gd name="T9" fmla="*/ 115 h 115"/>
                  <a:gd name="T10" fmla="*/ 0 60000 65536"/>
                  <a:gd name="T11" fmla="*/ 0 60000 65536"/>
                  <a:gd name="T12" fmla="*/ 0 60000 65536"/>
                  <a:gd name="T13" fmla="*/ 0 60000 65536"/>
                  <a:gd name="T14" fmla="*/ 0 60000 65536"/>
                  <a:gd name="T15" fmla="*/ 0 w 1006"/>
                  <a:gd name="T16" fmla="*/ 0 h 115"/>
                  <a:gd name="T17" fmla="*/ 1006 w 1006"/>
                  <a:gd name="T18" fmla="*/ 115 h 115"/>
                </a:gdLst>
                <a:ahLst/>
                <a:cxnLst>
                  <a:cxn ang="T10">
                    <a:pos x="T0" y="T1"/>
                  </a:cxn>
                  <a:cxn ang="T11">
                    <a:pos x="T2" y="T3"/>
                  </a:cxn>
                  <a:cxn ang="T12">
                    <a:pos x="T4" y="T5"/>
                  </a:cxn>
                  <a:cxn ang="T13">
                    <a:pos x="T6" y="T7"/>
                  </a:cxn>
                  <a:cxn ang="T14">
                    <a:pos x="T8" y="T9"/>
                  </a:cxn>
                </a:cxnLst>
                <a:rect l="T15" t="T16" r="T17" b="T18"/>
                <a:pathLst>
                  <a:path w="1006" h="115">
                    <a:moveTo>
                      <a:pt x="0" y="115"/>
                    </a:moveTo>
                    <a:lnTo>
                      <a:pt x="111" y="0"/>
                    </a:lnTo>
                    <a:lnTo>
                      <a:pt x="1006" y="0"/>
                    </a:lnTo>
                    <a:lnTo>
                      <a:pt x="894" y="115"/>
                    </a:lnTo>
                    <a:lnTo>
                      <a:pt x="0" y="115"/>
                    </a:lnTo>
                    <a:close/>
                  </a:path>
                </a:pathLst>
              </a:custGeom>
              <a:solidFill>
                <a:srgbClr val="E6E6E6"/>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767" name="Rectangle 506"/>
              <p:cNvSpPr>
                <a:spLocks noChangeArrowheads="1"/>
              </p:cNvSpPr>
              <p:nvPr/>
            </p:nvSpPr>
            <p:spPr bwMode="auto">
              <a:xfrm>
                <a:off x="2207" y="2619"/>
                <a:ext cx="894" cy="202"/>
              </a:xfrm>
              <a:prstGeom prst="rect">
                <a:avLst/>
              </a:prstGeom>
              <a:solidFill>
                <a:srgbClr val="C0C0C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768" name="Rectangle 507"/>
              <p:cNvSpPr>
                <a:spLocks noChangeArrowheads="1"/>
              </p:cNvSpPr>
              <p:nvPr/>
            </p:nvSpPr>
            <p:spPr bwMode="auto">
              <a:xfrm>
                <a:off x="2207" y="2619"/>
                <a:ext cx="894" cy="202"/>
              </a:xfrm>
              <a:prstGeom prst="rect">
                <a:avLst/>
              </a:pr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769" name="Rectangle 508"/>
              <p:cNvSpPr>
                <a:spLocks noChangeArrowheads="1"/>
              </p:cNvSpPr>
              <p:nvPr/>
            </p:nvSpPr>
            <p:spPr bwMode="auto">
              <a:xfrm>
                <a:off x="2220" y="2734"/>
                <a:ext cx="867" cy="72"/>
              </a:xfrm>
              <a:prstGeom prst="rect">
                <a:avLst/>
              </a:prstGeom>
              <a:solidFill>
                <a:srgbClr val="DBDAC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pic>
            <p:nvPicPr>
              <p:cNvPr id="770" name="Picture 509"/>
              <p:cNvPicPr>
                <a:picLocks noChangeAspect="1" noChangeArrowheads="1"/>
              </p:cNvPicPr>
              <p:nvPr/>
            </p:nvPicPr>
            <p:blipFill>
              <a:blip r:embed="rId76">
                <a:extLst>
                  <a:ext uri="{28A0092B-C50C-407E-A947-70E740481C1C}">
                    <a14:useLocalDpi xmlns:a14="http://schemas.microsoft.com/office/drawing/2010/main" val="0"/>
                  </a:ext>
                </a:extLst>
              </a:blip>
              <a:srcRect/>
              <a:stretch>
                <a:fillRect/>
              </a:stretch>
            </p:blipFill>
            <p:spPr bwMode="auto">
              <a:xfrm>
                <a:off x="2266"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71" name="Picture 510"/>
              <p:cNvPicPr>
                <a:picLocks noChangeAspect="1" noChangeArrowheads="1"/>
              </p:cNvPicPr>
              <p:nvPr/>
            </p:nvPicPr>
            <p:blipFill>
              <a:blip r:embed="rId77">
                <a:extLst>
                  <a:ext uri="{28A0092B-C50C-407E-A947-70E740481C1C}">
                    <a14:useLocalDpi xmlns:a14="http://schemas.microsoft.com/office/drawing/2010/main" val="0"/>
                  </a:ext>
                </a:extLst>
              </a:blip>
              <a:srcRect/>
              <a:stretch>
                <a:fillRect/>
              </a:stretch>
            </p:blipFill>
            <p:spPr bwMode="auto">
              <a:xfrm>
                <a:off x="2266"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72" name="Picture 511"/>
              <p:cNvPicPr>
                <a:picLocks noChangeAspect="1" noChangeArrowheads="1"/>
              </p:cNvPicPr>
              <p:nvPr/>
            </p:nvPicPr>
            <p:blipFill>
              <a:blip r:embed="rId78">
                <a:extLst>
                  <a:ext uri="{28A0092B-C50C-407E-A947-70E740481C1C}">
                    <a14:useLocalDpi xmlns:a14="http://schemas.microsoft.com/office/drawing/2010/main" val="0"/>
                  </a:ext>
                </a:extLst>
              </a:blip>
              <a:srcRect/>
              <a:stretch>
                <a:fillRect/>
              </a:stretch>
            </p:blipFill>
            <p:spPr bwMode="auto">
              <a:xfrm>
                <a:off x="2266"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73" name="Picture 512"/>
              <p:cNvPicPr>
                <a:picLocks noChangeAspect="1" noChangeArrowheads="1"/>
              </p:cNvPicPr>
              <p:nvPr/>
            </p:nvPicPr>
            <p:blipFill>
              <a:blip r:embed="rId79">
                <a:extLst>
                  <a:ext uri="{28A0092B-C50C-407E-A947-70E740481C1C}">
                    <a14:useLocalDpi xmlns:a14="http://schemas.microsoft.com/office/drawing/2010/main" val="0"/>
                  </a:ext>
                </a:extLst>
              </a:blip>
              <a:srcRect/>
              <a:stretch>
                <a:fillRect/>
              </a:stretch>
            </p:blipFill>
            <p:spPr bwMode="auto">
              <a:xfrm>
                <a:off x="2266"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74" name="Picture 513"/>
              <p:cNvPicPr>
                <a:picLocks noChangeAspect="1" noChangeArrowheads="1"/>
              </p:cNvPicPr>
              <p:nvPr/>
            </p:nvPicPr>
            <p:blipFill>
              <a:blip r:embed="rId80">
                <a:extLst>
                  <a:ext uri="{28A0092B-C50C-407E-A947-70E740481C1C}">
                    <a14:useLocalDpi xmlns:a14="http://schemas.microsoft.com/office/drawing/2010/main" val="0"/>
                  </a:ext>
                </a:extLst>
              </a:blip>
              <a:srcRect/>
              <a:stretch>
                <a:fillRect/>
              </a:stretch>
            </p:blipFill>
            <p:spPr bwMode="auto">
              <a:xfrm>
                <a:off x="2882"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75" name="Picture 514"/>
              <p:cNvPicPr>
                <a:picLocks noChangeAspect="1" noChangeArrowheads="1"/>
              </p:cNvPicPr>
              <p:nvPr/>
            </p:nvPicPr>
            <p:blipFill>
              <a:blip r:embed="rId81">
                <a:extLst>
                  <a:ext uri="{28A0092B-C50C-407E-A947-70E740481C1C}">
                    <a14:useLocalDpi xmlns:a14="http://schemas.microsoft.com/office/drawing/2010/main" val="0"/>
                  </a:ext>
                </a:extLst>
              </a:blip>
              <a:srcRect/>
              <a:stretch>
                <a:fillRect/>
              </a:stretch>
            </p:blipFill>
            <p:spPr bwMode="auto">
              <a:xfrm>
                <a:off x="2882"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76" name="Picture 515"/>
              <p:cNvPicPr>
                <a:picLocks noChangeAspect="1" noChangeArrowheads="1"/>
              </p:cNvPicPr>
              <p:nvPr/>
            </p:nvPicPr>
            <p:blipFill>
              <a:blip r:embed="rId82">
                <a:extLst>
                  <a:ext uri="{28A0092B-C50C-407E-A947-70E740481C1C}">
                    <a14:useLocalDpi xmlns:a14="http://schemas.microsoft.com/office/drawing/2010/main" val="0"/>
                  </a:ext>
                </a:extLst>
              </a:blip>
              <a:srcRect/>
              <a:stretch>
                <a:fillRect/>
              </a:stretch>
            </p:blipFill>
            <p:spPr bwMode="auto">
              <a:xfrm>
                <a:off x="2882"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77" name="Picture 516"/>
              <p:cNvPicPr>
                <a:picLocks noChangeAspect="1" noChangeArrowheads="1"/>
              </p:cNvPicPr>
              <p:nvPr/>
            </p:nvPicPr>
            <p:blipFill>
              <a:blip r:embed="rId83">
                <a:extLst>
                  <a:ext uri="{28A0092B-C50C-407E-A947-70E740481C1C}">
                    <a14:useLocalDpi xmlns:a14="http://schemas.microsoft.com/office/drawing/2010/main" val="0"/>
                  </a:ext>
                </a:extLst>
              </a:blip>
              <a:srcRect/>
              <a:stretch>
                <a:fillRect/>
              </a:stretch>
            </p:blipFill>
            <p:spPr bwMode="auto">
              <a:xfrm>
                <a:off x="2882"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78" name="Picture 517"/>
              <p:cNvPicPr>
                <a:picLocks noChangeAspect="1" noChangeArrowheads="1"/>
              </p:cNvPicPr>
              <p:nvPr/>
            </p:nvPicPr>
            <p:blipFill>
              <a:blip r:embed="rId84">
                <a:extLst>
                  <a:ext uri="{28A0092B-C50C-407E-A947-70E740481C1C}">
                    <a14:useLocalDpi xmlns:a14="http://schemas.microsoft.com/office/drawing/2010/main" val="0"/>
                  </a:ext>
                </a:extLst>
              </a:blip>
              <a:srcRect/>
              <a:stretch>
                <a:fillRect/>
              </a:stretch>
            </p:blipFill>
            <p:spPr bwMode="auto">
              <a:xfrm>
                <a:off x="2810"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79" name="Picture 518"/>
              <p:cNvPicPr>
                <a:picLocks noChangeAspect="1" noChangeArrowheads="1"/>
              </p:cNvPicPr>
              <p:nvPr/>
            </p:nvPicPr>
            <p:blipFill>
              <a:blip r:embed="rId85">
                <a:extLst>
                  <a:ext uri="{28A0092B-C50C-407E-A947-70E740481C1C}">
                    <a14:useLocalDpi xmlns:a14="http://schemas.microsoft.com/office/drawing/2010/main" val="0"/>
                  </a:ext>
                </a:extLst>
              </a:blip>
              <a:srcRect/>
              <a:stretch>
                <a:fillRect/>
              </a:stretch>
            </p:blipFill>
            <p:spPr bwMode="auto">
              <a:xfrm>
                <a:off x="2810"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80" name="Picture 519"/>
              <p:cNvPicPr>
                <a:picLocks noChangeAspect="1" noChangeArrowheads="1"/>
              </p:cNvPicPr>
              <p:nvPr/>
            </p:nvPicPr>
            <p:blipFill>
              <a:blip r:embed="rId86">
                <a:extLst>
                  <a:ext uri="{28A0092B-C50C-407E-A947-70E740481C1C}">
                    <a14:useLocalDpi xmlns:a14="http://schemas.microsoft.com/office/drawing/2010/main" val="0"/>
                  </a:ext>
                </a:extLst>
              </a:blip>
              <a:srcRect/>
              <a:stretch>
                <a:fillRect/>
              </a:stretch>
            </p:blipFill>
            <p:spPr bwMode="auto">
              <a:xfrm>
                <a:off x="2810"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81" name="Picture 520"/>
              <p:cNvPicPr>
                <a:picLocks noChangeAspect="1" noChangeArrowheads="1"/>
              </p:cNvPicPr>
              <p:nvPr/>
            </p:nvPicPr>
            <p:blipFill>
              <a:blip r:embed="rId87">
                <a:extLst>
                  <a:ext uri="{28A0092B-C50C-407E-A947-70E740481C1C}">
                    <a14:useLocalDpi xmlns:a14="http://schemas.microsoft.com/office/drawing/2010/main" val="0"/>
                  </a:ext>
                </a:extLst>
              </a:blip>
              <a:srcRect/>
              <a:stretch>
                <a:fillRect/>
              </a:stretch>
            </p:blipFill>
            <p:spPr bwMode="auto">
              <a:xfrm>
                <a:off x="2810"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82" name="Picture 521"/>
              <p:cNvPicPr>
                <a:picLocks noChangeAspect="1" noChangeArrowheads="1"/>
              </p:cNvPicPr>
              <p:nvPr/>
            </p:nvPicPr>
            <p:blipFill>
              <a:blip r:embed="rId88">
                <a:extLst>
                  <a:ext uri="{28A0092B-C50C-407E-A947-70E740481C1C}">
                    <a14:useLocalDpi xmlns:a14="http://schemas.microsoft.com/office/drawing/2010/main" val="0"/>
                  </a:ext>
                </a:extLst>
              </a:blip>
              <a:srcRect/>
              <a:stretch>
                <a:fillRect/>
              </a:stretch>
            </p:blipFill>
            <p:spPr bwMode="auto">
              <a:xfrm>
                <a:off x="2602"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83" name="Picture 522"/>
              <p:cNvPicPr>
                <a:picLocks noChangeAspect="1" noChangeArrowheads="1"/>
              </p:cNvPicPr>
              <p:nvPr/>
            </p:nvPicPr>
            <p:blipFill>
              <a:blip r:embed="rId89">
                <a:extLst>
                  <a:ext uri="{28A0092B-C50C-407E-A947-70E740481C1C}">
                    <a14:useLocalDpi xmlns:a14="http://schemas.microsoft.com/office/drawing/2010/main" val="0"/>
                  </a:ext>
                </a:extLst>
              </a:blip>
              <a:srcRect/>
              <a:stretch>
                <a:fillRect/>
              </a:stretch>
            </p:blipFill>
            <p:spPr bwMode="auto">
              <a:xfrm>
                <a:off x="2602"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84" name="Picture 523"/>
              <p:cNvPicPr>
                <a:picLocks noChangeAspect="1" noChangeArrowheads="1"/>
              </p:cNvPicPr>
              <p:nvPr/>
            </p:nvPicPr>
            <p:blipFill>
              <a:blip r:embed="rId90">
                <a:extLst>
                  <a:ext uri="{28A0092B-C50C-407E-A947-70E740481C1C}">
                    <a14:useLocalDpi xmlns:a14="http://schemas.microsoft.com/office/drawing/2010/main" val="0"/>
                  </a:ext>
                </a:extLst>
              </a:blip>
              <a:srcRect/>
              <a:stretch>
                <a:fillRect/>
              </a:stretch>
            </p:blipFill>
            <p:spPr bwMode="auto">
              <a:xfrm>
                <a:off x="2602"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85" name="Picture 524"/>
              <p:cNvPicPr>
                <a:picLocks noChangeAspect="1" noChangeArrowheads="1"/>
              </p:cNvPicPr>
              <p:nvPr/>
            </p:nvPicPr>
            <p:blipFill>
              <a:blip r:embed="rId91">
                <a:extLst>
                  <a:ext uri="{28A0092B-C50C-407E-A947-70E740481C1C}">
                    <a14:useLocalDpi xmlns:a14="http://schemas.microsoft.com/office/drawing/2010/main" val="0"/>
                  </a:ext>
                </a:extLst>
              </a:blip>
              <a:srcRect/>
              <a:stretch>
                <a:fillRect/>
              </a:stretch>
            </p:blipFill>
            <p:spPr bwMode="auto">
              <a:xfrm>
                <a:off x="2602"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86" name="Picture 525"/>
              <p:cNvPicPr>
                <a:picLocks noChangeAspect="1" noChangeArrowheads="1"/>
              </p:cNvPicPr>
              <p:nvPr/>
            </p:nvPicPr>
            <p:blipFill>
              <a:blip r:embed="rId92">
                <a:extLst>
                  <a:ext uri="{28A0092B-C50C-407E-A947-70E740481C1C}">
                    <a14:useLocalDpi xmlns:a14="http://schemas.microsoft.com/office/drawing/2010/main" val="0"/>
                  </a:ext>
                </a:extLst>
              </a:blip>
              <a:srcRect/>
              <a:stretch>
                <a:fillRect/>
              </a:stretch>
            </p:blipFill>
            <p:spPr bwMode="auto">
              <a:xfrm>
                <a:off x="2538"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87" name="Picture 526"/>
              <p:cNvPicPr>
                <a:picLocks noChangeAspect="1" noChangeArrowheads="1"/>
              </p:cNvPicPr>
              <p:nvPr/>
            </p:nvPicPr>
            <p:blipFill>
              <a:blip r:embed="rId93">
                <a:extLst>
                  <a:ext uri="{28A0092B-C50C-407E-A947-70E740481C1C}">
                    <a14:useLocalDpi xmlns:a14="http://schemas.microsoft.com/office/drawing/2010/main" val="0"/>
                  </a:ext>
                </a:extLst>
              </a:blip>
              <a:srcRect/>
              <a:stretch>
                <a:fillRect/>
              </a:stretch>
            </p:blipFill>
            <p:spPr bwMode="auto">
              <a:xfrm>
                <a:off x="2538"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88" name="Picture 527"/>
              <p:cNvPicPr>
                <a:picLocks noChangeAspect="1" noChangeArrowheads="1"/>
              </p:cNvPicPr>
              <p:nvPr/>
            </p:nvPicPr>
            <p:blipFill>
              <a:blip r:embed="rId94">
                <a:extLst>
                  <a:ext uri="{28A0092B-C50C-407E-A947-70E740481C1C}">
                    <a14:useLocalDpi xmlns:a14="http://schemas.microsoft.com/office/drawing/2010/main" val="0"/>
                  </a:ext>
                </a:extLst>
              </a:blip>
              <a:srcRect/>
              <a:stretch>
                <a:fillRect/>
              </a:stretch>
            </p:blipFill>
            <p:spPr bwMode="auto">
              <a:xfrm>
                <a:off x="2538"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89" name="Picture 528"/>
              <p:cNvPicPr>
                <a:picLocks noChangeAspect="1" noChangeArrowheads="1"/>
              </p:cNvPicPr>
              <p:nvPr/>
            </p:nvPicPr>
            <p:blipFill>
              <a:blip r:embed="rId95">
                <a:extLst>
                  <a:ext uri="{28A0092B-C50C-407E-A947-70E740481C1C}">
                    <a14:useLocalDpi xmlns:a14="http://schemas.microsoft.com/office/drawing/2010/main" val="0"/>
                  </a:ext>
                </a:extLst>
              </a:blip>
              <a:srcRect/>
              <a:stretch>
                <a:fillRect/>
              </a:stretch>
            </p:blipFill>
            <p:spPr bwMode="auto">
              <a:xfrm>
                <a:off x="2538"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90" name="Picture 529"/>
              <p:cNvPicPr>
                <a:picLocks noChangeAspect="1" noChangeArrowheads="1"/>
              </p:cNvPicPr>
              <p:nvPr/>
            </p:nvPicPr>
            <p:blipFill>
              <a:blip r:embed="rId96">
                <a:extLst>
                  <a:ext uri="{28A0092B-C50C-407E-A947-70E740481C1C}">
                    <a14:useLocalDpi xmlns:a14="http://schemas.microsoft.com/office/drawing/2010/main" val="0"/>
                  </a:ext>
                </a:extLst>
              </a:blip>
              <a:srcRect/>
              <a:stretch>
                <a:fillRect/>
              </a:stretch>
            </p:blipFill>
            <p:spPr bwMode="auto">
              <a:xfrm>
                <a:off x="2466"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91" name="Picture 530"/>
              <p:cNvPicPr>
                <a:picLocks noChangeAspect="1" noChangeArrowheads="1"/>
              </p:cNvPicPr>
              <p:nvPr/>
            </p:nvPicPr>
            <p:blipFill>
              <a:blip r:embed="rId97">
                <a:extLst>
                  <a:ext uri="{28A0092B-C50C-407E-A947-70E740481C1C}">
                    <a14:useLocalDpi xmlns:a14="http://schemas.microsoft.com/office/drawing/2010/main" val="0"/>
                  </a:ext>
                </a:extLst>
              </a:blip>
              <a:srcRect/>
              <a:stretch>
                <a:fillRect/>
              </a:stretch>
            </p:blipFill>
            <p:spPr bwMode="auto">
              <a:xfrm>
                <a:off x="2466"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92" name="Picture 531"/>
              <p:cNvPicPr>
                <a:picLocks noChangeAspect="1" noChangeArrowheads="1"/>
              </p:cNvPicPr>
              <p:nvPr/>
            </p:nvPicPr>
            <p:blipFill>
              <a:blip r:embed="rId98">
                <a:extLst>
                  <a:ext uri="{28A0092B-C50C-407E-A947-70E740481C1C}">
                    <a14:useLocalDpi xmlns:a14="http://schemas.microsoft.com/office/drawing/2010/main" val="0"/>
                  </a:ext>
                </a:extLst>
              </a:blip>
              <a:srcRect/>
              <a:stretch>
                <a:fillRect/>
              </a:stretch>
            </p:blipFill>
            <p:spPr bwMode="auto">
              <a:xfrm>
                <a:off x="2466"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93" name="Picture 532"/>
              <p:cNvPicPr>
                <a:picLocks noChangeAspect="1" noChangeArrowheads="1"/>
              </p:cNvPicPr>
              <p:nvPr/>
            </p:nvPicPr>
            <p:blipFill>
              <a:blip r:embed="rId99">
                <a:extLst>
                  <a:ext uri="{28A0092B-C50C-407E-A947-70E740481C1C}">
                    <a14:useLocalDpi xmlns:a14="http://schemas.microsoft.com/office/drawing/2010/main" val="0"/>
                  </a:ext>
                </a:extLst>
              </a:blip>
              <a:srcRect/>
              <a:stretch>
                <a:fillRect/>
              </a:stretch>
            </p:blipFill>
            <p:spPr bwMode="auto">
              <a:xfrm>
                <a:off x="2466"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94" name="Picture 533"/>
              <p:cNvPicPr>
                <a:picLocks noChangeAspect="1" noChangeArrowheads="1"/>
              </p:cNvPicPr>
              <p:nvPr/>
            </p:nvPicPr>
            <p:blipFill>
              <a:blip r:embed="rId100">
                <a:extLst>
                  <a:ext uri="{28A0092B-C50C-407E-A947-70E740481C1C}">
                    <a14:useLocalDpi xmlns:a14="http://schemas.microsoft.com/office/drawing/2010/main" val="0"/>
                  </a:ext>
                </a:extLst>
              </a:blip>
              <a:srcRect/>
              <a:stretch>
                <a:fillRect/>
              </a:stretch>
            </p:blipFill>
            <p:spPr bwMode="auto">
              <a:xfrm>
                <a:off x="2402"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95" name="Picture 534"/>
              <p:cNvPicPr>
                <a:picLocks noChangeAspect="1" noChangeArrowheads="1"/>
              </p:cNvPicPr>
              <p:nvPr/>
            </p:nvPicPr>
            <p:blipFill>
              <a:blip r:embed="rId101">
                <a:extLst>
                  <a:ext uri="{28A0092B-C50C-407E-A947-70E740481C1C}">
                    <a14:useLocalDpi xmlns:a14="http://schemas.microsoft.com/office/drawing/2010/main" val="0"/>
                  </a:ext>
                </a:extLst>
              </a:blip>
              <a:srcRect/>
              <a:stretch>
                <a:fillRect/>
              </a:stretch>
            </p:blipFill>
            <p:spPr bwMode="auto">
              <a:xfrm>
                <a:off x="2402"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96" name="Picture 535"/>
              <p:cNvPicPr>
                <a:picLocks noChangeAspect="1" noChangeArrowheads="1"/>
              </p:cNvPicPr>
              <p:nvPr/>
            </p:nvPicPr>
            <p:blipFill>
              <a:blip r:embed="rId102">
                <a:extLst>
                  <a:ext uri="{28A0092B-C50C-407E-A947-70E740481C1C}">
                    <a14:useLocalDpi xmlns:a14="http://schemas.microsoft.com/office/drawing/2010/main" val="0"/>
                  </a:ext>
                </a:extLst>
              </a:blip>
              <a:srcRect/>
              <a:stretch>
                <a:fillRect/>
              </a:stretch>
            </p:blipFill>
            <p:spPr bwMode="auto">
              <a:xfrm>
                <a:off x="2402"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97" name="Picture 536"/>
              <p:cNvPicPr>
                <a:picLocks noChangeAspect="1" noChangeArrowheads="1"/>
              </p:cNvPicPr>
              <p:nvPr/>
            </p:nvPicPr>
            <p:blipFill>
              <a:blip r:embed="rId103">
                <a:extLst>
                  <a:ext uri="{28A0092B-C50C-407E-A947-70E740481C1C}">
                    <a14:useLocalDpi xmlns:a14="http://schemas.microsoft.com/office/drawing/2010/main" val="0"/>
                  </a:ext>
                </a:extLst>
              </a:blip>
              <a:srcRect/>
              <a:stretch>
                <a:fillRect/>
              </a:stretch>
            </p:blipFill>
            <p:spPr bwMode="auto">
              <a:xfrm>
                <a:off x="2402"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98" name="Picture 537"/>
              <p:cNvPicPr>
                <a:picLocks noChangeAspect="1" noChangeArrowheads="1"/>
              </p:cNvPicPr>
              <p:nvPr/>
            </p:nvPicPr>
            <p:blipFill>
              <a:blip r:embed="rId104">
                <a:extLst>
                  <a:ext uri="{28A0092B-C50C-407E-A947-70E740481C1C}">
                    <a14:useLocalDpi xmlns:a14="http://schemas.microsoft.com/office/drawing/2010/main" val="0"/>
                  </a:ext>
                </a:extLst>
              </a:blip>
              <a:srcRect/>
              <a:stretch>
                <a:fillRect/>
              </a:stretch>
            </p:blipFill>
            <p:spPr bwMode="auto">
              <a:xfrm>
                <a:off x="2330"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99" name="Picture 538"/>
              <p:cNvPicPr>
                <a:picLocks noChangeAspect="1" noChangeArrowheads="1"/>
              </p:cNvPicPr>
              <p:nvPr/>
            </p:nvPicPr>
            <p:blipFill>
              <a:blip r:embed="rId105">
                <a:extLst>
                  <a:ext uri="{28A0092B-C50C-407E-A947-70E740481C1C}">
                    <a14:useLocalDpi xmlns:a14="http://schemas.microsoft.com/office/drawing/2010/main" val="0"/>
                  </a:ext>
                </a:extLst>
              </a:blip>
              <a:srcRect/>
              <a:stretch>
                <a:fillRect/>
              </a:stretch>
            </p:blipFill>
            <p:spPr bwMode="auto">
              <a:xfrm>
                <a:off x="2330"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800" name="Picture 539"/>
              <p:cNvPicPr>
                <a:picLocks noChangeAspect="1" noChangeArrowheads="1"/>
              </p:cNvPicPr>
              <p:nvPr/>
            </p:nvPicPr>
            <p:blipFill>
              <a:blip r:embed="rId106">
                <a:extLst>
                  <a:ext uri="{28A0092B-C50C-407E-A947-70E740481C1C}">
                    <a14:useLocalDpi xmlns:a14="http://schemas.microsoft.com/office/drawing/2010/main" val="0"/>
                  </a:ext>
                </a:extLst>
              </a:blip>
              <a:srcRect/>
              <a:stretch>
                <a:fillRect/>
              </a:stretch>
            </p:blipFill>
            <p:spPr bwMode="auto">
              <a:xfrm>
                <a:off x="2330"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801" name="Picture 540"/>
              <p:cNvPicPr>
                <a:picLocks noChangeAspect="1" noChangeArrowheads="1"/>
              </p:cNvPicPr>
              <p:nvPr/>
            </p:nvPicPr>
            <p:blipFill>
              <a:blip r:embed="rId107">
                <a:extLst>
                  <a:ext uri="{28A0092B-C50C-407E-A947-70E740481C1C}">
                    <a14:useLocalDpi xmlns:a14="http://schemas.microsoft.com/office/drawing/2010/main" val="0"/>
                  </a:ext>
                </a:extLst>
              </a:blip>
              <a:srcRect/>
              <a:stretch>
                <a:fillRect/>
              </a:stretch>
            </p:blipFill>
            <p:spPr bwMode="auto">
              <a:xfrm>
                <a:off x="2330"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802" name="Picture 541"/>
              <p:cNvPicPr>
                <a:picLocks noChangeAspect="1" noChangeArrowheads="1"/>
              </p:cNvPicPr>
              <p:nvPr/>
            </p:nvPicPr>
            <p:blipFill>
              <a:blip r:embed="rId108">
                <a:extLst>
                  <a:ext uri="{28A0092B-C50C-407E-A947-70E740481C1C}">
                    <a14:useLocalDpi xmlns:a14="http://schemas.microsoft.com/office/drawing/2010/main" val="0"/>
                  </a:ext>
                </a:extLst>
              </a:blip>
              <a:srcRect/>
              <a:stretch>
                <a:fillRect/>
              </a:stretch>
            </p:blipFill>
            <p:spPr bwMode="auto">
              <a:xfrm>
                <a:off x="2674"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803" name="Picture 542"/>
              <p:cNvPicPr>
                <a:picLocks noChangeAspect="1" noChangeArrowheads="1"/>
              </p:cNvPicPr>
              <p:nvPr/>
            </p:nvPicPr>
            <p:blipFill>
              <a:blip r:embed="rId109">
                <a:extLst>
                  <a:ext uri="{28A0092B-C50C-407E-A947-70E740481C1C}">
                    <a14:useLocalDpi xmlns:a14="http://schemas.microsoft.com/office/drawing/2010/main" val="0"/>
                  </a:ext>
                </a:extLst>
              </a:blip>
              <a:srcRect/>
              <a:stretch>
                <a:fillRect/>
              </a:stretch>
            </p:blipFill>
            <p:spPr bwMode="auto">
              <a:xfrm>
                <a:off x="2674"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804" name="Picture 543"/>
              <p:cNvPicPr>
                <a:picLocks noChangeAspect="1" noChangeArrowheads="1"/>
              </p:cNvPicPr>
              <p:nvPr/>
            </p:nvPicPr>
            <p:blipFill>
              <a:blip r:embed="rId110">
                <a:extLst>
                  <a:ext uri="{28A0092B-C50C-407E-A947-70E740481C1C}">
                    <a14:useLocalDpi xmlns:a14="http://schemas.microsoft.com/office/drawing/2010/main" val="0"/>
                  </a:ext>
                </a:extLst>
              </a:blip>
              <a:srcRect/>
              <a:stretch>
                <a:fillRect/>
              </a:stretch>
            </p:blipFill>
            <p:spPr bwMode="auto">
              <a:xfrm>
                <a:off x="2674"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805" name="Picture 544"/>
              <p:cNvPicPr>
                <a:picLocks noChangeAspect="1" noChangeArrowheads="1"/>
              </p:cNvPicPr>
              <p:nvPr/>
            </p:nvPicPr>
            <p:blipFill>
              <a:blip r:embed="rId111">
                <a:extLst>
                  <a:ext uri="{28A0092B-C50C-407E-A947-70E740481C1C}">
                    <a14:useLocalDpi xmlns:a14="http://schemas.microsoft.com/office/drawing/2010/main" val="0"/>
                  </a:ext>
                </a:extLst>
              </a:blip>
              <a:srcRect/>
              <a:stretch>
                <a:fillRect/>
              </a:stretch>
            </p:blipFill>
            <p:spPr bwMode="auto">
              <a:xfrm>
                <a:off x="2746"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806" name="Picture 545"/>
              <p:cNvPicPr>
                <a:picLocks noChangeAspect="1" noChangeArrowheads="1"/>
              </p:cNvPicPr>
              <p:nvPr/>
            </p:nvPicPr>
            <p:blipFill>
              <a:blip r:embed="rId112">
                <a:extLst>
                  <a:ext uri="{28A0092B-C50C-407E-A947-70E740481C1C}">
                    <a14:useLocalDpi xmlns:a14="http://schemas.microsoft.com/office/drawing/2010/main" val="0"/>
                  </a:ext>
                </a:extLst>
              </a:blip>
              <a:srcRect/>
              <a:stretch>
                <a:fillRect/>
              </a:stretch>
            </p:blipFill>
            <p:spPr bwMode="auto">
              <a:xfrm>
                <a:off x="2746"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807" name="Picture 546"/>
              <p:cNvPicPr>
                <a:picLocks noChangeAspect="1" noChangeArrowheads="1"/>
              </p:cNvPicPr>
              <p:nvPr/>
            </p:nvPicPr>
            <p:blipFill>
              <a:blip r:embed="rId113">
                <a:extLst>
                  <a:ext uri="{28A0092B-C50C-407E-A947-70E740481C1C}">
                    <a14:useLocalDpi xmlns:a14="http://schemas.microsoft.com/office/drawing/2010/main" val="0"/>
                  </a:ext>
                </a:extLst>
              </a:blip>
              <a:srcRect/>
              <a:stretch>
                <a:fillRect/>
              </a:stretch>
            </p:blipFill>
            <p:spPr bwMode="auto">
              <a:xfrm>
                <a:off x="2746"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808" name="Picture 547"/>
              <p:cNvPicPr>
                <a:picLocks noChangeAspect="1" noChangeArrowheads="1"/>
              </p:cNvPicPr>
              <p:nvPr/>
            </p:nvPicPr>
            <p:blipFill>
              <a:blip r:embed="rId114">
                <a:extLst>
                  <a:ext uri="{28A0092B-C50C-407E-A947-70E740481C1C}">
                    <a14:useLocalDpi xmlns:a14="http://schemas.microsoft.com/office/drawing/2010/main" val="0"/>
                  </a:ext>
                </a:extLst>
              </a:blip>
              <a:srcRect/>
              <a:stretch>
                <a:fillRect/>
              </a:stretch>
            </p:blipFill>
            <p:spPr bwMode="auto">
              <a:xfrm>
                <a:off x="2746"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09" name="Rectangle 548"/>
              <p:cNvSpPr>
                <a:spLocks noChangeArrowheads="1"/>
              </p:cNvSpPr>
              <p:nvPr/>
            </p:nvSpPr>
            <p:spPr bwMode="auto">
              <a:xfrm>
                <a:off x="2258" y="2740"/>
                <a:ext cx="808" cy="8"/>
              </a:xfrm>
              <a:prstGeom prst="rect">
                <a:avLst/>
              </a:prstGeom>
              <a:solidFill>
                <a:srgbClr val="DCDCDC"/>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810" name="Rectangle 549"/>
              <p:cNvSpPr>
                <a:spLocks noChangeArrowheads="1"/>
              </p:cNvSpPr>
              <p:nvPr/>
            </p:nvSpPr>
            <p:spPr bwMode="auto">
              <a:xfrm>
                <a:off x="2258" y="2748"/>
                <a:ext cx="808" cy="8"/>
              </a:xfrm>
              <a:prstGeom prst="rect">
                <a:avLst/>
              </a:prstGeom>
              <a:solidFill>
                <a:srgbClr val="DADADA"/>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811" name="Rectangle 550"/>
              <p:cNvSpPr>
                <a:spLocks noChangeArrowheads="1"/>
              </p:cNvSpPr>
              <p:nvPr/>
            </p:nvSpPr>
            <p:spPr bwMode="auto">
              <a:xfrm>
                <a:off x="2258" y="2756"/>
                <a:ext cx="808" cy="8"/>
              </a:xfrm>
              <a:prstGeom prst="rect">
                <a:avLst/>
              </a:prstGeom>
              <a:solidFill>
                <a:srgbClr val="C4C4C4"/>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812" name="Rectangle 551"/>
              <p:cNvSpPr>
                <a:spLocks noChangeArrowheads="1"/>
              </p:cNvSpPr>
              <p:nvPr/>
            </p:nvSpPr>
            <p:spPr bwMode="auto">
              <a:xfrm>
                <a:off x="2258" y="2764"/>
                <a:ext cx="808" cy="8"/>
              </a:xfrm>
              <a:prstGeom prst="rect">
                <a:avLst/>
              </a:prstGeom>
              <a:solidFill>
                <a:srgbClr val="AEAEAE"/>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813" name="Rectangle 552"/>
              <p:cNvSpPr>
                <a:spLocks noChangeArrowheads="1"/>
              </p:cNvSpPr>
              <p:nvPr/>
            </p:nvSpPr>
            <p:spPr bwMode="auto">
              <a:xfrm>
                <a:off x="2258" y="2772"/>
                <a:ext cx="808" cy="8"/>
              </a:xfrm>
              <a:prstGeom prst="rect">
                <a:avLst/>
              </a:prstGeom>
              <a:solidFill>
                <a:srgbClr val="9C9C9C"/>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814" name="Rectangle 553"/>
              <p:cNvSpPr>
                <a:spLocks noChangeArrowheads="1"/>
              </p:cNvSpPr>
              <p:nvPr/>
            </p:nvSpPr>
            <p:spPr bwMode="auto">
              <a:xfrm>
                <a:off x="2258" y="2780"/>
                <a:ext cx="808" cy="8"/>
              </a:xfrm>
              <a:prstGeom prst="rect">
                <a:avLst/>
              </a:prstGeom>
              <a:solidFill>
                <a:srgbClr val="B3B3B3"/>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815" name="Rectangle 554"/>
              <p:cNvSpPr>
                <a:spLocks noChangeArrowheads="1"/>
              </p:cNvSpPr>
              <p:nvPr/>
            </p:nvSpPr>
            <p:spPr bwMode="auto">
              <a:xfrm>
                <a:off x="2258" y="2788"/>
                <a:ext cx="808" cy="8"/>
              </a:xfrm>
              <a:prstGeom prst="rect">
                <a:avLst/>
              </a:prstGeom>
              <a:solidFill>
                <a:srgbClr val="C9C9C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816" name="Freeform 555"/>
              <p:cNvSpPr>
                <a:spLocks noEditPoints="1"/>
              </p:cNvSpPr>
              <p:nvPr/>
            </p:nvSpPr>
            <p:spPr bwMode="auto">
              <a:xfrm>
                <a:off x="2258" y="2744"/>
                <a:ext cx="808" cy="55"/>
              </a:xfrm>
              <a:custGeom>
                <a:avLst/>
                <a:gdLst>
                  <a:gd name="T0" fmla="*/ 795 w 808"/>
                  <a:gd name="T1" fmla="*/ 55 h 55"/>
                  <a:gd name="T2" fmla="*/ 688 w 808"/>
                  <a:gd name="T3" fmla="*/ 0 h 55"/>
                  <a:gd name="T4" fmla="*/ 626 w 808"/>
                  <a:gd name="T5" fmla="*/ 37 h 55"/>
                  <a:gd name="T6" fmla="*/ 647 w 808"/>
                  <a:gd name="T7" fmla="*/ 51 h 55"/>
                  <a:gd name="T8" fmla="*/ 654 w 808"/>
                  <a:gd name="T9" fmla="*/ 37 h 55"/>
                  <a:gd name="T10" fmla="*/ 619 w 808"/>
                  <a:gd name="T11" fmla="*/ 2 h 55"/>
                  <a:gd name="T12" fmla="*/ 626 w 808"/>
                  <a:gd name="T13" fmla="*/ 37 h 55"/>
                  <a:gd name="T14" fmla="*/ 557 w 808"/>
                  <a:gd name="T15" fmla="*/ 51 h 55"/>
                  <a:gd name="T16" fmla="*/ 578 w 808"/>
                  <a:gd name="T17" fmla="*/ 37 h 55"/>
                  <a:gd name="T18" fmla="*/ 585 w 808"/>
                  <a:gd name="T19" fmla="*/ 2 h 55"/>
                  <a:gd name="T20" fmla="*/ 551 w 808"/>
                  <a:gd name="T21" fmla="*/ 37 h 55"/>
                  <a:gd name="T22" fmla="*/ 489 w 808"/>
                  <a:gd name="T23" fmla="*/ 37 h 55"/>
                  <a:gd name="T24" fmla="*/ 509 w 808"/>
                  <a:gd name="T25" fmla="*/ 51 h 55"/>
                  <a:gd name="T26" fmla="*/ 516 w 808"/>
                  <a:gd name="T27" fmla="*/ 37 h 55"/>
                  <a:gd name="T28" fmla="*/ 482 w 808"/>
                  <a:gd name="T29" fmla="*/ 2 h 55"/>
                  <a:gd name="T30" fmla="*/ 489 w 808"/>
                  <a:gd name="T31" fmla="*/ 37 h 55"/>
                  <a:gd name="T32" fmla="*/ 420 w 808"/>
                  <a:gd name="T33" fmla="*/ 51 h 55"/>
                  <a:gd name="T34" fmla="*/ 441 w 808"/>
                  <a:gd name="T35" fmla="*/ 37 h 55"/>
                  <a:gd name="T36" fmla="*/ 447 w 808"/>
                  <a:gd name="T37" fmla="*/ 2 h 55"/>
                  <a:gd name="T38" fmla="*/ 413 w 808"/>
                  <a:gd name="T39" fmla="*/ 37 h 55"/>
                  <a:gd name="T40" fmla="*/ 351 w 808"/>
                  <a:gd name="T41" fmla="*/ 37 h 55"/>
                  <a:gd name="T42" fmla="*/ 372 w 808"/>
                  <a:gd name="T43" fmla="*/ 51 h 55"/>
                  <a:gd name="T44" fmla="*/ 379 w 808"/>
                  <a:gd name="T45" fmla="*/ 37 h 55"/>
                  <a:gd name="T46" fmla="*/ 344 w 808"/>
                  <a:gd name="T47" fmla="*/ 2 h 55"/>
                  <a:gd name="T48" fmla="*/ 351 w 808"/>
                  <a:gd name="T49" fmla="*/ 37 h 55"/>
                  <a:gd name="T50" fmla="*/ 282 w 808"/>
                  <a:gd name="T51" fmla="*/ 51 h 55"/>
                  <a:gd name="T52" fmla="*/ 303 w 808"/>
                  <a:gd name="T53" fmla="*/ 37 h 55"/>
                  <a:gd name="T54" fmla="*/ 310 w 808"/>
                  <a:gd name="T55" fmla="*/ 2 h 55"/>
                  <a:gd name="T56" fmla="*/ 276 w 808"/>
                  <a:gd name="T57" fmla="*/ 37 h 55"/>
                  <a:gd name="T58" fmla="*/ 214 w 808"/>
                  <a:gd name="T59" fmla="*/ 37 h 55"/>
                  <a:gd name="T60" fmla="*/ 234 w 808"/>
                  <a:gd name="T61" fmla="*/ 51 h 55"/>
                  <a:gd name="T62" fmla="*/ 241 w 808"/>
                  <a:gd name="T63" fmla="*/ 37 h 55"/>
                  <a:gd name="T64" fmla="*/ 207 w 808"/>
                  <a:gd name="T65" fmla="*/ 2 h 55"/>
                  <a:gd name="T66" fmla="*/ 214 w 808"/>
                  <a:gd name="T67" fmla="*/ 37 h 55"/>
                  <a:gd name="T68" fmla="*/ 145 w 808"/>
                  <a:gd name="T69" fmla="*/ 51 h 55"/>
                  <a:gd name="T70" fmla="*/ 166 w 808"/>
                  <a:gd name="T71" fmla="*/ 37 h 55"/>
                  <a:gd name="T72" fmla="*/ 172 w 808"/>
                  <a:gd name="T73" fmla="*/ 2 h 55"/>
                  <a:gd name="T74" fmla="*/ 138 w 808"/>
                  <a:gd name="T75" fmla="*/ 37 h 55"/>
                  <a:gd name="T76" fmla="*/ 76 w 808"/>
                  <a:gd name="T77" fmla="*/ 37 h 55"/>
                  <a:gd name="T78" fmla="*/ 96 w 808"/>
                  <a:gd name="T79" fmla="*/ 51 h 55"/>
                  <a:gd name="T80" fmla="*/ 104 w 808"/>
                  <a:gd name="T81" fmla="*/ 37 h 55"/>
                  <a:gd name="T82" fmla="*/ 69 w 808"/>
                  <a:gd name="T83" fmla="*/ 2 h 55"/>
                  <a:gd name="T84" fmla="*/ 76 w 808"/>
                  <a:gd name="T85" fmla="*/ 37 h 55"/>
                  <a:gd name="T86" fmla="*/ 7 w 808"/>
                  <a:gd name="T87" fmla="*/ 51 h 55"/>
                  <a:gd name="T88" fmla="*/ 28 w 808"/>
                  <a:gd name="T89" fmla="*/ 37 h 55"/>
                  <a:gd name="T90" fmla="*/ 34 w 808"/>
                  <a:gd name="T91" fmla="*/ 2 h 55"/>
                  <a:gd name="T92" fmla="*/ 0 w 808"/>
                  <a:gd name="T93" fmla="*/ 37 h 55"/>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808"/>
                  <a:gd name="T142" fmla="*/ 0 h 55"/>
                  <a:gd name="T143" fmla="*/ 808 w 808"/>
                  <a:gd name="T144" fmla="*/ 55 h 55"/>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808" h="55">
                    <a:moveTo>
                      <a:pt x="701" y="55"/>
                    </a:moveTo>
                    <a:lnTo>
                      <a:pt x="795" y="55"/>
                    </a:lnTo>
                    <a:lnTo>
                      <a:pt x="808" y="0"/>
                    </a:lnTo>
                    <a:lnTo>
                      <a:pt x="688" y="0"/>
                    </a:lnTo>
                    <a:lnTo>
                      <a:pt x="701" y="55"/>
                    </a:lnTo>
                    <a:moveTo>
                      <a:pt x="626" y="37"/>
                    </a:moveTo>
                    <a:lnTo>
                      <a:pt x="626" y="51"/>
                    </a:lnTo>
                    <a:lnTo>
                      <a:pt x="647" y="51"/>
                    </a:lnTo>
                    <a:lnTo>
                      <a:pt x="647" y="37"/>
                    </a:lnTo>
                    <a:lnTo>
                      <a:pt x="654" y="37"/>
                    </a:lnTo>
                    <a:lnTo>
                      <a:pt x="654" y="2"/>
                    </a:lnTo>
                    <a:lnTo>
                      <a:pt x="619" y="2"/>
                    </a:lnTo>
                    <a:lnTo>
                      <a:pt x="619" y="37"/>
                    </a:lnTo>
                    <a:lnTo>
                      <a:pt x="626" y="37"/>
                    </a:lnTo>
                    <a:moveTo>
                      <a:pt x="557" y="37"/>
                    </a:moveTo>
                    <a:lnTo>
                      <a:pt x="557" y="51"/>
                    </a:lnTo>
                    <a:lnTo>
                      <a:pt x="578" y="51"/>
                    </a:lnTo>
                    <a:lnTo>
                      <a:pt x="578" y="37"/>
                    </a:lnTo>
                    <a:lnTo>
                      <a:pt x="585" y="37"/>
                    </a:lnTo>
                    <a:lnTo>
                      <a:pt x="585" y="2"/>
                    </a:lnTo>
                    <a:lnTo>
                      <a:pt x="551" y="2"/>
                    </a:lnTo>
                    <a:lnTo>
                      <a:pt x="551" y="37"/>
                    </a:lnTo>
                    <a:lnTo>
                      <a:pt x="557" y="37"/>
                    </a:lnTo>
                    <a:moveTo>
                      <a:pt x="489" y="37"/>
                    </a:moveTo>
                    <a:lnTo>
                      <a:pt x="489" y="51"/>
                    </a:lnTo>
                    <a:lnTo>
                      <a:pt x="509" y="51"/>
                    </a:lnTo>
                    <a:lnTo>
                      <a:pt x="509" y="37"/>
                    </a:lnTo>
                    <a:lnTo>
                      <a:pt x="516" y="37"/>
                    </a:lnTo>
                    <a:lnTo>
                      <a:pt x="516" y="2"/>
                    </a:lnTo>
                    <a:lnTo>
                      <a:pt x="482" y="2"/>
                    </a:lnTo>
                    <a:lnTo>
                      <a:pt x="482" y="37"/>
                    </a:lnTo>
                    <a:lnTo>
                      <a:pt x="489" y="37"/>
                    </a:lnTo>
                    <a:moveTo>
                      <a:pt x="420" y="37"/>
                    </a:moveTo>
                    <a:lnTo>
                      <a:pt x="420" y="51"/>
                    </a:lnTo>
                    <a:lnTo>
                      <a:pt x="441" y="51"/>
                    </a:lnTo>
                    <a:lnTo>
                      <a:pt x="441" y="37"/>
                    </a:lnTo>
                    <a:lnTo>
                      <a:pt x="447" y="37"/>
                    </a:lnTo>
                    <a:lnTo>
                      <a:pt x="447" y="2"/>
                    </a:lnTo>
                    <a:lnTo>
                      <a:pt x="413" y="2"/>
                    </a:lnTo>
                    <a:lnTo>
                      <a:pt x="413" y="37"/>
                    </a:lnTo>
                    <a:lnTo>
                      <a:pt x="420" y="37"/>
                    </a:lnTo>
                    <a:moveTo>
                      <a:pt x="351" y="37"/>
                    </a:moveTo>
                    <a:lnTo>
                      <a:pt x="351" y="51"/>
                    </a:lnTo>
                    <a:lnTo>
                      <a:pt x="372" y="51"/>
                    </a:lnTo>
                    <a:lnTo>
                      <a:pt x="372" y="37"/>
                    </a:lnTo>
                    <a:lnTo>
                      <a:pt x="379" y="37"/>
                    </a:lnTo>
                    <a:lnTo>
                      <a:pt x="379" y="2"/>
                    </a:lnTo>
                    <a:lnTo>
                      <a:pt x="344" y="2"/>
                    </a:lnTo>
                    <a:lnTo>
                      <a:pt x="344" y="37"/>
                    </a:lnTo>
                    <a:lnTo>
                      <a:pt x="351" y="37"/>
                    </a:lnTo>
                    <a:moveTo>
                      <a:pt x="282" y="37"/>
                    </a:moveTo>
                    <a:lnTo>
                      <a:pt x="282" y="51"/>
                    </a:lnTo>
                    <a:lnTo>
                      <a:pt x="303" y="51"/>
                    </a:lnTo>
                    <a:lnTo>
                      <a:pt x="303" y="37"/>
                    </a:lnTo>
                    <a:lnTo>
                      <a:pt x="310" y="37"/>
                    </a:lnTo>
                    <a:lnTo>
                      <a:pt x="310" y="2"/>
                    </a:lnTo>
                    <a:lnTo>
                      <a:pt x="276" y="2"/>
                    </a:lnTo>
                    <a:lnTo>
                      <a:pt x="276" y="37"/>
                    </a:lnTo>
                    <a:lnTo>
                      <a:pt x="282" y="37"/>
                    </a:lnTo>
                    <a:moveTo>
                      <a:pt x="214" y="37"/>
                    </a:moveTo>
                    <a:lnTo>
                      <a:pt x="214" y="51"/>
                    </a:lnTo>
                    <a:lnTo>
                      <a:pt x="234" y="51"/>
                    </a:lnTo>
                    <a:lnTo>
                      <a:pt x="234" y="37"/>
                    </a:lnTo>
                    <a:lnTo>
                      <a:pt x="241" y="37"/>
                    </a:lnTo>
                    <a:lnTo>
                      <a:pt x="241" y="2"/>
                    </a:lnTo>
                    <a:lnTo>
                      <a:pt x="207" y="2"/>
                    </a:lnTo>
                    <a:lnTo>
                      <a:pt x="207" y="37"/>
                    </a:lnTo>
                    <a:lnTo>
                      <a:pt x="214" y="37"/>
                    </a:lnTo>
                    <a:moveTo>
                      <a:pt x="145" y="37"/>
                    </a:moveTo>
                    <a:lnTo>
                      <a:pt x="145" y="51"/>
                    </a:lnTo>
                    <a:lnTo>
                      <a:pt x="166" y="51"/>
                    </a:lnTo>
                    <a:lnTo>
                      <a:pt x="166" y="37"/>
                    </a:lnTo>
                    <a:lnTo>
                      <a:pt x="172" y="37"/>
                    </a:lnTo>
                    <a:lnTo>
                      <a:pt x="172" y="2"/>
                    </a:lnTo>
                    <a:lnTo>
                      <a:pt x="138" y="2"/>
                    </a:lnTo>
                    <a:lnTo>
                      <a:pt x="138" y="37"/>
                    </a:lnTo>
                    <a:lnTo>
                      <a:pt x="145" y="37"/>
                    </a:lnTo>
                    <a:moveTo>
                      <a:pt x="76" y="37"/>
                    </a:moveTo>
                    <a:lnTo>
                      <a:pt x="76" y="51"/>
                    </a:lnTo>
                    <a:lnTo>
                      <a:pt x="96" y="51"/>
                    </a:lnTo>
                    <a:lnTo>
                      <a:pt x="96" y="37"/>
                    </a:lnTo>
                    <a:lnTo>
                      <a:pt x="104" y="37"/>
                    </a:lnTo>
                    <a:lnTo>
                      <a:pt x="104" y="2"/>
                    </a:lnTo>
                    <a:lnTo>
                      <a:pt x="69" y="2"/>
                    </a:lnTo>
                    <a:lnTo>
                      <a:pt x="69" y="37"/>
                    </a:lnTo>
                    <a:lnTo>
                      <a:pt x="76" y="37"/>
                    </a:lnTo>
                    <a:moveTo>
                      <a:pt x="7" y="37"/>
                    </a:moveTo>
                    <a:lnTo>
                      <a:pt x="7" y="51"/>
                    </a:lnTo>
                    <a:lnTo>
                      <a:pt x="28" y="51"/>
                    </a:lnTo>
                    <a:lnTo>
                      <a:pt x="28" y="37"/>
                    </a:lnTo>
                    <a:lnTo>
                      <a:pt x="34" y="37"/>
                    </a:lnTo>
                    <a:lnTo>
                      <a:pt x="34" y="2"/>
                    </a:lnTo>
                    <a:lnTo>
                      <a:pt x="0" y="2"/>
                    </a:lnTo>
                    <a:lnTo>
                      <a:pt x="0" y="37"/>
                    </a:lnTo>
                    <a:lnTo>
                      <a:pt x="7" y="37"/>
                    </a:lnTo>
                  </a:path>
                </a:pathLst>
              </a:cu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817" name="Freeform 556"/>
              <p:cNvSpPr>
                <a:spLocks/>
              </p:cNvSpPr>
              <p:nvPr/>
            </p:nvSpPr>
            <p:spPr bwMode="auto">
              <a:xfrm>
                <a:off x="2207" y="2504"/>
                <a:ext cx="1006" cy="346"/>
              </a:xfrm>
              <a:custGeom>
                <a:avLst/>
                <a:gdLst>
                  <a:gd name="T0" fmla="*/ 27 w 1006"/>
                  <a:gd name="T1" fmla="*/ 346 h 346"/>
                  <a:gd name="T2" fmla="*/ 27 w 1006"/>
                  <a:gd name="T3" fmla="*/ 317 h 346"/>
                  <a:gd name="T4" fmla="*/ 0 w 1006"/>
                  <a:gd name="T5" fmla="*/ 317 h 346"/>
                  <a:gd name="T6" fmla="*/ 0 w 1006"/>
                  <a:gd name="T7" fmla="*/ 115 h 346"/>
                  <a:gd name="T8" fmla="*/ 111 w 1006"/>
                  <a:gd name="T9" fmla="*/ 0 h 346"/>
                  <a:gd name="T10" fmla="*/ 1006 w 1006"/>
                  <a:gd name="T11" fmla="*/ 0 h 346"/>
                  <a:gd name="T12" fmla="*/ 1006 w 1006"/>
                  <a:gd name="T13" fmla="*/ 202 h 346"/>
                  <a:gd name="T14" fmla="*/ 866 w 1006"/>
                  <a:gd name="T15" fmla="*/ 346 h 346"/>
                  <a:gd name="T16" fmla="*/ 27 w 1006"/>
                  <a:gd name="T17" fmla="*/ 346 h 3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06"/>
                  <a:gd name="T28" fmla="*/ 0 h 346"/>
                  <a:gd name="T29" fmla="*/ 1006 w 1006"/>
                  <a:gd name="T30" fmla="*/ 346 h 34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06" h="346">
                    <a:moveTo>
                      <a:pt x="27" y="346"/>
                    </a:moveTo>
                    <a:lnTo>
                      <a:pt x="27" y="317"/>
                    </a:lnTo>
                    <a:lnTo>
                      <a:pt x="0" y="317"/>
                    </a:lnTo>
                    <a:lnTo>
                      <a:pt x="0" y="115"/>
                    </a:lnTo>
                    <a:lnTo>
                      <a:pt x="111" y="0"/>
                    </a:lnTo>
                    <a:lnTo>
                      <a:pt x="1006" y="0"/>
                    </a:lnTo>
                    <a:lnTo>
                      <a:pt x="1006" y="202"/>
                    </a:lnTo>
                    <a:lnTo>
                      <a:pt x="866" y="346"/>
                    </a:lnTo>
                    <a:lnTo>
                      <a:pt x="27" y="346"/>
                    </a:lnTo>
                  </a:path>
                </a:pathLst>
              </a:custGeom>
              <a:noFill/>
              <a:ln w="11113"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818" name="Rectangle 557"/>
              <p:cNvSpPr>
                <a:spLocks noChangeArrowheads="1"/>
              </p:cNvSpPr>
              <p:nvPr/>
            </p:nvSpPr>
            <p:spPr bwMode="auto">
              <a:xfrm>
                <a:off x="2570" y="2868"/>
                <a:ext cx="232" cy="17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800" b="0">
                    <a:latin typeface="Arial" charset="0"/>
                  </a:rPr>
                  <a:t>SW</a:t>
                </a:r>
                <a:endParaRPr lang="en-US" sz="1800"/>
              </a:p>
            </p:txBody>
          </p:sp>
        </p:grpSp>
        <p:sp>
          <p:nvSpPr>
            <p:cNvPr id="103" name="Freeform 558"/>
            <p:cNvSpPr>
              <a:spLocks/>
            </p:cNvSpPr>
            <p:nvPr/>
          </p:nvSpPr>
          <p:spPr bwMode="auto">
            <a:xfrm>
              <a:off x="2772" y="1979"/>
              <a:ext cx="53" cy="64"/>
            </a:xfrm>
            <a:custGeom>
              <a:avLst/>
              <a:gdLst>
                <a:gd name="T0" fmla="*/ 0 w 53"/>
                <a:gd name="T1" fmla="*/ 64 h 64"/>
                <a:gd name="T2" fmla="*/ 53 w 53"/>
                <a:gd name="T3" fmla="*/ 9 h 64"/>
                <a:gd name="T4" fmla="*/ 53 w 53"/>
                <a:gd name="T5" fmla="*/ 0 h 64"/>
                <a:gd name="T6" fmla="*/ 0 w 53"/>
                <a:gd name="T7" fmla="*/ 54 h 64"/>
                <a:gd name="T8" fmla="*/ 0 w 53"/>
                <a:gd name="T9" fmla="*/ 64 h 64"/>
                <a:gd name="T10" fmla="*/ 0 60000 65536"/>
                <a:gd name="T11" fmla="*/ 0 60000 65536"/>
                <a:gd name="T12" fmla="*/ 0 60000 65536"/>
                <a:gd name="T13" fmla="*/ 0 60000 65536"/>
                <a:gd name="T14" fmla="*/ 0 60000 65536"/>
                <a:gd name="T15" fmla="*/ 0 w 53"/>
                <a:gd name="T16" fmla="*/ 0 h 64"/>
                <a:gd name="T17" fmla="*/ 53 w 53"/>
                <a:gd name="T18" fmla="*/ 64 h 64"/>
              </a:gdLst>
              <a:ahLst/>
              <a:cxnLst>
                <a:cxn ang="T10">
                  <a:pos x="T0" y="T1"/>
                </a:cxn>
                <a:cxn ang="T11">
                  <a:pos x="T2" y="T3"/>
                </a:cxn>
                <a:cxn ang="T12">
                  <a:pos x="T4" y="T5"/>
                </a:cxn>
                <a:cxn ang="T13">
                  <a:pos x="T6" y="T7"/>
                </a:cxn>
                <a:cxn ang="T14">
                  <a:pos x="T8" y="T9"/>
                </a:cxn>
              </a:cxnLst>
              <a:rect l="T15" t="T16" r="T17" b="T18"/>
              <a:pathLst>
                <a:path w="53" h="64">
                  <a:moveTo>
                    <a:pt x="0" y="64"/>
                  </a:moveTo>
                  <a:lnTo>
                    <a:pt x="53" y="9"/>
                  </a:lnTo>
                  <a:lnTo>
                    <a:pt x="53" y="0"/>
                  </a:lnTo>
                  <a:lnTo>
                    <a:pt x="0" y="54"/>
                  </a:lnTo>
                  <a:lnTo>
                    <a:pt x="0" y="64"/>
                  </a:lnTo>
                  <a:close/>
                </a:path>
              </a:pathLst>
            </a:custGeom>
            <a:solidFill>
              <a:srgbClr val="9A9A9A"/>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04" name="Freeform 559"/>
            <p:cNvSpPr>
              <a:spLocks/>
            </p:cNvSpPr>
            <p:nvPr/>
          </p:nvSpPr>
          <p:spPr bwMode="auto">
            <a:xfrm>
              <a:off x="2629" y="1582"/>
              <a:ext cx="199" cy="51"/>
            </a:xfrm>
            <a:custGeom>
              <a:avLst/>
              <a:gdLst>
                <a:gd name="T0" fmla="*/ 0 w 199"/>
                <a:gd name="T1" fmla="*/ 51 h 51"/>
                <a:gd name="T2" fmla="*/ 50 w 199"/>
                <a:gd name="T3" fmla="*/ 0 h 51"/>
                <a:gd name="T4" fmla="*/ 199 w 199"/>
                <a:gd name="T5" fmla="*/ 0 h 51"/>
                <a:gd name="T6" fmla="*/ 149 w 199"/>
                <a:gd name="T7" fmla="*/ 51 h 51"/>
                <a:gd name="T8" fmla="*/ 0 w 199"/>
                <a:gd name="T9" fmla="*/ 51 h 51"/>
                <a:gd name="T10" fmla="*/ 0 60000 65536"/>
                <a:gd name="T11" fmla="*/ 0 60000 65536"/>
                <a:gd name="T12" fmla="*/ 0 60000 65536"/>
                <a:gd name="T13" fmla="*/ 0 60000 65536"/>
                <a:gd name="T14" fmla="*/ 0 60000 65536"/>
                <a:gd name="T15" fmla="*/ 0 w 199"/>
                <a:gd name="T16" fmla="*/ 0 h 51"/>
                <a:gd name="T17" fmla="*/ 199 w 199"/>
                <a:gd name="T18" fmla="*/ 51 h 51"/>
              </a:gdLst>
              <a:ahLst/>
              <a:cxnLst>
                <a:cxn ang="T10">
                  <a:pos x="T0" y="T1"/>
                </a:cxn>
                <a:cxn ang="T11">
                  <a:pos x="T2" y="T3"/>
                </a:cxn>
                <a:cxn ang="T12">
                  <a:pos x="T4" y="T5"/>
                </a:cxn>
                <a:cxn ang="T13">
                  <a:pos x="T6" y="T7"/>
                </a:cxn>
                <a:cxn ang="T14">
                  <a:pos x="T8" y="T9"/>
                </a:cxn>
              </a:cxnLst>
              <a:rect l="T15" t="T16" r="T17" b="T18"/>
              <a:pathLst>
                <a:path w="199" h="51">
                  <a:moveTo>
                    <a:pt x="0" y="51"/>
                  </a:moveTo>
                  <a:lnTo>
                    <a:pt x="50" y="0"/>
                  </a:lnTo>
                  <a:lnTo>
                    <a:pt x="199" y="0"/>
                  </a:lnTo>
                  <a:lnTo>
                    <a:pt x="149" y="51"/>
                  </a:lnTo>
                  <a:lnTo>
                    <a:pt x="0" y="51"/>
                  </a:lnTo>
                  <a:close/>
                </a:path>
              </a:pathLst>
            </a:custGeom>
            <a:solidFill>
              <a:srgbClr val="E6E6E6"/>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05" name="Freeform 560"/>
            <p:cNvSpPr>
              <a:spLocks/>
            </p:cNvSpPr>
            <p:nvPr/>
          </p:nvSpPr>
          <p:spPr bwMode="auto">
            <a:xfrm>
              <a:off x="2629" y="1582"/>
              <a:ext cx="199" cy="51"/>
            </a:xfrm>
            <a:custGeom>
              <a:avLst/>
              <a:gdLst>
                <a:gd name="T0" fmla="*/ 0 w 199"/>
                <a:gd name="T1" fmla="*/ 51 h 51"/>
                <a:gd name="T2" fmla="*/ 50 w 199"/>
                <a:gd name="T3" fmla="*/ 0 h 51"/>
                <a:gd name="T4" fmla="*/ 199 w 199"/>
                <a:gd name="T5" fmla="*/ 0 h 51"/>
                <a:gd name="T6" fmla="*/ 149 w 199"/>
                <a:gd name="T7" fmla="*/ 51 h 51"/>
                <a:gd name="T8" fmla="*/ 0 w 199"/>
                <a:gd name="T9" fmla="*/ 51 h 51"/>
                <a:gd name="T10" fmla="*/ 0 60000 65536"/>
                <a:gd name="T11" fmla="*/ 0 60000 65536"/>
                <a:gd name="T12" fmla="*/ 0 60000 65536"/>
                <a:gd name="T13" fmla="*/ 0 60000 65536"/>
                <a:gd name="T14" fmla="*/ 0 60000 65536"/>
                <a:gd name="T15" fmla="*/ 0 w 199"/>
                <a:gd name="T16" fmla="*/ 0 h 51"/>
                <a:gd name="T17" fmla="*/ 199 w 199"/>
                <a:gd name="T18" fmla="*/ 51 h 51"/>
              </a:gdLst>
              <a:ahLst/>
              <a:cxnLst>
                <a:cxn ang="T10">
                  <a:pos x="T0" y="T1"/>
                </a:cxn>
                <a:cxn ang="T11">
                  <a:pos x="T2" y="T3"/>
                </a:cxn>
                <a:cxn ang="T12">
                  <a:pos x="T4" y="T5"/>
                </a:cxn>
                <a:cxn ang="T13">
                  <a:pos x="T6" y="T7"/>
                </a:cxn>
                <a:cxn ang="T14">
                  <a:pos x="T8" y="T9"/>
                </a:cxn>
              </a:cxnLst>
              <a:rect l="T15" t="T16" r="T17" b="T18"/>
              <a:pathLst>
                <a:path w="199" h="51">
                  <a:moveTo>
                    <a:pt x="0" y="51"/>
                  </a:moveTo>
                  <a:lnTo>
                    <a:pt x="50" y="0"/>
                  </a:lnTo>
                  <a:lnTo>
                    <a:pt x="199" y="0"/>
                  </a:lnTo>
                  <a:lnTo>
                    <a:pt x="149" y="51"/>
                  </a:lnTo>
                  <a:lnTo>
                    <a:pt x="0" y="51"/>
                  </a:lnTo>
                  <a:close/>
                </a:path>
              </a:pathLst>
            </a:cu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106" name="Freeform 561"/>
            <p:cNvSpPr>
              <a:spLocks/>
            </p:cNvSpPr>
            <p:nvPr/>
          </p:nvSpPr>
          <p:spPr bwMode="auto">
            <a:xfrm>
              <a:off x="2778" y="1582"/>
              <a:ext cx="50" cy="451"/>
            </a:xfrm>
            <a:custGeom>
              <a:avLst/>
              <a:gdLst>
                <a:gd name="T0" fmla="*/ 0 w 50"/>
                <a:gd name="T1" fmla="*/ 51 h 451"/>
                <a:gd name="T2" fmla="*/ 50 w 50"/>
                <a:gd name="T3" fmla="*/ 0 h 451"/>
                <a:gd name="T4" fmla="*/ 50 w 50"/>
                <a:gd name="T5" fmla="*/ 400 h 451"/>
                <a:gd name="T6" fmla="*/ 0 w 50"/>
                <a:gd name="T7" fmla="*/ 451 h 451"/>
                <a:gd name="T8" fmla="*/ 0 w 50"/>
                <a:gd name="T9" fmla="*/ 51 h 451"/>
                <a:gd name="T10" fmla="*/ 0 60000 65536"/>
                <a:gd name="T11" fmla="*/ 0 60000 65536"/>
                <a:gd name="T12" fmla="*/ 0 60000 65536"/>
                <a:gd name="T13" fmla="*/ 0 60000 65536"/>
                <a:gd name="T14" fmla="*/ 0 60000 65536"/>
                <a:gd name="T15" fmla="*/ 0 w 50"/>
                <a:gd name="T16" fmla="*/ 0 h 451"/>
                <a:gd name="T17" fmla="*/ 50 w 50"/>
                <a:gd name="T18" fmla="*/ 451 h 451"/>
              </a:gdLst>
              <a:ahLst/>
              <a:cxnLst>
                <a:cxn ang="T10">
                  <a:pos x="T0" y="T1"/>
                </a:cxn>
                <a:cxn ang="T11">
                  <a:pos x="T2" y="T3"/>
                </a:cxn>
                <a:cxn ang="T12">
                  <a:pos x="T4" y="T5"/>
                </a:cxn>
                <a:cxn ang="T13">
                  <a:pos x="T6" y="T7"/>
                </a:cxn>
                <a:cxn ang="T14">
                  <a:pos x="T8" y="T9"/>
                </a:cxn>
              </a:cxnLst>
              <a:rect l="T15" t="T16" r="T17" b="T18"/>
              <a:pathLst>
                <a:path w="50" h="451">
                  <a:moveTo>
                    <a:pt x="0" y="51"/>
                  </a:moveTo>
                  <a:lnTo>
                    <a:pt x="50" y="0"/>
                  </a:lnTo>
                  <a:lnTo>
                    <a:pt x="50" y="400"/>
                  </a:lnTo>
                  <a:lnTo>
                    <a:pt x="0" y="451"/>
                  </a:lnTo>
                  <a:lnTo>
                    <a:pt x="0" y="51"/>
                  </a:lnTo>
                  <a:close/>
                </a:path>
              </a:pathLst>
            </a:custGeom>
            <a:solidFill>
              <a:srgbClr val="9A9A9A"/>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07" name="Rectangle 562"/>
            <p:cNvSpPr>
              <a:spLocks noChangeArrowheads="1"/>
            </p:cNvSpPr>
            <p:nvPr/>
          </p:nvSpPr>
          <p:spPr bwMode="auto">
            <a:xfrm>
              <a:off x="2629" y="1633"/>
              <a:ext cx="149" cy="400"/>
            </a:xfrm>
            <a:prstGeom prst="rect">
              <a:avLst/>
            </a:prstGeom>
            <a:solidFill>
              <a:srgbClr val="C0C0C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08" name="Rectangle 563"/>
            <p:cNvSpPr>
              <a:spLocks noChangeArrowheads="1"/>
            </p:cNvSpPr>
            <p:nvPr/>
          </p:nvSpPr>
          <p:spPr bwMode="auto">
            <a:xfrm>
              <a:off x="2629" y="1633"/>
              <a:ext cx="149" cy="400"/>
            </a:xfrm>
            <a:prstGeom prst="rect">
              <a:avLst/>
            </a:pr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pic>
          <p:nvPicPr>
            <p:cNvPr id="109" name="Picture 564"/>
            <p:cNvPicPr>
              <a:picLocks noChangeAspect="1" noChangeArrowheads="1"/>
            </p:cNvPicPr>
            <p:nvPr/>
          </p:nvPicPr>
          <p:blipFill>
            <a:blip r:embed="rId115">
              <a:extLst>
                <a:ext uri="{28A0092B-C50C-407E-A947-70E740481C1C}">
                  <a14:useLocalDpi xmlns:a14="http://schemas.microsoft.com/office/drawing/2010/main" val="0"/>
                </a:ext>
              </a:extLst>
            </a:blip>
            <a:srcRect/>
            <a:stretch>
              <a:fillRect/>
            </a:stretch>
          </p:blipFill>
          <p:spPr bwMode="auto">
            <a:xfrm>
              <a:off x="2642" y="1651"/>
              <a:ext cx="112"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10" name="Picture 565"/>
            <p:cNvPicPr>
              <a:picLocks noChangeAspect="1" noChangeArrowheads="1"/>
            </p:cNvPicPr>
            <p:nvPr/>
          </p:nvPicPr>
          <p:blipFill>
            <a:blip r:embed="rId116">
              <a:extLst>
                <a:ext uri="{28A0092B-C50C-407E-A947-70E740481C1C}">
                  <a14:useLocalDpi xmlns:a14="http://schemas.microsoft.com/office/drawing/2010/main" val="0"/>
                </a:ext>
              </a:extLst>
            </a:blip>
            <a:srcRect/>
            <a:stretch>
              <a:fillRect/>
            </a:stretch>
          </p:blipFill>
          <p:spPr bwMode="auto">
            <a:xfrm>
              <a:off x="2642" y="1651"/>
              <a:ext cx="112"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11" name="Rectangle 566"/>
            <p:cNvSpPr>
              <a:spLocks noChangeArrowheads="1"/>
            </p:cNvSpPr>
            <p:nvPr/>
          </p:nvSpPr>
          <p:spPr bwMode="auto">
            <a:xfrm>
              <a:off x="2648" y="1652"/>
              <a:ext cx="111" cy="244"/>
            </a:xfrm>
            <a:prstGeom prst="rect">
              <a:avLst/>
            </a:pr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112" name="Freeform 567"/>
            <p:cNvSpPr>
              <a:spLocks noEditPoints="1"/>
            </p:cNvSpPr>
            <p:nvPr/>
          </p:nvSpPr>
          <p:spPr bwMode="auto">
            <a:xfrm>
              <a:off x="2661" y="1665"/>
              <a:ext cx="85" cy="209"/>
            </a:xfrm>
            <a:custGeom>
              <a:avLst/>
              <a:gdLst>
                <a:gd name="T0" fmla="*/ 0 w 85"/>
                <a:gd name="T1" fmla="*/ 188 h 209"/>
                <a:gd name="T2" fmla="*/ 85 w 85"/>
                <a:gd name="T3" fmla="*/ 188 h 209"/>
                <a:gd name="T4" fmla="*/ 85 w 85"/>
                <a:gd name="T5" fmla="*/ 209 h 209"/>
                <a:gd name="T6" fmla="*/ 0 w 85"/>
                <a:gd name="T7" fmla="*/ 209 h 209"/>
                <a:gd name="T8" fmla="*/ 0 w 85"/>
                <a:gd name="T9" fmla="*/ 188 h 209"/>
                <a:gd name="T10" fmla="*/ 0 w 85"/>
                <a:gd name="T11" fmla="*/ 156 h 209"/>
                <a:gd name="T12" fmla="*/ 85 w 85"/>
                <a:gd name="T13" fmla="*/ 156 h 209"/>
                <a:gd name="T14" fmla="*/ 85 w 85"/>
                <a:gd name="T15" fmla="*/ 177 h 209"/>
                <a:gd name="T16" fmla="*/ 0 w 85"/>
                <a:gd name="T17" fmla="*/ 177 h 209"/>
                <a:gd name="T18" fmla="*/ 0 w 85"/>
                <a:gd name="T19" fmla="*/ 156 h 209"/>
                <a:gd name="T20" fmla="*/ 0 w 85"/>
                <a:gd name="T21" fmla="*/ 124 h 209"/>
                <a:gd name="T22" fmla="*/ 85 w 85"/>
                <a:gd name="T23" fmla="*/ 124 h 209"/>
                <a:gd name="T24" fmla="*/ 85 w 85"/>
                <a:gd name="T25" fmla="*/ 145 h 209"/>
                <a:gd name="T26" fmla="*/ 0 w 85"/>
                <a:gd name="T27" fmla="*/ 145 h 209"/>
                <a:gd name="T28" fmla="*/ 0 w 85"/>
                <a:gd name="T29" fmla="*/ 124 h 209"/>
                <a:gd name="T30" fmla="*/ 0 w 85"/>
                <a:gd name="T31" fmla="*/ 92 h 209"/>
                <a:gd name="T32" fmla="*/ 85 w 85"/>
                <a:gd name="T33" fmla="*/ 92 h 209"/>
                <a:gd name="T34" fmla="*/ 85 w 85"/>
                <a:gd name="T35" fmla="*/ 113 h 209"/>
                <a:gd name="T36" fmla="*/ 0 w 85"/>
                <a:gd name="T37" fmla="*/ 113 h 209"/>
                <a:gd name="T38" fmla="*/ 0 w 85"/>
                <a:gd name="T39" fmla="*/ 92 h 209"/>
                <a:gd name="T40" fmla="*/ 0 w 85"/>
                <a:gd name="T41" fmla="*/ 47 h 209"/>
                <a:gd name="T42" fmla="*/ 85 w 85"/>
                <a:gd name="T43" fmla="*/ 47 h 209"/>
                <a:gd name="T44" fmla="*/ 85 w 85"/>
                <a:gd name="T45" fmla="*/ 82 h 209"/>
                <a:gd name="T46" fmla="*/ 0 w 85"/>
                <a:gd name="T47" fmla="*/ 82 h 209"/>
                <a:gd name="T48" fmla="*/ 0 w 85"/>
                <a:gd name="T49" fmla="*/ 47 h 209"/>
                <a:gd name="T50" fmla="*/ 0 w 85"/>
                <a:gd name="T51" fmla="*/ 0 h 209"/>
                <a:gd name="T52" fmla="*/ 85 w 85"/>
                <a:gd name="T53" fmla="*/ 0 h 209"/>
                <a:gd name="T54" fmla="*/ 85 w 85"/>
                <a:gd name="T55" fmla="*/ 35 h 209"/>
                <a:gd name="T56" fmla="*/ 0 w 85"/>
                <a:gd name="T57" fmla="*/ 35 h 209"/>
                <a:gd name="T58" fmla="*/ 0 w 85"/>
                <a:gd name="T59" fmla="*/ 0 h 209"/>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85"/>
                <a:gd name="T91" fmla="*/ 0 h 209"/>
                <a:gd name="T92" fmla="*/ 85 w 85"/>
                <a:gd name="T93" fmla="*/ 209 h 209"/>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85" h="209">
                  <a:moveTo>
                    <a:pt x="0" y="188"/>
                  </a:moveTo>
                  <a:lnTo>
                    <a:pt x="85" y="188"/>
                  </a:lnTo>
                  <a:lnTo>
                    <a:pt x="85" y="209"/>
                  </a:lnTo>
                  <a:lnTo>
                    <a:pt x="0" y="209"/>
                  </a:lnTo>
                  <a:lnTo>
                    <a:pt x="0" y="188"/>
                  </a:lnTo>
                  <a:close/>
                  <a:moveTo>
                    <a:pt x="0" y="156"/>
                  </a:moveTo>
                  <a:lnTo>
                    <a:pt x="85" y="156"/>
                  </a:lnTo>
                  <a:lnTo>
                    <a:pt x="85" y="177"/>
                  </a:lnTo>
                  <a:lnTo>
                    <a:pt x="0" y="177"/>
                  </a:lnTo>
                  <a:lnTo>
                    <a:pt x="0" y="156"/>
                  </a:lnTo>
                  <a:close/>
                  <a:moveTo>
                    <a:pt x="0" y="124"/>
                  </a:moveTo>
                  <a:lnTo>
                    <a:pt x="85" y="124"/>
                  </a:lnTo>
                  <a:lnTo>
                    <a:pt x="85" y="145"/>
                  </a:lnTo>
                  <a:lnTo>
                    <a:pt x="0" y="145"/>
                  </a:lnTo>
                  <a:lnTo>
                    <a:pt x="0" y="124"/>
                  </a:lnTo>
                  <a:close/>
                  <a:moveTo>
                    <a:pt x="0" y="92"/>
                  </a:moveTo>
                  <a:lnTo>
                    <a:pt x="85" y="92"/>
                  </a:lnTo>
                  <a:lnTo>
                    <a:pt x="85" y="113"/>
                  </a:lnTo>
                  <a:lnTo>
                    <a:pt x="0" y="113"/>
                  </a:lnTo>
                  <a:lnTo>
                    <a:pt x="0" y="92"/>
                  </a:lnTo>
                  <a:close/>
                  <a:moveTo>
                    <a:pt x="0" y="47"/>
                  </a:moveTo>
                  <a:lnTo>
                    <a:pt x="85" y="47"/>
                  </a:lnTo>
                  <a:lnTo>
                    <a:pt x="85" y="82"/>
                  </a:lnTo>
                  <a:lnTo>
                    <a:pt x="0" y="82"/>
                  </a:lnTo>
                  <a:lnTo>
                    <a:pt x="0" y="47"/>
                  </a:lnTo>
                  <a:close/>
                  <a:moveTo>
                    <a:pt x="0" y="0"/>
                  </a:moveTo>
                  <a:lnTo>
                    <a:pt x="85" y="0"/>
                  </a:lnTo>
                  <a:lnTo>
                    <a:pt x="85" y="35"/>
                  </a:lnTo>
                  <a:lnTo>
                    <a:pt x="0" y="35"/>
                  </a:lnTo>
                  <a:lnTo>
                    <a:pt x="0" y="0"/>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13" name="Rectangle 568"/>
            <p:cNvSpPr>
              <a:spLocks noChangeArrowheads="1"/>
            </p:cNvSpPr>
            <p:nvPr/>
          </p:nvSpPr>
          <p:spPr bwMode="auto">
            <a:xfrm>
              <a:off x="2661" y="1853"/>
              <a:ext cx="85" cy="21"/>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114" name="Rectangle 569"/>
            <p:cNvSpPr>
              <a:spLocks noChangeArrowheads="1"/>
            </p:cNvSpPr>
            <p:nvPr/>
          </p:nvSpPr>
          <p:spPr bwMode="auto">
            <a:xfrm>
              <a:off x="2661" y="1821"/>
              <a:ext cx="85" cy="21"/>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115" name="Rectangle 570"/>
            <p:cNvSpPr>
              <a:spLocks noChangeArrowheads="1"/>
            </p:cNvSpPr>
            <p:nvPr/>
          </p:nvSpPr>
          <p:spPr bwMode="auto">
            <a:xfrm>
              <a:off x="2661" y="1789"/>
              <a:ext cx="85" cy="21"/>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116" name="Rectangle 571"/>
            <p:cNvSpPr>
              <a:spLocks noChangeArrowheads="1"/>
            </p:cNvSpPr>
            <p:nvPr/>
          </p:nvSpPr>
          <p:spPr bwMode="auto">
            <a:xfrm>
              <a:off x="2661" y="1757"/>
              <a:ext cx="85" cy="21"/>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117" name="Rectangle 572"/>
            <p:cNvSpPr>
              <a:spLocks noChangeArrowheads="1"/>
            </p:cNvSpPr>
            <p:nvPr/>
          </p:nvSpPr>
          <p:spPr bwMode="auto">
            <a:xfrm>
              <a:off x="2661" y="1712"/>
              <a:ext cx="85" cy="35"/>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118" name="Rectangle 573"/>
            <p:cNvSpPr>
              <a:spLocks noChangeArrowheads="1"/>
            </p:cNvSpPr>
            <p:nvPr/>
          </p:nvSpPr>
          <p:spPr bwMode="auto">
            <a:xfrm>
              <a:off x="2661" y="1665"/>
              <a:ext cx="85" cy="35"/>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119" name="Rectangle 574"/>
            <p:cNvSpPr>
              <a:spLocks noChangeArrowheads="1"/>
            </p:cNvSpPr>
            <p:nvPr/>
          </p:nvSpPr>
          <p:spPr bwMode="auto">
            <a:xfrm>
              <a:off x="2635" y="2033"/>
              <a:ext cx="137" cy="10"/>
            </a:xfrm>
            <a:prstGeom prst="rect">
              <a:avLst/>
            </a:prstGeom>
            <a:solidFill>
              <a:srgbClr val="9A9A9A"/>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pic>
          <p:nvPicPr>
            <p:cNvPr id="120" name="Picture 575"/>
            <p:cNvPicPr>
              <a:picLocks noChangeAspect="1" noChangeArrowheads="1"/>
            </p:cNvPicPr>
            <p:nvPr/>
          </p:nvPicPr>
          <p:blipFill>
            <a:blip r:embed="rId117">
              <a:extLst>
                <a:ext uri="{28A0092B-C50C-407E-A947-70E740481C1C}">
                  <a14:useLocalDpi xmlns:a14="http://schemas.microsoft.com/office/drawing/2010/main" val="0"/>
                </a:ext>
              </a:extLst>
            </a:blip>
            <a:srcRect/>
            <a:stretch>
              <a:fillRect/>
            </a:stretch>
          </p:blipFill>
          <p:spPr bwMode="auto">
            <a:xfrm>
              <a:off x="2690" y="1915"/>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21" name="Picture 576"/>
            <p:cNvPicPr>
              <a:picLocks noChangeAspect="1" noChangeArrowheads="1"/>
            </p:cNvPicPr>
            <p:nvPr/>
          </p:nvPicPr>
          <p:blipFill>
            <a:blip r:embed="rId118">
              <a:extLst>
                <a:ext uri="{28A0092B-C50C-407E-A947-70E740481C1C}">
                  <a14:useLocalDpi xmlns:a14="http://schemas.microsoft.com/office/drawing/2010/main" val="0"/>
                </a:ext>
              </a:extLst>
            </a:blip>
            <a:srcRect/>
            <a:stretch>
              <a:fillRect/>
            </a:stretch>
          </p:blipFill>
          <p:spPr bwMode="auto">
            <a:xfrm>
              <a:off x="2690" y="1923"/>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22" name="Picture 577"/>
            <p:cNvPicPr>
              <a:picLocks noChangeAspect="1" noChangeArrowheads="1"/>
            </p:cNvPicPr>
            <p:nvPr/>
          </p:nvPicPr>
          <p:blipFill>
            <a:blip r:embed="rId119">
              <a:extLst>
                <a:ext uri="{28A0092B-C50C-407E-A947-70E740481C1C}">
                  <a14:useLocalDpi xmlns:a14="http://schemas.microsoft.com/office/drawing/2010/main" val="0"/>
                </a:ext>
              </a:extLst>
            </a:blip>
            <a:srcRect/>
            <a:stretch>
              <a:fillRect/>
            </a:stretch>
          </p:blipFill>
          <p:spPr bwMode="auto">
            <a:xfrm>
              <a:off x="2690" y="1923"/>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23" name="Picture 578"/>
            <p:cNvPicPr>
              <a:picLocks noChangeAspect="1" noChangeArrowheads="1"/>
            </p:cNvPicPr>
            <p:nvPr/>
          </p:nvPicPr>
          <p:blipFill>
            <a:blip r:embed="rId120">
              <a:extLst>
                <a:ext uri="{28A0092B-C50C-407E-A947-70E740481C1C}">
                  <a14:useLocalDpi xmlns:a14="http://schemas.microsoft.com/office/drawing/2010/main" val="0"/>
                </a:ext>
              </a:extLst>
            </a:blip>
            <a:srcRect/>
            <a:stretch>
              <a:fillRect/>
            </a:stretch>
          </p:blipFill>
          <p:spPr bwMode="auto">
            <a:xfrm>
              <a:off x="2690" y="1947"/>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24" name="Picture 579"/>
            <p:cNvPicPr>
              <a:picLocks noChangeAspect="1" noChangeArrowheads="1"/>
            </p:cNvPicPr>
            <p:nvPr/>
          </p:nvPicPr>
          <p:blipFill>
            <a:blip r:embed="rId121">
              <a:extLst>
                <a:ext uri="{28A0092B-C50C-407E-A947-70E740481C1C}">
                  <a14:useLocalDpi xmlns:a14="http://schemas.microsoft.com/office/drawing/2010/main" val="0"/>
                </a:ext>
              </a:extLst>
            </a:blip>
            <a:srcRect/>
            <a:stretch>
              <a:fillRect/>
            </a:stretch>
          </p:blipFill>
          <p:spPr bwMode="auto">
            <a:xfrm>
              <a:off x="2690" y="1947"/>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25" name="Picture 580"/>
            <p:cNvPicPr>
              <a:picLocks noChangeAspect="1" noChangeArrowheads="1"/>
            </p:cNvPicPr>
            <p:nvPr/>
          </p:nvPicPr>
          <p:blipFill>
            <a:blip r:embed="rId57">
              <a:extLst>
                <a:ext uri="{28A0092B-C50C-407E-A947-70E740481C1C}">
                  <a14:useLocalDpi xmlns:a14="http://schemas.microsoft.com/office/drawing/2010/main" val="0"/>
                </a:ext>
              </a:extLst>
            </a:blip>
            <a:srcRect/>
            <a:stretch>
              <a:fillRect/>
            </a:stretch>
          </p:blipFill>
          <p:spPr bwMode="auto">
            <a:xfrm>
              <a:off x="2698" y="1947"/>
              <a:ext cx="8" cy="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26" name="Rectangle 581"/>
            <p:cNvSpPr>
              <a:spLocks noChangeArrowheads="1"/>
            </p:cNvSpPr>
            <p:nvPr/>
          </p:nvSpPr>
          <p:spPr bwMode="auto">
            <a:xfrm>
              <a:off x="2682" y="1683"/>
              <a:ext cx="12" cy="3"/>
            </a:xfrm>
            <a:prstGeom prst="rect">
              <a:avLst/>
            </a:prstGeom>
            <a:solidFill>
              <a:srgbClr val="9A9A9A"/>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pic>
          <p:nvPicPr>
            <p:cNvPr id="127" name="Picture 582"/>
            <p:cNvPicPr>
              <a:picLocks noChangeAspect="1" noChangeArrowheads="1"/>
            </p:cNvPicPr>
            <p:nvPr/>
          </p:nvPicPr>
          <p:blipFill>
            <a:blip r:embed="rId58">
              <a:extLst>
                <a:ext uri="{28A0092B-C50C-407E-A947-70E740481C1C}">
                  <a14:useLocalDpi xmlns:a14="http://schemas.microsoft.com/office/drawing/2010/main" val="0"/>
                </a:ext>
              </a:extLst>
            </a:blip>
            <a:srcRect/>
            <a:stretch>
              <a:fillRect/>
            </a:stretch>
          </p:blipFill>
          <p:spPr bwMode="auto">
            <a:xfrm>
              <a:off x="2666" y="1667"/>
              <a:ext cx="72" cy="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28" name="Rectangle 583"/>
            <p:cNvSpPr>
              <a:spLocks noChangeArrowheads="1"/>
            </p:cNvSpPr>
            <p:nvPr/>
          </p:nvSpPr>
          <p:spPr bwMode="auto">
            <a:xfrm>
              <a:off x="2668" y="1672"/>
              <a:ext cx="71" cy="6"/>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pic>
          <p:nvPicPr>
            <p:cNvPr id="129" name="Picture 584"/>
            <p:cNvPicPr>
              <a:picLocks noChangeAspect="1" noChangeArrowheads="1"/>
            </p:cNvPicPr>
            <p:nvPr/>
          </p:nvPicPr>
          <p:blipFill>
            <a:blip r:embed="rId122">
              <a:extLst>
                <a:ext uri="{28A0092B-C50C-407E-A947-70E740481C1C}">
                  <a14:useLocalDpi xmlns:a14="http://schemas.microsoft.com/office/drawing/2010/main" val="0"/>
                </a:ext>
              </a:extLst>
            </a:blip>
            <a:srcRect/>
            <a:stretch>
              <a:fillRect/>
            </a:stretch>
          </p:blipFill>
          <p:spPr bwMode="auto">
            <a:xfrm>
              <a:off x="2658" y="1715"/>
              <a:ext cx="72"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30" name="Picture 585"/>
            <p:cNvPicPr>
              <a:picLocks noChangeAspect="1" noChangeArrowheads="1"/>
            </p:cNvPicPr>
            <p:nvPr/>
          </p:nvPicPr>
          <p:blipFill>
            <a:blip r:embed="rId123">
              <a:extLst>
                <a:ext uri="{28A0092B-C50C-407E-A947-70E740481C1C}">
                  <a14:useLocalDpi xmlns:a14="http://schemas.microsoft.com/office/drawing/2010/main" val="0"/>
                </a:ext>
              </a:extLst>
            </a:blip>
            <a:srcRect/>
            <a:stretch>
              <a:fillRect/>
            </a:stretch>
          </p:blipFill>
          <p:spPr bwMode="auto">
            <a:xfrm>
              <a:off x="2658" y="1715"/>
              <a:ext cx="72"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31" name="Freeform 586"/>
            <p:cNvSpPr>
              <a:spLocks/>
            </p:cNvSpPr>
            <p:nvPr/>
          </p:nvSpPr>
          <p:spPr bwMode="auto">
            <a:xfrm>
              <a:off x="2666" y="1720"/>
              <a:ext cx="72" cy="14"/>
            </a:xfrm>
            <a:custGeom>
              <a:avLst/>
              <a:gdLst>
                <a:gd name="T0" fmla="*/ 0 w 144"/>
                <a:gd name="T1" fmla="*/ 6 h 28"/>
                <a:gd name="T2" fmla="*/ 40 w 144"/>
                <a:gd name="T3" fmla="*/ 6 h 28"/>
                <a:gd name="T4" fmla="*/ 118 w 144"/>
                <a:gd name="T5" fmla="*/ 6 h 28"/>
                <a:gd name="T6" fmla="*/ 118 w 144"/>
                <a:gd name="T7" fmla="*/ 6 h 28"/>
                <a:gd name="T8" fmla="*/ 144 w 144"/>
                <a:gd name="T9" fmla="*/ 6 h 28"/>
                <a:gd name="T10" fmla="*/ 144 w 144"/>
                <a:gd name="T11" fmla="*/ 28 h 28"/>
                <a:gd name="T12" fmla="*/ 0 w 144"/>
                <a:gd name="T13" fmla="*/ 28 h 28"/>
                <a:gd name="T14" fmla="*/ 0 w 144"/>
                <a:gd name="T15" fmla="*/ 6 h 28"/>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28"/>
                <a:gd name="T26" fmla="*/ 144 w 144"/>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28">
                  <a:moveTo>
                    <a:pt x="0" y="6"/>
                  </a:moveTo>
                  <a:lnTo>
                    <a:pt x="40" y="6"/>
                  </a:lnTo>
                  <a:cubicBezTo>
                    <a:pt x="65" y="0"/>
                    <a:pt x="93" y="0"/>
                    <a:pt x="118" y="6"/>
                  </a:cubicBezTo>
                  <a:lnTo>
                    <a:pt x="144" y="6"/>
                  </a:lnTo>
                  <a:lnTo>
                    <a:pt x="144" y="28"/>
                  </a:lnTo>
                  <a:lnTo>
                    <a:pt x="0" y="28"/>
                  </a:lnTo>
                  <a:lnTo>
                    <a:pt x="0" y="6"/>
                  </a:lnTo>
                </a:path>
              </a:pathLst>
            </a:cu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132" name="Rectangle 587"/>
            <p:cNvSpPr>
              <a:spLocks noChangeArrowheads="1"/>
            </p:cNvSpPr>
            <p:nvPr/>
          </p:nvSpPr>
          <p:spPr bwMode="auto">
            <a:xfrm>
              <a:off x="2669" y="1727"/>
              <a:ext cx="66" cy="3"/>
            </a:xfrm>
            <a:prstGeom prst="rect">
              <a:avLst/>
            </a:prstGeom>
            <a:solidFill>
              <a:srgbClr val="DBDAC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33" name="Rectangle 588"/>
            <p:cNvSpPr>
              <a:spLocks noChangeArrowheads="1"/>
            </p:cNvSpPr>
            <p:nvPr/>
          </p:nvSpPr>
          <p:spPr bwMode="auto">
            <a:xfrm>
              <a:off x="2669" y="1727"/>
              <a:ext cx="66" cy="3"/>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pic>
          <p:nvPicPr>
            <p:cNvPr id="134" name="Picture 589"/>
            <p:cNvPicPr>
              <a:picLocks noChangeAspect="1" noChangeArrowheads="1"/>
            </p:cNvPicPr>
            <p:nvPr/>
          </p:nvPicPr>
          <p:blipFill>
            <a:blip r:embed="rId124">
              <a:extLst>
                <a:ext uri="{28A0092B-C50C-407E-A947-70E740481C1C}">
                  <a14:useLocalDpi xmlns:a14="http://schemas.microsoft.com/office/drawing/2010/main" val="0"/>
                </a:ext>
              </a:extLst>
            </a:blip>
            <a:srcRect/>
            <a:stretch>
              <a:fillRect/>
            </a:stretch>
          </p:blipFill>
          <p:spPr bwMode="auto">
            <a:xfrm>
              <a:off x="2666" y="1755"/>
              <a:ext cx="80"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35" name="Picture 590"/>
            <p:cNvPicPr>
              <a:picLocks noChangeAspect="1" noChangeArrowheads="1"/>
            </p:cNvPicPr>
            <p:nvPr/>
          </p:nvPicPr>
          <p:blipFill>
            <a:blip r:embed="rId125">
              <a:extLst>
                <a:ext uri="{28A0092B-C50C-407E-A947-70E740481C1C}">
                  <a14:useLocalDpi xmlns:a14="http://schemas.microsoft.com/office/drawing/2010/main" val="0"/>
                </a:ext>
              </a:extLst>
            </a:blip>
            <a:srcRect/>
            <a:stretch>
              <a:fillRect/>
            </a:stretch>
          </p:blipFill>
          <p:spPr bwMode="auto">
            <a:xfrm>
              <a:off x="2666" y="1755"/>
              <a:ext cx="80"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36" name="Freeform 591"/>
            <p:cNvSpPr>
              <a:spLocks/>
            </p:cNvSpPr>
            <p:nvPr/>
          </p:nvSpPr>
          <p:spPr bwMode="auto">
            <a:xfrm>
              <a:off x="2666" y="1760"/>
              <a:ext cx="75" cy="12"/>
            </a:xfrm>
            <a:custGeom>
              <a:avLst/>
              <a:gdLst>
                <a:gd name="T0" fmla="*/ 0 w 149"/>
                <a:gd name="T1" fmla="*/ 18 h 23"/>
                <a:gd name="T2" fmla="*/ 0 w 149"/>
                <a:gd name="T3" fmla="*/ 6 h 23"/>
                <a:gd name="T4" fmla="*/ 48 w 149"/>
                <a:gd name="T5" fmla="*/ 6 h 23"/>
                <a:gd name="T6" fmla="*/ 101 w 149"/>
                <a:gd name="T7" fmla="*/ 6 h 23"/>
                <a:gd name="T8" fmla="*/ 101 w 149"/>
                <a:gd name="T9" fmla="*/ 6 h 23"/>
                <a:gd name="T10" fmla="*/ 149 w 149"/>
                <a:gd name="T11" fmla="*/ 6 h 23"/>
                <a:gd name="T12" fmla="*/ 149 w 149"/>
                <a:gd name="T13" fmla="*/ 18 h 23"/>
                <a:gd name="T14" fmla="*/ 101 w 149"/>
                <a:gd name="T15" fmla="*/ 18 h 23"/>
                <a:gd name="T16" fmla="*/ 48 w 149"/>
                <a:gd name="T17" fmla="*/ 18 h 23"/>
                <a:gd name="T18" fmla="*/ 48 w 149"/>
                <a:gd name="T19" fmla="*/ 18 h 23"/>
                <a:gd name="T20" fmla="*/ 0 w 149"/>
                <a:gd name="T21" fmla="*/ 18 h 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9"/>
                <a:gd name="T34" fmla="*/ 0 h 23"/>
                <a:gd name="T35" fmla="*/ 149 w 149"/>
                <a:gd name="T36" fmla="*/ 23 h 2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9" h="23">
                  <a:moveTo>
                    <a:pt x="0" y="18"/>
                  </a:moveTo>
                  <a:lnTo>
                    <a:pt x="0" y="6"/>
                  </a:lnTo>
                  <a:lnTo>
                    <a:pt x="48" y="6"/>
                  </a:lnTo>
                  <a:cubicBezTo>
                    <a:pt x="64" y="0"/>
                    <a:pt x="85" y="0"/>
                    <a:pt x="101" y="6"/>
                  </a:cubicBezTo>
                  <a:lnTo>
                    <a:pt x="149" y="6"/>
                  </a:lnTo>
                  <a:lnTo>
                    <a:pt x="149" y="18"/>
                  </a:lnTo>
                  <a:lnTo>
                    <a:pt x="101" y="18"/>
                  </a:lnTo>
                  <a:cubicBezTo>
                    <a:pt x="84" y="23"/>
                    <a:pt x="65" y="23"/>
                    <a:pt x="48" y="18"/>
                  </a:cubicBezTo>
                  <a:lnTo>
                    <a:pt x="0" y="18"/>
                  </a:lnTo>
                </a:path>
              </a:pathLst>
            </a:cu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pic>
          <p:nvPicPr>
            <p:cNvPr id="137" name="Picture 592"/>
            <p:cNvPicPr>
              <a:picLocks noChangeAspect="1" noChangeArrowheads="1"/>
            </p:cNvPicPr>
            <p:nvPr/>
          </p:nvPicPr>
          <p:blipFill>
            <a:blip r:embed="rId126">
              <a:extLst>
                <a:ext uri="{28A0092B-C50C-407E-A947-70E740481C1C}">
                  <a14:useLocalDpi xmlns:a14="http://schemas.microsoft.com/office/drawing/2010/main" val="0"/>
                </a:ext>
              </a:extLst>
            </a:blip>
            <a:srcRect/>
            <a:stretch>
              <a:fillRect/>
            </a:stretch>
          </p:blipFill>
          <p:spPr bwMode="auto">
            <a:xfrm>
              <a:off x="2698" y="1675"/>
              <a:ext cx="40" cy="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38" name="Picture 593"/>
            <p:cNvPicPr>
              <a:picLocks noChangeAspect="1" noChangeArrowheads="1"/>
            </p:cNvPicPr>
            <p:nvPr/>
          </p:nvPicPr>
          <p:blipFill>
            <a:blip r:embed="rId127">
              <a:extLst>
                <a:ext uri="{28A0092B-C50C-407E-A947-70E740481C1C}">
                  <a14:useLocalDpi xmlns:a14="http://schemas.microsoft.com/office/drawing/2010/main" val="0"/>
                </a:ext>
              </a:extLst>
            </a:blip>
            <a:srcRect/>
            <a:stretch>
              <a:fillRect/>
            </a:stretch>
          </p:blipFill>
          <p:spPr bwMode="auto">
            <a:xfrm>
              <a:off x="2698" y="1675"/>
              <a:ext cx="40" cy="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39" name="Freeform 594"/>
            <p:cNvSpPr>
              <a:spLocks noEditPoints="1"/>
            </p:cNvSpPr>
            <p:nvPr/>
          </p:nvSpPr>
          <p:spPr bwMode="auto">
            <a:xfrm>
              <a:off x="2703" y="1682"/>
              <a:ext cx="38" cy="94"/>
            </a:xfrm>
            <a:custGeom>
              <a:avLst/>
              <a:gdLst>
                <a:gd name="T0" fmla="*/ 27 w 38"/>
                <a:gd name="T1" fmla="*/ 5 h 94"/>
                <a:gd name="T2" fmla="*/ 37 w 38"/>
                <a:gd name="T3" fmla="*/ 5 h 94"/>
                <a:gd name="T4" fmla="*/ 37 w 38"/>
                <a:gd name="T5" fmla="*/ 0 h 94"/>
                <a:gd name="T6" fmla="*/ 27 w 38"/>
                <a:gd name="T7" fmla="*/ 0 h 94"/>
                <a:gd name="T8" fmla="*/ 27 w 38"/>
                <a:gd name="T9" fmla="*/ 5 h 94"/>
                <a:gd name="T10" fmla="*/ 17 w 38"/>
                <a:gd name="T11" fmla="*/ 4 h 94"/>
                <a:gd name="T12" fmla="*/ 10 w 38"/>
                <a:gd name="T13" fmla="*/ 7 h 94"/>
                <a:gd name="T14" fmla="*/ 10 w 38"/>
                <a:gd name="T15" fmla="*/ 0 h 94"/>
                <a:gd name="T16" fmla="*/ 17 w 38"/>
                <a:gd name="T17" fmla="*/ 4 h 94"/>
                <a:gd name="T18" fmla="*/ 0 w 38"/>
                <a:gd name="T19" fmla="*/ 4 h 94"/>
                <a:gd name="T20" fmla="*/ 7 w 38"/>
                <a:gd name="T21" fmla="*/ 0 h 94"/>
                <a:gd name="T22" fmla="*/ 7 w 38"/>
                <a:gd name="T23" fmla="*/ 7 h 94"/>
                <a:gd name="T24" fmla="*/ 0 w 38"/>
                <a:gd name="T25" fmla="*/ 4 h 94"/>
                <a:gd name="T26" fmla="*/ 22 w 38"/>
                <a:gd name="T27" fmla="*/ 59 h 94"/>
                <a:gd name="T28" fmla="*/ 35 w 38"/>
                <a:gd name="T29" fmla="*/ 59 h 94"/>
                <a:gd name="T30" fmla="*/ 35 w 38"/>
                <a:gd name="T31" fmla="*/ 55 h 94"/>
                <a:gd name="T32" fmla="*/ 22 w 38"/>
                <a:gd name="T33" fmla="*/ 55 h 94"/>
                <a:gd name="T34" fmla="*/ 22 w 38"/>
                <a:gd name="T35" fmla="*/ 59 h 94"/>
                <a:gd name="T36" fmla="*/ 25 w 38"/>
                <a:gd name="T37" fmla="*/ 94 h 94"/>
                <a:gd name="T38" fmla="*/ 38 w 38"/>
                <a:gd name="T39" fmla="*/ 94 h 94"/>
                <a:gd name="T40" fmla="*/ 38 w 38"/>
                <a:gd name="T41" fmla="*/ 90 h 94"/>
                <a:gd name="T42" fmla="*/ 25 w 38"/>
                <a:gd name="T43" fmla="*/ 90 h 94"/>
                <a:gd name="T44" fmla="*/ 25 w 38"/>
                <a:gd name="T45" fmla="*/ 94 h 9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8"/>
                <a:gd name="T70" fmla="*/ 0 h 94"/>
                <a:gd name="T71" fmla="*/ 38 w 38"/>
                <a:gd name="T72" fmla="*/ 94 h 9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8" h="94">
                  <a:moveTo>
                    <a:pt x="27" y="5"/>
                  </a:moveTo>
                  <a:lnTo>
                    <a:pt x="37" y="5"/>
                  </a:lnTo>
                  <a:lnTo>
                    <a:pt x="37" y="0"/>
                  </a:lnTo>
                  <a:lnTo>
                    <a:pt x="27" y="0"/>
                  </a:lnTo>
                  <a:lnTo>
                    <a:pt x="27" y="5"/>
                  </a:lnTo>
                  <a:moveTo>
                    <a:pt x="17" y="4"/>
                  </a:moveTo>
                  <a:lnTo>
                    <a:pt x="10" y="7"/>
                  </a:lnTo>
                  <a:lnTo>
                    <a:pt x="10" y="0"/>
                  </a:lnTo>
                  <a:lnTo>
                    <a:pt x="17" y="4"/>
                  </a:lnTo>
                  <a:moveTo>
                    <a:pt x="0" y="4"/>
                  </a:moveTo>
                  <a:lnTo>
                    <a:pt x="7" y="0"/>
                  </a:lnTo>
                  <a:lnTo>
                    <a:pt x="7" y="7"/>
                  </a:lnTo>
                  <a:lnTo>
                    <a:pt x="0" y="4"/>
                  </a:lnTo>
                  <a:moveTo>
                    <a:pt x="22" y="59"/>
                  </a:moveTo>
                  <a:lnTo>
                    <a:pt x="35" y="59"/>
                  </a:lnTo>
                  <a:lnTo>
                    <a:pt x="35" y="55"/>
                  </a:lnTo>
                  <a:lnTo>
                    <a:pt x="22" y="55"/>
                  </a:lnTo>
                  <a:lnTo>
                    <a:pt x="22" y="59"/>
                  </a:lnTo>
                  <a:moveTo>
                    <a:pt x="25" y="94"/>
                  </a:moveTo>
                  <a:lnTo>
                    <a:pt x="38" y="94"/>
                  </a:lnTo>
                  <a:lnTo>
                    <a:pt x="38" y="90"/>
                  </a:lnTo>
                  <a:lnTo>
                    <a:pt x="25" y="90"/>
                  </a:lnTo>
                  <a:lnTo>
                    <a:pt x="25" y="94"/>
                  </a:lnTo>
                </a:path>
              </a:pathLst>
            </a:cu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140" name="Freeform 595"/>
            <p:cNvSpPr>
              <a:spLocks noEditPoints="1"/>
            </p:cNvSpPr>
            <p:nvPr/>
          </p:nvSpPr>
          <p:spPr bwMode="auto">
            <a:xfrm>
              <a:off x="2666" y="1683"/>
              <a:ext cx="8" cy="56"/>
            </a:xfrm>
            <a:custGeom>
              <a:avLst/>
              <a:gdLst>
                <a:gd name="T0" fmla="*/ 2 w 8"/>
                <a:gd name="T1" fmla="*/ 0 h 56"/>
                <a:gd name="T2" fmla="*/ 8 w 8"/>
                <a:gd name="T3" fmla="*/ 0 h 56"/>
                <a:gd name="T4" fmla="*/ 0 w 8"/>
                <a:gd name="T5" fmla="*/ 56 h 56"/>
                <a:gd name="T6" fmla="*/ 6 w 8"/>
                <a:gd name="T7" fmla="*/ 56 h 56"/>
                <a:gd name="T8" fmla="*/ 0 60000 65536"/>
                <a:gd name="T9" fmla="*/ 0 60000 65536"/>
                <a:gd name="T10" fmla="*/ 0 60000 65536"/>
                <a:gd name="T11" fmla="*/ 0 60000 65536"/>
                <a:gd name="T12" fmla="*/ 0 w 8"/>
                <a:gd name="T13" fmla="*/ 0 h 56"/>
                <a:gd name="T14" fmla="*/ 8 w 8"/>
                <a:gd name="T15" fmla="*/ 56 h 56"/>
              </a:gdLst>
              <a:ahLst/>
              <a:cxnLst>
                <a:cxn ang="T8">
                  <a:pos x="T0" y="T1"/>
                </a:cxn>
                <a:cxn ang="T9">
                  <a:pos x="T2" y="T3"/>
                </a:cxn>
                <a:cxn ang="T10">
                  <a:pos x="T4" y="T5"/>
                </a:cxn>
                <a:cxn ang="T11">
                  <a:pos x="T6" y="T7"/>
                </a:cxn>
              </a:cxnLst>
              <a:rect l="T12" t="T13" r="T14" b="T15"/>
              <a:pathLst>
                <a:path w="8" h="56">
                  <a:moveTo>
                    <a:pt x="2" y="0"/>
                  </a:moveTo>
                  <a:lnTo>
                    <a:pt x="8" y="0"/>
                  </a:lnTo>
                  <a:moveTo>
                    <a:pt x="0" y="56"/>
                  </a:moveTo>
                  <a:lnTo>
                    <a:pt x="6" y="56"/>
                  </a:lnTo>
                </a:path>
              </a:pathLst>
            </a:custGeom>
            <a:noFill/>
            <a:ln w="3175" cap="sq">
              <a:solidFill>
                <a:srgbClr val="00FF00"/>
              </a:solidFill>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141" name="Rectangle 596"/>
            <p:cNvSpPr>
              <a:spLocks noChangeArrowheads="1"/>
            </p:cNvSpPr>
            <p:nvPr/>
          </p:nvSpPr>
          <p:spPr bwMode="auto">
            <a:xfrm>
              <a:off x="2642" y="1907"/>
              <a:ext cx="8" cy="112"/>
            </a:xfrm>
            <a:prstGeom prst="rect">
              <a:avLst/>
            </a:prstGeom>
            <a:solidFill>
              <a:srgbClr val="B3B3B3"/>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42" name="Rectangle 597"/>
            <p:cNvSpPr>
              <a:spLocks noChangeArrowheads="1"/>
            </p:cNvSpPr>
            <p:nvPr/>
          </p:nvSpPr>
          <p:spPr bwMode="auto">
            <a:xfrm>
              <a:off x="2650" y="1907"/>
              <a:ext cx="8" cy="112"/>
            </a:xfrm>
            <a:prstGeom prst="rect">
              <a:avLst/>
            </a:prstGeom>
            <a:solidFill>
              <a:srgbClr val="6D6D6D"/>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43" name="Rectangle 598"/>
            <p:cNvSpPr>
              <a:spLocks noChangeArrowheads="1"/>
            </p:cNvSpPr>
            <p:nvPr/>
          </p:nvSpPr>
          <p:spPr bwMode="auto">
            <a:xfrm>
              <a:off x="2658" y="1907"/>
              <a:ext cx="8" cy="112"/>
            </a:xfrm>
            <a:prstGeom prst="rect">
              <a:avLst/>
            </a:prstGeom>
            <a:solidFill>
              <a:srgbClr val="828282"/>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44" name="Rectangle 599"/>
            <p:cNvSpPr>
              <a:spLocks noChangeArrowheads="1"/>
            </p:cNvSpPr>
            <p:nvPr/>
          </p:nvSpPr>
          <p:spPr bwMode="auto">
            <a:xfrm>
              <a:off x="2666" y="1907"/>
              <a:ext cx="8" cy="112"/>
            </a:xfrm>
            <a:prstGeom prst="rect">
              <a:avLst/>
            </a:prstGeom>
            <a:solidFill>
              <a:srgbClr val="96969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45" name="Rectangle 600"/>
            <p:cNvSpPr>
              <a:spLocks noChangeArrowheads="1"/>
            </p:cNvSpPr>
            <p:nvPr/>
          </p:nvSpPr>
          <p:spPr bwMode="auto">
            <a:xfrm>
              <a:off x="2674" y="1907"/>
              <a:ext cx="8" cy="112"/>
            </a:xfrm>
            <a:prstGeom prst="rect">
              <a:avLst/>
            </a:prstGeom>
            <a:solidFill>
              <a:srgbClr val="ABABAB"/>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46" name="Rectangle 601"/>
            <p:cNvSpPr>
              <a:spLocks noChangeArrowheads="1"/>
            </p:cNvSpPr>
            <p:nvPr/>
          </p:nvSpPr>
          <p:spPr bwMode="auto">
            <a:xfrm>
              <a:off x="2722" y="1907"/>
              <a:ext cx="8" cy="112"/>
            </a:xfrm>
            <a:prstGeom prst="rect">
              <a:avLst/>
            </a:prstGeom>
            <a:solidFill>
              <a:srgbClr val="6B6B6B"/>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47" name="Rectangle 602"/>
            <p:cNvSpPr>
              <a:spLocks noChangeArrowheads="1"/>
            </p:cNvSpPr>
            <p:nvPr/>
          </p:nvSpPr>
          <p:spPr bwMode="auto">
            <a:xfrm>
              <a:off x="2730" y="1907"/>
              <a:ext cx="8" cy="112"/>
            </a:xfrm>
            <a:prstGeom prst="rect">
              <a:avLst/>
            </a:prstGeom>
            <a:solidFill>
              <a:srgbClr val="B0B0B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48" name="Rectangle 603"/>
            <p:cNvSpPr>
              <a:spLocks noChangeArrowheads="1"/>
            </p:cNvSpPr>
            <p:nvPr/>
          </p:nvSpPr>
          <p:spPr bwMode="auto">
            <a:xfrm>
              <a:off x="2738" y="1907"/>
              <a:ext cx="8" cy="112"/>
            </a:xfrm>
            <a:prstGeom prst="rect">
              <a:avLst/>
            </a:prstGeom>
            <a:solidFill>
              <a:srgbClr val="9C9C9C"/>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49" name="Rectangle 604"/>
            <p:cNvSpPr>
              <a:spLocks noChangeArrowheads="1"/>
            </p:cNvSpPr>
            <p:nvPr/>
          </p:nvSpPr>
          <p:spPr bwMode="auto">
            <a:xfrm>
              <a:off x="2746" y="1907"/>
              <a:ext cx="8" cy="112"/>
            </a:xfrm>
            <a:prstGeom prst="rect">
              <a:avLst/>
            </a:prstGeom>
            <a:solidFill>
              <a:srgbClr val="878787"/>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50" name="Rectangle 605"/>
            <p:cNvSpPr>
              <a:spLocks noChangeArrowheads="1"/>
            </p:cNvSpPr>
            <p:nvPr/>
          </p:nvSpPr>
          <p:spPr bwMode="auto">
            <a:xfrm>
              <a:off x="2754" y="1907"/>
              <a:ext cx="8" cy="112"/>
            </a:xfrm>
            <a:prstGeom prst="rect">
              <a:avLst/>
            </a:prstGeom>
            <a:solidFill>
              <a:srgbClr val="727272"/>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51" name="Freeform 606"/>
            <p:cNvSpPr>
              <a:spLocks/>
            </p:cNvSpPr>
            <p:nvPr/>
          </p:nvSpPr>
          <p:spPr bwMode="auto">
            <a:xfrm>
              <a:off x="2629" y="1582"/>
              <a:ext cx="199" cy="461"/>
            </a:xfrm>
            <a:custGeom>
              <a:avLst/>
              <a:gdLst>
                <a:gd name="T0" fmla="*/ 6 w 199"/>
                <a:gd name="T1" fmla="*/ 461 h 461"/>
                <a:gd name="T2" fmla="*/ 6 w 199"/>
                <a:gd name="T3" fmla="*/ 451 h 461"/>
                <a:gd name="T4" fmla="*/ 0 w 199"/>
                <a:gd name="T5" fmla="*/ 451 h 461"/>
                <a:gd name="T6" fmla="*/ 0 w 199"/>
                <a:gd name="T7" fmla="*/ 51 h 461"/>
                <a:gd name="T8" fmla="*/ 50 w 199"/>
                <a:gd name="T9" fmla="*/ 0 h 461"/>
                <a:gd name="T10" fmla="*/ 199 w 199"/>
                <a:gd name="T11" fmla="*/ 0 h 461"/>
                <a:gd name="T12" fmla="*/ 199 w 199"/>
                <a:gd name="T13" fmla="*/ 400 h 461"/>
                <a:gd name="T14" fmla="*/ 196 w 199"/>
                <a:gd name="T15" fmla="*/ 403 h 461"/>
                <a:gd name="T16" fmla="*/ 196 w 199"/>
                <a:gd name="T17" fmla="*/ 406 h 461"/>
                <a:gd name="T18" fmla="*/ 143 w 199"/>
                <a:gd name="T19" fmla="*/ 461 h 461"/>
                <a:gd name="T20" fmla="*/ 6 w 199"/>
                <a:gd name="T21" fmla="*/ 461 h 46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9"/>
                <a:gd name="T34" fmla="*/ 0 h 461"/>
                <a:gd name="T35" fmla="*/ 199 w 199"/>
                <a:gd name="T36" fmla="*/ 461 h 46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9" h="461">
                  <a:moveTo>
                    <a:pt x="6" y="461"/>
                  </a:moveTo>
                  <a:lnTo>
                    <a:pt x="6" y="451"/>
                  </a:lnTo>
                  <a:lnTo>
                    <a:pt x="0" y="451"/>
                  </a:lnTo>
                  <a:lnTo>
                    <a:pt x="0" y="51"/>
                  </a:lnTo>
                  <a:lnTo>
                    <a:pt x="50" y="0"/>
                  </a:lnTo>
                  <a:lnTo>
                    <a:pt x="199" y="0"/>
                  </a:lnTo>
                  <a:lnTo>
                    <a:pt x="199" y="400"/>
                  </a:lnTo>
                  <a:lnTo>
                    <a:pt x="196" y="403"/>
                  </a:lnTo>
                  <a:lnTo>
                    <a:pt x="196" y="406"/>
                  </a:lnTo>
                  <a:lnTo>
                    <a:pt x="143" y="461"/>
                  </a:lnTo>
                  <a:lnTo>
                    <a:pt x="6" y="461"/>
                  </a:lnTo>
                </a:path>
              </a:pathLst>
            </a:custGeom>
            <a:noFill/>
            <a:ln w="11113"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152" name="Rectangle 607"/>
            <p:cNvSpPr>
              <a:spLocks noChangeArrowheads="1"/>
            </p:cNvSpPr>
            <p:nvPr/>
          </p:nvSpPr>
          <p:spPr bwMode="auto">
            <a:xfrm>
              <a:off x="2606" y="2059"/>
              <a:ext cx="264" cy="17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800" b="0">
                  <a:solidFill>
                    <a:srgbClr val="FF00FF"/>
                  </a:solidFill>
                  <a:latin typeface="Arial" charset="0"/>
                </a:rPr>
                <a:t>Mail</a:t>
              </a:r>
              <a:endParaRPr lang="en-US" sz="1800"/>
            </a:p>
          </p:txBody>
        </p:sp>
        <p:sp>
          <p:nvSpPr>
            <p:cNvPr id="153" name="Rectangle 608"/>
            <p:cNvSpPr>
              <a:spLocks noChangeArrowheads="1"/>
            </p:cNvSpPr>
            <p:nvPr/>
          </p:nvSpPr>
          <p:spPr bwMode="auto">
            <a:xfrm>
              <a:off x="2526" y="2211"/>
              <a:ext cx="424" cy="17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800" b="0">
                  <a:solidFill>
                    <a:srgbClr val="FF00FF"/>
                  </a:solidFill>
                  <a:latin typeface="Arial" charset="0"/>
                </a:rPr>
                <a:t>Server</a:t>
              </a:r>
              <a:endParaRPr lang="en-US" sz="1800"/>
            </a:p>
          </p:txBody>
        </p:sp>
        <p:sp>
          <p:nvSpPr>
            <p:cNvPr id="154" name="Freeform 609"/>
            <p:cNvSpPr>
              <a:spLocks/>
            </p:cNvSpPr>
            <p:nvPr/>
          </p:nvSpPr>
          <p:spPr bwMode="auto">
            <a:xfrm>
              <a:off x="3219" y="1979"/>
              <a:ext cx="53" cy="64"/>
            </a:xfrm>
            <a:custGeom>
              <a:avLst/>
              <a:gdLst>
                <a:gd name="T0" fmla="*/ 0 w 53"/>
                <a:gd name="T1" fmla="*/ 64 h 64"/>
                <a:gd name="T2" fmla="*/ 53 w 53"/>
                <a:gd name="T3" fmla="*/ 9 h 64"/>
                <a:gd name="T4" fmla="*/ 53 w 53"/>
                <a:gd name="T5" fmla="*/ 0 h 64"/>
                <a:gd name="T6" fmla="*/ 0 w 53"/>
                <a:gd name="T7" fmla="*/ 54 h 64"/>
                <a:gd name="T8" fmla="*/ 0 w 53"/>
                <a:gd name="T9" fmla="*/ 64 h 64"/>
                <a:gd name="T10" fmla="*/ 0 60000 65536"/>
                <a:gd name="T11" fmla="*/ 0 60000 65536"/>
                <a:gd name="T12" fmla="*/ 0 60000 65536"/>
                <a:gd name="T13" fmla="*/ 0 60000 65536"/>
                <a:gd name="T14" fmla="*/ 0 60000 65536"/>
                <a:gd name="T15" fmla="*/ 0 w 53"/>
                <a:gd name="T16" fmla="*/ 0 h 64"/>
                <a:gd name="T17" fmla="*/ 53 w 53"/>
                <a:gd name="T18" fmla="*/ 64 h 64"/>
              </a:gdLst>
              <a:ahLst/>
              <a:cxnLst>
                <a:cxn ang="T10">
                  <a:pos x="T0" y="T1"/>
                </a:cxn>
                <a:cxn ang="T11">
                  <a:pos x="T2" y="T3"/>
                </a:cxn>
                <a:cxn ang="T12">
                  <a:pos x="T4" y="T5"/>
                </a:cxn>
                <a:cxn ang="T13">
                  <a:pos x="T6" y="T7"/>
                </a:cxn>
                <a:cxn ang="T14">
                  <a:pos x="T8" y="T9"/>
                </a:cxn>
              </a:cxnLst>
              <a:rect l="T15" t="T16" r="T17" b="T18"/>
              <a:pathLst>
                <a:path w="53" h="64">
                  <a:moveTo>
                    <a:pt x="0" y="64"/>
                  </a:moveTo>
                  <a:lnTo>
                    <a:pt x="53" y="9"/>
                  </a:lnTo>
                  <a:lnTo>
                    <a:pt x="53" y="0"/>
                  </a:lnTo>
                  <a:lnTo>
                    <a:pt x="0" y="54"/>
                  </a:lnTo>
                  <a:lnTo>
                    <a:pt x="0" y="64"/>
                  </a:lnTo>
                  <a:close/>
                </a:path>
              </a:pathLst>
            </a:custGeom>
            <a:solidFill>
              <a:srgbClr val="9A9A9A"/>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55" name="Freeform 610"/>
            <p:cNvSpPr>
              <a:spLocks/>
            </p:cNvSpPr>
            <p:nvPr/>
          </p:nvSpPr>
          <p:spPr bwMode="auto">
            <a:xfrm>
              <a:off x="3076" y="1582"/>
              <a:ext cx="199" cy="51"/>
            </a:xfrm>
            <a:custGeom>
              <a:avLst/>
              <a:gdLst>
                <a:gd name="T0" fmla="*/ 0 w 199"/>
                <a:gd name="T1" fmla="*/ 51 h 51"/>
                <a:gd name="T2" fmla="*/ 50 w 199"/>
                <a:gd name="T3" fmla="*/ 0 h 51"/>
                <a:gd name="T4" fmla="*/ 199 w 199"/>
                <a:gd name="T5" fmla="*/ 0 h 51"/>
                <a:gd name="T6" fmla="*/ 149 w 199"/>
                <a:gd name="T7" fmla="*/ 51 h 51"/>
                <a:gd name="T8" fmla="*/ 0 w 199"/>
                <a:gd name="T9" fmla="*/ 51 h 51"/>
                <a:gd name="T10" fmla="*/ 0 60000 65536"/>
                <a:gd name="T11" fmla="*/ 0 60000 65536"/>
                <a:gd name="T12" fmla="*/ 0 60000 65536"/>
                <a:gd name="T13" fmla="*/ 0 60000 65536"/>
                <a:gd name="T14" fmla="*/ 0 60000 65536"/>
                <a:gd name="T15" fmla="*/ 0 w 199"/>
                <a:gd name="T16" fmla="*/ 0 h 51"/>
                <a:gd name="T17" fmla="*/ 199 w 199"/>
                <a:gd name="T18" fmla="*/ 51 h 51"/>
              </a:gdLst>
              <a:ahLst/>
              <a:cxnLst>
                <a:cxn ang="T10">
                  <a:pos x="T0" y="T1"/>
                </a:cxn>
                <a:cxn ang="T11">
                  <a:pos x="T2" y="T3"/>
                </a:cxn>
                <a:cxn ang="T12">
                  <a:pos x="T4" y="T5"/>
                </a:cxn>
                <a:cxn ang="T13">
                  <a:pos x="T6" y="T7"/>
                </a:cxn>
                <a:cxn ang="T14">
                  <a:pos x="T8" y="T9"/>
                </a:cxn>
              </a:cxnLst>
              <a:rect l="T15" t="T16" r="T17" b="T18"/>
              <a:pathLst>
                <a:path w="199" h="51">
                  <a:moveTo>
                    <a:pt x="0" y="51"/>
                  </a:moveTo>
                  <a:lnTo>
                    <a:pt x="50" y="0"/>
                  </a:lnTo>
                  <a:lnTo>
                    <a:pt x="199" y="0"/>
                  </a:lnTo>
                  <a:lnTo>
                    <a:pt x="149" y="51"/>
                  </a:lnTo>
                  <a:lnTo>
                    <a:pt x="0" y="51"/>
                  </a:lnTo>
                  <a:close/>
                </a:path>
              </a:pathLst>
            </a:custGeom>
            <a:solidFill>
              <a:srgbClr val="E6E6E6"/>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56" name="Freeform 611"/>
            <p:cNvSpPr>
              <a:spLocks/>
            </p:cNvSpPr>
            <p:nvPr/>
          </p:nvSpPr>
          <p:spPr bwMode="auto">
            <a:xfrm>
              <a:off x="3076" y="1582"/>
              <a:ext cx="199" cy="51"/>
            </a:xfrm>
            <a:custGeom>
              <a:avLst/>
              <a:gdLst>
                <a:gd name="T0" fmla="*/ 0 w 199"/>
                <a:gd name="T1" fmla="*/ 51 h 51"/>
                <a:gd name="T2" fmla="*/ 50 w 199"/>
                <a:gd name="T3" fmla="*/ 0 h 51"/>
                <a:gd name="T4" fmla="*/ 199 w 199"/>
                <a:gd name="T5" fmla="*/ 0 h 51"/>
                <a:gd name="T6" fmla="*/ 149 w 199"/>
                <a:gd name="T7" fmla="*/ 51 h 51"/>
                <a:gd name="T8" fmla="*/ 0 w 199"/>
                <a:gd name="T9" fmla="*/ 51 h 51"/>
                <a:gd name="T10" fmla="*/ 0 60000 65536"/>
                <a:gd name="T11" fmla="*/ 0 60000 65536"/>
                <a:gd name="T12" fmla="*/ 0 60000 65536"/>
                <a:gd name="T13" fmla="*/ 0 60000 65536"/>
                <a:gd name="T14" fmla="*/ 0 60000 65536"/>
                <a:gd name="T15" fmla="*/ 0 w 199"/>
                <a:gd name="T16" fmla="*/ 0 h 51"/>
                <a:gd name="T17" fmla="*/ 199 w 199"/>
                <a:gd name="T18" fmla="*/ 51 h 51"/>
              </a:gdLst>
              <a:ahLst/>
              <a:cxnLst>
                <a:cxn ang="T10">
                  <a:pos x="T0" y="T1"/>
                </a:cxn>
                <a:cxn ang="T11">
                  <a:pos x="T2" y="T3"/>
                </a:cxn>
                <a:cxn ang="T12">
                  <a:pos x="T4" y="T5"/>
                </a:cxn>
                <a:cxn ang="T13">
                  <a:pos x="T6" y="T7"/>
                </a:cxn>
                <a:cxn ang="T14">
                  <a:pos x="T8" y="T9"/>
                </a:cxn>
              </a:cxnLst>
              <a:rect l="T15" t="T16" r="T17" b="T18"/>
              <a:pathLst>
                <a:path w="199" h="51">
                  <a:moveTo>
                    <a:pt x="0" y="51"/>
                  </a:moveTo>
                  <a:lnTo>
                    <a:pt x="50" y="0"/>
                  </a:lnTo>
                  <a:lnTo>
                    <a:pt x="199" y="0"/>
                  </a:lnTo>
                  <a:lnTo>
                    <a:pt x="149" y="51"/>
                  </a:lnTo>
                  <a:lnTo>
                    <a:pt x="0" y="51"/>
                  </a:lnTo>
                  <a:close/>
                </a:path>
              </a:pathLst>
            </a:cu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157" name="Freeform 612"/>
            <p:cNvSpPr>
              <a:spLocks/>
            </p:cNvSpPr>
            <p:nvPr/>
          </p:nvSpPr>
          <p:spPr bwMode="auto">
            <a:xfrm>
              <a:off x="3225" y="1582"/>
              <a:ext cx="50" cy="451"/>
            </a:xfrm>
            <a:custGeom>
              <a:avLst/>
              <a:gdLst>
                <a:gd name="T0" fmla="*/ 0 w 50"/>
                <a:gd name="T1" fmla="*/ 51 h 451"/>
                <a:gd name="T2" fmla="*/ 50 w 50"/>
                <a:gd name="T3" fmla="*/ 0 h 451"/>
                <a:gd name="T4" fmla="*/ 50 w 50"/>
                <a:gd name="T5" fmla="*/ 400 h 451"/>
                <a:gd name="T6" fmla="*/ 0 w 50"/>
                <a:gd name="T7" fmla="*/ 451 h 451"/>
                <a:gd name="T8" fmla="*/ 0 w 50"/>
                <a:gd name="T9" fmla="*/ 51 h 451"/>
                <a:gd name="T10" fmla="*/ 0 60000 65536"/>
                <a:gd name="T11" fmla="*/ 0 60000 65536"/>
                <a:gd name="T12" fmla="*/ 0 60000 65536"/>
                <a:gd name="T13" fmla="*/ 0 60000 65536"/>
                <a:gd name="T14" fmla="*/ 0 60000 65536"/>
                <a:gd name="T15" fmla="*/ 0 w 50"/>
                <a:gd name="T16" fmla="*/ 0 h 451"/>
                <a:gd name="T17" fmla="*/ 50 w 50"/>
                <a:gd name="T18" fmla="*/ 451 h 451"/>
              </a:gdLst>
              <a:ahLst/>
              <a:cxnLst>
                <a:cxn ang="T10">
                  <a:pos x="T0" y="T1"/>
                </a:cxn>
                <a:cxn ang="T11">
                  <a:pos x="T2" y="T3"/>
                </a:cxn>
                <a:cxn ang="T12">
                  <a:pos x="T4" y="T5"/>
                </a:cxn>
                <a:cxn ang="T13">
                  <a:pos x="T6" y="T7"/>
                </a:cxn>
                <a:cxn ang="T14">
                  <a:pos x="T8" y="T9"/>
                </a:cxn>
              </a:cxnLst>
              <a:rect l="T15" t="T16" r="T17" b="T18"/>
              <a:pathLst>
                <a:path w="50" h="451">
                  <a:moveTo>
                    <a:pt x="0" y="51"/>
                  </a:moveTo>
                  <a:lnTo>
                    <a:pt x="50" y="0"/>
                  </a:lnTo>
                  <a:lnTo>
                    <a:pt x="50" y="400"/>
                  </a:lnTo>
                  <a:lnTo>
                    <a:pt x="0" y="451"/>
                  </a:lnTo>
                  <a:lnTo>
                    <a:pt x="0" y="51"/>
                  </a:lnTo>
                  <a:close/>
                </a:path>
              </a:pathLst>
            </a:custGeom>
            <a:solidFill>
              <a:srgbClr val="9A9A9A"/>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58" name="Rectangle 613"/>
            <p:cNvSpPr>
              <a:spLocks noChangeArrowheads="1"/>
            </p:cNvSpPr>
            <p:nvPr/>
          </p:nvSpPr>
          <p:spPr bwMode="auto">
            <a:xfrm>
              <a:off x="3076" y="1633"/>
              <a:ext cx="149" cy="400"/>
            </a:xfrm>
            <a:prstGeom prst="rect">
              <a:avLst/>
            </a:prstGeom>
            <a:solidFill>
              <a:srgbClr val="C0C0C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59" name="Rectangle 614"/>
            <p:cNvSpPr>
              <a:spLocks noChangeArrowheads="1"/>
            </p:cNvSpPr>
            <p:nvPr/>
          </p:nvSpPr>
          <p:spPr bwMode="auto">
            <a:xfrm>
              <a:off x="3076" y="1633"/>
              <a:ext cx="149" cy="400"/>
            </a:xfrm>
            <a:prstGeom prst="rect">
              <a:avLst/>
            </a:pr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pic>
          <p:nvPicPr>
            <p:cNvPr id="160" name="Picture 615"/>
            <p:cNvPicPr>
              <a:picLocks noChangeAspect="1" noChangeArrowheads="1"/>
            </p:cNvPicPr>
            <p:nvPr/>
          </p:nvPicPr>
          <p:blipFill>
            <a:blip r:embed="rId128">
              <a:extLst>
                <a:ext uri="{28A0092B-C50C-407E-A947-70E740481C1C}">
                  <a14:useLocalDpi xmlns:a14="http://schemas.microsoft.com/office/drawing/2010/main" val="0"/>
                </a:ext>
              </a:extLst>
            </a:blip>
            <a:srcRect/>
            <a:stretch>
              <a:fillRect/>
            </a:stretch>
          </p:blipFill>
          <p:spPr bwMode="auto">
            <a:xfrm>
              <a:off x="3091" y="1651"/>
              <a:ext cx="112"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61" name="Picture 616"/>
            <p:cNvPicPr>
              <a:picLocks noChangeAspect="1" noChangeArrowheads="1"/>
            </p:cNvPicPr>
            <p:nvPr/>
          </p:nvPicPr>
          <p:blipFill>
            <a:blip r:embed="rId129">
              <a:extLst>
                <a:ext uri="{28A0092B-C50C-407E-A947-70E740481C1C}">
                  <a14:useLocalDpi xmlns:a14="http://schemas.microsoft.com/office/drawing/2010/main" val="0"/>
                </a:ext>
              </a:extLst>
            </a:blip>
            <a:srcRect/>
            <a:stretch>
              <a:fillRect/>
            </a:stretch>
          </p:blipFill>
          <p:spPr bwMode="auto">
            <a:xfrm>
              <a:off x="3091" y="1651"/>
              <a:ext cx="112"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62" name="Rectangle 617"/>
            <p:cNvSpPr>
              <a:spLocks noChangeArrowheads="1"/>
            </p:cNvSpPr>
            <p:nvPr/>
          </p:nvSpPr>
          <p:spPr bwMode="auto">
            <a:xfrm>
              <a:off x="3095" y="1652"/>
              <a:ext cx="112" cy="244"/>
            </a:xfrm>
            <a:prstGeom prst="rect">
              <a:avLst/>
            </a:pr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163" name="Freeform 618"/>
            <p:cNvSpPr>
              <a:spLocks noEditPoints="1"/>
            </p:cNvSpPr>
            <p:nvPr/>
          </p:nvSpPr>
          <p:spPr bwMode="auto">
            <a:xfrm>
              <a:off x="3108" y="1665"/>
              <a:ext cx="85" cy="209"/>
            </a:xfrm>
            <a:custGeom>
              <a:avLst/>
              <a:gdLst>
                <a:gd name="T0" fmla="*/ 0 w 85"/>
                <a:gd name="T1" fmla="*/ 188 h 209"/>
                <a:gd name="T2" fmla="*/ 85 w 85"/>
                <a:gd name="T3" fmla="*/ 188 h 209"/>
                <a:gd name="T4" fmla="*/ 85 w 85"/>
                <a:gd name="T5" fmla="*/ 209 h 209"/>
                <a:gd name="T6" fmla="*/ 0 w 85"/>
                <a:gd name="T7" fmla="*/ 209 h 209"/>
                <a:gd name="T8" fmla="*/ 0 w 85"/>
                <a:gd name="T9" fmla="*/ 188 h 209"/>
                <a:gd name="T10" fmla="*/ 0 w 85"/>
                <a:gd name="T11" fmla="*/ 156 h 209"/>
                <a:gd name="T12" fmla="*/ 85 w 85"/>
                <a:gd name="T13" fmla="*/ 156 h 209"/>
                <a:gd name="T14" fmla="*/ 85 w 85"/>
                <a:gd name="T15" fmla="*/ 177 h 209"/>
                <a:gd name="T16" fmla="*/ 0 w 85"/>
                <a:gd name="T17" fmla="*/ 177 h 209"/>
                <a:gd name="T18" fmla="*/ 0 w 85"/>
                <a:gd name="T19" fmla="*/ 156 h 209"/>
                <a:gd name="T20" fmla="*/ 0 w 85"/>
                <a:gd name="T21" fmla="*/ 124 h 209"/>
                <a:gd name="T22" fmla="*/ 85 w 85"/>
                <a:gd name="T23" fmla="*/ 124 h 209"/>
                <a:gd name="T24" fmla="*/ 85 w 85"/>
                <a:gd name="T25" fmla="*/ 145 h 209"/>
                <a:gd name="T26" fmla="*/ 0 w 85"/>
                <a:gd name="T27" fmla="*/ 145 h 209"/>
                <a:gd name="T28" fmla="*/ 0 w 85"/>
                <a:gd name="T29" fmla="*/ 124 h 209"/>
                <a:gd name="T30" fmla="*/ 0 w 85"/>
                <a:gd name="T31" fmla="*/ 92 h 209"/>
                <a:gd name="T32" fmla="*/ 85 w 85"/>
                <a:gd name="T33" fmla="*/ 92 h 209"/>
                <a:gd name="T34" fmla="*/ 85 w 85"/>
                <a:gd name="T35" fmla="*/ 113 h 209"/>
                <a:gd name="T36" fmla="*/ 0 w 85"/>
                <a:gd name="T37" fmla="*/ 113 h 209"/>
                <a:gd name="T38" fmla="*/ 0 w 85"/>
                <a:gd name="T39" fmla="*/ 92 h 209"/>
                <a:gd name="T40" fmla="*/ 0 w 85"/>
                <a:gd name="T41" fmla="*/ 47 h 209"/>
                <a:gd name="T42" fmla="*/ 85 w 85"/>
                <a:gd name="T43" fmla="*/ 47 h 209"/>
                <a:gd name="T44" fmla="*/ 85 w 85"/>
                <a:gd name="T45" fmla="*/ 82 h 209"/>
                <a:gd name="T46" fmla="*/ 0 w 85"/>
                <a:gd name="T47" fmla="*/ 82 h 209"/>
                <a:gd name="T48" fmla="*/ 0 w 85"/>
                <a:gd name="T49" fmla="*/ 47 h 209"/>
                <a:gd name="T50" fmla="*/ 0 w 85"/>
                <a:gd name="T51" fmla="*/ 0 h 209"/>
                <a:gd name="T52" fmla="*/ 85 w 85"/>
                <a:gd name="T53" fmla="*/ 0 h 209"/>
                <a:gd name="T54" fmla="*/ 85 w 85"/>
                <a:gd name="T55" fmla="*/ 35 h 209"/>
                <a:gd name="T56" fmla="*/ 0 w 85"/>
                <a:gd name="T57" fmla="*/ 35 h 209"/>
                <a:gd name="T58" fmla="*/ 0 w 85"/>
                <a:gd name="T59" fmla="*/ 0 h 209"/>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85"/>
                <a:gd name="T91" fmla="*/ 0 h 209"/>
                <a:gd name="T92" fmla="*/ 85 w 85"/>
                <a:gd name="T93" fmla="*/ 209 h 209"/>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85" h="209">
                  <a:moveTo>
                    <a:pt x="0" y="188"/>
                  </a:moveTo>
                  <a:lnTo>
                    <a:pt x="85" y="188"/>
                  </a:lnTo>
                  <a:lnTo>
                    <a:pt x="85" y="209"/>
                  </a:lnTo>
                  <a:lnTo>
                    <a:pt x="0" y="209"/>
                  </a:lnTo>
                  <a:lnTo>
                    <a:pt x="0" y="188"/>
                  </a:lnTo>
                  <a:close/>
                  <a:moveTo>
                    <a:pt x="0" y="156"/>
                  </a:moveTo>
                  <a:lnTo>
                    <a:pt x="85" y="156"/>
                  </a:lnTo>
                  <a:lnTo>
                    <a:pt x="85" y="177"/>
                  </a:lnTo>
                  <a:lnTo>
                    <a:pt x="0" y="177"/>
                  </a:lnTo>
                  <a:lnTo>
                    <a:pt x="0" y="156"/>
                  </a:lnTo>
                  <a:close/>
                  <a:moveTo>
                    <a:pt x="0" y="124"/>
                  </a:moveTo>
                  <a:lnTo>
                    <a:pt x="85" y="124"/>
                  </a:lnTo>
                  <a:lnTo>
                    <a:pt x="85" y="145"/>
                  </a:lnTo>
                  <a:lnTo>
                    <a:pt x="0" y="145"/>
                  </a:lnTo>
                  <a:lnTo>
                    <a:pt x="0" y="124"/>
                  </a:lnTo>
                  <a:close/>
                  <a:moveTo>
                    <a:pt x="0" y="92"/>
                  </a:moveTo>
                  <a:lnTo>
                    <a:pt x="85" y="92"/>
                  </a:lnTo>
                  <a:lnTo>
                    <a:pt x="85" y="113"/>
                  </a:lnTo>
                  <a:lnTo>
                    <a:pt x="0" y="113"/>
                  </a:lnTo>
                  <a:lnTo>
                    <a:pt x="0" y="92"/>
                  </a:lnTo>
                  <a:close/>
                  <a:moveTo>
                    <a:pt x="0" y="47"/>
                  </a:moveTo>
                  <a:lnTo>
                    <a:pt x="85" y="47"/>
                  </a:lnTo>
                  <a:lnTo>
                    <a:pt x="85" y="82"/>
                  </a:lnTo>
                  <a:lnTo>
                    <a:pt x="0" y="82"/>
                  </a:lnTo>
                  <a:lnTo>
                    <a:pt x="0" y="47"/>
                  </a:lnTo>
                  <a:close/>
                  <a:moveTo>
                    <a:pt x="0" y="0"/>
                  </a:moveTo>
                  <a:lnTo>
                    <a:pt x="85" y="0"/>
                  </a:lnTo>
                  <a:lnTo>
                    <a:pt x="85" y="35"/>
                  </a:lnTo>
                  <a:lnTo>
                    <a:pt x="0" y="35"/>
                  </a:lnTo>
                  <a:lnTo>
                    <a:pt x="0" y="0"/>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64" name="Rectangle 619"/>
            <p:cNvSpPr>
              <a:spLocks noChangeArrowheads="1"/>
            </p:cNvSpPr>
            <p:nvPr/>
          </p:nvSpPr>
          <p:spPr bwMode="auto">
            <a:xfrm>
              <a:off x="3108" y="1853"/>
              <a:ext cx="85" cy="21"/>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165" name="Rectangle 620"/>
            <p:cNvSpPr>
              <a:spLocks noChangeArrowheads="1"/>
            </p:cNvSpPr>
            <p:nvPr/>
          </p:nvSpPr>
          <p:spPr bwMode="auto">
            <a:xfrm>
              <a:off x="3108" y="1821"/>
              <a:ext cx="85" cy="21"/>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166" name="Freeform 83"/>
            <p:cNvSpPr>
              <a:spLocks/>
            </p:cNvSpPr>
            <p:nvPr/>
          </p:nvSpPr>
          <p:spPr bwMode="auto">
            <a:xfrm>
              <a:off x="4495" y="1980"/>
              <a:ext cx="397" cy="51"/>
            </a:xfrm>
            <a:custGeom>
              <a:avLst/>
              <a:gdLst>
                <a:gd name="T0" fmla="*/ 0 w 397"/>
                <a:gd name="T1" fmla="*/ 51 h 51"/>
                <a:gd name="T2" fmla="*/ 99 w 397"/>
                <a:gd name="T3" fmla="*/ 0 h 51"/>
                <a:gd name="T4" fmla="*/ 397 w 397"/>
                <a:gd name="T5" fmla="*/ 0 h 51"/>
                <a:gd name="T6" fmla="*/ 297 w 397"/>
                <a:gd name="T7" fmla="*/ 51 h 51"/>
                <a:gd name="T8" fmla="*/ 0 w 397"/>
                <a:gd name="T9" fmla="*/ 51 h 51"/>
                <a:gd name="T10" fmla="*/ 0 60000 65536"/>
                <a:gd name="T11" fmla="*/ 0 60000 65536"/>
                <a:gd name="T12" fmla="*/ 0 60000 65536"/>
                <a:gd name="T13" fmla="*/ 0 60000 65536"/>
                <a:gd name="T14" fmla="*/ 0 60000 65536"/>
                <a:gd name="T15" fmla="*/ 0 w 397"/>
                <a:gd name="T16" fmla="*/ 0 h 51"/>
                <a:gd name="T17" fmla="*/ 397 w 397"/>
                <a:gd name="T18" fmla="*/ 51 h 51"/>
              </a:gdLst>
              <a:ahLst/>
              <a:cxnLst>
                <a:cxn ang="T10">
                  <a:pos x="T0" y="T1"/>
                </a:cxn>
                <a:cxn ang="T11">
                  <a:pos x="T2" y="T3"/>
                </a:cxn>
                <a:cxn ang="T12">
                  <a:pos x="T4" y="T5"/>
                </a:cxn>
                <a:cxn ang="T13">
                  <a:pos x="T6" y="T7"/>
                </a:cxn>
                <a:cxn ang="T14">
                  <a:pos x="T8" y="T9"/>
                </a:cxn>
              </a:cxnLst>
              <a:rect l="T15" t="T16" r="T17" b="T18"/>
              <a:pathLst>
                <a:path w="397" h="51">
                  <a:moveTo>
                    <a:pt x="0" y="51"/>
                  </a:moveTo>
                  <a:lnTo>
                    <a:pt x="99" y="0"/>
                  </a:lnTo>
                  <a:lnTo>
                    <a:pt x="397" y="0"/>
                  </a:lnTo>
                  <a:lnTo>
                    <a:pt x="297" y="51"/>
                  </a:lnTo>
                  <a:lnTo>
                    <a:pt x="0" y="51"/>
                  </a:lnTo>
                  <a:close/>
                </a:path>
              </a:pathLst>
            </a:custGeom>
            <a:solidFill>
              <a:srgbClr val="9A9A9A"/>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67" name="Freeform 84"/>
            <p:cNvSpPr>
              <a:spLocks/>
            </p:cNvSpPr>
            <p:nvPr/>
          </p:nvSpPr>
          <p:spPr bwMode="auto">
            <a:xfrm>
              <a:off x="4495" y="1980"/>
              <a:ext cx="397" cy="51"/>
            </a:xfrm>
            <a:custGeom>
              <a:avLst/>
              <a:gdLst>
                <a:gd name="T0" fmla="*/ 0 w 397"/>
                <a:gd name="T1" fmla="*/ 51 h 51"/>
                <a:gd name="T2" fmla="*/ 99 w 397"/>
                <a:gd name="T3" fmla="*/ 0 h 51"/>
                <a:gd name="T4" fmla="*/ 397 w 397"/>
                <a:gd name="T5" fmla="*/ 0 h 51"/>
                <a:gd name="T6" fmla="*/ 297 w 397"/>
                <a:gd name="T7" fmla="*/ 51 h 51"/>
                <a:gd name="T8" fmla="*/ 0 w 397"/>
                <a:gd name="T9" fmla="*/ 51 h 51"/>
                <a:gd name="T10" fmla="*/ 0 60000 65536"/>
                <a:gd name="T11" fmla="*/ 0 60000 65536"/>
                <a:gd name="T12" fmla="*/ 0 60000 65536"/>
                <a:gd name="T13" fmla="*/ 0 60000 65536"/>
                <a:gd name="T14" fmla="*/ 0 60000 65536"/>
                <a:gd name="T15" fmla="*/ 0 w 397"/>
                <a:gd name="T16" fmla="*/ 0 h 51"/>
                <a:gd name="T17" fmla="*/ 397 w 397"/>
                <a:gd name="T18" fmla="*/ 51 h 51"/>
              </a:gdLst>
              <a:ahLst/>
              <a:cxnLst>
                <a:cxn ang="T10">
                  <a:pos x="T0" y="T1"/>
                </a:cxn>
                <a:cxn ang="T11">
                  <a:pos x="T2" y="T3"/>
                </a:cxn>
                <a:cxn ang="T12">
                  <a:pos x="T4" y="T5"/>
                </a:cxn>
                <a:cxn ang="T13">
                  <a:pos x="T6" y="T7"/>
                </a:cxn>
                <a:cxn ang="T14">
                  <a:pos x="T8" y="T9"/>
                </a:cxn>
              </a:cxnLst>
              <a:rect l="T15" t="T16" r="T17" b="T18"/>
              <a:pathLst>
                <a:path w="397" h="51">
                  <a:moveTo>
                    <a:pt x="0" y="51"/>
                  </a:moveTo>
                  <a:lnTo>
                    <a:pt x="99" y="0"/>
                  </a:lnTo>
                  <a:lnTo>
                    <a:pt x="397" y="0"/>
                  </a:lnTo>
                  <a:lnTo>
                    <a:pt x="297" y="51"/>
                  </a:lnTo>
                  <a:lnTo>
                    <a:pt x="0" y="51"/>
                  </a:lnTo>
                  <a:close/>
                </a:path>
              </a:pathLst>
            </a:cu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168" name="Freeform 85"/>
            <p:cNvSpPr>
              <a:spLocks/>
            </p:cNvSpPr>
            <p:nvPr/>
          </p:nvSpPr>
          <p:spPr bwMode="auto">
            <a:xfrm>
              <a:off x="4792" y="1980"/>
              <a:ext cx="100" cy="77"/>
            </a:xfrm>
            <a:custGeom>
              <a:avLst/>
              <a:gdLst>
                <a:gd name="T0" fmla="*/ 0 w 100"/>
                <a:gd name="T1" fmla="*/ 77 h 77"/>
                <a:gd name="T2" fmla="*/ 100 w 100"/>
                <a:gd name="T3" fmla="*/ 25 h 77"/>
                <a:gd name="T4" fmla="*/ 100 w 100"/>
                <a:gd name="T5" fmla="*/ 0 h 77"/>
                <a:gd name="T6" fmla="*/ 0 w 100"/>
                <a:gd name="T7" fmla="*/ 51 h 77"/>
                <a:gd name="T8" fmla="*/ 0 w 100"/>
                <a:gd name="T9" fmla="*/ 77 h 77"/>
                <a:gd name="T10" fmla="*/ 0 60000 65536"/>
                <a:gd name="T11" fmla="*/ 0 60000 65536"/>
                <a:gd name="T12" fmla="*/ 0 60000 65536"/>
                <a:gd name="T13" fmla="*/ 0 60000 65536"/>
                <a:gd name="T14" fmla="*/ 0 60000 65536"/>
                <a:gd name="T15" fmla="*/ 0 w 100"/>
                <a:gd name="T16" fmla="*/ 0 h 77"/>
                <a:gd name="T17" fmla="*/ 100 w 100"/>
                <a:gd name="T18" fmla="*/ 77 h 77"/>
              </a:gdLst>
              <a:ahLst/>
              <a:cxnLst>
                <a:cxn ang="T10">
                  <a:pos x="T0" y="T1"/>
                </a:cxn>
                <a:cxn ang="T11">
                  <a:pos x="T2" y="T3"/>
                </a:cxn>
                <a:cxn ang="T12">
                  <a:pos x="T4" y="T5"/>
                </a:cxn>
                <a:cxn ang="T13">
                  <a:pos x="T6" y="T7"/>
                </a:cxn>
                <a:cxn ang="T14">
                  <a:pos x="T8" y="T9"/>
                </a:cxn>
              </a:cxnLst>
              <a:rect l="T15" t="T16" r="T17" b="T18"/>
              <a:pathLst>
                <a:path w="100" h="77">
                  <a:moveTo>
                    <a:pt x="0" y="77"/>
                  </a:moveTo>
                  <a:lnTo>
                    <a:pt x="100" y="25"/>
                  </a:lnTo>
                  <a:lnTo>
                    <a:pt x="100" y="0"/>
                  </a:lnTo>
                  <a:lnTo>
                    <a:pt x="0" y="51"/>
                  </a:lnTo>
                  <a:lnTo>
                    <a:pt x="0" y="77"/>
                  </a:lnTo>
                  <a:close/>
                </a:path>
              </a:pathLst>
            </a:custGeom>
            <a:solidFill>
              <a:srgbClr val="666666"/>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69" name="Freeform 86"/>
            <p:cNvSpPr>
              <a:spLocks/>
            </p:cNvSpPr>
            <p:nvPr/>
          </p:nvSpPr>
          <p:spPr bwMode="auto">
            <a:xfrm>
              <a:off x="4792" y="1980"/>
              <a:ext cx="100" cy="77"/>
            </a:xfrm>
            <a:custGeom>
              <a:avLst/>
              <a:gdLst>
                <a:gd name="T0" fmla="*/ 0 w 100"/>
                <a:gd name="T1" fmla="*/ 77 h 77"/>
                <a:gd name="T2" fmla="*/ 100 w 100"/>
                <a:gd name="T3" fmla="*/ 25 h 77"/>
                <a:gd name="T4" fmla="*/ 100 w 100"/>
                <a:gd name="T5" fmla="*/ 0 h 77"/>
                <a:gd name="T6" fmla="*/ 0 w 100"/>
                <a:gd name="T7" fmla="*/ 51 h 77"/>
                <a:gd name="T8" fmla="*/ 0 w 100"/>
                <a:gd name="T9" fmla="*/ 77 h 77"/>
                <a:gd name="T10" fmla="*/ 0 60000 65536"/>
                <a:gd name="T11" fmla="*/ 0 60000 65536"/>
                <a:gd name="T12" fmla="*/ 0 60000 65536"/>
                <a:gd name="T13" fmla="*/ 0 60000 65536"/>
                <a:gd name="T14" fmla="*/ 0 60000 65536"/>
                <a:gd name="T15" fmla="*/ 0 w 100"/>
                <a:gd name="T16" fmla="*/ 0 h 77"/>
                <a:gd name="T17" fmla="*/ 100 w 100"/>
                <a:gd name="T18" fmla="*/ 77 h 77"/>
              </a:gdLst>
              <a:ahLst/>
              <a:cxnLst>
                <a:cxn ang="T10">
                  <a:pos x="T0" y="T1"/>
                </a:cxn>
                <a:cxn ang="T11">
                  <a:pos x="T2" y="T3"/>
                </a:cxn>
                <a:cxn ang="T12">
                  <a:pos x="T4" y="T5"/>
                </a:cxn>
                <a:cxn ang="T13">
                  <a:pos x="T6" y="T7"/>
                </a:cxn>
                <a:cxn ang="T14">
                  <a:pos x="T8" y="T9"/>
                </a:cxn>
              </a:cxnLst>
              <a:rect l="T15" t="T16" r="T17" b="T18"/>
              <a:pathLst>
                <a:path w="100" h="77">
                  <a:moveTo>
                    <a:pt x="0" y="77"/>
                  </a:moveTo>
                  <a:lnTo>
                    <a:pt x="100" y="25"/>
                  </a:lnTo>
                  <a:lnTo>
                    <a:pt x="100" y="0"/>
                  </a:lnTo>
                  <a:lnTo>
                    <a:pt x="0" y="51"/>
                  </a:lnTo>
                  <a:lnTo>
                    <a:pt x="0" y="77"/>
                  </a:lnTo>
                  <a:close/>
                </a:path>
              </a:pathLst>
            </a:cu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170" name="Freeform 87"/>
            <p:cNvSpPr>
              <a:spLocks/>
            </p:cNvSpPr>
            <p:nvPr/>
          </p:nvSpPr>
          <p:spPr bwMode="auto">
            <a:xfrm>
              <a:off x="4599" y="1801"/>
              <a:ext cx="372" cy="166"/>
            </a:xfrm>
            <a:custGeom>
              <a:avLst/>
              <a:gdLst>
                <a:gd name="T0" fmla="*/ 0 w 372"/>
                <a:gd name="T1" fmla="*/ 166 h 166"/>
                <a:gd name="T2" fmla="*/ 80 w 372"/>
                <a:gd name="T3" fmla="*/ 0 h 166"/>
                <a:gd name="T4" fmla="*/ 372 w 372"/>
                <a:gd name="T5" fmla="*/ 0 h 166"/>
                <a:gd name="T6" fmla="*/ 292 w 372"/>
                <a:gd name="T7" fmla="*/ 166 h 166"/>
                <a:gd name="T8" fmla="*/ 0 w 372"/>
                <a:gd name="T9" fmla="*/ 166 h 166"/>
                <a:gd name="T10" fmla="*/ 0 60000 65536"/>
                <a:gd name="T11" fmla="*/ 0 60000 65536"/>
                <a:gd name="T12" fmla="*/ 0 60000 65536"/>
                <a:gd name="T13" fmla="*/ 0 60000 65536"/>
                <a:gd name="T14" fmla="*/ 0 60000 65536"/>
                <a:gd name="T15" fmla="*/ 0 w 372"/>
                <a:gd name="T16" fmla="*/ 0 h 166"/>
                <a:gd name="T17" fmla="*/ 372 w 372"/>
                <a:gd name="T18" fmla="*/ 166 h 166"/>
              </a:gdLst>
              <a:ahLst/>
              <a:cxnLst>
                <a:cxn ang="T10">
                  <a:pos x="T0" y="T1"/>
                </a:cxn>
                <a:cxn ang="T11">
                  <a:pos x="T2" y="T3"/>
                </a:cxn>
                <a:cxn ang="T12">
                  <a:pos x="T4" y="T5"/>
                </a:cxn>
                <a:cxn ang="T13">
                  <a:pos x="T6" y="T7"/>
                </a:cxn>
                <a:cxn ang="T14">
                  <a:pos x="T8" y="T9"/>
                </a:cxn>
              </a:cxnLst>
              <a:rect l="T15" t="T16" r="T17" b="T18"/>
              <a:pathLst>
                <a:path w="372" h="166">
                  <a:moveTo>
                    <a:pt x="0" y="166"/>
                  </a:moveTo>
                  <a:lnTo>
                    <a:pt x="80" y="0"/>
                  </a:lnTo>
                  <a:lnTo>
                    <a:pt x="372" y="0"/>
                  </a:lnTo>
                  <a:lnTo>
                    <a:pt x="292" y="166"/>
                  </a:lnTo>
                  <a:lnTo>
                    <a:pt x="0" y="166"/>
                  </a:lnTo>
                  <a:close/>
                </a:path>
              </a:pathLst>
            </a:custGeom>
            <a:solidFill>
              <a:srgbClr val="9A9A9A"/>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71" name="Freeform 88"/>
            <p:cNvSpPr>
              <a:spLocks/>
            </p:cNvSpPr>
            <p:nvPr/>
          </p:nvSpPr>
          <p:spPr bwMode="auto">
            <a:xfrm>
              <a:off x="4599" y="1801"/>
              <a:ext cx="372" cy="166"/>
            </a:xfrm>
            <a:custGeom>
              <a:avLst/>
              <a:gdLst>
                <a:gd name="T0" fmla="*/ 0 w 372"/>
                <a:gd name="T1" fmla="*/ 166 h 166"/>
                <a:gd name="T2" fmla="*/ 80 w 372"/>
                <a:gd name="T3" fmla="*/ 0 h 166"/>
                <a:gd name="T4" fmla="*/ 372 w 372"/>
                <a:gd name="T5" fmla="*/ 0 h 166"/>
                <a:gd name="T6" fmla="*/ 292 w 372"/>
                <a:gd name="T7" fmla="*/ 166 h 166"/>
                <a:gd name="T8" fmla="*/ 0 w 372"/>
                <a:gd name="T9" fmla="*/ 166 h 166"/>
                <a:gd name="T10" fmla="*/ 0 60000 65536"/>
                <a:gd name="T11" fmla="*/ 0 60000 65536"/>
                <a:gd name="T12" fmla="*/ 0 60000 65536"/>
                <a:gd name="T13" fmla="*/ 0 60000 65536"/>
                <a:gd name="T14" fmla="*/ 0 60000 65536"/>
                <a:gd name="T15" fmla="*/ 0 w 372"/>
                <a:gd name="T16" fmla="*/ 0 h 166"/>
                <a:gd name="T17" fmla="*/ 372 w 372"/>
                <a:gd name="T18" fmla="*/ 166 h 166"/>
              </a:gdLst>
              <a:ahLst/>
              <a:cxnLst>
                <a:cxn ang="T10">
                  <a:pos x="T0" y="T1"/>
                </a:cxn>
                <a:cxn ang="T11">
                  <a:pos x="T2" y="T3"/>
                </a:cxn>
                <a:cxn ang="T12">
                  <a:pos x="T4" y="T5"/>
                </a:cxn>
                <a:cxn ang="T13">
                  <a:pos x="T6" y="T7"/>
                </a:cxn>
                <a:cxn ang="T14">
                  <a:pos x="T8" y="T9"/>
                </a:cxn>
              </a:cxnLst>
              <a:rect l="T15" t="T16" r="T17" b="T18"/>
              <a:pathLst>
                <a:path w="372" h="166">
                  <a:moveTo>
                    <a:pt x="0" y="166"/>
                  </a:moveTo>
                  <a:lnTo>
                    <a:pt x="80" y="0"/>
                  </a:lnTo>
                  <a:lnTo>
                    <a:pt x="372" y="0"/>
                  </a:lnTo>
                  <a:lnTo>
                    <a:pt x="292" y="166"/>
                  </a:lnTo>
                  <a:lnTo>
                    <a:pt x="0" y="166"/>
                  </a:lnTo>
                  <a:close/>
                </a:path>
              </a:pathLst>
            </a:cu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172" name="Rectangle 89"/>
            <p:cNvSpPr>
              <a:spLocks noChangeArrowheads="1"/>
            </p:cNvSpPr>
            <p:nvPr/>
          </p:nvSpPr>
          <p:spPr bwMode="auto">
            <a:xfrm>
              <a:off x="4636" y="1969"/>
              <a:ext cx="46" cy="9"/>
            </a:xfrm>
            <a:prstGeom prst="rect">
              <a:avLst/>
            </a:prstGeom>
            <a:solidFill>
              <a:srgbClr val="9A9A9A"/>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73" name="Rectangle 90"/>
            <p:cNvSpPr>
              <a:spLocks noChangeArrowheads="1"/>
            </p:cNvSpPr>
            <p:nvPr/>
          </p:nvSpPr>
          <p:spPr bwMode="auto">
            <a:xfrm>
              <a:off x="4636" y="1969"/>
              <a:ext cx="46" cy="9"/>
            </a:xfrm>
            <a:prstGeom prst="rect">
              <a:avLst/>
            </a:pr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174" name="Rectangle 91"/>
            <p:cNvSpPr>
              <a:spLocks noChangeArrowheads="1"/>
            </p:cNvSpPr>
            <p:nvPr/>
          </p:nvSpPr>
          <p:spPr bwMode="auto">
            <a:xfrm>
              <a:off x="4805" y="1969"/>
              <a:ext cx="46" cy="9"/>
            </a:xfrm>
            <a:prstGeom prst="rect">
              <a:avLst/>
            </a:prstGeom>
            <a:solidFill>
              <a:srgbClr val="9A9A9A"/>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75" name="Rectangle 92"/>
            <p:cNvSpPr>
              <a:spLocks noChangeArrowheads="1"/>
            </p:cNvSpPr>
            <p:nvPr/>
          </p:nvSpPr>
          <p:spPr bwMode="auto">
            <a:xfrm>
              <a:off x="4805" y="1969"/>
              <a:ext cx="46" cy="9"/>
            </a:xfrm>
            <a:prstGeom prst="rect">
              <a:avLst/>
            </a:pr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176" name="Freeform 93"/>
            <p:cNvSpPr>
              <a:spLocks/>
            </p:cNvSpPr>
            <p:nvPr/>
          </p:nvSpPr>
          <p:spPr bwMode="auto">
            <a:xfrm>
              <a:off x="4557" y="1989"/>
              <a:ext cx="291" cy="23"/>
            </a:xfrm>
            <a:custGeom>
              <a:avLst/>
              <a:gdLst>
                <a:gd name="T0" fmla="*/ 43 w 291"/>
                <a:gd name="T1" fmla="*/ 0 h 23"/>
                <a:gd name="T2" fmla="*/ 291 w 291"/>
                <a:gd name="T3" fmla="*/ 0 h 23"/>
                <a:gd name="T4" fmla="*/ 248 w 291"/>
                <a:gd name="T5" fmla="*/ 23 h 23"/>
                <a:gd name="T6" fmla="*/ 0 w 291"/>
                <a:gd name="T7" fmla="*/ 23 h 23"/>
                <a:gd name="T8" fmla="*/ 43 w 291"/>
                <a:gd name="T9" fmla="*/ 0 h 23"/>
                <a:gd name="T10" fmla="*/ 0 60000 65536"/>
                <a:gd name="T11" fmla="*/ 0 60000 65536"/>
                <a:gd name="T12" fmla="*/ 0 60000 65536"/>
                <a:gd name="T13" fmla="*/ 0 60000 65536"/>
                <a:gd name="T14" fmla="*/ 0 60000 65536"/>
                <a:gd name="T15" fmla="*/ 0 w 291"/>
                <a:gd name="T16" fmla="*/ 0 h 23"/>
                <a:gd name="T17" fmla="*/ 291 w 291"/>
                <a:gd name="T18" fmla="*/ 23 h 23"/>
              </a:gdLst>
              <a:ahLst/>
              <a:cxnLst>
                <a:cxn ang="T10">
                  <a:pos x="T0" y="T1"/>
                </a:cxn>
                <a:cxn ang="T11">
                  <a:pos x="T2" y="T3"/>
                </a:cxn>
                <a:cxn ang="T12">
                  <a:pos x="T4" y="T5"/>
                </a:cxn>
                <a:cxn ang="T13">
                  <a:pos x="T6" y="T7"/>
                </a:cxn>
                <a:cxn ang="T14">
                  <a:pos x="T8" y="T9"/>
                </a:cxn>
              </a:cxnLst>
              <a:rect l="T15" t="T16" r="T17" b="T18"/>
              <a:pathLst>
                <a:path w="291" h="23">
                  <a:moveTo>
                    <a:pt x="43" y="0"/>
                  </a:moveTo>
                  <a:lnTo>
                    <a:pt x="291" y="0"/>
                  </a:lnTo>
                  <a:lnTo>
                    <a:pt x="248" y="23"/>
                  </a:lnTo>
                  <a:lnTo>
                    <a:pt x="0" y="23"/>
                  </a:lnTo>
                  <a:lnTo>
                    <a:pt x="43" y="0"/>
                  </a:lnTo>
                  <a:close/>
                </a:path>
              </a:pathLst>
            </a:custGeom>
            <a:solidFill>
              <a:srgbClr val="666666"/>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77" name="Freeform 94"/>
            <p:cNvSpPr>
              <a:spLocks/>
            </p:cNvSpPr>
            <p:nvPr/>
          </p:nvSpPr>
          <p:spPr bwMode="auto">
            <a:xfrm>
              <a:off x="4557" y="1989"/>
              <a:ext cx="291" cy="23"/>
            </a:xfrm>
            <a:custGeom>
              <a:avLst/>
              <a:gdLst>
                <a:gd name="T0" fmla="*/ 43 w 291"/>
                <a:gd name="T1" fmla="*/ 0 h 23"/>
                <a:gd name="T2" fmla="*/ 291 w 291"/>
                <a:gd name="T3" fmla="*/ 0 h 23"/>
                <a:gd name="T4" fmla="*/ 248 w 291"/>
                <a:gd name="T5" fmla="*/ 23 h 23"/>
                <a:gd name="T6" fmla="*/ 0 w 291"/>
                <a:gd name="T7" fmla="*/ 23 h 23"/>
                <a:gd name="T8" fmla="*/ 43 w 291"/>
                <a:gd name="T9" fmla="*/ 0 h 23"/>
                <a:gd name="T10" fmla="*/ 0 60000 65536"/>
                <a:gd name="T11" fmla="*/ 0 60000 65536"/>
                <a:gd name="T12" fmla="*/ 0 60000 65536"/>
                <a:gd name="T13" fmla="*/ 0 60000 65536"/>
                <a:gd name="T14" fmla="*/ 0 60000 65536"/>
                <a:gd name="T15" fmla="*/ 0 w 291"/>
                <a:gd name="T16" fmla="*/ 0 h 23"/>
                <a:gd name="T17" fmla="*/ 291 w 291"/>
                <a:gd name="T18" fmla="*/ 23 h 23"/>
              </a:gdLst>
              <a:ahLst/>
              <a:cxnLst>
                <a:cxn ang="T10">
                  <a:pos x="T0" y="T1"/>
                </a:cxn>
                <a:cxn ang="T11">
                  <a:pos x="T2" y="T3"/>
                </a:cxn>
                <a:cxn ang="T12">
                  <a:pos x="T4" y="T5"/>
                </a:cxn>
                <a:cxn ang="T13">
                  <a:pos x="T6" y="T7"/>
                </a:cxn>
                <a:cxn ang="T14">
                  <a:pos x="T8" y="T9"/>
                </a:cxn>
              </a:cxnLst>
              <a:rect l="T15" t="T16" r="T17" b="T18"/>
              <a:pathLst>
                <a:path w="291" h="23">
                  <a:moveTo>
                    <a:pt x="43" y="0"/>
                  </a:moveTo>
                  <a:lnTo>
                    <a:pt x="291" y="0"/>
                  </a:lnTo>
                  <a:lnTo>
                    <a:pt x="248" y="23"/>
                  </a:lnTo>
                  <a:lnTo>
                    <a:pt x="0" y="23"/>
                  </a:lnTo>
                  <a:lnTo>
                    <a:pt x="43" y="0"/>
                  </a:lnTo>
                  <a:close/>
                </a:path>
              </a:pathLst>
            </a:cu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178" name="Rectangle 95"/>
            <p:cNvSpPr>
              <a:spLocks noChangeArrowheads="1"/>
            </p:cNvSpPr>
            <p:nvPr/>
          </p:nvSpPr>
          <p:spPr bwMode="auto">
            <a:xfrm>
              <a:off x="4495" y="2031"/>
              <a:ext cx="297" cy="26"/>
            </a:xfrm>
            <a:prstGeom prst="rect">
              <a:avLst/>
            </a:prstGeom>
            <a:solidFill>
              <a:srgbClr val="66666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79" name="Rectangle 96"/>
            <p:cNvSpPr>
              <a:spLocks noChangeArrowheads="1"/>
            </p:cNvSpPr>
            <p:nvPr/>
          </p:nvSpPr>
          <p:spPr bwMode="auto">
            <a:xfrm>
              <a:off x="4495" y="2031"/>
              <a:ext cx="297" cy="26"/>
            </a:xfrm>
            <a:prstGeom prst="rect">
              <a:avLst/>
            </a:pr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180" name="Freeform 97"/>
            <p:cNvSpPr>
              <a:spLocks/>
            </p:cNvSpPr>
            <p:nvPr/>
          </p:nvSpPr>
          <p:spPr bwMode="auto">
            <a:xfrm>
              <a:off x="4640" y="2018"/>
              <a:ext cx="50" cy="6"/>
            </a:xfrm>
            <a:custGeom>
              <a:avLst/>
              <a:gdLst>
                <a:gd name="T0" fmla="*/ 0 w 50"/>
                <a:gd name="T1" fmla="*/ 6 h 6"/>
                <a:gd name="T2" fmla="*/ 13 w 50"/>
                <a:gd name="T3" fmla="*/ 0 h 6"/>
                <a:gd name="T4" fmla="*/ 50 w 50"/>
                <a:gd name="T5" fmla="*/ 0 h 6"/>
                <a:gd name="T6" fmla="*/ 38 w 50"/>
                <a:gd name="T7" fmla="*/ 6 h 6"/>
                <a:gd name="T8" fmla="*/ 0 w 50"/>
                <a:gd name="T9" fmla="*/ 6 h 6"/>
                <a:gd name="T10" fmla="*/ 0 60000 65536"/>
                <a:gd name="T11" fmla="*/ 0 60000 65536"/>
                <a:gd name="T12" fmla="*/ 0 60000 65536"/>
                <a:gd name="T13" fmla="*/ 0 60000 65536"/>
                <a:gd name="T14" fmla="*/ 0 60000 65536"/>
                <a:gd name="T15" fmla="*/ 0 w 50"/>
                <a:gd name="T16" fmla="*/ 0 h 6"/>
                <a:gd name="T17" fmla="*/ 50 w 50"/>
                <a:gd name="T18" fmla="*/ 6 h 6"/>
              </a:gdLst>
              <a:ahLst/>
              <a:cxnLst>
                <a:cxn ang="T10">
                  <a:pos x="T0" y="T1"/>
                </a:cxn>
                <a:cxn ang="T11">
                  <a:pos x="T2" y="T3"/>
                </a:cxn>
                <a:cxn ang="T12">
                  <a:pos x="T4" y="T5"/>
                </a:cxn>
                <a:cxn ang="T13">
                  <a:pos x="T6" y="T7"/>
                </a:cxn>
                <a:cxn ang="T14">
                  <a:pos x="T8" y="T9"/>
                </a:cxn>
              </a:cxnLst>
              <a:rect l="T15" t="T16" r="T17" b="T18"/>
              <a:pathLst>
                <a:path w="50" h="6">
                  <a:moveTo>
                    <a:pt x="0" y="6"/>
                  </a:moveTo>
                  <a:lnTo>
                    <a:pt x="13" y="0"/>
                  </a:lnTo>
                  <a:lnTo>
                    <a:pt x="50" y="0"/>
                  </a:lnTo>
                  <a:lnTo>
                    <a:pt x="38" y="6"/>
                  </a:lnTo>
                  <a:lnTo>
                    <a:pt x="0" y="6"/>
                  </a:lnTo>
                </a:path>
              </a:pathLst>
            </a:cu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181" name="Rectangle 98"/>
            <p:cNvSpPr>
              <a:spLocks noChangeArrowheads="1"/>
            </p:cNvSpPr>
            <p:nvPr/>
          </p:nvSpPr>
          <p:spPr bwMode="auto">
            <a:xfrm>
              <a:off x="4532" y="2045"/>
              <a:ext cx="6" cy="4"/>
            </a:xfrm>
            <a:prstGeom prst="rect">
              <a:avLst/>
            </a:prstGeom>
            <a:solidFill>
              <a:srgbClr val="00FF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82" name="Rectangle 99"/>
            <p:cNvSpPr>
              <a:spLocks noChangeArrowheads="1"/>
            </p:cNvSpPr>
            <p:nvPr/>
          </p:nvSpPr>
          <p:spPr bwMode="auto">
            <a:xfrm>
              <a:off x="4557" y="2045"/>
              <a:ext cx="6" cy="4"/>
            </a:xfrm>
            <a:prstGeom prst="rect">
              <a:avLst/>
            </a:prstGeom>
            <a:solidFill>
              <a:srgbClr val="00FF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83" name="Rectangle 100"/>
            <p:cNvSpPr>
              <a:spLocks noChangeArrowheads="1"/>
            </p:cNvSpPr>
            <p:nvPr/>
          </p:nvSpPr>
          <p:spPr bwMode="auto">
            <a:xfrm>
              <a:off x="4507" y="2045"/>
              <a:ext cx="6" cy="4"/>
            </a:xfrm>
            <a:prstGeom prst="rect">
              <a:avLst/>
            </a:prstGeom>
            <a:solidFill>
              <a:srgbClr val="FF00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84" name="Freeform 101"/>
            <p:cNvSpPr>
              <a:spLocks/>
            </p:cNvSpPr>
            <p:nvPr/>
          </p:nvSpPr>
          <p:spPr bwMode="auto">
            <a:xfrm>
              <a:off x="4861" y="1993"/>
              <a:ext cx="18" cy="16"/>
            </a:xfrm>
            <a:custGeom>
              <a:avLst/>
              <a:gdLst>
                <a:gd name="T0" fmla="*/ 0 w 18"/>
                <a:gd name="T1" fmla="*/ 9 h 16"/>
                <a:gd name="T2" fmla="*/ 18 w 18"/>
                <a:gd name="T3" fmla="*/ 0 h 16"/>
                <a:gd name="T4" fmla="*/ 18 w 18"/>
                <a:gd name="T5" fmla="*/ 6 h 16"/>
                <a:gd name="T6" fmla="*/ 0 w 18"/>
                <a:gd name="T7" fmla="*/ 16 h 16"/>
                <a:gd name="T8" fmla="*/ 0 w 18"/>
                <a:gd name="T9" fmla="*/ 9 h 16"/>
                <a:gd name="T10" fmla="*/ 0 60000 65536"/>
                <a:gd name="T11" fmla="*/ 0 60000 65536"/>
                <a:gd name="T12" fmla="*/ 0 60000 65536"/>
                <a:gd name="T13" fmla="*/ 0 60000 65536"/>
                <a:gd name="T14" fmla="*/ 0 60000 65536"/>
                <a:gd name="T15" fmla="*/ 0 w 18"/>
                <a:gd name="T16" fmla="*/ 0 h 16"/>
                <a:gd name="T17" fmla="*/ 18 w 18"/>
                <a:gd name="T18" fmla="*/ 16 h 16"/>
              </a:gdLst>
              <a:ahLst/>
              <a:cxnLst>
                <a:cxn ang="T10">
                  <a:pos x="T0" y="T1"/>
                </a:cxn>
                <a:cxn ang="T11">
                  <a:pos x="T2" y="T3"/>
                </a:cxn>
                <a:cxn ang="T12">
                  <a:pos x="T4" y="T5"/>
                </a:cxn>
                <a:cxn ang="T13">
                  <a:pos x="T6" y="T7"/>
                </a:cxn>
                <a:cxn ang="T14">
                  <a:pos x="T8" y="T9"/>
                </a:cxn>
              </a:cxnLst>
              <a:rect l="T15" t="T16" r="T17" b="T18"/>
              <a:pathLst>
                <a:path w="18" h="16">
                  <a:moveTo>
                    <a:pt x="0" y="9"/>
                  </a:moveTo>
                  <a:lnTo>
                    <a:pt x="18" y="0"/>
                  </a:lnTo>
                  <a:lnTo>
                    <a:pt x="18" y="6"/>
                  </a:lnTo>
                  <a:lnTo>
                    <a:pt x="0" y="16"/>
                  </a:lnTo>
                  <a:lnTo>
                    <a:pt x="0" y="9"/>
                  </a:lnTo>
                  <a:close/>
                </a:path>
              </a:pathLst>
            </a:custGeom>
            <a:solidFill>
              <a:srgbClr val="00000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85" name="Rectangle 102"/>
            <p:cNvSpPr>
              <a:spLocks noChangeArrowheads="1"/>
            </p:cNvSpPr>
            <p:nvPr/>
          </p:nvSpPr>
          <p:spPr bwMode="auto">
            <a:xfrm>
              <a:off x="4752" y="2036"/>
              <a:ext cx="16" cy="8"/>
            </a:xfrm>
            <a:prstGeom prst="rect">
              <a:avLst/>
            </a:prstGeom>
            <a:solidFill>
              <a:srgbClr val="FF00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pic>
          <p:nvPicPr>
            <p:cNvPr id="186" name="Picture 103"/>
            <p:cNvPicPr>
              <a:picLocks noChangeAspect="1" noChangeArrowheads="1"/>
            </p:cNvPicPr>
            <p:nvPr/>
          </p:nvPicPr>
          <p:blipFill>
            <a:blip r:embed="rId130">
              <a:extLst>
                <a:ext uri="{28A0092B-C50C-407E-A947-70E740481C1C}">
                  <a14:useLocalDpi xmlns:a14="http://schemas.microsoft.com/office/drawing/2010/main" val="0"/>
                </a:ext>
              </a:extLst>
            </a:blip>
            <a:srcRect/>
            <a:stretch>
              <a:fillRect/>
            </a:stretch>
          </p:blipFill>
          <p:spPr bwMode="auto">
            <a:xfrm>
              <a:off x="4688" y="2036"/>
              <a:ext cx="8" cy="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87" name="Picture 104"/>
            <p:cNvPicPr>
              <a:picLocks noChangeAspect="1" noChangeArrowheads="1"/>
            </p:cNvPicPr>
            <p:nvPr/>
          </p:nvPicPr>
          <p:blipFill>
            <a:blip r:embed="rId131">
              <a:extLst>
                <a:ext uri="{28A0092B-C50C-407E-A947-70E740481C1C}">
                  <a14:useLocalDpi xmlns:a14="http://schemas.microsoft.com/office/drawing/2010/main" val="0"/>
                </a:ext>
              </a:extLst>
            </a:blip>
            <a:srcRect/>
            <a:stretch>
              <a:fillRect/>
            </a:stretch>
          </p:blipFill>
          <p:spPr bwMode="auto">
            <a:xfrm>
              <a:off x="4712" y="2036"/>
              <a:ext cx="8" cy="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88" name="Picture 105"/>
            <p:cNvPicPr>
              <a:picLocks noChangeAspect="1" noChangeArrowheads="1"/>
            </p:cNvPicPr>
            <p:nvPr/>
          </p:nvPicPr>
          <p:blipFill>
            <a:blip r:embed="rId131">
              <a:extLst>
                <a:ext uri="{28A0092B-C50C-407E-A947-70E740481C1C}">
                  <a14:useLocalDpi xmlns:a14="http://schemas.microsoft.com/office/drawing/2010/main" val="0"/>
                </a:ext>
              </a:extLst>
            </a:blip>
            <a:srcRect/>
            <a:stretch>
              <a:fillRect/>
            </a:stretch>
          </p:blipFill>
          <p:spPr bwMode="auto">
            <a:xfrm>
              <a:off x="4720" y="2036"/>
              <a:ext cx="8" cy="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89" name="Picture 106"/>
            <p:cNvPicPr>
              <a:picLocks noChangeAspect="1" noChangeArrowheads="1"/>
            </p:cNvPicPr>
            <p:nvPr/>
          </p:nvPicPr>
          <p:blipFill>
            <a:blip r:embed="rId132">
              <a:extLst>
                <a:ext uri="{28A0092B-C50C-407E-A947-70E740481C1C}">
                  <a14:useLocalDpi xmlns:a14="http://schemas.microsoft.com/office/drawing/2010/main" val="0"/>
                </a:ext>
              </a:extLst>
            </a:blip>
            <a:srcRect/>
            <a:stretch>
              <a:fillRect/>
            </a:stretch>
          </p:blipFill>
          <p:spPr bwMode="auto">
            <a:xfrm>
              <a:off x="4616" y="1812"/>
              <a:ext cx="321" cy="1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90" name="Picture 107"/>
            <p:cNvPicPr>
              <a:picLocks noChangeAspect="1" noChangeArrowheads="1"/>
            </p:cNvPicPr>
            <p:nvPr/>
          </p:nvPicPr>
          <p:blipFill>
            <a:blip r:embed="rId133">
              <a:extLst>
                <a:ext uri="{28A0092B-C50C-407E-A947-70E740481C1C}">
                  <a14:useLocalDpi xmlns:a14="http://schemas.microsoft.com/office/drawing/2010/main" val="0"/>
                </a:ext>
              </a:extLst>
            </a:blip>
            <a:srcRect/>
            <a:stretch>
              <a:fillRect/>
            </a:stretch>
          </p:blipFill>
          <p:spPr bwMode="auto">
            <a:xfrm>
              <a:off x="4616" y="1812"/>
              <a:ext cx="321" cy="1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91" name="Freeform 108"/>
            <p:cNvSpPr>
              <a:spLocks/>
            </p:cNvSpPr>
            <p:nvPr/>
          </p:nvSpPr>
          <p:spPr bwMode="auto">
            <a:xfrm>
              <a:off x="4621" y="1813"/>
              <a:ext cx="316" cy="141"/>
            </a:xfrm>
            <a:custGeom>
              <a:avLst/>
              <a:gdLst>
                <a:gd name="T0" fmla="*/ 0 w 316"/>
                <a:gd name="T1" fmla="*/ 141 h 141"/>
                <a:gd name="T2" fmla="*/ 68 w 316"/>
                <a:gd name="T3" fmla="*/ 0 h 141"/>
                <a:gd name="T4" fmla="*/ 316 w 316"/>
                <a:gd name="T5" fmla="*/ 0 h 141"/>
                <a:gd name="T6" fmla="*/ 247 w 316"/>
                <a:gd name="T7" fmla="*/ 141 h 141"/>
                <a:gd name="T8" fmla="*/ 0 w 316"/>
                <a:gd name="T9" fmla="*/ 141 h 141"/>
                <a:gd name="T10" fmla="*/ 0 60000 65536"/>
                <a:gd name="T11" fmla="*/ 0 60000 65536"/>
                <a:gd name="T12" fmla="*/ 0 60000 65536"/>
                <a:gd name="T13" fmla="*/ 0 60000 65536"/>
                <a:gd name="T14" fmla="*/ 0 60000 65536"/>
                <a:gd name="T15" fmla="*/ 0 w 316"/>
                <a:gd name="T16" fmla="*/ 0 h 141"/>
                <a:gd name="T17" fmla="*/ 316 w 316"/>
                <a:gd name="T18" fmla="*/ 141 h 141"/>
              </a:gdLst>
              <a:ahLst/>
              <a:cxnLst>
                <a:cxn ang="T10">
                  <a:pos x="T0" y="T1"/>
                </a:cxn>
                <a:cxn ang="T11">
                  <a:pos x="T2" y="T3"/>
                </a:cxn>
                <a:cxn ang="T12">
                  <a:pos x="T4" y="T5"/>
                </a:cxn>
                <a:cxn ang="T13">
                  <a:pos x="T6" y="T7"/>
                </a:cxn>
                <a:cxn ang="T14">
                  <a:pos x="T8" y="T9"/>
                </a:cxn>
              </a:cxnLst>
              <a:rect l="T15" t="T16" r="T17" b="T18"/>
              <a:pathLst>
                <a:path w="316" h="141">
                  <a:moveTo>
                    <a:pt x="0" y="141"/>
                  </a:moveTo>
                  <a:lnTo>
                    <a:pt x="68" y="0"/>
                  </a:lnTo>
                  <a:lnTo>
                    <a:pt x="316" y="0"/>
                  </a:lnTo>
                  <a:lnTo>
                    <a:pt x="247" y="141"/>
                  </a:lnTo>
                  <a:lnTo>
                    <a:pt x="0" y="141"/>
                  </a:lnTo>
                </a:path>
              </a:pathLst>
            </a:cu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192" name="Rectangle 661"/>
            <p:cNvSpPr>
              <a:spLocks noChangeArrowheads="1"/>
            </p:cNvSpPr>
            <p:nvPr/>
          </p:nvSpPr>
          <p:spPr bwMode="auto">
            <a:xfrm>
              <a:off x="4256" y="2101"/>
              <a:ext cx="1000" cy="17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800" b="0">
                  <a:latin typeface="Arial" charset="0"/>
                </a:rPr>
                <a:t>Intra2(win2003)</a:t>
              </a:r>
              <a:endParaRPr lang="en-US" sz="1800"/>
            </a:p>
          </p:txBody>
        </p:sp>
        <p:sp>
          <p:nvSpPr>
            <p:cNvPr id="193" name="Rectangle 674"/>
            <p:cNvSpPr>
              <a:spLocks noChangeArrowheads="1"/>
            </p:cNvSpPr>
            <p:nvPr/>
          </p:nvSpPr>
          <p:spPr bwMode="auto">
            <a:xfrm>
              <a:off x="2518" y="1339"/>
              <a:ext cx="347" cy="1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2000" b="0">
                  <a:solidFill>
                    <a:srgbClr val="CC0066"/>
                  </a:solidFill>
                  <a:latin typeface="Arial" charset="0"/>
                </a:rPr>
                <a:t>DMZ</a:t>
              </a:r>
              <a:endParaRPr lang="en-US">
                <a:solidFill>
                  <a:srgbClr val="CC0066"/>
                </a:solidFill>
              </a:endParaRPr>
            </a:p>
          </p:txBody>
        </p:sp>
        <p:grpSp>
          <p:nvGrpSpPr>
            <p:cNvPr id="194" name="Group 676"/>
            <p:cNvGrpSpPr>
              <a:grpSpLocks/>
            </p:cNvGrpSpPr>
            <p:nvPr/>
          </p:nvGrpSpPr>
          <p:grpSpPr bwMode="auto">
            <a:xfrm>
              <a:off x="111" y="2472"/>
              <a:ext cx="1006" cy="537"/>
              <a:chOff x="2207" y="2504"/>
              <a:chExt cx="1006" cy="537"/>
            </a:xfrm>
          </p:grpSpPr>
          <p:sp>
            <p:nvSpPr>
              <p:cNvPr id="711" name="Freeform 677"/>
              <p:cNvSpPr>
                <a:spLocks noEditPoints="1"/>
              </p:cNvSpPr>
              <p:nvPr/>
            </p:nvSpPr>
            <p:spPr bwMode="auto">
              <a:xfrm>
                <a:off x="2234" y="2504"/>
                <a:ext cx="979" cy="346"/>
              </a:xfrm>
              <a:custGeom>
                <a:avLst/>
                <a:gdLst>
                  <a:gd name="T0" fmla="*/ 839 w 979"/>
                  <a:gd name="T1" fmla="*/ 346 h 346"/>
                  <a:gd name="T2" fmla="*/ 923 w 979"/>
                  <a:gd name="T3" fmla="*/ 259 h 346"/>
                  <a:gd name="T4" fmla="*/ 867 w 979"/>
                  <a:gd name="T5" fmla="*/ 317 h 346"/>
                  <a:gd name="T6" fmla="*/ 839 w 979"/>
                  <a:gd name="T7" fmla="*/ 317 h 346"/>
                  <a:gd name="T8" fmla="*/ 839 w 979"/>
                  <a:gd name="T9" fmla="*/ 346 h 346"/>
                  <a:gd name="T10" fmla="*/ 0 w 979"/>
                  <a:gd name="T11" fmla="*/ 346 h 346"/>
                  <a:gd name="T12" fmla="*/ 839 w 979"/>
                  <a:gd name="T13" fmla="*/ 346 h 346"/>
                  <a:gd name="T14" fmla="*/ 839 w 979"/>
                  <a:gd name="T15" fmla="*/ 317 h 346"/>
                  <a:gd name="T16" fmla="*/ 0 w 979"/>
                  <a:gd name="T17" fmla="*/ 317 h 346"/>
                  <a:gd name="T18" fmla="*/ 0 w 979"/>
                  <a:gd name="T19" fmla="*/ 346 h 346"/>
                  <a:gd name="T20" fmla="*/ 979 w 979"/>
                  <a:gd name="T21" fmla="*/ 0 h 346"/>
                  <a:gd name="T22" fmla="*/ 979 w 979"/>
                  <a:gd name="T23" fmla="*/ 202 h 346"/>
                  <a:gd name="T24" fmla="*/ 867 w 979"/>
                  <a:gd name="T25" fmla="*/ 317 h 346"/>
                  <a:gd name="T26" fmla="*/ 867 w 979"/>
                  <a:gd name="T27" fmla="*/ 115 h 346"/>
                  <a:gd name="T28" fmla="*/ 979 w 979"/>
                  <a:gd name="T29" fmla="*/ 0 h 34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79"/>
                  <a:gd name="T46" fmla="*/ 0 h 346"/>
                  <a:gd name="T47" fmla="*/ 979 w 979"/>
                  <a:gd name="T48" fmla="*/ 346 h 34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79" h="346">
                    <a:moveTo>
                      <a:pt x="839" y="346"/>
                    </a:moveTo>
                    <a:lnTo>
                      <a:pt x="923" y="259"/>
                    </a:lnTo>
                    <a:lnTo>
                      <a:pt x="867" y="317"/>
                    </a:lnTo>
                    <a:lnTo>
                      <a:pt x="839" y="317"/>
                    </a:lnTo>
                    <a:lnTo>
                      <a:pt x="839" y="346"/>
                    </a:lnTo>
                    <a:close/>
                    <a:moveTo>
                      <a:pt x="0" y="346"/>
                    </a:moveTo>
                    <a:lnTo>
                      <a:pt x="839" y="346"/>
                    </a:lnTo>
                    <a:lnTo>
                      <a:pt x="839" y="317"/>
                    </a:lnTo>
                    <a:lnTo>
                      <a:pt x="0" y="317"/>
                    </a:lnTo>
                    <a:lnTo>
                      <a:pt x="0" y="346"/>
                    </a:lnTo>
                    <a:close/>
                    <a:moveTo>
                      <a:pt x="979" y="0"/>
                    </a:moveTo>
                    <a:lnTo>
                      <a:pt x="979" y="202"/>
                    </a:lnTo>
                    <a:lnTo>
                      <a:pt x="867" y="317"/>
                    </a:lnTo>
                    <a:lnTo>
                      <a:pt x="867" y="115"/>
                    </a:lnTo>
                    <a:lnTo>
                      <a:pt x="979" y="0"/>
                    </a:lnTo>
                    <a:close/>
                  </a:path>
                </a:pathLst>
              </a:custGeom>
              <a:solidFill>
                <a:srgbClr val="9A9A9A"/>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712" name="Freeform 678"/>
              <p:cNvSpPr>
                <a:spLocks/>
              </p:cNvSpPr>
              <p:nvPr/>
            </p:nvSpPr>
            <p:spPr bwMode="auto">
              <a:xfrm>
                <a:off x="2207" y="2504"/>
                <a:ext cx="1006" cy="115"/>
              </a:xfrm>
              <a:custGeom>
                <a:avLst/>
                <a:gdLst>
                  <a:gd name="T0" fmla="*/ 0 w 1006"/>
                  <a:gd name="T1" fmla="*/ 115 h 115"/>
                  <a:gd name="T2" fmla="*/ 111 w 1006"/>
                  <a:gd name="T3" fmla="*/ 0 h 115"/>
                  <a:gd name="T4" fmla="*/ 1006 w 1006"/>
                  <a:gd name="T5" fmla="*/ 0 h 115"/>
                  <a:gd name="T6" fmla="*/ 894 w 1006"/>
                  <a:gd name="T7" fmla="*/ 115 h 115"/>
                  <a:gd name="T8" fmla="*/ 0 w 1006"/>
                  <a:gd name="T9" fmla="*/ 115 h 115"/>
                  <a:gd name="T10" fmla="*/ 0 60000 65536"/>
                  <a:gd name="T11" fmla="*/ 0 60000 65536"/>
                  <a:gd name="T12" fmla="*/ 0 60000 65536"/>
                  <a:gd name="T13" fmla="*/ 0 60000 65536"/>
                  <a:gd name="T14" fmla="*/ 0 60000 65536"/>
                  <a:gd name="T15" fmla="*/ 0 w 1006"/>
                  <a:gd name="T16" fmla="*/ 0 h 115"/>
                  <a:gd name="T17" fmla="*/ 1006 w 1006"/>
                  <a:gd name="T18" fmla="*/ 115 h 115"/>
                </a:gdLst>
                <a:ahLst/>
                <a:cxnLst>
                  <a:cxn ang="T10">
                    <a:pos x="T0" y="T1"/>
                  </a:cxn>
                  <a:cxn ang="T11">
                    <a:pos x="T2" y="T3"/>
                  </a:cxn>
                  <a:cxn ang="T12">
                    <a:pos x="T4" y="T5"/>
                  </a:cxn>
                  <a:cxn ang="T13">
                    <a:pos x="T6" y="T7"/>
                  </a:cxn>
                  <a:cxn ang="T14">
                    <a:pos x="T8" y="T9"/>
                  </a:cxn>
                </a:cxnLst>
                <a:rect l="T15" t="T16" r="T17" b="T18"/>
                <a:pathLst>
                  <a:path w="1006" h="115">
                    <a:moveTo>
                      <a:pt x="0" y="115"/>
                    </a:moveTo>
                    <a:lnTo>
                      <a:pt x="111" y="0"/>
                    </a:lnTo>
                    <a:lnTo>
                      <a:pt x="1006" y="0"/>
                    </a:lnTo>
                    <a:lnTo>
                      <a:pt x="894" y="115"/>
                    </a:lnTo>
                    <a:lnTo>
                      <a:pt x="0" y="115"/>
                    </a:lnTo>
                    <a:close/>
                  </a:path>
                </a:pathLst>
              </a:custGeom>
              <a:solidFill>
                <a:srgbClr val="E6E6E6"/>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713" name="Rectangle 679"/>
              <p:cNvSpPr>
                <a:spLocks noChangeArrowheads="1"/>
              </p:cNvSpPr>
              <p:nvPr/>
            </p:nvSpPr>
            <p:spPr bwMode="auto">
              <a:xfrm>
                <a:off x="2207" y="2619"/>
                <a:ext cx="894" cy="202"/>
              </a:xfrm>
              <a:prstGeom prst="rect">
                <a:avLst/>
              </a:prstGeom>
              <a:solidFill>
                <a:srgbClr val="C0C0C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714" name="Rectangle 680"/>
              <p:cNvSpPr>
                <a:spLocks noChangeArrowheads="1"/>
              </p:cNvSpPr>
              <p:nvPr/>
            </p:nvSpPr>
            <p:spPr bwMode="auto">
              <a:xfrm>
                <a:off x="2207" y="2619"/>
                <a:ext cx="894" cy="202"/>
              </a:xfrm>
              <a:prstGeom prst="rect">
                <a:avLst/>
              </a:pr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715" name="Rectangle 681"/>
              <p:cNvSpPr>
                <a:spLocks noChangeArrowheads="1"/>
              </p:cNvSpPr>
              <p:nvPr/>
            </p:nvSpPr>
            <p:spPr bwMode="auto">
              <a:xfrm>
                <a:off x="2220" y="2734"/>
                <a:ext cx="867" cy="72"/>
              </a:xfrm>
              <a:prstGeom prst="rect">
                <a:avLst/>
              </a:prstGeom>
              <a:solidFill>
                <a:srgbClr val="DBDAC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pic>
            <p:nvPicPr>
              <p:cNvPr id="716" name="Picture 682"/>
              <p:cNvPicPr>
                <a:picLocks noChangeAspect="1" noChangeArrowheads="1"/>
              </p:cNvPicPr>
              <p:nvPr/>
            </p:nvPicPr>
            <p:blipFill>
              <a:blip r:embed="rId76">
                <a:extLst>
                  <a:ext uri="{28A0092B-C50C-407E-A947-70E740481C1C}">
                    <a14:useLocalDpi xmlns:a14="http://schemas.microsoft.com/office/drawing/2010/main" val="0"/>
                  </a:ext>
                </a:extLst>
              </a:blip>
              <a:srcRect/>
              <a:stretch>
                <a:fillRect/>
              </a:stretch>
            </p:blipFill>
            <p:spPr bwMode="auto">
              <a:xfrm>
                <a:off x="2266"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17" name="Picture 683"/>
              <p:cNvPicPr>
                <a:picLocks noChangeAspect="1" noChangeArrowheads="1"/>
              </p:cNvPicPr>
              <p:nvPr/>
            </p:nvPicPr>
            <p:blipFill>
              <a:blip r:embed="rId77">
                <a:extLst>
                  <a:ext uri="{28A0092B-C50C-407E-A947-70E740481C1C}">
                    <a14:useLocalDpi xmlns:a14="http://schemas.microsoft.com/office/drawing/2010/main" val="0"/>
                  </a:ext>
                </a:extLst>
              </a:blip>
              <a:srcRect/>
              <a:stretch>
                <a:fillRect/>
              </a:stretch>
            </p:blipFill>
            <p:spPr bwMode="auto">
              <a:xfrm>
                <a:off x="2266"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18" name="Picture 684"/>
              <p:cNvPicPr>
                <a:picLocks noChangeAspect="1" noChangeArrowheads="1"/>
              </p:cNvPicPr>
              <p:nvPr/>
            </p:nvPicPr>
            <p:blipFill>
              <a:blip r:embed="rId78">
                <a:extLst>
                  <a:ext uri="{28A0092B-C50C-407E-A947-70E740481C1C}">
                    <a14:useLocalDpi xmlns:a14="http://schemas.microsoft.com/office/drawing/2010/main" val="0"/>
                  </a:ext>
                </a:extLst>
              </a:blip>
              <a:srcRect/>
              <a:stretch>
                <a:fillRect/>
              </a:stretch>
            </p:blipFill>
            <p:spPr bwMode="auto">
              <a:xfrm>
                <a:off x="2266"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19" name="Picture 685"/>
              <p:cNvPicPr>
                <a:picLocks noChangeAspect="1" noChangeArrowheads="1"/>
              </p:cNvPicPr>
              <p:nvPr/>
            </p:nvPicPr>
            <p:blipFill>
              <a:blip r:embed="rId79">
                <a:extLst>
                  <a:ext uri="{28A0092B-C50C-407E-A947-70E740481C1C}">
                    <a14:useLocalDpi xmlns:a14="http://schemas.microsoft.com/office/drawing/2010/main" val="0"/>
                  </a:ext>
                </a:extLst>
              </a:blip>
              <a:srcRect/>
              <a:stretch>
                <a:fillRect/>
              </a:stretch>
            </p:blipFill>
            <p:spPr bwMode="auto">
              <a:xfrm>
                <a:off x="2266"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20" name="Picture 686"/>
              <p:cNvPicPr>
                <a:picLocks noChangeAspect="1" noChangeArrowheads="1"/>
              </p:cNvPicPr>
              <p:nvPr/>
            </p:nvPicPr>
            <p:blipFill>
              <a:blip r:embed="rId80">
                <a:extLst>
                  <a:ext uri="{28A0092B-C50C-407E-A947-70E740481C1C}">
                    <a14:useLocalDpi xmlns:a14="http://schemas.microsoft.com/office/drawing/2010/main" val="0"/>
                  </a:ext>
                </a:extLst>
              </a:blip>
              <a:srcRect/>
              <a:stretch>
                <a:fillRect/>
              </a:stretch>
            </p:blipFill>
            <p:spPr bwMode="auto">
              <a:xfrm>
                <a:off x="2882"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21" name="Picture 687"/>
              <p:cNvPicPr>
                <a:picLocks noChangeAspect="1" noChangeArrowheads="1"/>
              </p:cNvPicPr>
              <p:nvPr/>
            </p:nvPicPr>
            <p:blipFill>
              <a:blip r:embed="rId81">
                <a:extLst>
                  <a:ext uri="{28A0092B-C50C-407E-A947-70E740481C1C}">
                    <a14:useLocalDpi xmlns:a14="http://schemas.microsoft.com/office/drawing/2010/main" val="0"/>
                  </a:ext>
                </a:extLst>
              </a:blip>
              <a:srcRect/>
              <a:stretch>
                <a:fillRect/>
              </a:stretch>
            </p:blipFill>
            <p:spPr bwMode="auto">
              <a:xfrm>
                <a:off x="2882"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22" name="Picture 688"/>
              <p:cNvPicPr>
                <a:picLocks noChangeAspect="1" noChangeArrowheads="1"/>
              </p:cNvPicPr>
              <p:nvPr/>
            </p:nvPicPr>
            <p:blipFill>
              <a:blip r:embed="rId82">
                <a:extLst>
                  <a:ext uri="{28A0092B-C50C-407E-A947-70E740481C1C}">
                    <a14:useLocalDpi xmlns:a14="http://schemas.microsoft.com/office/drawing/2010/main" val="0"/>
                  </a:ext>
                </a:extLst>
              </a:blip>
              <a:srcRect/>
              <a:stretch>
                <a:fillRect/>
              </a:stretch>
            </p:blipFill>
            <p:spPr bwMode="auto">
              <a:xfrm>
                <a:off x="2882"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23" name="Picture 689"/>
              <p:cNvPicPr>
                <a:picLocks noChangeAspect="1" noChangeArrowheads="1"/>
              </p:cNvPicPr>
              <p:nvPr/>
            </p:nvPicPr>
            <p:blipFill>
              <a:blip r:embed="rId83">
                <a:extLst>
                  <a:ext uri="{28A0092B-C50C-407E-A947-70E740481C1C}">
                    <a14:useLocalDpi xmlns:a14="http://schemas.microsoft.com/office/drawing/2010/main" val="0"/>
                  </a:ext>
                </a:extLst>
              </a:blip>
              <a:srcRect/>
              <a:stretch>
                <a:fillRect/>
              </a:stretch>
            </p:blipFill>
            <p:spPr bwMode="auto">
              <a:xfrm>
                <a:off x="2882"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24" name="Picture 690"/>
              <p:cNvPicPr>
                <a:picLocks noChangeAspect="1" noChangeArrowheads="1"/>
              </p:cNvPicPr>
              <p:nvPr/>
            </p:nvPicPr>
            <p:blipFill>
              <a:blip r:embed="rId84">
                <a:extLst>
                  <a:ext uri="{28A0092B-C50C-407E-A947-70E740481C1C}">
                    <a14:useLocalDpi xmlns:a14="http://schemas.microsoft.com/office/drawing/2010/main" val="0"/>
                  </a:ext>
                </a:extLst>
              </a:blip>
              <a:srcRect/>
              <a:stretch>
                <a:fillRect/>
              </a:stretch>
            </p:blipFill>
            <p:spPr bwMode="auto">
              <a:xfrm>
                <a:off x="2810"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25" name="Picture 691"/>
              <p:cNvPicPr>
                <a:picLocks noChangeAspect="1" noChangeArrowheads="1"/>
              </p:cNvPicPr>
              <p:nvPr/>
            </p:nvPicPr>
            <p:blipFill>
              <a:blip r:embed="rId85">
                <a:extLst>
                  <a:ext uri="{28A0092B-C50C-407E-A947-70E740481C1C}">
                    <a14:useLocalDpi xmlns:a14="http://schemas.microsoft.com/office/drawing/2010/main" val="0"/>
                  </a:ext>
                </a:extLst>
              </a:blip>
              <a:srcRect/>
              <a:stretch>
                <a:fillRect/>
              </a:stretch>
            </p:blipFill>
            <p:spPr bwMode="auto">
              <a:xfrm>
                <a:off x="2810"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26" name="Picture 692"/>
              <p:cNvPicPr>
                <a:picLocks noChangeAspect="1" noChangeArrowheads="1"/>
              </p:cNvPicPr>
              <p:nvPr/>
            </p:nvPicPr>
            <p:blipFill>
              <a:blip r:embed="rId86">
                <a:extLst>
                  <a:ext uri="{28A0092B-C50C-407E-A947-70E740481C1C}">
                    <a14:useLocalDpi xmlns:a14="http://schemas.microsoft.com/office/drawing/2010/main" val="0"/>
                  </a:ext>
                </a:extLst>
              </a:blip>
              <a:srcRect/>
              <a:stretch>
                <a:fillRect/>
              </a:stretch>
            </p:blipFill>
            <p:spPr bwMode="auto">
              <a:xfrm>
                <a:off x="2810"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27" name="Picture 693"/>
              <p:cNvPicPr>
                <a:picLocks noChangeAspect="1" noChangeArrowheads="1"/>
              </p:cNvPicPr>
              <p:nvPr/>
            </p:nvPicPr>
            <p:blipFill>
              <a:blip r:embed="rId87">
                <a:extLst>
                  <a:ext uri="{28A0092B-C50C-407E-A947-70E740481C1C}">
                    <a14:useLocalDpi xmlns:a14="http://schemas.microsoft.com/office/drawing/2010/main" val="0"/>
                  </a:ext>
                </a:extLst>
              </a:blip>
              <a:srcRect/>
              <a:stretch>
                <a:fillRect/>
              </a:stretch>
            </p:blipFill>
            <p:spPr bwMode="auto">
              <a:xfrm>
                <a:off x="2810"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28" name="Picture 694"/>
              <p:cNvPicPr>
                <a:picLocks noChangeAspect="1" noChangeArrowheads="1"/>
              </p:cNvPicPr>
              <p:nvPr/>
            </p:nvPicPr>
            <p:blipFill>
              <a:blip r:embed="rId88">
                <a:extLst>
                  <a:ext uri="{28A0092B-C50C-407E-A947-70E740481C1C}">
                    <a14:useLocalDpi xmlns:a14="http://schemas.microsoft.com/office/drawing/2010/main" val="0"/>
                  </a:ext>
                </a:extLst>
              </a:blip>
              <a:srcRect/>
              <a:stretch>
                <a:fillRect/>
              </a:stretch>
            </p:blipFill>
            <p:spPr bwMode="auto">
              <a:xfrm>
                <a:off x="2602"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29" name="Picture 695"/>
              <p:cNvPicPr>
                <a:picLocks noChangeAspect="1" noChangeArrowheads="1"/>
              </p:cNvPicPr>
              <p:nvPr/>
            </p:nvPicPr>
            <p:blipFill>
              <a:blip r:embed="rId89">
                <a:extLst>
                  <a:ext uri="{28A0092B-C50C-407E-A947-70E740481C1C}">
                    <a14:useLocalDpi xmlns:a14="http://schemas.microsoft.com/office/drawing/2010/main" val="0"/>
                  </a:ext>
                </a:extLst>
              </a:blip>
              <a:srcRect/>
              <a:stretch>
                <a:fillRect/>
              </a:stretch>
            </p:blipFill>
            <p:spPr bwMode="auto">
              <a:xfrm>
                <a:off x="2602"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30" name="Picture 696"/>
              <p:cNvPicPr>
                <a:picLocks noChangeAspect="1" noChangeArrowheads="1"/>
              </p:cNvPicPr>
              <p:nvPr/>
            </p:nvPicPr>
            <p:blipFill>
              <a:blip r:embed="rId90">
                <a:extLst>
                  <a:ext uri="{28A0092B-C50C-407E-A947-70E740481C1C}">
                    <a14:useLocalDpi xmlns:a14="http://schemas.microsoft.com/office/drawing/2010/main" val="0"/>
                  </a:ext>
                </a:extLst>
              </a:blip>
              <a:srcRect/>
              <a:stretch>
                <a:fillRect/>
              </a:stretch>
            </p:blipFill>
            <p:spPr bwMode="auto">
              <a:xfrm>
                <a:off x="2602"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31" name="Picture 697"/>
              <p:cNvPicPr>
                <a:picLocks noChangeAspect="1" noChangeArrowheads="1"/>
              </p:cNvPicPr>
              <p:nvPr/>
            </p:nvPicPr>
            <p:blipFill>
              <a:blip r:embed="rId91">
                <a:extLst>
                  <a:ext uri="{28A0092B-C50C-407E-A947-70E740481C1C}">
                    <a14:useLocalDpi xmlns:a14="http://schemas.microsoft.com/office/drawing/2010/main" val="0"/>
                  </a:ext>
                </a:extLst>
              </a:blip>
              <a:srcRect/>
              <a:stretch>
                <a:fillRect/>
              </a:stretch>
            </p:blipFill>
            <p:spPr bwMode="auto">
              <a:xfrm>
                <a:off x="2602"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32" name="Picture 698"/>
              <p:cNvPicPr>
                <a:picLocks noChangeAspect="1" noChangeArrowheads="1"/>
              </p:cNvPicPr>
              <p:nvPr/>
            </p:nvPicPr>
            <p:blipFill>
              <a:blip r:embed="rId92">
                <a:extLst>
                  <a:ext uri="{28A0092B-C50C-407E-A947-70E740481C1C}">
                    <a14:useLocalDpi xmlns:a14="http://schemas.microsoft.com/office/drawing/2010/main" val="0"/>
                  </a:ext>
                </a:extLst>
              </a:blip>
              <a:srcRect/>
              <a:stretch>
                <a:fillRect/>
              </a:stretch>
            </p:blipFill>
            <p:spPr bwMode="auto">
              <a:xfrm>
                <a:off x="2538"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33" name="Picture 699"/>
              <p:cNvPicPr>
                <a:picLocks noChangeAspect="1" noChangeArrowheads="1"/>
              </p:cNvPicPr>
              <p:nvPr/>
            </p:nvPicPr>
            <p:blipFill>
              <a:blip r:embed="rId93">
                <a:extLst>
                  <a:ext uri="{28A0092B-C50C-407E-A947-70E740481C1C}">
                    <a14:useLocalDpi xmlns:a14="http://schemas.microsoft.com/office/drawing/2010/main" val="0"/>
                  </a:ext>
                </a:extLst>
              </a:blip>
              <a:srcRect/>
              <a:stretch>
                <a:fillRect/>
              </a:stretch>
            </p:blipFill>
            <p:spPr bwMode="auto">
              <a:xfrm>
                <a:off x="2538"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34" name="Picture 700"/>
              <p:cNvPicPr>
                <a:picLocks noChangeAspect="1" noChangeArrowheads="1"/>
              </p:cNvPicPr>
              <p:nvPr/>
            </p:nvPicPr>
            <p:blipFill>
              <a:blip r:embed="rId94">
                <a:extLst>
                  <a:ext uri="{28A0092B-C50C-407E-A947-70E740481C1C}">
                    <a14:useLocalDpi xmlns:a14="http://schemas.microsoft.com/office/drawing/2010/main" val="0"/>
                  </a:ext>
                </a:extLst>
              </a:blip>
              <a:srcRect/>
              <a:stretch>
                <a:fillRect/>
              </a:stretch>
            </p:blipFill>
            <p:spPr bwMode="auto">
              <a:xfrm>
                <a:off x="2538"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35" name="Picture 701"/>
              <p:cNvPicPr>
                <a:picLocks noChangeAspect="1" noChangeArrowheads="1"/>
              </p:cNvPicPr>
              <p:nvPr/>
            </p:nvPicPr>
            <p:blipFill>
              <a:blip r:embed="rId95">
                <a:extLst>
                  <a:ext uri="{28A0092B-C50C-407E-A947-70E740481C1C}">
                    <a14:useLocalDpi xmlns:a14="http://schemas.microsoft.com/office/drawing/2010/main" val="0"/>
                  </a:ext>
                </a:extLst>
              </a:blip>
              <a:srcRect/>
              <a:stretch>
                <a:fillRect/>
              </a:stretch>
            </p:blipFill>
            <p:spPr bwMode="auto">
              <a:xfrm>
                <a:off x="2538"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36" name="Picture 702"/>
              <p:cNvPicPr>
                <a:picLocks noChangeAspect="1" noChangeArrowheads="1"/>
              </p:cNvPicPr>
              <p:nvPr/>
            </p:nvPicPr>
            <p:blipFill>
              <a:blip r:embed="rId96">
                <a:extLst>
                  <a:ext uri="{28A0092B-C50C-407E-A947-70E740481C1C}">
                    <a14:useLocalDpi xmlns:a14="http://schemas.microsoft.com/office/drawing/2010/main" val="0"/>
                  </a:ext>
                </a:extLst>
              </a:blip>
              <a:srcRect/>
              <a:stretch>
                <a:fillRect/>
              </a:stretch>
            </p:blipFill>
            <p:spPr bwMode="auto">
              <a:xfrm>
                <a:off x="2466"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37" name="Picture 703"/>
              <p:cNvPicPr>
                <a:picLocks noChangeAspect="1" noChangeArrowheads="1"/>
              </p:cNvPicPr>
              <p:nvPr/>
            </p:nvPicPr>
            <p:blipFill>
              <a:blip r:embed="rId97">
                <a:extLst>
                  <a:ext uri="{28A0092B-C50C-407E-A947-70E740481C1C}">
                    <a14:useLocalDpi xmlns:a14="http://schemas.microsoft.com/office/drawing/2010/main" val="0"/>
                  </a:ext>
                </a:extLst>
              </a:blip>
              <a:srcRect/>
              <a:stretch>
                <a:fillRect/>
              </a:stretch>
            </p:blipFill>
            <p:spPr bwMode="auto">
              <a:xfrm>
                <a:off x="2466"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38" name="Picture 704"/>
              <p:cNvPicPr>
                <a:picLocks noChangeAspect="1" noChangeArrowheads="1"/>
              </p:cNvPicPr>
              <p:nvPr/>
            </p:nvPicPr>
            <p:blipFill>
              <a:blip r:embed="rId98">
                <a:extLst>
                  <a:ext uri="{28A0092B-C50C-407E-A947-70E740481C1C}">
                    <a14:useLocalDpi xmlns:a14="http://schemas.microsoft.com/office/drawing/2010/main" val="0"/>
                  </a:ext>
                </a:extLst>
              </a:blip>
              <a:srcRect/>
              <a:stretch>
                <a:fillRect/>
              </a:stretch>
            </p:blipFill>
            <p:spPr bwMode="auto">
              <a:xfrm>
                <a:off x="2466"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39" name="Picture 705"/>
              <p:cNvPicPr>
                <a:picLocks noChangeAspect="1" noChangeArrowheads="1"/>
              </p:cNvPicPr>
              <p:nvPr/>
            </p:nvPicPr>
            <p:blipFill>
              <a:blip r:embed="rId99">
                <a:extLst>
                  <a:ext uri="{28A0092B-C50C-407E-A947-70E740481C1C}">
                    <a14:useLocalDpi xmlns:a14="http://schemas.microsoft.com/office/drawing/2010/main" val="0"/>
                  </a:ext>
                </a:extLst>
              </a:blip>
              <a:srcRect/>
              <a:stretch>
                <a:fillRect/>
              </a:stretch>
            </p:blipFill>
            <p:spPr bwMode="auto">
              <a:xfrm>
                <a:off x="2466"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40" name="Picture 706"/>
              <p:cNvPicPr>
                <a:picLocks noChangeAspect="1" noChangeArrowheads="1"/>
              </p:cNvPicPr>
              <p:nvPr/>
            </p:nvPicPr>
            <p:blipFill>
              <a:blip r:embed="rId100">
                <a:extLst>
                  <a:ext uri="{28A0092B-C50C-407E-A947-70E740481C1C}">
                    <a14:useLocalDpi xmlns:a14="http://schemas.microsoft.com/office/drawing/2010/main" val="0"/>
                  </a:ext>
                </a:extLst>
              </a:blip>
              <a:srcRect/>
              <a:stretch>
                <a:fillRect/>
              </a:stretch>
            </p:blipFill>
            <p:spPr bwMode="auto">
              <a:xfrm>
                <a:off x="2402"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41" name="Picture 707"/>
              <p:cNvPicPr>
                <a:picLocks noChangeAspect="1" noChangeArrowheads="1"/>
              </p:cNvPicPr>
              <p:nvPr/>
            </p:nvPicPr>
            <p:blipFill>
              <a:blip r:embed="rId101">
                <a:extLst>
                  <a:ext uri="{28A0092B-C50C-407E-A947-70E740481C1C}">
                    <a14:useLocalDpi xmlns:a14="http://schemas.microsoft.com/office/drawing/2010/main" val="0"/>
                  </a:ext>
                </a:extLst>
              </a:blip>
              <a:srcRect/>
              <a:stretch>
                <a:fillRect/>
              </a:stretch>
            </p:blipFill>
            <p:spPr bwMode="auto">
              <a:xfrm>
                <a:off x="2402"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42" name="Picture 708"/>
              <p:cNvPicPr>
                <a:picLocks noChangeAspect="1" noChangeArrowheads="1"/>
              </p:cNvPicPr>
              <p:nvPr/>
            </p:nvPicPr>
            <p:blipFill>
              <a:blip r:embed="rId102">
                <a:extLst>
                  <a:ext uri="{28A0092B-C50C-407E-A947-70E740481C1C}">
                    <a14:useLocalDpi xmlns:a14="http://schemas.microsoft.com/office/drawing/2010/main" val="0"/>
                  </a:ext>
                </a:extLst>
              </a:blip>
              <a:srcRect/>
              <a:stretch>
                <a:fillRect/>
              </a:stretch>
            </p:blipFill>
            <p:spPr bwMode="auto">
              <a:xfrm>
                <a:off x="2402"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43" name="Picture 709"/>
              <p:cNvPicPr>
                <a:picLocks noChangeAspect="1" noChangeArrowheads="1"/>
              </p:cNvPicPr>
              <p:nvPr/>
            </p:nvPicPr>
            <p:blipFill>
              <a:blip r:embed="rId103">
                <a:extLst>
                  <a:ext uri="{28A0092B-C50C-407E-A947-70E740481C1C}">
                    <a14:useLocalDpi xmlns:a14="http://schemas.microsoft.com/office/drawing/2010/main" val="0"/>
                  </a:ext>
                </a:extLst>
              </a:blip>
              <a:srcRect/>
              <a:stretch>
                <a:fillRect/>
              </a:stretch>
            </p:blipFill>
            <p:spPr bwMode="auto">
              <a:xfrm>
                <a:off x="2402"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44" name="Picture 710"/>
              <p:cNvPicPr>
                <a:picLocks noChangeAspect="1" noChangeArrowheads="1"/>
              </p:cNvPicPr>
              <p:nvPr/>
            </p:nvPicPr>
            <p:blipFill>
              <a:blip r:embed="rId104">
                <a:extLst>
                  <a:ext uri="{28A0092B-C50C-407E-A947-70E740481C1C}">
                    <a14:useLocalDpi xmlns:a14="http://schemas.microsoft.com/office/drawing/2010/main" val="0"/>
                  </a:ext>
                </a:extLst>
              </a:blip>
              <a:srcRect/>
              <a:stretch>
                <a:fillRect/>
              </a:stretch>
            </p:blipFill>
            <p:spPr bwMode="auto">
              <a:xfrm>
                <a:off x="2330"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45" name="Picture 711"/>
              <p:cNvPicPr>
                <a:picLocks noChangeAspect="1" noChangeArrowheads="1"/>
              </p:cNvPicPr>
              <p:nvPr/>
            </p:nvPicPr>
            <p:blipFill>
              <a:blip r:embed="rId105">
                <a:extLst>
                  <a:ext uri="{28A0092B-C50C-407E-A947-70E740481C1C}">
                    <a14:useLocalDpi xmlns:a14="http://schemas.microsoft.com/office/drawing/2010/main" val="0"/>
                  </a:ext>
                </a:extLst>
              </a:blip>
              <a:srcRect/>
              <a:stretch>
                <a:fillRect/>
              </a:stretch>
            </p:blipFill>
            <p:spPr bwMode="auto">
              <a:xfrm>
                <a:off x="2330"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46" name="Picture 712"/>
              <p:cNvPicPr>
                <a:picLocks noChangeAspect="1" noChangeArrowheads="1"/>
              </p:cNvPicPr>
              <p:nvPr/>
            </p:nvPicPr>
            <p:blipFill>
              <a:blip r:embed="rId106">
                <a:extLst>
                  <a:ext uri="{28A0092B-C50C-407E-A947-70E740481C1C}">
                    <a14:useLocalDpi xmlns:a14="http://schemas.microsoft.com/office/drawing/2010/main" val="0"/>
                  </a:ext>
                </a:extLst>
              </a:blip>
              <a:srcRect/>
              <a:stretch>
                <a:fillRect/>
              </a:stretch>
            </p:blipFill>
            <p:spPr bwMode="auto">
              <a:xfrm>
                <a:off x="2330"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47" name="Picture 713"/>
              <p:cNvPicPr>
                <a:picLocks noChangeAspect="1" noChangeArrowheads="1"/>
              </p:cNvPicPr>
              <p:nvPr/>
            </p:nvPicPr>
            <p:blipFill>
              <a:blip r:embed="rId107">
                <a:extLst>
                  <a:ext uri="{28A0092B-C50C-407E-A947-70E740481C1C}">
                    <a14:useLocalDpi xmlns:a14="http://schemas.microsoft.com/office/drawing/2010/main" val="0"/>
                  </a:ext>
                </a:extLst>
              </a:blip>
              <a:srcRect/>
              <a:stretch>
                <a:fillRect/>
              </a:stretch>
            </p:blipFill>
            <p:spPr bwMode="auto">
              <a:xfrm>
                <a:off x="2330"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48" name="Picture 714"/>
              <p:cNvPicPr>
                <a:picLocks noChangeAspect="1" noChangeArrowheads="1"/>
              </p:cNvPicPr>
              <p:nvPr/>
            </p:nvPicPr>
            <p:blipFill>
              <a:blip r:embed="rId108">
                <a:extLst>
                  <a:ext uri="{28A0092B-C50C-407E-A947-70E740481C1C}">
                    <a14:useLocalDpi xmlns:a14="http://schemas.microsoft.com/office/drawing/2010/main" val="0"/>
                  </a:ext>
                </a:extLst>
              </a:blip>
              <a:srcRect/>
              <a:stretch>
                <a:fillRect/>
              </a:stretch>
            </p:blipFill>
            <p:spPr bwMode="auto">
              <a:xfrm>
                <a:off x="2674"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49" name="Picture 715"/>
              <p:cNvPicPr>
                <a:picLocks noChangeAspect="1" noChangeArrowheads="1"/>
              </p:cNvPicPr>
              <p:nvPr/>
            </p:nvPicPr>
            <p:blipFill>
              <a:blip r:embed="rId109">
                <a:extLst>
                  <a:ext uri="{28A0092B-C50C-407E-A947-70E740481C1C}">
                    <a14:useLocalDpi xmlns:a14="http://schemas.microsoft.com/office/drawing/2010/main" val="0"/>
                  </a:ext>
                </a:extLst>
              </a:blip>
              <a:srcRect/>
              <a:stretch>
                <a:fillRect/>
              </a:stretch>
            </p:blipFill>
            <p:spPr bwMode="auto">
              <a:xfrm>
                <a:off x="2674"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50" name="Picture 716"/>
              <p:cNvPicPr>
                <a:picLocks noChangeAspect="1" noChangeArrowheads="1"/>
              </p:cNvPicPr>
              <p:nvPr/>
            </p:nvPicPr>
            <p:blipFill>
              <a:blip r:embed="rId110">
                <a:extLst>
                  <a:ext uri="{28A0092B-C50C-407E-A947-70E740481C1C}">
                    <a14:useLocalDpi xmlns:a14="http://schemas.microsoft.com/office/drawing/2010/main" val="0"/>
                  </a:ext>
                </a:extLst>
              </a:blip>
              <a:srcRect/>
              <a:stretch>
                <a:fillRect/>
              </a:stretch>
            </p:blipFill>
            <p:spPr bwMode="auto">
              <a:xfrm>
                <a:off x="2674"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51" name="Picture 717"/>
              <p:cNvPicPr>
                <a:picLocks noChangeAspect="1" noChangeArrowheads="1"/>
              </p:cNvPicPr>
              <p:nvPr/>
            </p:nvPicPr>
            <p:blipFill>
              <a:blip r:embed="rId111">
                <a:extLst>
                  <a:ext uri="{28A0092B-C50C-407E-A947-70E740481C1C}">
                    <a14:useLocalDpi xmlns:a14="http://schemas.microsoft.com/office/drawing/2010/main" val="0"/>
                  </a:ext>
                </a:extLst>
              </a:blip>
              <a:srcRect/>
              <a:stretch>
                <a:fillRect/>
              </a:stretch>
            </p:blipFill>
            <p:spPr bwMode="auto">
              <a:xfrm>
                <a:off x="2746"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52" name="Picture 718"/>
              <p:cNvPicPr>
                <a:picLocks noChangeAspect="1" noChangeArrowheads="1"/>
              </p:cNvPicPr>
              <p:nvPr/>
            </p:nvPicPr>
            <p:blipFill>
              <a:blip r:embed="rId112">
                <a:extLst>
                  <a:ext uri="{28A0092B-C50C-407E-A947-70E740481C1C}">
                    <a14:useLocalDpi xmlns:a14="http://schemas.microsoft.com/office/drawing/2010/main" val="0"/>
                  </a:ext>
                </a:extLst>
              </a:blip>
              <a:srcRect/>
              <a:stretch>
                <a:fillRect/>
              </a:stretch>
            </p:blipFill>
            <p:spPr bwMode="auto">
              <a:xfrm>
                <a:off x="2746" y="2684"/>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53" name="Picture 719"/>
              <p:cNvPicPr>
                <a:picLocks noChangeAspect="1" noChangeArrowheads="1"/>
              </p:cNvPicPr>
              <p:nvPr/>
            </p:nvPicPr>
            <p:blipFill>
              <a:blip r:embed="rId113">
                <a:extLst>
                  <a:ext uri="{28A0092B-C50C-407E-A947-70E740481C1C}">
                    <a14:useLocalDpi xmlns:a14="http://schemas.microsoft.com/office/drawing/2010/main" val="0"/>
                  </a:ext>
                </a:extLst>
              </a:blip>
              <a:srcRect/>
              <a:stretch>
                <a:fillRect/>
              </a:stretch>
            </p:blipFill>
            <p:spPr bwMode="auto">
              <a:xfrm>
                <a:off x="2746"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54" name="Picture 720"/>
              <p:cNvPicPr>
                <a:picLocks noChangeAspect="1" noChangeArrowheads="1"/>
              </p:cNvPicPr>
              <p:nvPr/>
            </p:nvPicPr>
            <p:blipFill>
              <a:blip r:embed="rId114">
                <a:extLst>
                  <a:ext uri="{28A0092B-C50C-407E-A947-70E740481C1C}">
                    <a14:useLocalDpi xmlns:a14="http://schemas.microsoft.com/office/drawing/2010/main" val="0"/>
                  </a:ext>
                </a:extLst>
              </a:blip>
              <a:srcRect/>
              <a:stretch>
                <a:fillRect/>
              </a:stretch>
            </p:blipFill>
            <p:spPr bwMode="auto">
              <a:xfrm>
                <a:off x="2746" y="265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755" name="Rectangle 721"/>
              <p:cNvSpPr>
                <a:spLocks noChangeArrowheads="1"/>
              </p:cNvSpPr>
              <p:nvPr/>
            </p:nvSpPr>
            <p:spPr bwMode="auto">
              <a:xfrm>
                <a:off x="2258" y="2740"/>
                <a:ext cx="808" cy="8"/>
              </a:xfrm>
              <a:prstGeom prst="rect">
                <a:avLst/>
              </a:prstGeom>
              <a:solidFill>
                <a:srgbClr val="DCDCDC"/>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756" name="Rectangle 722"/>
              <p:cNvSpPr>
                <a:spLocks noChangeArrowheads="1"/>
              </p:cNvSpPr>
              <p:nvPr/>
            </p:nvSpPr>
            <p:spPr bwMode="auto">
              <a:xfrm>
                <a:off x="2258" y="2748"/>
                <a:ext cx="808" cy="8"/>
              </a:xfrm>
              <a:prstGeom prst="rect">
                <a:avLst/>
              </a:prstGeom>
              <a:solidFill>
                <a:srgbClr val="DADADA"/>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757" name="Rectangle 723"/>
              <p:cNvSpPr>
                <a:spLocks noChangeArrowheads="1"/>
              </p:cNvSpPr>
              <p:nvPr/>
            </p:nvSpPr>
            <p:spPr bwMode="auto">
              <a:xfrm>
                <a:off x="2258" y="2756"/>
                <a:ext cx="808" cy="8"/>
              </a:xfrm>
              <a:prstGeom prst="rect">
                <a:avLst/>
              </a:prstGeom>
              <a:solidFill>
                <a:srgbClr val="C4C4C4"/>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758" name="Rectangle 724"/>
              <p:cNvSpPr>
                <a:spLocks noChangeArrowheads="1"/>
              </p:cNvSpPr>
              <p:nvPr/>
            </p:nvSpPr>
            <p:spPr bwMode="auto">
              <a:xfrm>
                <a:off x="2258" y="2764"/>
                <a:ext cx="808" cy="8"/>
              </a:xfrm>
              <a:prstGeom prst="rect">
                <a:avLst/>
              </a:prstGeom>
              <a:solidFill>
                <a:srgbClr val="AEAEAE"/>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759" name="Rectangle 725"/>
              <p:cNvSpPr>
                <a:spLocks noChangeArrowheads="1"/>
              </p:cNvSpPr>
              <p:nvPr/>
            </p:nvSpPr>
            <p:spPr bwMode="auto">
              <a:xfrm>
                <a:off x="2258" y="2772"/>
                <a:ext cx="808" cy="8"/>
              </a:xfrm>
              <a:prstGeom prst="rect">
                <a:avLst/>
              </a:prstGeom>
              <a:solidFill>
                <a:srgbClr val="9C9C9C"/>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760" name="Rectangle 726"/>
              <p:cNvSpPr>
                <a:spLocks noChangeArrowheads="1"/>
              </p:cNvSpPr>
              <p:nvPr/>
            </p:nvSpPr>
            <p:spPr bwMode="auto">
              <a:xfrm>
                <a:off x="2258" y="2780"/>
                <a:ext cx="808" cy="8"/>
              </a:xfrm>
              <a:prstGeom prst="rect">
                <a:avLst/>
              </a:prstGeom>
              <a:solidFill>
                <a:srgbClr val="B3B3B3"/>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761" name="Rectangle 727"/>
              <p:cNvSpPr>
                <a:spLocks noChangeArrowheads="1"/>
              </p:cNvSpPr>
              <p:nvPr/>
            </p:nvSpPr>
            <p:spPr bwMode="auto">
              <a:xfrm>
                <a:off x="2258" y="2788"/>
                <a:ext cx="808" cy="8"/>
              </a:xfrm>
              <a:prstGeom prst="rect">
                <a:avLst/>
              </a:prstGeom>
              <a:solidFill>
                <a:srgbClr val="C9C9C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762" name="Freeform 728"/>
              <p:cNvSpPr>
                <a:spLocks noEditPoints="1"/>
              </p:cNvSpPr>
              <p:nvPr/>
            </p:nvSpPr>
            <p:spPr bwMode="auto">
              <a:xfrm>
                <a:off x="2258" y="2744"/>
                <a:ext cx="808" cy="55"/>
              </a:xfrm>
              <a:custGeom>
                <a:avLst/>
                <a:gdLst>
                  <a:gd name="T0" fmla="*/ 795 w 808"/>
                  <a:gd name="T1" fmla="*/ 55 h 55"/>
                  <a:gd name="T2" fmla="*/ 688 w 808"/>
                  <a:gd name="T3" fmla="*/ 0 h 55"/>
                  <a:gd name="T4" fmla="*/ 626 w 808"/>
                  <a:gd name="T5" fmla="*/ 37 h 55"/>
                  <a:gd name="T6" fmla="*/ 647 w 808"/>
                  <a:gd name="T7" fmla="*/ 51 h 55"/>
                  <a:gd name="T8" fmla="*/ 654 w 808"/>
                  <a:gd name="T9" fmla="*/ 37 h 55"/>
                  <a:gd name="T10" fmla="*/ 619 w 808"/>
                  <a:gd name="T11" fmla="*/ 2 h 55"/>
                  <a:gd name="T12" fmla="*/ 626 w 808"/>
                  <a:gd name="T13" fmla="*/ 37 h 55"/>
                  <a:gd name="T14" fmla="*/ 557 w 808"/>
                  <a:gd name="T15" fmla="*/ 51 h 55"/>
                  <a:gd name="T16" fmla="*/ 578 w 808"/>
                  <a:gd name="T17" fmla="*/ 37 h 55"/>
                  <a:gd name="T18" fmla="*/ 585 w 808"/>
                  <a:gd name="T19" fmla="*/ 2 h 55"/>
                  <a:gd name="T20" fmla="*/ 551 w 808"/>
                  <a:gd name="T21" fmla="*/ 37 h 55"/>
                  <a:gd name="T22" fmla="*/ 489 w 808"/>
                  <a:gd name="T23" fmla="*/ 37 h 55"/>
                  <a:gd name="T24" fmla="*/ 509 w 808"/>
                  <a:gd name="T25" fmla="*/ 51 h 55"/>
                  <a:gd name="T26" fmla="*/ 516 w 808"/>
                  <a:gd name="T27" fmla="*/ 37 h 55"/>
                  <a:gd name="T28" fmla="*/ 482 w 808"/>
                  <a:gd name="T29" fmla="*/ 2 h 55"/>
                  <a:gd name="T30" fmla="*/ 489 w 808"/>
                  <a:gd name="T31" fmla="*/ 37 h 55"/>
                  <a:gd name="T32" fmla="*/ 420 w 808"/>
                  <a:gd name="T33" fmla="*/ 51 h 55"/>
                  <a:gd name="T34" fmla="*/ 441 w 808"/>
                  <a:gd name="T35" fmla="*/ 37 h 55"/>
                  <a:gd name="T36" fmla="*/ 447 w 808"/>
                  <a:gd name="T37" fmla="*/ 2 h 55"/>
                  <a:gd name="T38" fmla="*/ 413 w 808"/>
                  <a:gd name="T39" fmla="*/ 37 h 55"/>
                  <a:gd name="T40" fmla="*/ 351 w 808"/>
                  <a:gd name="T41" fmla="*/ 37 h 55"/>
                  <a:gd name="T42" fmla="*/ 372 w 808"/>
                  <a:gd name="T43" fmla="*/ 51 h 55"/>
                  <a:gd name="T44" fmla="*/ 379 w 808"/>
                  <a:gd name="T45" fmla="*/ 37 h 55"/>
                  <a:gd name="T46" fmla="*/ 344 w 808"/>
                  <a:gd name="T47" fmla="*/ 2 h 55"/>
                  <a:gd name="T48" fmla="*/ 351 w 808"/>
                  <a:gd name="T49" fmla="*/ 37 h 55"/>
                  <a:gd name="T50" fmla="*/ 282 w 808"/>
                  <a:gd name="T51" fmla="*/ 51 h 55"/>
                  <a:gd name="T52" fmla="*/ 303 w 808"/>
                  <a:gd name="T53" fmla="*/ 37 h 55"/>
                  <a:gd name="T54" fmla="*/ 310 w 808"/>
                  <a:gd name="T55" fmla="*/ 2 h 55"/>
                  <a:gd name="T56" fmla="*/ 276 w 808"/>
                  <a:gd name="T57" fmla="*/ 37 h 55"/>
                  <a:gd name="T58" fmla="*/ 214 w 808"/>
                  <a:gd name="T59" fmla="*/ 37 h 55"/>
                  <a:gd name="T60" fmla="*/ 234 w 808"/>
                  <a:gd name="T61" fmla="*/ 51 h 55"/>
                  <a:gd name="T62" fmla="*/ 241 w 808"/>
                  <a:gd name="T63" fmla="*/ 37 h 55"/>
                  <a:gd name="T64" fmla="*/ 207 w 808"/>
                  <a:gd name="T65" fmla="*/ 2 h 55"/>
                  <a:gd name="T66" fmla="*/ 214 w 808"/>
                  <a:gd name="T67" fmla="*/ 37 h 55"/>
                  <a:gd name="T68" fmla="*/ 145 w 808"/>
                  <a:gd name="T69" fmla="*/ 51 h 55"/>
                  <a:gd name="T70" fmla="*/ 166 w 808"/>
                  <a:gd name="T71" fmla="*/ 37 h 55"/>
                  <a:gd name="T72" fmla="*/ 172 w 808"/>
                  <a:gd name="T73" fmla="*/ 2 h 55"/>
                  <a:gd name="T74" fmla="*/ 138 w 808"/>
                  <a:gd name="T75" fmla="*/ 37 h 55"/>
                  <a:gd name="T76" fmla="*/ 76 w 808"/>
                  <a:gd name="T77" fmla="*/ 37 h 55"/>
                  <a:gd name="T78" fmla="*/ 96 w 808"/>
                  <a:gd name="T79" fmla="*/ 51 h 55"/>
                  <a:gd name="T80" fmla="*/ 104 w 808"/>
                  <a:gd name="T81" fmla="*/ 37 h 55"/>
                  <a:gd name="T82" fmla="*/ 69 w 808"/>
                  <a:gd name="T83" fmla="*/ 2 h 55"/>
                  <a:gd name="T84" fmla="*/ 76 w 808"/>
                  <a:gd name="T85" fmla="*/ 37 h 55"/>
                  <a:gd name="T86" fmla="*/ 7 w 808"/>
                  <a:gd name="T87" fmla="*/ 51 h 55"/>
                  <a:gd name="T88" fmla="*/ 28 w 808"/>
                  <a:gd name="T89" fmla="*/ 37 h 55"/>
                  <a:gd name="T90" fmla="*/ 34 w 808"/>
                  <a:gd name="T91" fmla="*/ 2 h 55"/>
                  <a:gd name="T92" fmla="*/ 0 w 808"/>
                  <a:gd name="T93" fmla="*/ 37 h 55"/>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808"/>
                  <a:gd name="T142" fmla="*/ 0 h 55"/>
                  <a:gd name="T143" fmla="*/ 808 w 808"/>
                  <a:gd name="T144" fmla="*/ 55 h 55"/>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808" h="55">
                    <a:moveTo>
                      <a:pt x="701" y="55"/>
                    </a:moveTo>
                    <a:lnTo>
                      <a:pt x="795" y="55"/>
                    </a:lnTo>
                    <a:lnTo>
                      <a:pt x="808" y="0"/>
                    </a:lnTo>
                    <a:lnTo>
                      <a:pt x="688" y="0"/>
                    </a:lnTo>
                    <a:lnTo>
                      <a:pt x="701" y="55"/>
                    </a:lnTo>
                    <a:moveTo>
                      <a:pt x="626" y="37"/>
                    </a:moveTo>
                    <a:lnTo>
                      <a:pt x="626" y="51"/>
                    </a:lnTo>
                    <a:lnTo>
                      <a:pt x="647" y="51"/>
                    </a:lnTo>
                    <a:lnTo>
                      <a:pt x="647" y="37"/>
                    </a:lnTo>
                    <a:lnTo>
                      <a:pt x="654" y="37"/>
                    </a:lnTo>
                    <a:lnTo>
                      <a:pt x="654" y="2"/>
                    </a:lnTo>
                    <a:lnTo>
                      <a:pt x="619" y="2"/>
                    </a:lnTo>
                    <a:lnTo>
                      <a:pt x="619" y="37"/>
                    </a:lnTo>
                    <a:lnTo>
                      <a:pt x="626" y="37"/>
                    </a:lnTo>
                    <a:moveTo>
                      <a:pt x="557" y="37"/>
                    </a:moveTo>
                    <a:lnTo>
                      <a:pt x="557" y="51"/>
                    </a:lnTo>
                    <a:lnTo>
                      <a:pt x="578" y="51"/>
                    </a:lnTo>
                    <a:lnTo>
                      <a:pt x="578" y="37"/>
                    </a:lnTo>
                    <a:lnTo>
                      <a:pt x="585" y="37"/>
                    </a:lnTo>
                    <a:lnTo>
                      <a:pt x="585" y="2"/>
                    </a:lnTo>
                    <a:lnTo>
                      <a:pt x="551" y="2"/>
                    </a:lnTo>
                    <a:lnTo>
                      <a:pt x="551" y="37"/>
                    </a:lnTo>
                    <a:lnTo>
                      <a:pt x="557" y="37"/>
                    </a:lnTo>
                    <a:moveTo>
                      <a:pt x="489" y="37"/>
                    </a:moveTo>
                    <a:lnTo>
                      <a:pt x="489" y="51"/>
                    </a:lnTo>
                    <a:lnTo>
                      <a:pt x="509" y="51"/>
                    </a:lnTo>
                    <a:lnTo>
                      <a:pt x="509" y="37"/>
                    </a:lnTo>
                    <a:lnTo>
                      <a:pt x="516" y="37"/>
                    </a:lnTo>
                    <a:lnTo>
                      <a:pt x="516" y="2"/>
                    </a:lnTo>
                    <a:lnTo>
                      <a:pt x="482" y="2"/>
                    </a:lnTo>
                    <a:lnTo>
                      <a:pt x="482" y="37"/>
                    </a:lnTo>
                    <a:lnTo>
                      <a:pt x="489" y="37"/>
                    </a:lnTo>
                    <a:moveTo>
                      <a:pt x="420" y="37"/>
                    </a:moveTo>
                    <a:lnTo>
                      <a:pt x="420" y="51"/>
                    </a:lnTo>
                    <a:lnTo>
                      <a:pt x="441" y="51"/>
                    </a:lnTo>
                    <a:lnTo>
                      <a:pt x="441" y="37"/>
                    </a:lnTo>
                    <a:lnTo>
                      <a:pt x="447" y="37"/>
                    </a:lnTo>
                    <a:lnTo>
                      <a:pt x="447" y="2"/>
                    </a:lnTo>
                    <a:lnTo>
                      <a:pt x="413" y="2"/>
                    </a:lnTo>
                    <a:lnTo>
                      <a:pt x="413" y="37"/>
                    </a:lnTo>
                    <a:lnTo>
                      <a:pt x="420" y="37"/>
                    </a:lnTo>
                    <a:moveTo>
                      <a:pt x="351" y="37"/>
                    </a:moveTo>
                    <a:lnTo>
                      <a:pt x="351" y="51"/>
                    </a:lnTo>
                    <a:lnTo>
                      <a:pt x="372" y="51"/>
                    </a:lnTo>
                    <a:lnTo>
                      <a:pt x="372" y="37"/>
                    </a:lnTo>
                    <a:lnTo>
                      <a:pt x="379" y="37"/>
                    </a:lnTo>
                    <a:lnTo>
                      <a:pt x="379" y="2"/>
                    </a:lnTo>
                    <a:lnTo>
                      <a:pt x="344" y="2"/>
                    </a:lnTo>
                    <a:lnTo>
                      <a:pt x="344" y="37"/>
                    </a:lnTo>
                    <a:lnTo>
                      <a:pt x="351" y="37"/>
                    </a:lnTo>
                    <a:moveTo>
                      <a:pt x="282" y="37"/>
                    </a:moveTo>
                    <a:lnTo>
                      <a:pt x="282" y="51"/>
                    </a:lnTo>
                    <a:lnTo>
                      <a:pt x="303" y="51"/>
                    </a:lnTo>
                    <a:lnTo>
                      <a:pt x="303" y="37"/>
                    </a:lnTo>
                    <a:lnTo>
                      <a:pt x="310" y="37"/>
                    </a:lnTo>
                    <a:lnTo>
                      <a:pt x="310" y="2"/>
                    </a:lnTo>
                    <a:lnTo>
                      <a:pt x="276" y="2"/>
                    </a:lnTo>
                    <a:lnTo>
                      <a:pt x="276" y="37"/>
                    </a:lnTo>
                    <a:lnTo>
                      <a:pt x="282" y="37"/>
                    </a:lnTo>
                    <a:moveTo>
                      <a:pt x="214" y="37"/>
                    </a:moveTo>
                    <a:lnTo>
                      <a:pt x="214" y="51"/>
                    </a:lnTo>
                    <a:lnTo>
                      <a:pt x="234" y="51"/>
                    </a:lnTo>
                    <a:lnTo>
                      <a:pt x="234" y="37"/>
                    </a:lnTo>
                    <a:lnTo>
                      <a:pt x="241" y="37"/>
                    </a:lnTo>
                    <a:lnTo>
                      <a:pt x="241" y="2"/>
                    </a:lnTo>
                    <a:lnTo>
                      <a:pt x="207" y="2"/>
                    </a:lnTo>
                    <a:lnTo>
                      <a:pt x="207" y="37"/>
                    </a:lnTo>
                    <a:lnTo>
                      <a:pt x="214" y="37"/>
                    </a:lnTo>
                    <a:moveTo>
                      <a:pt x="145" y="37"/>
                    </a:moveTo>
                    <a:lnTo>
                      <a:pt x="145" y="51"/>
                    </a:lnTo>
                    <a:lnTo>
                      <a:pt x="166" y="51"/>
                    </a:lnTo>
                    <a:lnTo>
                      <a:pt x="166" y="37"/>
                    </a:lnTo>
                    <a:lnTo>
                      <a:pt x="172" y="37"/>
                    </a:lnTo>
                    <a:lnTo>
                      <a:pt x="172" y="2"/>
                    </a:lnTo>
                    <a:lnTo>
                      <a:pt x="138" y="2"/>
                    </a:lnTo>
                    <a:lnTo>
                      <a:pt x="138" y="37"/>
                    </a:lnTo>
                    <a:lnTo>
                      <a:pt x="145" y="37"/>
                    </a:lnTo>
                    <a:moveTo>
                      <a:pt x="76" y="37"/>
                    </a:moveTo>
                    <a:lnTo>
                      <a:pt x="76" y="51"/>
                    </a:lnTo>
                    <a:lnTo>
                      <a:pt x="96" y="51"/>
                    </a:lnTo>
                    <a:lnTo>
                      <a:pt x="96" y="37"/>
                    </a:lnTo>
                    <a:lnTo>
                      <a:pt x="104" y="37"/>
                    </a:lnTo>
                    <a:lnTo>
                      <a:pt x="104" y="2"/>
                    </a:lnTo>
                    <a:lnTo>
                      <a:pt x="69" y="2"/>
                    </a:lnTo>
                    <a:lnTo>
                      <a:pt x="69" y="37"/>
                    </a:lnTo>
                    <a:lnTo>
                      <a:pt x="76" y="37"/>
                    </a:lnTo>
                    <a:moveTo>
                      <a:pt x="7" y="37"/>
                    </a:moveTo>
                    <a:lnTo>
                      <a:pt x="7" y="51"/>
                    </a:lnTo>
                    <a:lnTo>
                      <a:pt x="28" y="51"/>
                    </a:lnTo>
                    <a:lnTo>
                      <a:pt x="28" y="37"/>
                    </a:lnTo>
                    <a:lnTo>
                      <a:pt x="34" y="37"/>
                    </a:lnTo>
                    <a:lnTo>
                      <a:pt x="34" y="2"/>
                    </a:lnTo>
                    <a:lnTo>
                      <a:pt x="0" y="2"/>
                    </a:lnTo>
                    <a:lnTo>
                      <a:pt x="0" y="37"/>
                    </a:lnTo>
                    <a:lnTo>
                      <a:pt x="7" y="37"/>
                    </a:lnTo>
                  </a:path>
                </a:pathLst>
              </a:cu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763" name="Freeform 729"/>
              <p:cNvSpPr>
                <a:spLocks/>
              </p:cNvSpPr>
              <p:nvPr/>
            </p:nvSpPr>
            <p:spPr bwMode="auto">
              <a:xfrm>
                <a:off x="2207" y="2504"/>
                <a:ext cx="1006" cy="346"/>
              </a:xfrm>
              <a:custGeom>
                <a:avLst/>
                <a:gdLst>
                  <a:gd name="T0" fmla="*/ 27 w 1006"/>
                  <a:gd name="T1" fmla="*/ 346 h 346"/>
                  <a:gd name="T2" fmla="*/ 27 w 1006"/>
                  <a:gd name="T3" fmla="*/ 317 h 346"/>
                  <a:gd name="T4" fmla="*/ 0 w 1006"/>
                  <a:gd name="T5" fmla="*/ 317 h 346"/>
                  <a:gd name="T6" fmla="*/ 0 w 1006"/>
                  <a:gd name="T7" fmla="*/ 115 h 346"/>
                  <a:gd name="T8" fmla="*/ 111 w 1006"/>
                  <a:gd name="T9" fmla="*/ 0 h 346"/>
                  <a:gd name="T10" fmla="*/ 1006 w 1006"/>
                  <a:gd name="T11" fmla="*/ 0 h 346"/>
                  <a:gd name="T12" fmla="*/ 1006 w 1006"/>
                  <a:gd name="T13" fmla="*/ 202 h 346"/>
                  <a:gd name="T14" fmla="*/ 866 w 1006"/>
                  <a:gd name="T15" fmla="*/ 346 h 346"/>
                  <a:gd name="T16" fmla="*/ 27 w 1006"/>
                  <a:gd name="T17" fmla="*/ 346 h 3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06"/>
                  <a:gd name="T28" fmla="*/ 0 h 346"/>
                  <a:gd name="T29" fmla="*/ 1006 w 1006"/>
                  <a:gd name="T30" fmla="*/ 346 h 34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06" h="346">
                    <a:moveTo>
                      <a:pt x="27" y="346"/>
                    </a:moveTo>
                    <a:lnTo>
                      <a:pt x="27" y="317"/>
                    </a:lnTo>
                    <a:lnTo>
                      <a:pt x="0" y="317"/>
                    </a:lnTo>
                    <a:lnTo>
                      <a:pt x="0" y="115"/>
                    </a:lnTo>
                    <a:lnTo>
                      <a:pt x="111" y="0"/>
                    </a:lnTo>
                    <a:lnTo>
                      <a:pt x="1006" y="0"/>
                    </a:lnTo>
                    <a:lnTo>
                      <a:pt x="1006" y="202"/>
                    </a:lnTo>
                    <a:lnTo>
                      <a:pt x="866" y="346"/>
                    </a:lnTo>
                    <a:lnTo>
                      <a:pt x="27" y="346"/>
                    </a:lnTo>
                  </a:path>
                </a:pathLst>
              </a:custGeom>
              <a:noFill/>
              <a:ln w="11113"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764" name="Rectangle 730"/>
              <p:cNvSpPr>
                <a:spLocks noChangeArrowheads="1"/>
              </p:cNvSpPr>
              <p:nvPr/>
            </p:nvSpPr>
            <p:spPr bwMode="auto">
              <a:xfrm>
                <a:off x="2570" y="2868"/>
                <a:ext cx="232" cy="17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800" b="0">
                    <a:solidFill>
                      <a:schemeClr val="bg1"/>
                    </a:solidFill>
                    <a:latin typeface="Arial" charset="0"/>
                  </a:rPr>
                  <a:t>SW</a:t>
                </a:r>
                <a:endParaRPr lang="en-US" sz="1800">
                  <a:solidFill>
                    <a:schemeClr val="bg1"/>
                  </a:solidFill>
                </a:endParaRPr>
              </a:p>
            </p:txBody>
          </p:sp>
        </p:grpSp>
        <p:sp>
          <p:nvSpPr>
            <p:cNvPr id="195" name="Rectangle 731"/>
            <p:cNvSpPr>
              <a:spLocks noChangeArrowheads="1"/>
            </p:cNvSpPr>
            <p:nvPr/>
          </p:nvSpPr>
          <p:spPr bwMode="auto">
            <a:xfrm>
              <a:off x="615" y="1908"/>
              <a:ext cx="75" cy="624"/>
            </a:xfrm>
            <a:prstGeom prst="rect">
              <a:avLst/>
            </a:prstGeom>
            <a:solidFill>
              <a:srgbClr val="FFFF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96" name="Freeform 189"/>
            <p:cNvSpPr>
              <a:spLocks noEditPoints="1"/>
            </p:cNvSpPr>
            <p:nvPr/>
          </p:nvSpPr>
          <p:spPr bwMode="auto">
            <a:xfrm>
              <a:off x="3613" y="2707"/>
              <a:ext cx="304" cy="64"/>
            </a:xfrm>
            <a:custGeom>
              <a:avLst/>
              <a:gdLst>
                <a:gd name="T0" fmla="*/ 0 w 304"/>
                <a:gd name="T1" fmla="*/ 64 h 64"/>
                <a:gd name="T2" fmla="*/ 254 w 304"/>
                <a:gd name="T3" fmla="*/ 64 h 64"/>
                <a:gd name="T4" fmla="*/ 254 w 304"/>
                <a:gd name="T5" fmla="*/ 51 h 64"/>
                <a:gd name="T6" fmla="*/ 0 w 304"/>
                <a:gd name="T7" fmla="*/ 51 h 64"/>
                <a:gd name="T8" fmla="*/ 0 w 304"/>
                <a:gd name="T9" fmla="*/ 64 h 64"/>
                <a:gd name="T10" fmla="*/ 254 w 304"/>
                <a:gd name="T11" fmla="*/ 64 h 64"/>
                <a:gd name="T12" fmla="*/ 304 w 304"/>
                <a:gd name="T13" fmla="*/ 13 h 64"/>
                <a:gd name="T14" fmla="*/ 304 w 304"/>
                <a:gd name="T15" fmla="*/ 0 h 64"/>
                <a:gd name="T16" fmla="*/ 254 w 304"/>
                <a:gd name="T17" fmla="*/ 51 h 64"/>
                <a:gd name="T18" fmla="*/ 254 w 304"/>
                <a:gd name="T19" fmla="*/ 64 h 6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04"/>
                <a:gd name="T31" fmla="*/ 0 h 64"/>
                <a:gd name="T32" fmla="*/ 304 w 304"/>
                <a:gd name="T33" fmla="*/ 64 h 6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04" h="64">
                  <a:moveTo>
                    <a:pt x="0" y="64"/>
                  </a:moveTo>
                  <a:lnTo>
                    <a:pt x="254" y="64"/>
                  </a:lnTo>
                  <a:lnTo>
                    <a:pt x="254" y="51"/>
                  </a:lnTo>
                  <a:lnTo>
                    <a:pt x="0" y="51"/>
                  </a:lnTo>
                  <a:lnTo>
                    <a:pt x="0" y="64"/>
                  </a:lnTo>
                  <a:close/>
                  <a:moveTo>
                    <a:pt x="254" y="64"/>
                  </a:moveTo>
                  <a:lnTo>
                    <a:pt x="304" y="13"/>
                  </a:lnTo>
                  <a:lnTo>
                    <a:pt x="304" y="0"/>
                  </a:lnTo>
                  <a:lnTo>
                    <a:pt x="254" y="51"/>
                  </a:lnTo>
                  <a:lnTo>
                    <a:pt x="254" y="64"/>
                  </a:lnTo>
                  <a:close/>
                </a:path>
              </a:pathLst>
            </a:custGeom>
            <a:solidFill>
              <a:srgbClr val="9A9A9A"/>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97" name="Freeform 190"/>
            <p:cNvSpPr>
              <a:spLocks/>
            </p:cNvSpPr>
            <p:nvPr/>
          </p:nvSpPr>
          <p:spPr bwMode="auto">
            <a:xfrm>
              <a:off x="3873" y="2310"/>
              <a:ext cx="51" cy="448"/>
            </a:xfrm>
            <a:custGeom>
              <a:avLst/>
              <a:gdLst>
                <a:gd name="T0" fmla="*/ 0 w 51"/>
                <a:gd name="T1" fmla="*/ 448 h 448"/>
                <a:gd name="T2" fmla="*/ 51 w 51"/>
                <a:gd name="T3" fmla="*/ 397 h 448"/>
                <a:gd name="T4" fmla="*/ 51 w 51"/>
                <a:gd name="T5" fmla="*/ 0 h 448"/>
                <a:gd name="T6" fmla="*/ 0 w 51"/>
                <a:gd name="T7" fmla="*/ 52 h 448"/>
                <a:gd name="T8" fmla="*/ 0 w 51"/>
                <a:gd name="T9" fmla="*/ 448 h 448"/>
                <a:gd name="T10" fmla="*/ 0 60000 65536"/>
                <a:gd name="T11" fmla="*/ 0 60000 65536"/>
                <a:gd name="T12" fmla="*/ 0 60000 65536"/>
                <a:gd name="T13" fmla="*/ 0 60000 65536"/>
                <a:gd name="T14" fmla="*/ 0 60000 65536"/>
                <a:gd name="T15" fmla="*/ 0 w 51"/>
                <a:gd name="T16" fmla="*/ 0 h 448"/>
                <a:gd name="T17" fmla="*/ 51 w 51"/>
                <a:gd name="T18" fmla="*/ 448 h 448"/>
              </a:gdLst>
              <a:ahLst/>
              <a:cxnLst>
                <a:cxn ang="T10">
                  <a:pos x="T0" y="T1"/>
                </a:cxn>
                <a:cxn ang="T11">
                  <a:pos x="T2" y="T3"/>
                </a:cxn>
                <a:cxn ang="T12">
                  <a:pos x="T4" y="T5"/>
                </a:cxn>
                <a:cxn ang="T13">
                  <a:pos x="T6" y="T7"/>
                </a:cxn>
                <a:cxn ang="T14">
                  <a:pos x="T8" y="T9"/>
                </a:cxn>
              </a:cxnLst>
              <a:rect l="T15" t="T16" r="T17" b="T18"/>
              <a:pathLst>
                <a:path w="51" h="448">
                  <a:moveTo>
                    <a:pt x="0" y="448"/>
                  </a:moveTo>
                  <a:lnTo>
                    <a:pt x="51" y="397"/>
                  </a:lnTo>
                  <a:lnTo>
                    <a:pt x="51" y="0"/>
                  </a:lnTo>
                  <a:lnTo>
                    <a:pt x="0" y="52"/>
                  </a:lnTo>
                  <a:lnTo>
                    <a:pt x="0" y="448"/>
                  </a:lnTo>
                  <a:close/>
                </a:path>
              </a:pathLst>
            </a:custGeom>
            <a:solidFill>
              <a:srgbClr val="9A9A9A"/>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98" name="Freeform 191"/>
            <p:cNvSpPr>
              <a:spLocks/>
            </p:cNvSpPr>
            <p:nvPr/>
          </p:nvSpPr>
          <p:spPr bwMode="auto">
            <a:xfrm>
              <a:off x="3600" y="2310"/>
              <a:ext cx="324" cy="52"/>
            </a:xfrm>
            <a:custGeom>
              <a:avLst/>
              <a:gdLst>
                <a:gd name="T0" fmla="*/ 0 w 324"/>
                <a:gd name="T1" fmla="*/ 52 h 52"/>
                <a:gd name="T2" fmla="*/ 50 w 324"/>
                <a:gd name="T3" fmla="*/ 0 h 52"/>
                <a:gd name="T4" fmla="*/ 324 w 324"/>
                <a:gd name="T5" fmla="*/ 0 h 52"/>
                <a:gd name="T6" fmla="*/ 273 w 324"/>
                <a:gd name="T7" fmla="*/ 52 h 52"/>
                <a:gd name="T8" fmla="*/ 0 w 324"/>
                <a:gd name="T9" fmla="*/ 52 h 52"/>
                <a:gd name="T10" fmla="*/ 0 60000 65536"/>
                <a:gd name="T11" fmla="*/ 0 60000 65536"/>
                <a:gd name="T12" fmla="*/ 0 60000 65536"/>
                <a:gd name="T13" fmla="*/ 0 60000 65536"/>
                <a:gd name="T14" fmla="*/ 0 60000 65536"/>
                <a:gd name="T15" fmla="*/ 0 w 324"/>
                <a:gd name="T16" fmla="*/ 0 h 52"/>
                <a:gd name="T17" fmla="*/ 324 w 324"/>
                <a:gd name="T18" fmla="*/ 52 h 52"/>
              </a:gdLst>
              <a:ahLst/>
              <a:cxnLst>
                <a:cxn ang="T10">
                  <a:pos x="T0" y="T1"/>
                </a:cxn>
                <a:cxn ang="T11">
                  <a:pos x="T2" y="T3"/>
                </a:cxn>
                <a:cxn ang="T12">
                  <a:pos x="T4" y="T5"/>
                </a:cxn>
                <a:cxn ang="T13">
                  <a:pos x="T6" y="T7"/>
                </a:cxn>
                <a:cxn ang="T14">
                  <a:pos x="T8" y="T9"/>
                </a:cxn>
              </a:cxnLst>
              <a:rect l="T15" t="T16" r="T17" b="T18"/>
              <a:pathLst>
                <a:path w="324" h="52">
                  <a:moveTo>
                    <a:pt x="0" y="52"/>
                  </a:moveTo>
                  <a:lnTo>
                    <a:pt x="50" y="0"/>
                  </a:lnTo>
                  <a:lnTo>
                    <a:pt x="324" y="0"/>
                  </a:lnTo>
                  <a:lnTo>
                    <a:pt x="273" y="52"/>
                  </a:lnTo>
                  <a:lnTo>
                    <a:pt x="0" y="52"/>
                  </a:lnTo>
                  <a:close/>
                </a:path>
              </a:pathLst>
            </a:custGeom>
            <a:solidFill>
              <a:srgbClr val="E6E6E6"/>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99" name="Rectangle 192"/>
            <p:cNvSpPr>
              <a:spLocks noChangeArrowheads="1"/>
            </p:cNvSpPr>
            <p:nvPr/>
          </p:nvSpPr>
          <p:spPr bwMode="auto">
            <a:xfrm>
              <a:off x="3600" y="2362"/>
              <a:ext cx="273" cy="396"/>
            </a:xfrm>
            <a:prstGeom prst="rect">
              <a:avLst/>
            </a:prstGeom>
            <a:solidFill>
              <a:srgbClr val="C0C0C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00" name="Rectangle 193"/>
            <p:cNvSpPr>
              <a:spLocks noChangeArrowheads="1"/>
            </p:cNvSpPr>
            <p:nvPr/>
          </p:nvSpPr>
          <p:spPr bwMode="auto">
            <a:xfrm>
              <a:off x="3600" y="2362"/>
              <a:ext cx="273" cy="396"/>
            </a:xfrm>
            <a:prstGeom prst="rect">
              <a:avLst/>
            </a:pr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201" name="Rectangle 194"/>
            <p:cNvSpPr>
              <a:spLocks noChangeArrowheads="1"/>
            </p:cNvSpPr>
            <p:nvPr/>
          </p:nvSpPr>
          <p:spPr bwMode="auto">
            <a:xfrm>
              <a:off x="3617" y="2476"/>
              <a:ext cx="232" cy="8"/>
            </a:xfrm>
            <a:prstGeom prst="rect">
              <a:avLst/>
            </a:prstGeom>
            <a:solidFill>
              <a:srgbClr val="E5E5E5"/>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02" name="Rectangle 195"/>
            <p:cNvSpPr>
              <a:spLocks noChangeArrowheads="1"/>
            </p:cNvSpPr>
            <p:nvPr/>
          </p:nvSpPr>
          <p:spPr bwMode="auto">
            <a:xfrm>
              <a:off x="3617" y="2484"/>
              <a:ext cx="232" cy="8"/>
            </a:xfrm>
            <a:prstGeom prst="rect">
              <a:avLst/>
            </a:prstGeom>
            <a:solidFill>
              <a:srgbClr val="C0C0C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03" name="Rectangle 196"/>
            <p:cNvSpPr>
              <a:spLocks noChangeArrowheads="1"/>
            </p:cNvSpPr>
            <p:nvPr/>
          </p:nvSpPr>
          <p:spPr bwMode="auto">
            <a:xfrm>
              <a:off x="3617" y="2492"/>
              <a:ext cx="232" cy="8"/>
            </a:xfrm>
            <a:prstGeom prst="rect">
              <a:avLst/>
            </a:prstGeom>
            <a:solidFill>
              <a:srgbClr val="C1C1C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04" name="Rectangle 197"/>
            <p:cNvSpPr>
              <a:spLocks noChangeArrowheads="1"/>
            </p:cNvSpPr>
            <p:nvPr/>
          </p:nvSpPr>
          <p:spPr bwMode="auto">
            <a:xfrm>
              <a:off x="3617" y="2500"/>
              <a:ext cx="232" cy="8"/>
            </a:xfrm>
            <a:prstGeom prst="rect">
              <a:avLst/>
            </a:prstGeom>
            <a:solidFill>
              <a:srgbClr val="C3C3C3"/>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05" name="Rectangle 198"/>
            <p:cNvSpPr>
              <a:spLocks noChangeArrowheads="1"/>
            </p:cNvSpPr>
            <p:nvPr/>
          </p:nvSpPr>
          <p:spPr bwMode="auto">
            <a:xfrm>
              <a:off x="3617" y="2508"/>
              <a:ext cx="232" cy="8"/>
            </a:xfrm>
            <a:prstGeom prst="rect">
              <a:avLst/>
            </a:prstGeom>
            <a:solidFill>
              <a:srgbClr val="C4C4C4"/>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06" name="Rectangle 199"/>
            <p:cNvSpPr>
              <a:spLocks noChangeArrowheads="1"/>
            </p:cNvSpPr>
            <p:nvPr/>
          </p:nvSpPr>
          <p:spPr bwMode="auto">
            <a:xfrm>
              <a:off x="3617" y="2516"/>
              <a:ext cx="232" cy="8"/>
            </a:xfrm>
            <a:prstGeom prst="rect">
              <a:avLst/>
            </a:prstGeom>
            <a:solidFill>
              <a:srgbClr val="C5C5C5"/>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07" name="Rectangle 200"/>
            <p:cNvSpPr>
              <a:spLocks noChangeArrowheads="1"/>
            </p:cNvSpPr>
            <p:nvPr/>
          </p:nvSpPr>
          <p:spPr bwMode="auto">
            <a:xfrm>
              <a:off x="3617" y="2524"/>
              <a:ext cx="232" cy="8"/>
            </a:xfrm>
            <a:prstGeom prst="rect">
              <a:avLst/>
            </a:prstGeom>
            <a:solidFill>
              <a:srgbClr val="C6C6C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08" name="Rectangle 201"/>
            <p:cNvSpPr>
              <a:spLocks noChangeArrowheads="1"/>
            </p:cNvSpPr>
            <p:nvPr/>
          </p:nvSpPr>
          <p:spPr bwMode="auto">
            <a:xfrm>
              <a:off x="3617" y="2532"/>
              <a:ext cx="232" cy="8"/>
            </a:xfrm>
            <a:prstGeom prst="rect">
              <a:avLst/>
            </a:prstGeom>
            <a:solidFill>
              <a:srgbClr val="C8C8C8"/>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09" name="Rectangle 202"/>
            <p:cNvSpPr>
              <a:spLocks noChangeArrowheads="1"/>
            </p:cNvSpPr>
            <p:nvPr/>
          </p:nvSpPr>
          <p:spPr bwMode="auto">
            <a:xfrm>
              <a:off x="3617" y="2540"/>
              <a:ext cx="232" cy="8"/>
            </a:xfrm>
            <a:prstGeom prst="rect">
              <a:avLst/>
            </a:prstGeom>
            <a:solidFill>
              <a:srgbClr val="C9C9C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10" name="Rectangle 203"/>
            <p:cNvSpPr>
              <a:spLocks noChangeArrowheads="1"/>
            </p:cNvSpPr>
            <p:nvPr/>
          </p:nvSpPr>
          <p:spPr bwMode="auto">
            <a:xfrm>
              <a:off x="3617" y="2548"/>
              <a:ext cx="232" cy="8"/>
            </a:xfrm>
            <a:prstGeom prst="rect">
              <a:avLst/>
            </a:prstGeom>
            <a:solidFill>
              <a:srgbClr val="CACACA"/>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11" name="Rectangle 204"/>
            <p:cNvSpPr>
              <a:spLocks noChangeArrowheads="1"/>
            </p:cNvSpPr>
            <p:nvPr/>
          </p:nvSpPr>
          <p:spPr bwMode="auto">
            <a:xfrm>
              <a:off x="3617" y="2556"/>
              <a:ext cx="232" cy="8"/>
            </a:xfrm>
            <a:prstGeom prst="rect">
              <a:avLst/>
            </a:prstGeom>
            <a:solidFill>
              <a:srgbClr val="CBCBCB"/>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12" name="Rectangle 205"/>
            <p:cNvSpPr>
              <a:spLocks noChangeArrowheads="1"/>
            </p:cNvSpPr>
            <p:nvPr/>
          </p:nvSpPr>
          <p:spPr bwMode="auto">
            <a:xfrm>
              <a:off x="3617" y="2564"/>
              <a:ext cx="232" cy="8"/>
            </a:xfrm>
            <a:prstGeom prst="rect">
              <a:avLst/>
            </a:prstGeom>
            <a:solidFill>
              <a:srgbClr val="CCCCCC"/>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13" name="Rectangle 206"/>
            <p:cNvSpPr>
              <a:spLocks noChangeArrowheads="1"/>
            </p:cNvSpPr>
            <p:nvPr/>
          </p:nvSpPr>
          <p:spPr bwMode="auto">
            <a:xfrm>
              <a:off x="3617" y="2572"/>
              <a:ext cx="232" cy="8"/>
            </a:xfrm>
            <a:prstGeom prst="rect">
              <a:avLst/>
            </a:prstGeom>
            <a:solidFill>
              <a:srgbClr val="CDCDCD"/>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14" name="Rectangle 207"/>
            <p:cNvSpPr>
              <a:spLocks noChangeArrowheads="1"/>
            </p:cNvSpPr>
            <p:nvPr/>
          </p:nvSpPr>
          <p:spPr bwMode="auto">
            <a:xfrm>
              <a:off x="3617" y="2580"/>
              <a:ext cx="232" cy="8"/>
            </a:xfrm>
            <a:prstGeom prst="rect">
              <a:avLst/>
            </a:prstGeom>
            <a:solidFill>
              <a:srgbClr val="CFCFC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15" name="Rectangle 208"/>
            <p:cNvSpPr>
              <a:spLocks noChangeArrowheads="1"/>
            </p:cNvSpPr>
            <p:nvPr/>
          </p:nvSpPr>
          <p:spPr bwMode="auto">
            <a:xfrm>
              <a:off x="3617" y="2588"/>
              <a:ext cx="232" cy="8"/>
            </a:xfrm>
            <a:prstGeom prst="rect">
              <a:avLst/>
            </a:prstGeom>
            <a:solidFill>
              <a:srgbClr val="D0D0D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16" name="Rectangle 209"/>
            <p:cNvSpPr>
              <a:spLocks noChangeArrowheads="1"/>
            </p:cNvSpPr>
            <p:nvPr/>
          </p:nvSpPr>
          <p:spPr bwMode="auto">
            <a:xfrm>
              <a:off x="3617" y="2596"/>
              <a:ext cx="232" cy="8"/>
            </a:xfrm>
            <a:prstGeom prst="rect">
              <a:avLst/>
            </a:prstGeom>
            <a:solidFill>
              <a:srgbClr val="D1D1D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17" name="Rectangle 210"/>
            <p:cNvSpPr>
              <a:spLocks noChangeArrowheads="1"/>
            </p:cNvSpPr>
            <p:nvPr/>
          </p:nvSpPr>
          <p:spPr bwMode="auto">
            <a:xfrm>
              <a:off x="3617" y="2604"/>
              <a:ext cx="232" cy="8"/>
            </a:xfrm>
            <a:prstGeom prst="rect">
              <a:avLst/>
            </a:prstGeom>
            <a:solidFill>
              <a:srgbClr val="D2D2D2"/>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18" name="Rectangle 211"/>
            <p:cNvSpPr>
              <a:spLocks noChangeArrowheads="1"/>
            </p:cNvSpPr>
            <p:nvPr/>
          </p:nvSpPr>
          <p:spPr bwMode="auto">
            <a:xfrm>
              <a:off x="3617" y="2612"/>
              <a:ext cx="232" cy="8"/>
            </a:xfrm>
            <a:prstGeom prst="rect">
              <a:avLst/>
            </a:prstGeom>
            <a:solidFill>
              <a:srgbClr val="D3D3D3"/>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19" name="Rectangle 212"/>
            <p:cNvSpPr>
              <a:spLocks noChangeArrowheads="1"/>
            </p:cNvSpPr>
            <p:nvPr/>
          </p:nvSpPr>
          <p:spPr bwMode="auto">
            <a:xfrm>
              <a:off x="3617" y="2620"/>
              <a:ext cx="232" cy="8"/>
            </a:xfrm>
            <a:prstGeom prst="rect">
              <a:avLst/>
            </a:prstGeom>
            <a:solidFill>
              <a:srgbClr val="D4D4D4"/>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20" name="Rectangle 213"/>
            <p:cNvSpPr>
              <a:spLocks noChangeArrowheads="1"/>
            </p:cNvSpPr>
            <p:nvPr/>
          </p:nvSpPr>
          <p:spPr bwMode="auto">
            <a:xfrm>
              <a:off x="3617" y="2628"/>
              <a:ext cx="232" cy="8"/>
            </a:xfrm>
            <a:prstGeom prst="rect">
              <a:avLst/>
            </a:prstGeom>
            <a:solidFill>
              <a:srgbClr val="D6D6D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21" name="Rectangle 214"/>
            <p:cNvSpPr>
              <a:spLocks noChangeArrowheads="1"/>
            </p:cNvSpPr>
            <p:nvPr/>
          </p:nvSpPr>
          <p:spPr bwMode="auto">
            <a:xfrm>
              <a:off x="3617" y="2636"/>
              <a:ext cx="232" cy="8"/>
            </a:xfrm>
            <a:prstGeom prst="rect">
              <a:avLst/>
            </a:prstGeom>
            <a:solidFill>
              <a:srgbClr val="D7D7D7"/>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22" name="Rectangle 215"/>
            <p:cNvSpPr>
              <a:spLocks noChangeArrowheads="1"/>
            </p:cNvSpPr>
            <p:nvPr/>
          </p:nvSpPr>
          <p:spPr bwMode="auto">
            <a:xfrm>
              <a:off x="3617" y="2644"/>
              <a:ext cx="232" cy="8"/>
            </a:xfrm>
            <a:prstGeom prst="rect">
              <a:avLst/>
            </a:prstGeom>
            <a:solidFill>
              <a:srgbClr val="D8D8D8"/>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23" name="Rectangle 216"/>
            <p:cNvSpPr>
              <a:spLocks noChangeArrowheads="1"/>
            </p:cNvSpPr>
            <p:nvPr/>
          </p:nvSpPr>
          <p:spPr bwMode="auto">
            <a:xfrm>
              <a:off x="3617" y="2652"/>
              <a:ext cx="232" cy="8"/>
            </a:xfrm>
            <a:prstGeom prst="rect">
              <a:avLst/>
            </a:prstGeom>
            <a:solidFill>
              <a:srgbClr val="D9D9D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24" name="Rectangle 217"/>
            <p:cNvSpPr>
              <a:spLocks noChangeArrowheads="1"/>
            </p:cNvSpPr>
            <p:nvPr/>
          </p:nvSpPr>
          <p:spPr bwMode="auto">
            <a:xfrm>
              <a:off x="3617" y="2660"/>
              <a:ext cx="232" cy="8"/>
            </a:xfrm>
            <a:prstGeom prst="rect">
              <a:avLst/>
            </a:prstGeom>
            <a:solidFill>
              <a:srgbClr val="DBDBDB"/>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25" name="Rectangle 218"/>
            <p:cNvSpPr>
              <a:spLocks noChangeArrowheads="1"/>
            </p:cNvSpPr>
            <p:nvPr/>
          </p:nvSpPr>
          <p:spPr bwMode="auto">
            <a:xfrm>
              <a:off x="3617" y="2668"/>
              <a:ext cx="232" cy="8"/>
            </a:xfrm>
            <a:prstGeom prst="rect">
              <a:avLst/>
            </a:prstGeom>
            <a:solidFill>
              <a:srgbClr val="DCDCDC"/>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26" name="Rectangle 220"/>
            <p:cNvSpPr>
              <a:spLocks noChangeArrowheads="1"/>
            </p:cNvSpPr>
            <p:nvPr/>
          </p:nvSpPr>
          <p:spPr bwMode="auto">
            <a:xfrm>
              <a:off x="3617" y="2676"/>
              <a:ext cx="232" cy="8"/>
            </a:xfrm>
            <a:prstGeom prst="rect">
              <a:avLst/>
            </a:prstGeom>
            <a:solidFill>
              <a:srgbClr val="DDDDDD"/>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27" name="Rectangle 221"/>
            <p:cNvSpPr>
              <a:spLocks noChangeArrowheads="1"/>
            </p:cNvSpPr>
            <p:nvPr/>
          </p:nvSpPr>
          <p:spPr bwMode="auto">
            <a:xfrm>
              <a:off x="3617" y="2684"/>
              <a:ext cx="232" cy="8"/>
            </a:xfrm>
            <a:prstGeom prst="rect">
              <a:avLst/>
            </a:prstGeom>
            <a:solidFill>
              <a:srgbClr val="DEDEDE"/>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28" name="Rectangle 222"/>
            <p:cNvSpPr>
              <a:spLocks noChangeArrowheads="1"/>
            </p:cNvSpPr>
            <p:nvPr/>
          </p:nvSpPr>
          <p:spPr bwMode="auto">
            <a:xfrm>
              <a:off x="3617" y="2692"/>
              <a:ext cx="232" cy="8"/>
            </a:xfrm>
            <a:prstGeom prst="rect">
              <a:avLst/>
            </a:prstGeom>
            <a:solidFill>
              <a:srgbClr val="DFDFD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29" name="Rectangle 223"/>
            <p:cNvSpPr>
              <a:spLocks noChangeArrowheads="1"/>
            </p:cNvSpPr>
            <p:nvPr/>
          </p:nvSpPr>
          <p:spPr bwMode="auto">
            <a:xfrm>
              <a:off x="3617" y="2700"/>
              <a:ext cx="232" cy="8"/>
            </a:xfrm>
            <a:prstGeom prst="rect">
              <a:avLst/>
            </a:prstGeom>
            <a:solidFill>
              <a:srgbClr val="E0E0E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30" name="Rectangle 224"/>
            <p:cNvSpPr>
              <a:spLocks noChangeArrowheads="1"/>
            </p:cNvSpPr>
            <p:nvPr/>
          </p:nvSpPr>
          <p:spPr bwMode="auto">
            <a:xfrm>
              <a:off x="3617" y="2708"/>
              <a:ext cx="232" cy="8"/>
            </a:xfrm>
            <a:prstGeom prst="rect">
              <a:avLst/>
            </a:prstGeom>
            <a:solidFill>
              <a:srgbClr val="E2E2E2"/>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31" name="Rectangle 225"/>
            <p:cNvSpPr>
              <a:spLocks noChangeArrowheads="1"/>
            </p:cNvSpPr>
            <p:nvPr/>
          </p:nvSpPr>
          <p:spPr bwMode="auto">
            <a:xfrm>
              <a:off x="3617" y="2716"/>
              <a:ext cx="232" cy="8"/>
            </a:xfrm>
            <a:prstGeom prst="rect">
              <a:avLst/>
            </a:prstGeom>
            <a:solidFill>
              <a:srgbClr val="E3E3E3"/>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32" name="Rectangle 226"/>
            <p:cNvSpPr>
              <a:spLocks noChangeArrowheads="1"/>
            </p:cNvSpPr>
            <p:nvPr/>
          </p:nvSpPr>
          <p:spPr bwMode="auto">
            <a:xfrm>
              <a:off x="3617" y="2724"/>
              <a:ext cx="232" cy="8"/>
            </a:xfrm>
            <a:prstGeom prst="rect">
              <a:avLst/>
            </a:prstGeom>
            <a:solidFill>
              <a:srgbClr val="E4E4E4"/>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33" name="Rectangle 227"/>
            <p:cNvSpPr>
              <a:spLocks noChangeArrowheads="1"/>
            </p:cNvSpPr>
            <p:nvPr/>
          </p:nvSpPr>
          <p:spPr bwMode="auto">
            <a:xfrm>
              <a:off x="3617" y="2604"/>
              <a:ext cx="8" cy="80"/>
            </a:xfrm>
            <a:prstGeom prst="rect">
              <a:avLst/>
            </a:prstGeom>
            <a:solidFill>
              <a:srgbClr val="E5E5E5"/>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34" name="Rectangle 228"/>
            <p:cNvSpPr>
              <a:spLocks noChangeArrowheads="1"/>
            </p:cNvSpPr>
            <p:nvPr/>
          </p:nvSpPr>
          <p:spPr bwMode="auto">
            <a:xfrm>
              <a:off x="3625" y="2604"/>
              <a:ext cx="8" cy="80"/>
            </a:xfrm>
            <a:prstGeom prst="rect">
              <a:avLst/>
            </a:prstGeom>
            <a:solidFill>
              <a:srgbClr val="C1C1C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35" name="Rectangle 229"/>
            <p:cNvSpPr>
              <a:spLocks noChangeArrowheads="1"/>
            </p:cNvSpPr>
            <p:nvPr/>
          </p:nvSpPr>
          <p:spPr bwMode="auto">
            <a:xfrm>
              <a:off x="3633" y="2604"/>
              <a:ext cx="8" cy="80"/>
            </a:xfrm>
            <a:prstGeom prst="rect">
              <a:avLst/>
            </a:prstGeom>
            <a:solidFill>
              <a:srgbClr val="C2C2C2"/>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36" name="Rectangle 230"/>
            <p:cNvSpPr>
              <a:spLocks noChangeArrowheads="1"/>
            </p:cNvSpPr>
            <p:nvPr/>
          </p:nvSpPr>
          <p:spPr bwMode="auto">
            <a:xfrm>
              <a:off x="3641" y="2604"/>
              <a:ext cx="8" cy="80"/>
            </a:xfrm>
            <a:prstGeom prst="rect">
              <a:avLst/>
            </a:prstGeom>
            <a:solidFill>
              <a:srgbClr val="C3C3C3"/>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37" name="Rectangle 231"/>
            <p:cNvSpPr>
              <a:spLocks noChangeArrowheads="1"/>
            </p:cNvSpPr>
            <p:nvPr/>
          </p:nvSpPr>
          <p:spPr bwMode="auto">
            <a:xfrm>
              <a:off x="3649" y="2604"/>
              <a:ext cx="8" cy="80"/>
            </a:xfrm>
            <a:prstGeom prst="rect">
              <a:avLst/>
            </a:prstGeom>
            <a:solidFill>
              <a:srgbClr val="C5C5C5"/>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38" name="Rectangle 232"/>
            <p:cNvSpPr>
              <a:spLocks noChangeArrowheads="1"/>
            </p:cNvSpPr>
            <p:nvPr/>
          </p:nvSpPr>
          <p:spPr bwMode="auto">
            <a:xfrm>
              <a:off x="3657" y="2604"/>
              <a:ext cx="8" cy="80"/>
            </a:xfrm>
            <a:prstGeom prst="rect">
              <a:avLst/>
            </a:prstGeom>
            <a:solidFill>
              <a:srgbClr val="C6C6C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39" name="Rectangle 233"/>
            <p:cNvSpPr>
              <a:spLocks noChangeArrowheads="1"/>
            </p:cNvSpPr>
            <p:nvPr/>
          </p:nvSpPr>
          <p:spPr bwMode="auto">
            <a:xfrm>
              <a:off x="3665" y="2604"/>
              <a:ext cx="8" cy="80"/>
            </a:xfrm>
            <a:prstGeom prst="rect">
              <a:avLst/>
            </a:prstGeom>
            <a:solidFill>
              <a:srgbClr val="C8C8C8"/>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40" name="Rectangle 234"/>
            <p:cNvSpPr>
              <a:spLocks noChangeArrowheads="1"/>
            </p:cNvSpPr>
            <p:nvPr/>
          </p:nvSpPr>
          <p:spPr bwMode="auto">
            <a:xfrm>
              <a:off x="3673" y="2604"/>
              <a:ext cx="8" cy="80"/>
            </a:xfrm>
            <a:prstGeom prst="rect">
              <a:avLst/>
            </a:prstGeom>
            <a:solidFill>
              <a:srgbClr val="CACACA"/>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41" name="Rectangle 235"/>
            <p:cNvSpPr>
              <a:spLocks noChangeArrowheads="1"/>
            </p:cNvSpPr>
            <p:nvPr/>
          </p:nvSpPr>
          <p:spPr bwMode="auto">
            <a:xfrm>
              <a:off x="3681" y="2604"/>
              <a:ext cx="8" cy="80"/>
            </a:xfrm>
            <a:prstGeom prst="rect">
              <a:avLst/>
            </a:prstGeom>
            <a:solidFill>
              <a:srgbClr val="CBCBCB"/>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42" name="Rectangle 236"/>
            <p:cNvSpPr>
              <a:spLocks noChangeArrowheads="1"/>
            </p:cNvSpPr>
            <p:nvPr/>
          </p:nvSpPr>
          <p:spPr bwMode="auto">
            <a:xfrm>
              <a:off x="3689" y="2604"/>
              <a:ext cx="8" cy="80"/>
            </a:xfrm>
            <a:prstGeom prst="rect">
              <a:avLst/>
            </a:prstGeom>
            <a:solidFill>
              <a:srgbClr val="CCCCCC"/>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43" name="Rectangle 237"/>
            <p:cNvSpPr>
              <a:spLocks noChangeArrowheads="1"/>
            </p:cNvSpPr>
            <p:nvPr/>
          </p:nvSpPr>
          <p:spPr bwMode="auto">
            <a:xfrm>
              <a:off x="3697" y="2604"/>
              <a:ext cx="8" cy="80"/>
            </a:xfrm>
            <a:prstGeom prst="rect">
              <a:avLst/>
            </a:prstGeom>
            <a:solidFill>
              <a:srgbClr val="CDCDCD"/>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44" name="Rectangle 238"/>
            <p:cNvSpPr>
              <a:spLocks noChangeArrowheads="1"/>
            </p:cNvSpPr>
            <p:nvPr/>
          </p:nvSpPr>
          <p:spPr bwMode="auto">
            <a:xfrm>
              <a:off x="3705" y="2604"/>
              <a:ext cx="8" cy="80"/>
            </a:xfrm>
            <a:prstGeom prst="rect">
              <a:avLst/>
            </a:prstGeom>
            <a:solidFill>
              <a:srgbClr val="CFCFC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45" name="Rectangle 239"/>
            <p:cNvSpPr>
              <a:spLocks noChangeArrowheads="1"/>
            </p:cNvSpPr>
            <p:nvPr/>
          </p:nvSpPr>
          <p:spPr bwMode="auto">
            <a:xfrm>
              <a:off x="3713" y="2604"/>
              <a:ext cx="8" cy="80"/>
            </a:xfrm>
            <a:prstGeom prst="rect">
              <a:avLst/>
            </a:prstGeom>
            <a:solidFill>
              <a:srgbClr val="D1D1D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46" name="Rectangle 240"/>
            <p:cNvSpPr>
              <a:spLocks noChangeArrowheads="1"/>
            </p:cNvSpPr>
            <p:nvPr/>
          </p:nvSpPr>
          <p:spPr bwMode="auto">
            <a:xfrm>
              <a:off x="3721" y="2604"/>
              <a:ext cx="8" cy="80"/>
            </a:xfrm>
            <a:prstGeom prst="rect">
              <a:avLst/>
            </a:prstGeom>
            <a:solidFill>
              <a:srgbClr val="D2D2D2"/>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47" name="Rectangle 241"/>
            <p:cNvSpPr>
              <a:spLocks noChangeArrowheads="1"/>
            </p:cNvSpPr>
            <p:nvPr/>
          </p:nvSpPr>
          <p:spPr bwMode="auto">
            <a:xfrm>
              <a:off x="3729" y="2604"/>
              <a:ext cx="8" cy="80"/>
            </a:xfrm>
            <a:prstGeom prst="rect">
              <a:avLst/>
            </a:prstGeom>
            <a:solidFill>
              <a:srgbClr val="D3D3D3"/>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48" name="Rectangle 242"/>
            <p:cNvSpPr>
              <a:spLocks noChangeArrowheads="1"/>
            </p:cNvSpPr>
            <p:nvPr/>
          </p:nvSpPr>
          <p:spPr bwMode="auto">
            <a:xfrm>
              <a:off x="3737" y="2604"/>
              <a:ext cx="8" cy="80"/>
            </a:xfrm>
            <a:prstGeom prst="rect">
              <a:avLst/>
            </a:prstGeom>
            <a:solidFill>
              <a:srgbClr val="D5D5D5"/>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49" name="Rectangle 243"/>
            <p:cNvSpPr>
              <a:spLocks noChangeArrowheads="1"/>
            </p:cNvSpPr>
            <p:nvPr/>
          </p:nvSpPr>
          <p:spPr bwMode="auto">
            <a:xfrm>
              <a:off x="3745" y="2604"/>
              <a:ext cx="8" cy="80"/>
            </a:xfrm>
            <a:prstGeom prst="rect">
              <a:avLst/>
            </a:prstGeom>
            <a:solidFill>
              <a:srgbClr val="D6D6D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50" name="Rectangle 244"/>
            <p:cNvSpPr>
              <a:spLocks noChangeArrowheads="1"/>
            </p:cNvSpPr>
            <p:nvPr/>
          </p:nvSpPr>
          <p:spPr bwMode="auto">
            <a:xfrm>
              <a:off x="3753" y="2604"/>
              <a:ext cx="8" cy="80"/>
            </a:xfrm>
            <a:prstGeom prst="rect">
              <a:avLst/>
            </a:prstGeom>
            <a:solidFill>
              <a:srgbClr val="D8D8D8"/>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51" name="Rectangle 245"/>
            <p:cNvSpPr>
              <a:spLocks noChangeArrowheads="1"/>
            </p:cNvSpPr>
            <p:nvPr/>
          </p:nvSpPr>
          <p:spPr bwMode="auto">
            <a:xfrm>
              <a:off x="3761" y="2604"/>
              <a:ext cx="8" cy="80"/>
            </a:xfrm>
            <a:prstGeom prst="rect">
              <a:avLst/>
            </a:prstGeom>
            <a:solidFill>
              <a:srgbClr val="D9D9D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52" name="Rectangle 246"/>
            <p:cNvSpPr>
              <a:spLocks noChangeArrowheads="1"/>
            </p:cNvSpPr>
            <p:nvPr/>
          </p:nvSpPr>
          <p:spPr bwMode="auto">
            <a:xfrm>
              <a:off x="3769" y="2604"/>
              <a:ext cx="8" cy="80"/>
            </a:xfrm>
            <a:prstGeom prst="rect">
              <a:avLst/>
            </a:prstGeom>
            <a:solidFill>
              <a:srgbClr val="DBDBDB"/>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53" name="Rectangle 247"/>
            <p:cNvSpPr>
              <a:spLocks noChangeArrowheads="1"/>
            </p:cNvSpPr>
            <p:nvPr/>
          </p:nvSpPr>
          <p:spPr bwMode="auto">
            <a:xfrm>
              <a:off x="3777" y="2604"/>
              <a:ext cx="8" cy="80"/>
            </a:xfrm>
            <a:prstGeom prst="rect">
              <a:avLst/>
            </a:prstGeom>
            <a:solidFill>
              <a:srgbClr val="DCDCDC"/>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54" name="Rectangle 248"/>
            <p:cNvSpPr>
              <a:spLocks noChangeArrowheads="1"/>
            </p:cNvSpPr>
            <p:nvPr/>
          </p:nvSpPr>
          <p:spPr bwMode="auto">
            <a:xfrm>
              <a:off x="3785" y="2604"/>
              <a:ext cx="8" cy="80"/>
            </a:xfrm>
            <a:prstGeom prst="rect">
              <a:avLst/>
            </a:prstGeom>
            <a:solidFill>
              <a:srgbClr val="DEDEDE"/>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55" name="Rectangle 249"/>
            <p:cNvSpPr>
              <a:spLocks noChangeArrowheads="1"/>
            </p:cNvSpPr>
            <p:nvPr/>
          </p:nvSpPr>
          <p:spPr bwMode="auto">
            <a:xfrm>
              <a:off x="3793" y="2604"/>
              <a:ext cx="8" cy="80"/>
            </a:xfrm>
            <a:prstGeom prst="rect">
              <a:avLst/>
            </a:prstGeom>
            <a:solidFill>
              <a:srgbClr val="DFDFD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56" name="Rectangle 250"/>
            <p:cNvSpPr>
              <a:spLocks noChangeArrowheads="1"/>
            </p:cNvSpPr>
            <p:nvPr/>
          </p:nvSpPr>
          <p:spPr bwMode="auto">
            <a:xfrm>
              <a:off x="3801" y="2604"/>
              <a:ext cx="8" cy="80"/>
            </a:xfrm>
            <a:prstGeom prst="rect">
              <a:avLst/>
            </a:prstGeom>
            <a:solidFill>
              <a:srgbClr val="E0E0E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57" name="Rectangle 251"/>
            <p:cNvSpPr>
              <a:spLocks noChangeArrowheads="1"/>
            </p:cNvSpPr>
            <p:nvPr/>
          </p:nvSpPr>
          <p:spPr bwMode="auto">
            <a:xfrm>
              <a:off x="3809" y="2604"/>
              <a:ext cx="8" cy="80"/>
            </a:xfrm>
            <a:prstGeom prst="rect">
              <a:avLst/>
            </a:prstGeom>
            <a:solidFill>
              <a:srgbClr val="E2E2E2"/>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58" name="Rectangle 252"/>
            <p:cNvSpPr>
              <a:spLocks noChangeArrowheads="1"/>
            </p:cNvSpPr>
            <p:nvPr/>
          </p:nvSpPr>
          <p:spPr bwMode="auto">
            <a:xfrm>
              <a:off x="3817" y="2604"/>
              <a:ext cx="8" cy="80"/>
            </a:xfrm>
            <a:prstGeom prst="rect">
              <a:avLst/>
            </a:prstGeom>
            <a:solidFill>
              <a:srgbClr val="E3E3E3"/>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59" name="Rectangle 253"/>
            <p:cNvSpPr>
              <a:spLocks noChangeArrowheads="1"/>
            </p:cNvSpPr>
            <p:nvPr/>
          </p:nvSpPr>
          <p:spPr bwMode="auto">
            <a:xfrm>
              <a:off x="3825" y="2604"/>
              <a:ext cx="8" cy="80"/>
            </a:xfrm>
            <a:prstGeom prst="rect">
              <a:avLst/>
            </a:prstGeom>
            <a:solidFill>
              <a:srgbClr val="E5E5E5"/>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60" name="Rectangle 254"/>
            <p:cNvSpPr>
              <a:spLocks noChangeArrowheads="1"/>
            </p:cNvSpPr>
            <p:nvPr/>
          </p:nvSpPr>
          <p:spPr bwMode="auto">
            <a:xfrm>
              <a:off x="3617" y="2380"/>
              <a:ext cx="232" cy="8"/>
            </a:xfrm>
            <a:prstGeom prst="rect">
              <a:avLst/>
            </a:prstGeom>
            <a:solidFill>
              <a:srgbClr val="A8A8A8"/>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61" name="Rectangle 255"/>
            <p:cNvSpPr>
              <a:spLocks noChangeArrowheads="1"/>
            </p:cNvSpPr>
            <p:nvPr/>
          </p:nvSpPr>
          <p:spPr bwMode="auto">
            <a:xfrm>
              <a:off x="3617" y="2388"/>
              <a:ext cx="232" cy="8"/>
            </a:xfrm>
            <a:prstGeom prst="rect">
              <a:avLst/>
            </a:prstGeom>
            <a:solidFill>
              <a:srgbClr val="C1C1C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62" name="Rectangle 256"/>
            <p:cNvSpPr>
              <a:spLocks noChangeArrowheads="1"/>
            </p:cNvSpPr>
            <p:nvPr/>
          </p:nvSpPr>
          <p:spPr bwMode="auto">
            <a:xfrm>
              <a:off x="3622" y="2381"/>
              <a:ext cx="230" cy="9"/>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263" name="Rectangle 257"/>
            <p:cNvSpPr>
              <a:spLocks noChangeArrowheads="1"/>
            </p:cNvSpPr>
            <p:nvPr/>
          </p:nvSpPr>
          <p:spPr bwMode="auto">
            <a:xfrm>
              <a:off x="3617" y="2388"/>
              <a:ext cx="8" cy="40"/>
            </a:xfrm>
            <a:prstGeom prst="rect">
              <a:avLst/>
            </a:prstGeom>
            <a:solidFill>
              <a:srgbClr val="9D9D9D"/>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64" name="Rectangle 258"/>
            <p:cNvSpPr>
              <a:spLocks noChangeArrowheads="1"/>
            </p:cNvSpPr>
            <p:nvPr/>
          </p:nvSpPr>
          <p:spPr bwMode="auto">
            <a:xfrm>
              <a:off x="3625" y="2388"/>
              <a:ext cx="8" cy="40"/>
            </a:xfrm>
            <a:prstGeom prst="rect">
              <a:avLst/>
            </a:prstGeom>
            <a:solidFill>
              <a:srgbClr val="9C9C9C"/>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65" name="Rectangle 259"/>
            <p:cNvSpPr>
              <a:spLocks noChangeArrowheads="1"/>
            </p:cNvSpPr>
            <p:nvPr/>
          </p:nvSpPr>
          <p:spPr bwMode="auto">
            <a:xfrm>
              <a:off x="3633" y="2388"/>
              <a:ext cx="8" cy="40"/>
            </a:xfrm>
            <a:prstGeom prst="rect">
              <a:avLst/>
            </a:prstGeom>
            <a:solidFill>
              <a:srgbClr val="A2A2A2"/>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66" name="Rectangle 260"/>
            <p:cNvSpPr>
              <a:spLocks noChangeArrowheads="1"/>
            </p:cNvSpPr>
            <p:nvPr/>
          </p:nvSpPr>
          <p:spPr bwMode="auto">
            <a:xfrm>
              <a:off x="3641" y="2388"/>
              <a:ext cx="8" cy="40"/>
            </a:xfrm>
            <a:prstGeom prst="rect">
              <a:avLst/>
            </a:prstGeom>
            <a:solidFill>
              <a:srgbClr val="A7A7A7"/>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67" name="Rectangle 261"/>
            <p:cNvSpPr>
              <a:spLocks noChangeArrowheads="1"/>
            </p:cNvSpPr>
            <p:nvPr/>
          </p:nvSpPr>
          <p:spPr bwMode="auto">
            <a:xfrm>
              <a:off x="3649" y="2388"/>
              <a:ext cx="8" cy="40"/>
            </a:xfrm>
            <a:prstGeom prst="rect">
              <a:avLst/>
            </a:prstGeom>
            <a:solidFill>
              <a:srgbClr val="ACACAC"/>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68" name="Rectangle 262"/>
            <p:cNvSpPr>
              <a:spLocks noChangeArrowheads="1"/>
            </p:cNvSpPr>
            <p:nvPr/>
          </p:nvSpPr>
          <p:spPr bwMode="auto">
            <a:xfrm>
              <a:off x="3657" y="2388"/>
              <a:ext cx="8" cy="40"/>
            </a:xfrm>
            <a:prstGeom prst="rect">
              <a:avLst/>
            </a:prstGeom>
            <a:solidFill>
              <a:srgbClr val="B2B2B2"/>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69" name="Rectangle 263"/>
            <p:cNvSpPr>
              <a:spLocks noChangeArrowheads="1"/>
            </p:cNvSpPr>
            <p:nvPr/>
          </p:nvSpPr>
          <p:spPr bwMode="auto">
            <a:xfrm>
              <a:off x="3665" y="2388"/>
              <a:ext cx="8" cy="40"/>
            </a:xfrm>
            <a:prstGeom prst="rect">
              <a:avLst/>
            </a:prstGeom>
            <a:solidFill>
              <a:srgbClr val="B7B7B7"/>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70" name="Rectangle 264"/>
            <p:cNvSpPr>
              <a:spLocks noChangeArrowheads="1"/>
            </p:cNvSpPr>
            <p:nvPr/>
          </p:nvSpPr>
          <p:spPr bwMode="auto">
            <a:xfrm>
              <a:off x="3673" y="2388"/>
              <a:ext cx="8" cy="40"/>
            </a:xfrm>
            <a:prstGeom prst="rect">
              <a:avLst/>
            </a:prstGeom>
            <a:solidFill>
              <a:srgbClr val="BCBCBC"/>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71" name="Rectangle 265"/>
            <p:cNvSpPr>
              <a:spLocks noChangeArrowheads="1"/>
            </p:cNvSpPr>
            <p:nvPr/>
          </p:nvSpPr>
          <p:spPr bwMode="auto">
            <a:xfrm>
              <a:off x="3681" y="2388"/>
              <a:ext cx="8" cy="40"/>
            </a:xfrm>
            <a:prstGeom prst="rect">
              <a:avLst/>
            </a:prstGeom>
            <a:solidFill>
              <a:srgbClr val="C1C1C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72" name="Rectangle 266"/>
            <p:cNvSpPr>
              <a:spLocks noChangeArrowheads="1"/>
            </p:cNvSpPr>
            <p:nvPr/>
          </p:nvSpPr>
          <p:spPr bwMode="auto">
            <a:xfrm>
              <a:off x="3689" y="2388"/>
              <a:ext cx="8" cy="40"/>
            </a:xfrm>
            <a:prstGeom prst="rect">
              <a:avLst/>
            </a:prstGeom>
            <a:solidFill>
              <a:srgbClr val="C7C7C7"/>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73" name="Rectangle 267"/>
            <p:cNvSpPr>
              <a:spLocks noChangeArrowheads="1"/>
            </p:cNvSpPr>
            <p:nvPr/>
          </p:nvSpPr>
          <p:spPr bwMode="auto">
            <a:xfrm>
              <a:off x="3697" y="2388"/>
              <a:ext cx="8" cy="40"/>
            </a:xfrm>
            <a:prstGeom prst="rect">
              <a:avLst/>
            </a:prstGeom>
            <a:solidFill>
              <a:srgbClr val="CCCCCC"/>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74" name="Rectangle 268"/>
            <p:cNvSpPr>
              <a:spLocks noChangeArrowheads="1"/>
            </p:cNvSpPr>
            <p:nvPr/>
          </p:nvSpPr>
          <p:spPr bwMode="auto">
            <a:xfrm>
              <a:off x="3705" y="2388"/>
              <a:ext cx="8" cy="40"/>
            </a:xfrm>
            <a:prstGeom prst="rect">
              <a:avLst/>
            </a:prstGeom>
            <a:solidFill>
              <a:srgbClr val="D1D1D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75" name="Rectangle 269"/>
            <p:cNvSpPr>
              <a:spLocks noChangeArrowheads="1"/>
            </p:cNvSpPr>
            <p:nvPr/>
          </p:nvSpPr>
          <p:spPr bwMode="auto">
            <a:xfrm>
              <a:off x="3713" y="2388"/>
              <a:ext cx="8" cy="40"/>
            </a:xfrm>
            <a:prstGeom prst="rect">
              <a:avLst/>
            </a:prstGeom>
            <a:solidFill>
              <a:srgbClr val="D7D7D7"/>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76" name="Rectangle 270"/>
            <p:cNvSpPr>
              <a:spLocks noChangeArrowheads="1"/>
            </p:cNvSpPr>
            <p:nvPr/>
          </p:nvSpPr>
          <p:spPr bwMode="auto">
            <a:xfrm>
              <a:off x="3721" y="2388"/>
              <a:ext cx="8" cy="40"/>
            </a:xfrm>
            <a:prstGeom prst="rect">
              <a:avLst/>
            </a:prstGeom>
            <a:solidFill>
              <a:srgbClr val="DCDCDC"/>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77" name="Rectangle 271"/>
            <p:cNvSpPr>
              <a:spLocks noChangeArrowheads="1"/>
            </p:cNvSpPr>
            <p:nvPr/>
          </p:nvSpPr>
          <p:spPr bwMode="auto">
            <a:xfrm>
              <a:off x="3729" y="2388"/>
              <a:ext cx="8" cy="40"/>
            </a:xfrm>
            <a:prstGeom prst="rect">
              <a:avLst/>
            </a:prstGeom>
            <a:solidFill>
              <a:srgbClr val="E1E1E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78" name="Rectangle 272"/>
            <p:cNvSpPr>
              <a:spLocks noChangeArrowheads="1"/>
            </p:cNvSpPr>
            <p:nvPr/>
          </p:nvSpPr>
          <p:spPr bwMode="auto">
            <a:xfrm>
              <a:off x="3737" y="2388"/>
              <a:ext cx="8" cy="40"/>
            </a:xfrm>
            <a:prstGeom prst="rect">
              <a:avLst/>
            </a:prstGeom>
            <a:solidFill>
              <a:srgbClr val="E6E6E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79" name="Rectangle 273"/>
            <p:cNvSpPr>
              <a:spLocks noChangeArrowheads="1"/>
            </p:cNvSpPr>
            <p:nvPr/>
          </p:nvSpPr>
          <p:spPr bwMode="auto">
            <a:xfrm>
              <a:off x="3745" y="2388"/>
              <a:ext cx="8" cy="40"/>
            </a:xfrm>
            <a:prstGeom prst="rect">
              <a:avLst/>
            </a:prstGeom>
            <a:solidFill>
              <a:srgbClr val="E1E1E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80" name="Rectangle 274"/>
            <p:cNvSpPr>
              <a:spLocks noChangeArrowheads="1"/>
            </p:cNvSpPr>
            <p:nvPr/>
          </p:nvSpPr>
          <p:spPr bwMode="auto">
            <a:xfrm>
              <a:off x="3753" y="2388"/>
              <a:ext cx="8" cy="40"/>
            </a:xfrm>
            <a:prstGeom prst="rect">
              <a:avLst/>
            </a:prstGeom>
            <a:solidFill>
              <a:srgbClr val="DBDBDB"/>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81" name="Rectangle 275"/>
            <p:cNvSpPr>
              <a:spLocks noChangeArrowheads="1"/>
            </p:cNvSpPr>
            <p:nvPr/>
          </p:nvSpPr>
          <p:spPr bwMode="auto">
            <a:xfrm>
              <a:off x="3761" y="2388"/>
              <a:ext cx="8" cy="40"/>
            </a:xfrm>
            <a:prstGeom prst="rect">
              <a:avLst/>
            </a:prstGeom>
            <a:solidFill>
              <a:srgbClr val="D6D6D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82" name="Rectangle 276"/>
            <p:cNvSpPr>
              <a:spLocks noChangeArrowheads="1"/>
            </p:cNvSpPr>
            <p:nvPr/>
          </p:nvSpPr>
          <p:spPr bwMode="auto">
            <a:xfrm>
              <a:off x="3769" y="2388"/>
              <a:ext cx="8" cy="40"/>
            </a:xfrm>
            <a:prstGeom prst="rect">
              <a:avLst/>
            </a:prstGeom>
            <a:solidFill>
              <a:srgbClr val="D1D1D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83" name="Rectangle 277"/>
            <p:cNvSpPr>
              <a:spLocks noChangeArrowheads="1"/>
            </p:cNvSpPr>
            <p:nvPr/>
          </p:nvSpPr>
          <p:spPr bwMode="auto">
            <a:xfrm>
              <a:off x="3777" y="2388"/>
              <a:ext cx="8" cy="40"/>
            </a:xfrm>
            <a:prstGeom prst="rect">
              <a:avLst/>
            </a:prstGeom>
            <a:solidFill>
              <a:srgbClr val="CCCCCC"/>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84" name="Rectangle 278"/>
            <p:cNvSpPr>
              <a:spLocks noChangeArrowheads="1"/>
            </p:cNvSpPr>
            <p:nvPr/>
          </p:nvSpPr>
          <p:spPr bwMode="auto">
            <a:xfrm>
              <a:off x="3785" y="2388"/>
              <a:ext cx="8" cy="40"/>
            </a:xfrm>
            <a:prstGeom prst="rect">
              <a:avLst/>
            </a:prstGeom>
            <a:solidFill>
              <a:srgbClr val="C6C6C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85" name="Rectangle 279"/>
            <p:cNvSpPr>
              <a:spLocks noChangeArrowheads="1"/>
            </p:cNvSpPr>
            <p:nvPr/>
          </p:nvSpPr>
          <p:spPr bwMode="auto">
            <a:xfrm>
              <a:off x="3793" y="2388"/>
              <a:ext cx="8" cy="40"/>
            </a:xfrm>
            <a:prstGeom prst="rect">
              <a:avLst/>
            </a:prstGeom>
            <a:solidFill>
              <a:srgbClr val="C1C1C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86" name="Rectangle 280"/>
            <p:cNvSpPr>
              <a:spLocks noChangeArrowheads="1"/>
            </p:cNvSpPr>
            <p:nvPr/>
          </p:nvSpPr>
          <p:spPr bwMode="auto">
            <a:xfrm>
              <a:off x="3801" y="2388"/>
              <a:ext cx="8" cy="40"/>
            </a:xfrm>
            <a:prstGeom prst="rect">
              <a:avLst/>
            </a:prstGeom>
            <a:solidFill>
              <a:srgbClr val="BCBCBC"/>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87" name="Rectangle 281"/>
            <p:cNvSpPr>
              <a:spLocks noChangeArrowheads="1"/>
            </p:cNvSpPr>
            <p:nvPr/>
          </p:nvSpPr>
          <p:spPr bwMode="auto">
            <a:xfrm>
              <a:off x="3809" y="2388"/>
              <a:ext cx="8" cy="40"/>
            </a:xfrm>
            <a:prstGeom prst="rect">
              <a:avLst/>
            </a:prstGeom>
            <a:solidFill>
              <a:srgbClr val="B6B6B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88" name="Rectangle 282"/>
            <p:cNvSpPr>
              <a:spLocks noChangeArrowheads="1"/>
            </p:cNvSpPr>
            <p:nvPr/>
          </p:nvSpPr>
          <p:spPr bwMode="auto">
            <a:xfrm>
              <a:off x="3817" y="2388"/>
              <a:ext cx="8" cy="40"/>
            </a:xfrm>
            <a:prstGeom prst="rect">
              <a:avLst/>
            </a:prstGeom>
            <a:solidFill>
              <a:srgbClr val="B1B1B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89" name="Rectangle 283"/>
            <p:cNvSpPr>
              <a:spLocks noChangeArrowheads="1"/>
            </p:cNvSpPr>
            <p:nvPr/>
          </p:nvSpPr>
          <p:spPr bwMode="auto">
            <a:xfrm>
              <a:off x="3825" y="2388"/>
              <a:ext cx="8" cy="40"/>
            </a:xfrm>
            <a:prstGeom prst="rect">
              <a:avLst/>
            </a:prstGeom>
            <a:solidFill>
              <a:srgbClr val="ABABAB"/>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90" name="Rectangle 284"/>
            <p:cNvSpPr>
              <a:spLocks noChangeArrowheads="1"/>
            </p:cNvSpPr>
            <p:nvPr/>
          </p:nvSpPr>
          <p:spPr bwMode="auto">
            <a:xfrm>
              <a:off x="3833" y="2388"/>
              <a:ext cx="8" cy="40"/>
            </a:xfrm>
            <a:prstGeom prst="rect">
              <a:avLst/>
            </a:prstGeom>
            <a:solidFill>
              <a:srgbClr val="A6A6A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91" name="Rectangle 285"/>
            <p:cNvSpPr>
              <a:spLocks noChangeArrowheads="1"/>
            </p:cNvSpPr>
            <p:nvPr/>
          </p:nvSpPr>
          <p:spPr bwMode="auto">
            <a:xfrm>
              <a:off x="3841" y="2388"/>
              <a:ext cx="8" cy="40"/>
            </a:xfrm>
            <a:prstGeom prst="rect">
              <a:avLst/>
            </a:prstGeom>
            <a:solidFill>
              <a:srgbClr val="A1A1A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92" name="Rectangle 286"/>
            <p:cNvSpPr>
              <a:spLocks noChangeArrowheads="1"/>
            </p:cNvSpPr>
            <p:nvPr/>
          </p:nvSpPr>
          <p:spPr bwMode="auto">
            <a:xfrm>
              <a:off x="3622" y="2390"/>
              <a:ext cx="230" cy="36"/>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293" name="Rectangle 287"/>
            <p:cNvSpPr>
              <a:spLocks noChangeArrowheads="1"/>
            </p:cNvSpPr>
            <p:nvPr/>
          </p:nvSpPr>
          <p:spPr bwMode="auto">
            <a:xfrm>
              <a:off x="3628" y="2397"/>
              <a:ext cx="50" cy="22"/>
            </a:xfrm>
            <a:prstGeom prst="rect">
              <a:avLst/>
            </a:prstGeom>
            <a:solidFill>
              <a:srgbClr val="66666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94" name="Rectangle 288"/>
            <p:cNvSpPr>
              <a:spLocks noChangeArrowheads="1"/>
            </p:cNvSpPr>
            <p:nvPr/>
          </p:nvSpPr>
          <p:spPr bwMode="auto">
            <a:xfrm>
              <a:off x="3628" y="2397"/>
              <a:ext cx="50" cy="22"/>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295" name="Rectangle 289"/>
            <p:cNvSpPr>
              <a:spLocks noChangeArrowheads="1"/>
            </p:cNvSpPr>
            <p:nvPr/>
          </p:nvSpPr>
          <p:spPr bwMode="auto">
            <a:xfrm>
              <a:off x="3631" y="2400"/>
              <a:ext cx="13" cy="6"/>
            </a:xfrm>
            <a:prstGeom prst="rect">
              <a:avLst/>
            </a:prstGeom>
            <a:solidFill>
              <a:srgbClr val="FF00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96" name="Rectangle 290"/>
            <p:cNvSpPr>
              <a:spLocks noChangeArrowheads="1"/>
            </p:cNvSpPr>
            <p:nvPr/>
          </p:nvSpPr>
          <p:spPr bwMode="auto">
            <a:xfrm>
              <a:off x="3662" y="2400"/>
              <a:ext cx="13" cy="6"/>
            </a:xfrm>
            <a:prstGeom prst="rect">
              <a:avLst/>
            </a:prstGeom>
            <a:solidFill>
              <a:srgbClr val="00FF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97" name="Rectangle 291"/>
            <p:cNvSpPr>
              <a:spLocks noChangeArrowheads="1"/>
            </p:cNvSpPr>
            <p:nvPr/>
          </p:nvSpPr>
          <p:spPr bwMode="auto">
            <a:xfrm>
              <a:off x="3631" y="2410"/>
              <a:ext cx="13" cy="6"/>
            </a:xfrm>
            <a:prstGeom prst="rect">
              <a:avLst/>
            </a:prstGeom>
            <a:solidFill>
              <a:srgbClr val="00FF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98" name="Rectangle 292"/>
            <p:cNvSpPr>
              <a:spLocks noChangeArrowheads="1"/>
            </p:cNvSpPr>
            <p:nvPr/>
          </p:nvSpPr>
          <p:spPr bwMode="auto">
            <a:xfrm>
              <a:off x="3647" y="2410"/>
              <a:ext cx="12" cy="6"/>
            </a:xfrm>
            <a:prstGeom prst="rect">
              <a:avLst/>
            </a:prstGeom>
            <a:solidFill>
              <a:srgbClr val="FF00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99" name="Rectangle 293"/>
            <p:cNvSpPr>
              <a:spLocks noChangeArrowheads="1"/>
            </p:cNvSpPr>
            <p:nvPr/>
          </p:nvSpPr>
          <p:spPr bwMode="auto">
            <a:xfrm>
              <a:off x="3647" y="2400"/>
              <a:ext cx="12" cy="6"/>
            </a:xfrm>
            <a:prstGeom prst="rect">
              <a:avLst/>
            </a:prstGeom>
            <a:solidFill>
              <a:srgbClr val="FF00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00" name="Rectangle 294"/>
            <p:cNvSpPr>
              <a:spLocks noChangeArrowheads="1"/>
            </p:cNvSpPr>
            <p:nvPr/>
          </p:nvSpPr>
          <p:spPr bwMode="auto">
            <a:xfrm>
              <a:off x="3662" y="2410"/>
              <a:ext cx="13" cy="6"/>
            </a:xfrm>
            <a:prstGeom prst="rect">
              <a:avLst/>
            </a:prstGeom>
            <a:solidFill>
              <a:srgbClr val="00FF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01" name="Freeform 295"/>
            <p:cNvSpPr>
              <a:spLocks noEditPoints="1"/>
            </p:cNvSpPr>
            <p:nvPr/>
          </p:nvSpPr>
          <p:spPr bwMode="auto">
            <a:xfrm>
              <a:off x="3622" y="2480"/>
              <a:ext cx="230" cy="259"/>
            </a:xfrm>
            <a:custGeom>
              <a:avLst/>
              <a:gdLst>
                <a:gd name="T0" fmla="*/ 230 w 230"/>
                <a:gd name="T1" fmla="*/ 128 h 259"/>
                <a:gd name="T2" fmla="*/ 230 w 230"/>
                <a:gd name="T3" fmla="*/ 131 h 259"/>
                <a:gd name="T4" fmla="*/ 0 w 230"/>
                <a:gd name="T5" fmla="*/ 131 h 259"/>
                <a:gd name="T6" fmla="*/ 0 w 230"/>
                <a:gd name="T7" fmla="*/ 128 h 259"/>
                <a:gd name="T8" fmla="*/ 230 w 230"/>
                <a:gd name="T9" fmla="*/ 128 h 259"/>
                <a:gd name="T10" fmla="*/ 230 w 230"/>
                <a:gd name="T11" fmla="*/ 102 h 259"/>
                <a:gd name="T12" fmla="*/ 230 w 230"/>
                <a:gd name="T13" fmla="*/ 106 h 259"/>
                <a:gd name="T14" fmla="*/ 0 w 230"/>
                <a:gd name="T15" fmla="*/ 106 h 259"/>
                <a:gd name="T16" fmla="*/ 0 w 230"/>
                <a:gd name="T17" fmla="*/ 102 h 259"/>
                <a:gd name="T18" fmla="*/ 230 w 230"/>
                <a:gd name="T19" fmla="*/ 102 h 259"/>
                <a:gd name="T20" fmla="*/ 230 w 230"/>
                <a:gd name="T21" fmla="*/ 77 h 259"/>
                <a:gd name="T22" fmla="*/ 230 w 230"/>
                <a:gd name="T23" fmla="*/ 80 h 259"/>
                <a:gd name="T24" fmla="*/ 0 w 230"/>
                <a:gd name="T25" fmla="*/ 80 h 259"/>
                <a:gd name="T26" fmla="*/ 0 w 230"/>
                <a:gd name="T27" fmla="*/ 77 h 259"/>
                <a:gd name="T28" fmla="*/ 230 w 230"/>
                <a:gd name="T29" fmla="*/ 77 h 259"/>
                <a:gd name="T30" fmla="*/ 230 w 230"/>
                <a:gd name="T31" fmla="*/ 51 h 259"/>
                <a:gd name="T32" fmla="*/ 230 w 230"/>
                <a:gd name="T33" fmla="*/ 54 h 259"/>
                <a:gd name="T34" fmla="*/ 0 w 230"/>
                <a:gd name="T35" fmla="*/ 54 h 259"/>
                <a:gd name="T36" fmla="*/ 0 w 230"/>
                <a:gd name="T37" fmla="*/ 51 h 259"/>
                <a:gd name="T38" fmla="*/ 230 w 230"/>
                <a:gd name="T39" fmla="*/ 51 h 259"/>
                <a:gd name="T40" fmla="*/ 230 w 230"/>
                <a:gd name="T41" fmla="*/ 26 h 259"/>
                <a:gd name="T42" fmla="*/ 230 w 230"/>
                <a:gd name="T43" fmla="*/ 29 h 259"/>
                <a:gd name="T44" fmla="*/ 0 w 230"/>
                <a:gd name="T45" fmla="*/ 29 h 259"/>
                <a:gd name="T46" fmla="*/ 0 w 230"/>
                <a:gd name="T47" fmla="*/ 26 h 259"/>
                <a:gd name="T48" fmla="*/ 230 w 230"/>
                <a:gd name="T49" fmla="*/ 26 h 259"/>
                <a:gd name="T50" fmla="*/ 230 w 230"/>
                <a:gd name="T51" fmla="*/ 0 h 259"/>
                <a:gd name="T52" fmla="*/ 230 w 230"/>
                <a:gd name="T53" fmla="*/ 3 h 259"/>
                <a:gd name="T54" fmla="*/ 0 w 230"/>
                <a:gd name="T55" fmla="*/ 3 h 259"/>
                <a:gd name="T56" fmla="*/ 0 w 230"/>
                <a:gd name="T57" fmla="*/ 0 h 259"/>
                <a:gd name="T58" fmla="*/ 230 w 230"/>
                <a:gd name="T59" fmla="*/ 0 h 259"/>
                <a:gd name="T60" fmla="*/ 230 w 230"/>
                <a:gd name="T61" fmla="*/ 179 h 259"/>
                <a:gd name="T62" fmla="*/ 230 w 230"/>
                <a:gd name="T63" fmla="*/ 182 h 259"/>
                <a:gd name="T64" fmla="*/ 205 w 230"/>
                <a:gd name="T65" fmla="*/ 182 h 259"/>
                <a:gd name="T66" fmla="*/ 205 w 230"/>
                <a:gd name="T67" fmla="*/ 179 h 259"/>
                <a:gd name="T68" fmla="*/ 230 w 230"/>
                <a:gd name="T69" fmla="*/ 179 h 259"/>
                <a:gd name="T70" fmla="*/ 230 w 230"/>
                <a:gd name="T71" fmla="*/ 154 h 259"/>
                <a:gd name="T72" fmla="*/ 230 w 230"/>
                <a:gd name="T73" fmla="*/ 157 h 259"/>
                <a:gd name="T74" fmla="*/ 205 w 230"/>
                <a:gd name="T75" fmla="*/ 157 h 259"/>
                <a:gd name="T76" fmla="*/ 205 w 230"/>
                <a:gd name="T77" fmla="*/ 154 h 259"/>
                <a:gd name="T78" fmla="*/ 230 w 230"/>
                <a:gd name="T79" fmla="*/ 154 h 259"/>
                <a:gd name="T80" fmla="*/ 230 w 230"/>
                <a:gd name="T81" fmla="*/ 205 h 259"/>
                <a:gd name="T82" fmla="*/ 230 w 230"/>
                <a:gd name="T83" fmla="*/ 208 h 259"/>
                <a:gd name="T84" fmla="*/ 0 w 230"/>
                <a:gd name="T85" fmla="*/ 208 h 259"/>
                <a:gd name="T86" fmla="*/ 0 w 230"/>
                <a:gd name="T87" fmla="*/ 205 h 259"/>
                <a:gd name="T88" fmla="*/ 230 w 230"/>
                <a:gd name="T89" fmla="*/ 205 h 259"/>
                <a:gd name="T90" fmla="*/ 230 w 230"/>
                <a:gd name="T91" fmla="*/ 230 h 259"/>
                <a:gd name="T92" fmla="*/ 230 w 230"/>
                <a:gd name="T93" fmla="*/ 234 h 259"/>
                <a:gd name="T94" fmla="*/ 0 w 230"/>
                <a:gd name="T95" fmla="*/ 234 h 259"/>
                <a:gd name="T96" fmla="*/ 0 w 230"/>
                <a:gd name="T97" fmla="*/ 230 h 259"/>
                <a:gd name="T98" fmla="*/ 230 w 230"/>
                <a:gd name="T99" fmla="*/ 230 h 259"/>
                <a:gd name="T100" fmla="*/ 230 w 230"/>
                <a:gd name="T101" fmla="*/ 256 h 259"/>
                <a:gd name="T102" fmla="*/ 230 w 230"/>
                <a:gd name="T103" fmla="*/ 259 h 259"/>
                <a:gd name="T104" fmla="*/ 0 w 230"/>
                <a:gd name="T105" fmla="*/ 259 h 259"/>
                <a:gd name="T106" fmla="*/ 0 w 230"/>
                <a:gd name="T107" fmla="*/ 256 h 259"/>
                <a:gd name="T108" fmla="*/ 230 w 230"/>
                <a:gd name="T109" fmla="*/ 256 h 25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30"/>
                <a:gd name="T166" fmla="*/ 0 h 259"/>
                <a:gd name="T167" fmla="*/ 230 w 230"/>
                <a:gd name="T168" fmla="*/ 259 h 25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30" h="259">
                  <a:moveTo>
                    <a:pt x="230" y="128"/>
                  </a:moveTo>
                  <a:lnTo>
                    <a:pt x="230" y="131"/>
                  </a:lnTo>
                  <a:lnTo>
                    <a:pt x="0" y="131"/>
                  </a:lnTo>
                  <a:lnTo>
                    <a:pt x="0" y="128"/>
                  </a:lnTo>
                  <a:lnTo>
                    <a:pt x="230" y="128"/>
                  </a:lnTo>
                  <a:close/>
                  <a:moveTo>
                    <a:pt x="230" y="102"/>
                  </a:moveTo>
                  <a:lnTo>
                    <a:pt x="230" y="106"/>
                  </a:lnTo>
                  <a:lnTo>
                    <a:pt x="0" y="106"/>
                  </a:lnTo>
                  <a:lnTo>
                    <a:pt x="0" y="102"/>
                  </a:lnTo>
                  <a:lnTo>
                    <a:pt x="230" y="102"/>
                  </a:lnTo>
                  <a:close/>
                  <a:moveTo>
                    <a:pt x="230" y="77"/>
                  </a:moveTo>
                  <a:lnTo>
                    <a:pt x="230" y="80"/>
                  </a:lnTo>
                  <a:lnTo>
                    <a:pt x="0" y="80"/>
                  </a:lnTo>
                  <a:lnTo>
                    <a:pt x="0" y="77"/>
                  </a:lnTo>
                  <a:lnTo>
                    <a:pt x="230" y="77"/>
                  </a:lnTo>
                  <a:close/>
                  <a:moveTo>
                    <a:pt x="230" y="51"/>
                  </a:moveTo>
                  <a:lnTo>
                    <a:pt x="230" y="54"/>
                  </a:lnTo>
                  <a:lnTo>
                    <a:pt x="0" y="54"/>
                  </a:lnTo>
                  <a:lnTo>
                    <a:pt x="0" y="51"/>
                  </a:lnTo>
                  <a:lnTo>
                    <a:pt x="230" y="51"/>
                  </a:lnTo>
                  <a:close/>
                  <a:moveTo>
                    <a:pt x="230" y="26"/>
                  </a:moveTo>
                  <a:lnTo>
                    <a:pt x="230" y="29"/>
                  </a:lnTo>
                  <a:lnTo>
                    <a:pt x="0" y="29"/>
                  </a:lnTo>
                  <a:lnTo>
                    <a:pt x="0" y="26"/>
                  </a:lnTo>
                  <a:lnTo>
                    <a:pt x="230" y="26"/>
                  </a:lnTo>
                  <a:close/>
                  <a:moveTo>
                    <a:pt x="230" y="0"/>
                  </a:moveTo>
                  <a:lnTo>
                    <a:pt x="230" y="3"/>
                  </a:lnTo>
                  <a:lnTo>
                    <a:pt x="0" y="3"/>
                  </a:lnTo>
                  <a:lnTo>
                    <a:pt x="0" y="0"/>
                  </a:lnTo>
                  <a:lnTo>
                    <a:pt x="230" y="0"/>
                  </a:lnTo>
                  <a:close/>
                  <a:moveTo>
                    <a:pt x="230" y="179"/>
                  </a:moveTo>
                  <a:lnTo>
                    <a:pt x="230" y="182"/>
                  </a:lnTo>
                  <a:lnTo>
                    <a:pt x="205" y="182"/>
                  </a:lnTo>
                  <a:lnTo>
                    <a:pt x="205" y="179"/>
                  </a:lnTo>
                  <a:lnTo>
                    <a:pt x="230" y="179"/>
                  </a:lnTo>
                  <a:close/>
                  <a:moveTo>
                    <a:pt x="230" y="154"/>
                  </a:moveTo>
                  <a:lnTo>
                    <a:pt x="230" y="157"/>
                  </a:lnTo>
                  <a:lnTo>
                    <a:pt x="205" y="157"/>
                  </a:lnTo>
                  <a:lnTo>
                    <a:pt x="205" y="154"/>
                  </a:lnTo>
                  <a:lnTo>
                    <a:pt x="230" y="154"/>
                  </a:lnTo>
                  <a:close/>
                  <a:moveTo>
                    <a:pt x="230" y="205"/>
                  </a:moveTo>
                  <a:lnTo>
                    <a:pt x="230" y="208"/>
                  </a:lnTo>
                  <a:lnTo>
                    <a:pt x="0" y="208"/>
                  </a:lnTo>
                  <a:lnTo>
                    <a:pt x="0" y="205"/>
                  </a:lnTo>
                  <a:lnTo>
                    <a:pt x="230" y="205"/>
                  </a:lnTo>
                  <a:close/>
                  <a:moveTo>
                    <a:pt x="230" y="230"/>
                  </a:moveTo>
                  <a:lnTo>
                    <a:pt x="230" y="234"/>
                  </a:lnTo>
                  <a:lnTo>
                    <a:pt x="0" y="234"/>
                  </a:lnTo>
                  <a:lnTo>
                    <a:pt x="0" y="230"/>
                  </a:lnTo>
                  <a:lnTo>
                    <a:pt x="230" y="230"/>
                  </a:lnTo>
                  <a:close/>
                  <a:moveTo>
                    <a:pt x="230" y="256"/>
                  </a:moveTo>
                  <a:lnTo>
                    <a:pt x="230" y="259"/>
                  </a:lnTo>
                  <a:lnTo>
                    <a:pt x="0" y="259"/>
                  </a:lnTo>
                  <a:lnTo>
                    <a:pt x="0" y="256"/>
                  </a:lnTo>
                  <a:lnTo>
                    <a:pt x="230" y="256"/>
                  </a:lnTo>
                  <a:close/>
                </a:path>
              </a:pathLst>
            </a:custGeom>
            <a:solidFill>
              <a:srgbClr val="666666"/>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pic>
          <p:nvPicPr>
            <p:cNvPr id="302" name="Picture 296"/>
            <p:cNvPicPr>
              <a:picLocks noChangeAspect="1" noChangeArrowheads="1"/>
            </p:cNvPicPr>
            <p:nvPr/>
          </p:nvPicPr>
          <p:blipFill>
            <a:blip r:embed="rId134">
              <a:extLst>
                <a:ext uri="{28A0092B-C50C-407E-A947-70E740481C1C}">
                  <a14:useLocalDpi xmlns:a14="http://schemas.microsoft.com/office/drawing/2010/main" val="0"/>
                </a:ext>
              </a:extLst>
            </a:blip>
            <a:srcRect/>
            <a:stretch>
              <a:fillRect/>
            </a:stretch>
          </p:blipFill>
          <p:spPr bwMode="auto">
            <a:xfrm>
              <a:off x="3801" y="2612"/>
              <a:ext cx="40" cy="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03" name="Picture 297"/>
            <p:cNvPicPr>
              <a:picLocks noChangeAspect="1" noChangeArrowheads="1"/>
            </p:cNvPicPr>
            <p:nvPr/>
          </p:nvPicPr>
          <p:blipFill>
            <a:blip r:embed="rId135">
              <a:extLst>
                <a:ext uri="{28A0092B-C50C-407E-A947-70E740481C1C}">
                  <a14:useLocalDpi xmlns:a14="http://schemas.microsoft.com/office/drawing/2010/main" val="0"/>
                </a:ext>
              </a:extLst>
            </a:blip>
            <a:srcRect/>
            <a:stretch>
              <a:fillRect/>
            </a:stretch>
          </p:blipFill>
          <p:spPr bwMode="auto">
            <a:xfrm>
              <a:off x="3801" y="2612"/>
              <a:ext cx="40" cy="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304" name="Rectangle 298"/>
            <p:cNvSpPr>
              <a:spLocks noChangeArrowheads="1"/>
            </p:cNvSpPr>
            <p:nvPr/>
          </p:nvSpPr>
          <p:spPr bwMode="auto">
            <a:xfrm>
              <a:off x="3827" y="2426"/>
              <a:ext cx="6" cy="332"/>
            </a:xfrm>
            <a:prstGeom prst="rect">
              <a:avLst/>
            </a:prstGeom>
            <a:solidFill>
              <a:srgbClr val="66666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05" name="Rectangle 299"/>
            <p:cNvSpPr>
              <a:spLocks noChangeArrowheads="1"/>
            </p:cNvSpPr>
            <p:nvPr/>
          </p:nvSpPr>
          <p:spPr bwMode="auto">
            <a:xfrm>
              <a:off x="3824" y="2426"/>
              <a:ext cx="6" cy="332"/>
            </a:xfrm>
            <a:prstGeom prst="rect">
              <a:avLst/>
            </a:prstGeom>
            <a:solidFill>
              <a:srgbClr val="9A9A9A"/>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pic>
          <p:nvPicPr>
            <p:cNvPr id="306" name="Picture 300"/>
            <p:cNvPicPr>
              <a:picLocks noChangeAspect="1" noChangeArrowheads="1"/>
            </p:cNvPicPr>
            <p:nvPr/>
          </p:nvPicPr>
          <p:blipFill>
            <a:blip r:embed="rId136">
              <a:extLst>
                <a:ext uri="{28A0092B-C50C-407E-A947-70E740481C1C}">
                  <a14:useLocalDpi xmlns:a14="http://schemas.microsoft.com/office/drawing/2010/main" val="0"/>
                </a:ext>
              </a:extLst>
            </a:blip>
            <a:srcRect/>
            <a:stretch>
              <a:fillRect/>
            </a:stretch>
          </p:blipFill>
          <p:spPr bwMode="auto">
            <a:xfrm>
              <a:off x="3809" y="2700"/>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07" name="Picture 301"/>
            <p:cNvPicPr>
              <a:picLocks noChangeAspect="1" noChangeArrowheads="1"/>
            </p:cNvPicPr>
            <p:nvPr/>
          </p:nvPicPr>
          <p:blipFill>
            <a:blip r:embed="rId137">
              <a:extLst>
                <a:ext uri="{28A0092B-C50C-407E-A947-70E740481C1C}">
                  <a14:useLocalDpi xmlns:a14="http://schemas.microsoft.com/office/drawing/2010/main" val="0"/>
                </a:ext>
              </a:extLst>
            </a:blip>
            <a:srcRect/>
            <a:stretch>
              <a:fillRect/>
            </a:stretch>
          </p:blipFill>
          <p:spPr bwMode="auto">
            <a:xfrm>
              <a:off x="3817" y="2700"/>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08" name="Picture 302"/>
            <p:cNvPicPr>
              <a:picLocks noChangeAspect="1" noChangeArrowheads="1"/>
            </p:cNvPicPr>
            <p:nvPr/>
          </p:nvPicPr>
          <p:blipFill>
            <a:blip r:embed="rId138">
              <a:extLst>
                <a:ext uri="{28A0092B-C50C-407E-A947-70E740481C1C}">
                  <a14:useLocalDpi xmlns:a14="http://schemas.microsoft.com/office/drawing/2010/main" val="0"/>
                </a:ext>
              </a:extLst>
            </a:blip>
            <a:srcRect/>
            <a:stretch>
              <a:fillRect/>
            </a:stretch>
          </p:blipFill>
          <p:spPr bwMode="auto">
            <a:xfrm>
              <a:off x="3817" y="2700"/>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309" name="Freeform 303"/>
            <p:cNvSpPr>
              <a:spLocks/>
            </p:cNvSpPr>
            <p:nvPr/>
          </p:nvSpPr>
          <p:spPr bwMode="auto">
            <a:xfrm>
              <a:off x="3825" y="2709"/>
              <a:ext cx="4" cy="5"/>
            </a:xfrm>
            <a:custGeom>
              <a:avLst/>
              <a:gdLst>
                <a:gd name="T0" fmla="*/ 0 w 8"/>
                <a:gd name="T1" fmla="*/ 5 h 9"/>
                <a:gd name="T2" fmla="*/ 4 w 8"/>
                <a:gd name="T3" fmla="*/ 0 h 9"/>
                <a:gd name="T4" fmla="*/ 8 w 8"/>
                <a:gd name="T5" fmla="*/ 5 h 9"/>
                <a:gd name="T6" fmla="*/ 8 w 8"/>
                <a:gd name="T7" fmla="*/ 5 h 9"/>
                <a:gd name="T8" fmla="*/ 4 w 8"/>
                <a:gd name="T9" fmla="*/ 9 h 9"/>
                <a:gd name="T10" fmla="*/ 0 w 8"/>
                <a:gd name="T11" fmla="*/ 5 h 9"/>
                <a:gd name="T12" fmla="*/ 0 60000 65536"/>
                <a:gd name="T13" fmla="*/ 0 60000 65536"/>
                <a:gd name="T14" fmla="*/ 0 60000 65536"/>
                <a:gd name="T15" fmla="*/ 0 60000 65536"/>
                <a:gd name="T16" fmla="*/ 0 60000 65536"/>
                <a:gd name="T17" fmla="*/ 0 60000 65536"/>
                <a:gd name="T18" fmla="*/ 0 w 8"/>
                <a:gd name="T19" fmla="*/ 0 h 9"/>
                <a:gd name="T20" fmla="*/ 8 w 8"/>
                <a:gd name="T21" fmla="*/ 9 h 9"/>
              </a:gdLst>
              <a:ahLst/>
              <a:cxnLst>
                <a:cxn ang="T12">
                  <a:pos x="T0" y="T1"/>
                </a:cxn>
                <a:cxn ang="T13">
                  <a:pos x="T2" y="T3"/>
                </a:cxn>
                <a:cxn ang="T14">
                  <a:pos x="T4" y="T5"/>
                </a:cxn>
                <a:cxn ang="T15">
                  <a:pos x="T6" y="T7"/>
                </a:cxn>
                <a:cxn ang="T16">
                  <a:pos x="T8" y="T9"/>
                </a:cxn>
                <a:cxn ang="T17">
                  <a:pos x="T10" y="T11"/>
                </a:cxn>
              </a:cxnLst>
              <a:rect l="T18" t="T19" r="T20" b="T21"/>
              <a:pathLst>
                <a:path w="8" h="9">
                  <a:moveTo>
                    <a:pt x="0" y="5"/>
                  </a:moveTo>
                  <a:cubicBezTo>
                    <a:pt x="0" y="2"/>
                    <a:pt x="2" y="0"/>
                    <a:pt x="4" y="0"/>
                  </a:cubicBezTo>
                  <a:cubicBezTo>
                    <a:pt x="6" y="0"/>
                    <a:pt x="8" y="2"/>
                    <a:pt x="8" y="5"/>
                  </a:cubicBezTo>
                  <a:cubicBezTo>
                    <a:pt x="8" y="5"/>
                    <a:pt x="8" y="5"/>
                    <a:pt x="8" y="5"/>
                  </a:cubicBezTo>
                  <a:cubicBezTo>
                    <a:pt x="8" y="7"/>
                    <a:pt x="6" y="9"/>
                    <a:pt x="4" y="9"/>
                  </a:cubicBezTo>
                  <a:cubicBezTo>
                    <a:pt x="2" y="9"/>
                    <a:pt x="0" y="7"/>
                    <a:pt x="0" y="5"/>
                  </a:cubicBezTo>
                </a:path>
              </a:pathLst>
            </a:custGeom>
            <a:solidFill>
              <a:srgbClr val="00FF00"/>
            </a:solidFill>
            <a:ln w="0">
              <a:solidFill>
                <a:srgbClr val="000000"/>
              </a:solidFill>
              <a:round/>
              <a:headEnd/>
              <a:tailEnd/>
            </a:ln>
          </p:spPr>
          <p:txBody>
            <a:bodyPr/>
            <a:lstStyle/>
            <a:p>
              <a:endParaRPr lang="en-US"/>
            </a:p>
          </p:txBody>
        </p:sp>
        <p:sp>
          <p:nvSpPr>
            <p:cNvPr id="310" name="Freeform 304"/>
            <p:cNvSpPr>
              <a:spLocks/>
            </p:cNvSpPr>
            <p:nvPr/>
          </p:nvSpPr>
          <p:spPr bwMode="auto">
            <a:xfrm>
              <a:off x="3825" y="2709"/>
              <a:ext cx="4" cy="5"/>
            </a:xfrm>
            <a:custGeom>
              <a:avLst/>
              <a:gdLst>
                <a:gd name="T0" fmla="*/ 0 w 4"/>
                <a:gd name="T1" fmla="*/ 3 h 5"/>
                <a:gd name="T2" fmla="*/ 2 w 4"/>
                <a:gd name="T3" fmla="*/ 0 h 5"/>
                <a:gd name="T4" fmla="*/ 4 w 4"/>
                <a:gd name="T5" fmla="*/ 3 h 5"/>
                <a:gd name="T6" fmla="*/ 4 w 4"/>
                <a:gd name="T7" fmla="*/ 3 h 5"/>
                <a:gd name="T8" fmla="*/ 2 w 4"/>
                <a:gd name="T9" fmla="*/ 5 h 5"/>
                <a:gd name="T10" fmla="*/ 0 w 4"/>
                <a:gd name="T11" fmla="*/ 3 h 5"/>
                <a:gd name="T12" fmla="*/ 0 60000 65536"/>
                <a:gd name="T13" fmla="*/ 0 60000 65536"/>
                <a:gd name="T14" fmla="*/ 0 60000 65536"/>
                <a:gd name="T15" fmla="*/ 0 60000 65536"/>
                <a:gd name="T16" fmla="*/ 0 60000 65536"/>
                <a:gd name="T17" fmla="*/ 0 60000 65536"/>
                <a:gd name="T18" fmla="*/ 0 w 4"/>
                <a:gd name="T19" fmla="*/ 0 h 5"/>
                <a:gd name="T20" fmla="*/ 4 w 4"/>
                <a:gd name="T21" fmla="*/ 5 h 5"/>
              </a:gdLst>
              <a:ahLst/>
              <a:cxnLst>
                <a:cxn ang="T12">
                  <a:pos x="T0" y="T1"/>
                </a:cxn>
                <a:cxn ang="T13">
                  <a:pos x="T2" y="T3"/>
                </a:cxn>
                <a:cxn ang="T14">
                  <a:pos x="T4" y="T5"/>
                </a:cxn>
                <a:cxn ang="T15">
                  <a:pos x="T6" y="T7"/>
                </a:cxn>
                <a:cxn ang="T16">
                  <a:pos x="T8" y="T9"/>
                </a:cxn>
                <a:cxn ang="T17">
                  <a:pos x="T10" y="T11"/>
                </a:cxn>
              </a:cxnLst>
              <a:rect l="T18" t="T19" r="T20" b="T21"/>
              <a:pathLst>
                <a:path w="4" h="5">
                  <a:moveTo>
                    <a:pt x="0" y="3"/>
                  </a:moveTo>
                  <a:cubicBezTo>
                    <a:pt x="0" y="1"/>
                    <a:pt x="1" y="0"/>
                    <a:pt x="2" y="0"/>
                  </a:cubicBezTo>
                  <a:cubicBezTo>
                    <a:pt x="3" y="0"/>
                    <a:pt x="4" y="1"/>
                    <a:pt x="4" y="3"/>
                  </a:cubicBezTo>
                  <a:cubicBezTo>
                    <a:pt x="4" y="3"/>
                    <a:pt x="4" y="3"/>
                    <a:pt x="4" y="3"/>
                  </a:cubicBezTo>
                  <a:cubicBezTo>
                    <a:pt x="4" y="4"/>
                    <a:pt x="3" y="5"/>
                    <a:pt x="2" y="5"/>
                  </a:cubicBezTo>
                  <a:cubicBezTo>
                    <a:pt x="1" y="5"/>
                    <a:pt x="0" y="4"/>
                    <a:pt x="0" y="3"/>
                  </a:cubicBezTo>
                </a:path>
              </a:pathLst>
            </a:custGeom>
            <a:noFill/>
            <a:ln w="3175" cap="sq">
              <a:solidFill>
                <a:srgbClr val="00FF00"/>
              </a:solidFill>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311" name="Freeform 305"/>
            <p:cNvSpPr>
              <a:spLocks/>
            </p:cNvSpPr>
            <p:nvPr/>
          </p:nvSpPr>
          <p:spPr bwMode="auto">
            <a:xfrm>
              <a:off x="3600" y="2310"/>
              <a:ext cx="324" cy="461"/>
            </a:xfrm>
            <a:custGeom>
              <a:avLst/>
              <a:gdLst>
                <a:gd name="T0" fmla="*/ 13 w 324"/>
                <a:gd name="T1" fmla="*/ 461 h 461"/>
                <a:gd name="T2" fmla="*/ 13 w 324"/>
                <a:gd name="T3" fmla="*/ 448 h 461"/>
                <a:gd name="T4" fmla="*/ 0 w 324"/>
                <a:gd name="T5" fmla="*/ 448 h 461"/>
                <a:gd name="T6" fmla="*/ 0 w 324"/>
                <a:gd name="T7" fmla="*/ 52 h 461"/>
                <a:gd name="T8" fmla="*/ 50 w 324"/>
                <a:gd name="T9" fmla="*/ 0 h 461"/>
                <a:gd name="T10" fmla="*/ 324 w 324"/>
                <a:gd name="T11" fmla="*/ 0 h 461"/>
                <a:gd name="T12" fmla="*/ 324 w 324"/>
                <a:gd name="T13" fmla="*/ 397 h 461"/>
                <a:gd name="T14" fmla="*/ 317 w 324"/>
                <a:gd name="T15" fmla="*/ 404 h 461"/>
                <a:gd name="T16" fmla="*/ 317 w 324"/>
                <a:gd name="T17" fmla="*/ 410 h 461"/>
                <a:gd name="T18" fmla="*/ 267 w 324"/>
                <a:gd name="T19" fmla="*/ 461 h 461"/>
                <a:gd name="T20" fmla="*/ 13 w 324"/>
                <a:gd name="T21" fmla="*/ 461 h 46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24"/>
                <a:gd name="T34" fmla="*/ 0 h 461"/>
                <a:gd name="T35" fmla="*/ 324 w 324"/>
                <a:gd name="T36" fmla="*/ 461 h 46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24" h="461">
                  <a:moveTo>
                    <a:pt x="13" y="461"/>
                  </a:moveTo>
                  <a:lnTo>
                    <a:pt x="13" y="448"/>
                  </a:lnTo>
                  <a:lnTo>
                    <a:pt x="0" y="448"/>
                  </a:lnTo>
                  <a:lnTo>
                    <a:pt x="0" y="52"/>
                  </a:lnTo>
                  <a:lnTo>
                    <a:pt x="50" y="0"/>
                  </a:lnTo>
                  <a:lnTo>
                    <a:pt x="324" y="0"/>
                  </a:lnTo>
                  <a:lnTo>
                    <a:pt x="324" y="397"/>
                  </a:lnTo>
                  <a:lnTo>
                    <a:pt x="317" y="404"/>
                  </a:lnTo>
                  <a:lnTo>
                    <a:pt x="317" y="410"/>
                  </a:lnTo>
                  <a:lnTo>
                    <a:pt x="267" y="461"/>
                  </a:lnTo>
                  <a:lnTo>
                    <a:pt x="13" y="461"/>
                  </a:lnTo>
                </a:path>
              </a:pathLst>
            </a:custGeom>
            <a:noFill/>
            <a:ln w="11113"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312" name="Freeform 307"/>
            <p:cNvSpPr>
              <a:spLocks/>
            </p:cNvSpPr>
            <p:nvPr/>
          </p:nvSpPr>
          <p:spPr bwMode="auto">
            <a:xfrm>
              <a:off x="3728" y="1849"/>
              <a:ext cx="233" cy="601"/>
            </a:xfrm>
            <a:custGeom>
              <a:avLst/>
              <a:gdLst>
                <a:gd name="T0" fmla="*/ 0 w 233"/>
                <a:gd name="T1" fmla="*/ 601 h 601"/>
                <a:gd name="T2" fmla="*/ 233 w 233"/>
                <a:gd name="T3" fmla="*/ 360 h 601"/>
                <a:gd name="T4" fmla="*/ 233 w 233"/>
                <a:gd name="T5" fmla="*/ 0 h 601"/>
                <a:gd name="T6" fmla="*/ 0 w 233"/>
                <a:gd name="T7" fmla="*/ 240 h 601"/>
                <a:gd name="T8" fmla="*/ 0 w 233"/>
                <a:gd name="T9" fmla="*/ 601 h 601"/>
                <a:gd name="T10" fmla="*/ 0 60000 65536"/>
                <a:gd name="T11" fmla="*/ 0 60000 65536"/>
                <a:gd name="T12" fmla="*/ 0 60000 65536"/>
                <a:gd name="T13" fmla="*/ 0 60000 65536"/>
                <a:gd name="T14" fmla="*/ 0 60000 65536"/>
                <a:gd name="T15" fmla="*/ 0 w 233"/>
                <a:gd name="T16" fmla="*/ 0 h 601"/>
                <a:gd name="T17" fmla="*/ 233 w 233"/>
                <a:gd name="T18" fmla="*/ 601 h 601"/>
              </a:gdLst>
              <a:ahLst/>
              <a:cxnLst>
                <a:cxn ang="T10">
                  <a:pos x="T0" y="T1"/>
                </a:cxn>
                <a:cxn ang="T11">
                  <a:pos x="T2" y="T3"/>
                </a:cxn>
                <a:cxn ang="T12">
                  <a:pos x="T4" y="T5"/>
                </a:cxn>
                <a:cxn ang="T13">
                  <a:pos x="T6" y="T7"/>
                </a:cxn>
                <a:cxn ang="T14">
                  <a:pos x="T8" y="T9"/>
                </a:cxn>
              </a:cxnLst>
              <a:rect l="T15" t="T16" r="T17" b="T18"/>
              <a:pathLst>
                <a:path w="233" h="601">
                  <a:moveTo>
                    <a:pt x="0" y="601"/>
                  </a:moveTo>
                  <a:lnTo>
                    <a:pt x="233" y="360"/>
                  </a:lnTo>
                  <a:lnTo>
                    <a:pt x="233" y="0"/>
                  </a:lnTo>
                  <a:lnTo>
                    <a:pt x="0" y="240"/>
                  </a:lnTo>
                  <a:lnTo>
                    <a:pt x="0" y="601"/>
                  </a:lnTo>
                  <a:close/>
                </a:path>
              </a:pathLst>
            </a:custGeom>
            <a:solidFill>
              <a:srgbClr val="D0624F"/>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13" name="Freeform 308"/>
            <p:cNvSpPr>
              <a:spLocks/>
            </p:cNvSpPr>
            <p:nvPr/>
          </p:nvSpPr>
          <p:spPr bwMode="auto">
            <a:xfrm>
              <a:off x="3728" y="1849"/>
              <a:ext cx="233" cy="601"/>
            </a:xfrm>
            <a:custGeom>
              <a:avLst/>
              <a:gdLst>
                <a:gd name="T0" fmla="*/ 0 w 233"/>
                <a:gd name="T1" fmla="*/ 601 h 601"/>
                <a:gd name="T2" fmla="*/ 233 w 233"/>
                <a:gd name="T3" fmla="*/ 360 h 601"/>
                <a:gd name="T4" fmla="*/ 233 w 233"/>
                <a:gd name="T5" fmla="*/ 0 h 601"/>
                <a:gd name="T6" fmla="*/ 0 w 233"/>
                <a:gd name="T7" fmla="*/ 240 h 601"/>
                <a:gd name="T8" fmla="*/ 0 w 233"/>
                <a:gd name="T9" fmla="*/ 601 h 601"/>
                <a:gd name="T10" fmla="*/ 0 60000 65536"/>
                <a:gd name="T11" fmla="*/ 0 60000 65536"/>
                <a:gd name="T12" fmla="*/ 0 60000 65536"/>
                <a:gd name="T13" fmla="*/ 0 60000 65536"/>
                <a:gd name="T14" fmla="*/ 0 60000 65536"/>
                <a:gd name="T15" fmla="*/ 0 w 233"/>
                <a:gd name="T16" fmla="*/ 0 h 601"/>
                <a:gd name="T17" fmla="*/ 233 w 233"/>
                <a:gd name="T18" fmla="*/ 601 h 601"/>
              </a:gdLst>
              <a:ahLst/>
              <a:cxnLst>
                <a:cxn ang="T10">
                  <a:pos x="T0" y="T1"/>
                </a:cxn>
                <a:cxn ang="T11">
                  <a:pos x="T2" y="T3"/>
                </a:cxn>
                <a:cxn ang="T12">
                  <a:pos x="T4" y="T5"/>
                </a:cxn>
                <a:cxn ang="T13">
                  <a:pos x="T6" y="T7"/>
                </a:cxn>
                <a:cxn ang="T14">
                  <a:pos x="T8" y="T9"/>
                </a:cxn>
              </a:cxnLst>
              <a:rect l="T15" t="T16" r="T17" b="T18"/>
              <a:pathLst>
                <a:path w="233" h="601">
                  <a:moveTo>
                    <a:pt x="0" y="601"/>
                  </a:moveTo>
                  <a:lnTo>
                    <a:pt x="233" y="360"/>
                  </a:lnTo>
                  <a:lnTo>
                    <a:pt x="233" y="0"/>
                  </a:lnTo>
                  <a:lnTo>
                    <a:pt x="0" y="240"/>
                  </a:lnTo>
                  <a:lnTo>
                    <a:pt x="0" y="601"/>
                  </a:lnTo>
                  <a:close/>
                </a:path>
              </a:pathLst>
            </a:custGeom>
            <a:noFill/>
            <a:ln w="11113" cap="rnd">
              <a:solidFill>
                <a:srgbClr val="CDCDCD"/>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314" name="Freeform 309"/>
            <p:cNvSpPr>
              <a:spLocks noEditPoints="1"/>
            </p:cNvSpPr>
            <p:nvPr/>
          </p:nvSpPr>
          <p:spPr bwMode="auto">
            <a:xfrm>
              <a:off x="3728" y="1878"/>
              <a:ext cx="233" cy="511"/>
            </a:xfrm>
            <a:custGeom>
              <a:avLst/>
              <a:gdLst>
                <a:gd name="T0" fmla="*/ 29 w 233"/>
                <a:gd name="T1" fmla="*/ 240 h 511"/>
                <a:gd name="T2" fmla="*/ 58 w 233"/>
                <a:gd name="T3" fmla="*/ 210 h 511"/>
                <a:gd name="T4" fmla="*/ 87 w 233"/>
                <a:gd name="T5" fmla="*/ 180 h 511"/>
                <a:gd name="T6" fmla="*/ 116 w 233"/>
                <a:gd name="T7" fmla="*/ 150 h 511"/>
                <a:gd name="T8" fmla="*/ 145 w 233"/>
                <a:gd name="T9" fmla="*/ 120 h 511"/>
                <a:gd name="T10" fmla="*/ 174 w 233"/>
                <a:gd name="T11" fmla="*/ 90 h 511"/>
                <a:gd name="T12" fmla="*/ 204 w 233"/>
                <a:gd name="T13" fmla="*/ 60 h 511"/>
                <a:gd name="T14" fmla="*/ 29 w 233"/>
                <a:gd name="T15" fmla="*/ 300 h 511"/>
                <a:gd name="T16" fmla="*/ 58 w 233"/>
                <a:gd name="T17" fmla="*/ 270 h 511"/>
                <a:gd name="T18" fmla="*/ 87 w 233"/>
                <a:gd name="T19" fmla="*/ 240 h 511"/>
                <a:gd name="T20" fmla="*/ 116 w 233"/>
                <a:gd name="T21" fmla="*/ 210 h 511"/>
                <a:gd name="T22" fmla="*/ 145 w 233"/>
                <a:gd name="T23" fmla="*/ 180 h 511"/>
                <a:gd name="T24" fmla="*/ 174 w 233"/>
                <a:gd name="T25" fmla="*/ 150 h 511"/>
                <a:gd name="T26" fmla="*/ 204 w 233"/>
                <a:gd name="T27" fmla="*/ 120 h 511"/>
                <a:gd name="T28" fmla="*/ 233 w 233"/>
                <a:gd name="T29" fmla="*/ 90 h 511"/>
                <a:gd name="T30" fmla="*/ 29 w 233"/>
                <a:gd name="T31" fmla="*/ 360 h 511"/>
                <a:gd name="T32" fmla="*/ 58 w 233"/>
                <a:gd name="T33" fmla="*/ 330 h 511"/>
                <a:gd name="T34" fmla="*/ 87 w 233"/>
                <a:gd name="T35" fmla="*/ 300 h 511"/>
                <a:gd name="T36" fmla="*/ 116 w 233"/>
                <a:gd name="T37" fmla="*/ 270 h 511"/>
                <a:gd name="T38" fmla="*/ 145 w 233"/>
                <a:gd name="T39" fmla="*/ 240 h 511"/>
                <a:gd name="T40" fmla="*/ 174 w 233"/>
                <a:gd name="T41" fmla="*/ 210 h 511"/>
                <a:gd name="T42" fmla="*/ 204 w 233"/>
                <a:gd name="T43" fmla="*/ 180 h 511"/>
                <a:gd name="T44" fmla="*/ 233 w 233"/>
                <a:gd name="T45" fmla="*/ 150 h 511"/>
                <a:gd name="T46" fmla="*/ 29 w 233"/>
                <a:gd name="T47" fmla="*/ 420 h 511"/>
                <a:gd name="T48" fmla="*/ 58 w 233"/>
                <a:gd name="T49" fmla="*/ 390 h 511"/>
                <a:gd name="T50" fmla="*/ 87 w 233"/>
                <a:gd name="T51" fmla="*/ 360 h 511"/>
                <a:gd name="T52" fmla="*/ 116 w 233"/>
                <a:gd name="T53" fmla="*/ 330 h 511"/>
                <a:gd name="T54" fmla="*/ 145 w 233"/>
                <a:gd name="T55" fmla="*/ 300 h 511"/>
                <a:gd name="T56" fmla="*/ 174 w 233"/>
                <a:gd name="T57" fmla="*/ 270 h 511"/>
                <a:gd name="T58" fmla="*/ 204 w 233"/>
                <a:gd name="T59" fmla="*/ 240 h 511"/>
                <a:gd name="T60" fmla="*/ 233 w 233"/>
                <a:gd name="T61" fmla="*/ 210 h 511"/>
                <a:gd name="T62" fmla="*/ 29 w 233"/>
                <a:gd name="T63" fmla="*/ 481 h 511"/>
                <a:gd name="T64" fmla="*/ 58 w 233"/>
                <a:gd name="T65" fmla="*/ 451 h 511"/>
                <a:gd name="T66" fmla="*/ 87 w 233"/>
                <a:gd name="T67" fmla="*/ 420 h 511"/>
                <a:gd name="T68" fmla="*/ 116 w 233"/>
                <a:gd name="T69" fmla="*/ 390 h 511"/>
                <a:gd name="T70" fmla="*/ 145 w 233"/>
                <a:gd name="T71" fmla="*/ 360 h 511"/>
                <a:gd name="T72" fmla="*/ 174 w 233"/>
                <a:gd name="T73" fmla="*/ 330 h 511"/>
                <a:gd name="T74" fmla="*/ 204 w 233"/>
                <a:gd name="T75" fmla="*/ 300 h 511"/>
                <a:gd name="T76" fmla="*/ 233 w 233"/>
                <a:gd name="T77" fmla="*/ 270 h 511"/>
                <a:gd name="T78" fmla="*/ 29 w 233"/>
                <a:gd name="T79" fmla="*/ 180 h 511"/>
                <a:gd name="T80" fmla="*/ 29 w 233"/>
                <a:gd name="T81" fmla="*/ 300 h 511"/>
                <a:gd name="T82" fmla="*/ 29 w 233"/>
                <a:gd name="T83" fmla="*/ 420 h 511"/>
                <a:gd name="T84" fmla="*/ 58 w 233"/>
                <a:gd name="T85" fmla="*/ 451 h 511"/>
                <a:gd name="T86" fmla="*/ 58 w 233"/>
                <a:gd name="T87" fmla="*/ 210 h 511"/>
                <a:gd name="T88" fmla="*/ 58 w 233"/>
                <a:gd name="T89" fmla="*/ 330 h 511"/>
                <a:gd name="T90" fmla="*/ 87 w 233"/>
                <a:gd name="T91" fmla="*/ 120 h 511"/>
                <a:gd name="T92" fmla="*/ 87 w 233"/>
                <a:gd name="T93" fmla="*/ 240 h 511"/>
                <a:gd name="T94" fmla="*/ 87 w 233"/>
                <a:gd name="T95" fmla="*/ 360 h 511"/>
                <a:gd name="T96" fmla="*/ 116 w 233"/>
                <a:gd name="T97" fmla="*/ 390 h 511"/>
                <a:gd name="T98" fmla="*/ 116 w 233"/>
                <a:gd name="T99" fmla="*/ 150 h 511"/>
                <a:gd name="T100" fmla="*/ 116 w 233"/>
                <a:gd name="T101" fmla="*/ 270 h 511"/>
                <a:gd name="T102" fmla="*/ 145 w 233"/>
                <a:gd name="T103" fmla="*/ 60 h 511"/>
                <a:gd name="T104" fmla="*/ 145 w 233"/>
                <a:gd name="T105" fmla="*/ 180 h 511"/>
                <a:gd name="T106" fmla="*/ 145 w 233"/>
                <a:gd name="T107" fmla="*/ 300 h 511"/>
                <a:gd name="T108" fmla="*/ 174 w 233"/>
                <a:gd name="T109" fmla="*/ 330 h 511"/>
                <a:gd name="T110" fmla="*/ 174 w 233"/>
                <a:gd name="T111" fmla="*/ 90 h 511"/>
                <a:gd name="T112" fmla="*/ 174 w 233"/>
                <a:gd name="T113" fmla="*/ 210 h 511"/>
                <a:gd name="T114" fmla="*/ 204 w 233"/>
                <a:gd name="T115" fmla="*/ 120 h 511"/>
                <a:gd name="T116" fmla="*/ 204 w 233"/>
                <a:gd name="T117" fmla="*/ 240 h 511"/>
                <a:gd name="T118" fmla="*/ 204 w 233"/>
                <a:gd name="T119" fmla="*/ 0 h 511"/>
                <a:gd name="T120" fmla="*/ 233 w 233"/>
                <a:gd name="T121" fmla="*/ 30 h 511"/>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33"/>
                <a:gd name="T184" fmla="*/ 0 h 511"/>
                <a:gd name="T185" fmla="*/ 233 w 233"/>
                <a:gd name="T186" fmla="*/ 511 h 511"/>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33" h="511">
                  <a:moveTo>
                    <a:pt x="0" y="270"/>
                  </a:moveTo>
                  <a:lnTo>
                    <a:pt x="29" y="240"/>
                  </a:lnTo>
                  <a:moveTo>
                    <a:pt x="29" y="240"/>
                  </a:moveTo>
                  <a:lnTo>
                    <a:pt x="58" y="210"/>
                  </a:lnTo>
                  <a:moveTo>
                    <a:pt x="58" y="210"/>
                  </a:moveTo>
                  <a:lnTo>
                    <a:pt x="87" y="180"/>
                  </a:lnTo>
                  <a:moveTo>
                    <a:pt x="87" y="180"/>
                  </a:moveTo>
                  <a:lnTo>
                    <a:pt x="116" y="150"/>
                  </a:lnTo>
                  <a:moveTo>
                    <a:pt x="116" y="150"/>
                  </a:moveTo>
                  <a:lnTo>
                    <a:pt x="145" y="120"/>
                  </a:lnTo>
                  <a:moveTo>
                    <a:pt x="145" y="120"/>
                  </a:moveTo>
                  <a:lnTo>
                    <a:pt x="174" y="90"/>
                  </a:lnTo>
                  <a:moveTo>
                    <a:pt x="174" y="90"/>
                  </a:moveTo>
                  <a:lnTo>
                    <a:pt x="204" y="60"/>
                  </a:lnTo>
                  <a:moveTo>
                    <a:pt x="0" y="330"/>
                  </a:moveTo>
                  <a:lnTo>
                    <a:pt x="29" y="300"/>
                  </a:lnTo>
                  <a:moveTo>
                    <a:pt x="29" y="300"/>
                  </a:moveTo>
                  <a:lnTo>
                    <a:pt x="58" y="270"/>
                  </a:lnTo>
                  <a:moveTo>
                    <a:pt x="58" y="270"/>
                  </a:moveTo>
                  <a:lnTo>
                    <a:pt x="87" y="240"/>
                  </a:lnTo>
                  <a:moveTo>
                    <a:pt x="87" y="240"/>
                  </a:moveTo>
                  <a:lnTo>
                    <a:pt x="116" y="210"/>
                  </a:lnTo>
                  <a:moveTo>
                    <a:pt x="116" y="210"/>
                  </a:moveTo>
                  <a:lnTo>
                    <a:pt x="145" y="180"/>
                  </a:lnTo>
                  <a:moveTo>
                    <a:pt x="145" y="180"/>
                  </a:moveTo>
                  <a:lnTo>
                    <a:pt x="174" y="150"/>
                  </a:lnTo>
                  <a:moveTo>
                    <a:pt x="174" y="150"/>
                  </a:moveTo>
                  <a:lnTo>
                    <a:pt x="204" y="120"/>
                  </a:lnTo>
                  <a:moveTo>
                    <a:pt x="204" y="120"/>
                  </a:moveTo>
                  <a:lnTo>
                    <a:pt x="233" y="90"/>
                  </a:lnTo>
                  <a:moveTo>
                    <a:pt x="0" y="390"/>
                  </a:moveTo>
                  <a:lnTo>
                    <a:pt x="29" y="360"/>
                  </a:lnTo>
                  <a:moveTo>
                    <a:pt x="29" y="360"/>
                  </a:moveTo>
                  <a:lnTo>
                    <a:pt x="58" y="330"/>
                  </a:lnTo>
                  <a:moveTo>
                    <a:pt x="58" y="330"/>
                  </a:moveTo>
                  <a:lnTo>
                    <a:pt x="87" y="300"/>
                  </a:lnTo>
                  <a:moveTo>
                    <a:pt x="87" y="300"/>
                  </a:moveTo>
                  <a:lnTo>
                    <a:pt x="116" y="270"/>
                  </a:lnTo>
                  <a:moveTo>
                    <a:pt x="116" y="270"/>
                  </a:moveTo>
                  <a:lnTo>
                    <a:pt x="145" y="240"/>
                  </a:lnTo>
                  <a:moveTo>
                    <a:pt x="145" y="240"/>
                  </a:moveTo>
                  <a:lnTo>
                    <a:pt x="174" y="210"/>
                  </a:lnTo>
                  <a:moveTo>
                    <a:pt x="174" y="210"/>
                  </a:moveTo>
                  <a:lnTo>
                    <a:pt x="204" y="180"/>
                  </a:lnTo>
                  <a:moveTo>
                    <a:pt x="204" y="180"/>
                  </a:moveTo>
                  <a:lnTo>
                    <a:pt x="233" y="150"/>
                  </a:lnTo>
                  <a:moveTo>
                    <a:pt x="0" y="451"/>
                  </a:moveTo>
                  <a:lnTo>
                    <a:pt x="29" y="420"/>
                  </a:lnTo>
                  <a:moveTo>
                    <a:pt x="29" y="420"/>
                  </a:moveTo>
                  <a:lnTo>
                    <a:pt x="58" y="390"/>
                  </a:lnTo>
                  <a:moveTo>
                    <a:pt x="58" y="390"/>
                  </a:moveTo>
                  <a:lnTo>
                    <a:pt x="87" y="360"/>
                  </a:lnTo>
                  <a:moveTo>
                    <a:pt x="87" y="360"/>
                  </a:moveTo>
                  <a:lnTo>
                    <a:pt x="116" y="330"/>
                  </a:lnTo>
                  <a:moveTo>
                    <a:pt x="116" y="330"/>
                  </a:moveTo>
                  <a:lnTo>
                    <a:pt x="145" y="300"/>
                  </a:lnTo>
                  <a:moveTo>
                    <a:pt x="145" y="300"/>
                  </a:moveTo>
                  <a:lnTo>
                    <a:pt x="174" y="270"/>
                  </a:lnTo>
                  <a:moveTo>
                    <a:pt x="174" y="270"/>
                  </a:moveTo>
                  <a:lnTo>
                    <a:pt x="204" y="240"/>
                  </a:lnTo>
                  <a:moveTo>
                    <a:pt x="204" y="240"/>
                  </a:moveTo>
                  <a:lnTo>
                    <a:pt x="233" y="210"/>
                  </a:lnTo>
                  <a:moveTo>
                    <a:pt x="0" y="511"/>
                  </a:moveTo>
                  <a:lnTo>
                    <a:pt x="29" y="481"/>
                  </a:lnTo>
                  <a:moveTo>
                    <a:pt x="29" y="481"/>
                  </a:moveTo>
                  <a:lnTo>
                    <a:pt x="58" y="451"/>
                  </a:lnTo>
                  <a:moveTo>
                    <a:pt x="58" y="451"/>
                  </a:moveTo>
                  <a:lnTo>
                    <a:pt x="87" y="420"/>
                  </a:lnTo>
                  <a:moveTo>
                    <a:pt x="87" y="420"/>
                  </a:moveTo>
                  <a:lnTo>
                    <a:pt x="116" y="390"/>
                  </a:lnTo>
                  <a:moveTo>
                    <a:pt x="116" y="390"/>
                  </a:moveTo>
                  <a:lnTo>
                    <a:pt x="145" y="360"/>
                  </a:lnTo>
                  <a:moveTo>
                    <a:pt x="145" y="360"/>
                  </a:moveTo>
                  <a:lnTo>
                    <a:pt x="174" y="330"/>
                  </a:lnTo>
                  <a:moveTo>
                    <a:pt x="174" y="330"/>
                  </a:moveTo>
                  <a:lnTo>
                    <a:pt x="204" y="300"/>
                  </a:lnTo>
                  <a:moveTo>
                    <a:pt x="204" y="300"/>
                  </a:moveTo>
                  <a:lnTo>
                    <a:pt x="233" y="270"/>
                  </a:lnTo>
                  <a:moveTo>
                    <a:pt x="29" y="240"/>
                  </a:moveTo>
                  <a:lnTo>
                    <a:pt x="29" y="180"/>
                  </a:lnTo>
                  <a:moveTo>
                    <a:pt x="29" y="360"/>
                  </a:moveTo>
                  <a:lnTo>
                    <a:pt x="29" y="300"/>
                  </a:lnTo>
                  <a:moveTo>
                    <a:pt x="29" y="481"/>
                  </a:moveTo>
                  <a:lnTo>
                    <a:pt x="29" y="420"/>
                  </a:lnTo>
                  <a:moveTo>
                    <a:pt x="58" y="511"/>
                  </a:moveTo>
                  <a:lnTo>
                    <a:pt x="58" y="451"/>
                  </a:lnTo>
                  <a:moveTo>
                    <a:pt x="58" y="270"/>
                  </a:moveTo>
                  <a:lnTo>
                    <a:pt x="58" y="210"/>
                  </a:lnTo>
                  <a:moveTo>
                    <a:pt x="58" y="390"/>
                  </a:moveTo>
                  <a:lnTo>
                    <a:pt x="58" y="330"/>
                  </a:lnTo>
                  <a:moveTo>
                    <a:pt x="87" y="180"/>
                  </a:moveTo>
                  <a:lnTo>
                    <a:pt x="87" y="120"/>
                  </a:lnTo>
                  <a:moveTo>
                    <a:pt x="87" y="300"/>
                  </a:moveTo>
                  <a:lnTo>
                    <a:pt x="87" y="240"/>
                  </a:lnTo>
                  <a:moveTo>
                    <a:pt x="87" y="420"/>
                  </a:moveTo>
                  <a:lnTo>
                    <a:pt x="87" y="360"/>
                  </a:lnTo>
                  <a:moveTo>
                    <a:pt x="116" y="451"/>
                  </a:moveTo>
                  <a:lnTo>
                    <a:pt x="116" y="390"/>
                  </a:lnTo>
                  <a:moveTo>
                    <a:pt x="116" y="210"/>
                  </a:moveTo>
                  <a:lnTo>
                    <a:pt x="116" y="150"/>
                  </a:lnTo>
                  <a:moveTo>
                    <a:pt x="116" y="330"/>
                  </a:moveTo>
                  <a:lnTo>
                    <a:pt x="116" y="270"/>
                  </a:lnTo>
                  <a:moveTo>
                    <a:pt x="145" y="120"/>
                  </a:moveTo>
                  <a:lnTo>
                    <a:pt x="145" y="60"/>
                  </a:lnTo>
                  <a:moveTo>
                    <a:pt x="145" y="240"/>
                  </a:moveTo>
                  <a:lnTo>
                    <a:pt x="145" y="180"/>
                  </a:lnTo>
                  <a:moveTo>
                    <a:pt x="145" y="360"/>
                  </a:moveTo>
                  <a:lnTo>
                    <a:pt x="145" y="300"/>
                  </a:lnTo>
                  <a:moveTo>
                    <a:pt x="174" y="390"/>
                  </a:moveTo>
                  <a:lnTo>
                    <a:pt x="174" y="330"/>
                  </a:lnTo>
                  <a:moveTo>
                    <a:pt x="174" y="150"/>
                  </a:moveTo>
                  <a:lnTo>
                    <a:pt x="174" y="90"/>
                  </a:lnTo>
                  <a:moveTo>
                    <a:pt x="174" y="270"/>
                  </a:moveTo>
                  <a:lnTo>
                    <a:pt x="174" y="210"/>
                  </a:lnTo>
                  <a:moveTo>
                    <a:pt x="204" y="180"/>
                  </a:moveTo>
                  <a:lnTo>
                    <a:pt x="204" y="120"/>
                  </a:lnTo>
                  <a:moveTo>
                    <a:pt x="204" y="300"/>
                  </a:moveTo>
                  <a:lnTo>
                    <a:pt x="204" y="240"/>
                  </a:lnTo>
                  <a:moveTo>
                    <a:pt x="204" y="60"/>
                  </a:moveTo>
                  <a:lnTo>
                    <a:pt x="204" y="0"/>
                  </a:lnTo>
                  <a:moveTo>
                    <a:pt x="204" y="60"/>
                  </a:moveTo>
                  <a:lnTo>
                    <a:pt x="233" y="30"/>
                  </a:lnTo>
                </a:path>
              </a:pathLst>
            </a:custGeom>
            <a:noFill/>
            <a:ln w="11113" cap="sq">
              <a:solidFill>
                <a:srgbClr val="CDCDCD"/>
              </a:solidFill>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315" name="Rectangle 310"/>
            <p:cNvSpPr>
              <a:spLocks noChangeArrowheads="1"/>
            </p:cNvSpPr>
            <p:nvPr/>
          </p:nvSpPr>
          <p:spPr bwMode="auto">
            <a:xfrm>
              <a:off x="3675" y="2089"/>
              <a:ext cx="49" cy="361"/>
            </a:xfrm>
            <a:prstGeom prst="rect">
              <a:avLst/>
            </a:prstGeom>
            <a:solidFill>
              <a:srgbClr val="DC7E5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16" name="Rectangle 311"/>
            <p:cNvSpPr>
              <a:spLocks noChangeArrowheads="1"/>
            </p:cNvSpPr>
            <p:nvPr/>
          </p:nvSpPr>
          <p:spPr bwMode="auto">
            <a:xfrm>
              <a:off x="3675" y="2089"/>
              <a:ext cx="49" cy="361"/>
            </a:xfrm>
            <a:prstGeom prst="rect">
              <a:avLst/>
            </a:prstGeom>
            <a:noFill/>
            <a:ln w="11113" cap="rnd">
              <a:solidFill>
                <a:srgbClr val="E6E6E6"/>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317" name="Freeform 312"/>
            <p:cNvSpPr>
              <a:spLocks/>
            </p:cNvSpPr>
            <p:nvPr/>
          </p:nvSpPr>
          <p:spPr bwMode="auto">
            <a:xfrm>
              <a:off x="3749" y="1824"/>
              <a:ext cx="237" cy="268"/>
            </a:xfrm>
            <a:custGeom>
              <a:avLst/>
              <a:gdLst>
                <a:gd name="T0" fmla="*/ 0 w 237"/>
                <a:gd name="T1" fmla="*/ 268 h 268"/>
                <a:gd name="T2" fmla="*/ 237 w 237"/>
                <a:gd name="T3" fmla="*/ 25 h 268"/>
                <a:gd name="T4" fmla="*/ 237 w 237"/>
                <a:gd name="T5" fmla="*/ 0 h 268"/>
                <a:gd name="T6" fmla="*/ 0 w 237"/>
                <a:gd name="T7" fmla="*/ 243 h 268"/>
                <a:gd name="T8" fmla="*/ 0 w 237"/>
                <a:gd name="T9" fmla="*/ 268 h 268"/>
                <a:gd name="T10" fmla="*/ 0 60000 65536"/>
                <a:gd name="T11" fmla="*/ 0 60000 65536"/>
                <a:gd name="T12" fmla="*/ 0 60000 65536"/>
                <a:gd name="T13" fmla="*/ 0 60000 65536"/>
                <a:gd name="T14" fmla="*/ 0 60000 65536"/>
                <a:gd name="T15" fmla="*/ 0 w 237"/>
                <a:gd name="T16" fmla="*/ 0 h 268"/>
                <a:gd name="T17" fmla="*/ 237 w 237"/>
                <a:gd name="T18" fmla="*/ 268 h 268"/>
              </a:gdLst>
              <a:ahLst/>
              <a:cxnLst>
                <a:cxn ang="T10">
                  <a:pos x="T0" y="T1"/>
                </a:cxn>
                <a:cxn ang="T11">
                  <a:pos x="T2" y="T3"/>
                </a:cxn>
                <a:cxn ang="T12">
                  <a:pos x="T4" y="T5"/>
                </a:cxn>
                <a:cxn ang="T13">
                  <a:pos x="T6" y="T7"/>
                </a:cxn>
                <a:cxn ang="T14">
                  <a:pos x="T8" y="T9"/>
                </a:cxn>
              </a:cxnLst>
              <a:rect l="T15" t="T16" r="T17" b="T18"/>
              <a:pathLst>
                <a:path w="237" h="268">
                  <a:moveTo>
                    <a:pt x="0" y="268"/>
                  </a:moveTo>
                  <a:lnTo>
                    <a:pt x="237" y="25"/>
                  </a:lnTo>
                  <a:lnTo>
                    <a:pt x="237" y="0"/>
                  </a:lnTo>
                  <a:lnTo>
                    <a:pt x="0" y="243"/>
                  </a:lnTo>
                  <a:lnTo>
                    <a:pt x="0" y="268"/>
                  </a:lnTo>
                  <a:close/>
                </a:path>
              </a:pathLst>
            </a:custGeom>
            <a:solidFill>
              <a:srgbClr val="9A9A9A"/>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18" name="Freeform 313"/>
            <p:cNvSpPr>
              <a:spLocks/>
            </p:cNvSpPr>
            <p:nvPr/>
          </p:nvSpPr>
          <p:spPr bwMode="auto">
            <a:xfrm>
              <a:off x="3749" y="1824"/>
              <a:ext cx="237" cy="268"/>
            </a:xfrm>
            <a:custGeom>
              <a:avLst/>
              <a:gdLst>
                <a:gd name="T0" fmla="*/ 0 w 237"/>
                <a:gd name="T1" fmla="*/ 268 h 268"/>
                <a:gd name="T2" fmla="*/ 237 w 237"/>
                <a:gd name="T3" fmla="*/ 25 h 268"/>
                <a:gd name="T4" fmla="*/ 237 w 237"/>
                <a:gd name="T5" fmla="*/ 0 h 268"/>
                <a:gd name="T6" fmla="*/ 0 w 237"/>
                <a:gd name="T7" fmla="*/ 243 h 268"/>
                <a:gd name="T8" fmla="*/ 0 w 237"/>
                <a:gd name="T9" fmla="*/ 268 h 268"/>
                <a:gd name="T10" fmla="*/ 0 60000 65536"/>
                <a:gd name="T11" fmla="*/ 0 60000 65536"/>
                <a:gd name="T12" fmla="*/ 0 60000 65536"/>
                <a:gd name="T13" fmla="*/ 0 60000 65536"/>
                <a:gd name="T14" fmla="*/ 0 60000 65536"/>
                <a:gd name="T15" fmla="*/ 0 w 237"/>
                <a:gd name="T16" fmla="*/ 0 h 268"/>
                <a:gd name="T17" fmla="*/ 237 w 237"/>
                <a:gd name="T18" fmla="*/ 268 h 268"/>
              </a:gdLst>
              <a:ahLst/>
              <a:cxnLst>
                <a:cxn ang="T10">
                  <a:pos x="T0" y="T1"/>
                </a:cxn>
                <a:cxn ang="T11">
                  <a:pos x="T2" y="T3"/>
                </a:cxn>
                <a:cxn ang="T12">
                  <a:pos x="T4" y="T5"/>
                </a:cxn>
                <a:cxn ang="T13">
                  <a:pos x="T6" y="T7"/>
                </a:cxn>
                <a:cxn ang="T14">
                  <a:pos x="T8" y="T9"/>
                </a:cxn>
              </a:cxnLst>
              <a:rect l="T15" t="T16" r="T17" b="T18"/>
              <a:pathLst>
                <a:path w="237" h="268">
                  <a:moveTo>
                    <a:pt x="0" y="268"/>
                  </a:moveTo>
                  <a:lnTo>
                    <a:pt x="237" y="25"/>
                  </a:lnTo>
                  <a:lnTo>
                    <a:pt x="237" y="0"/>
                  </a:lnTo>
                  <a:lnTo>
                    <a:pt x="0" y="243"/>
                  </a:lnTo>
                  <a:lnTo>
                    <a:pt x="0" y="268"/>
                  </a:lnTo>
                  <a:close/>
                </a:path>
              </a:pathLst>
            </a:cu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319" name="Rectangle 314"/>
            <p:cNvSpPr>
              <a:spLocks noChangeArrowheads="1"/>
            </p:cNvSpPr>
            <p:nvPr/>
          </p:nvSpPr>
          <p:spPr bwMode="auto">
            <a:xfrm>
              <a:off x="3650" y="2067"/>
              <a:ext cx="99" cy="25"/>
            </a:xfrm>
            <a:prstGeom prst="rect">
              <a:avLst/>
            </a:prstGeom>
            <a:solidFill>
              <a:srgbClr val="C0C0C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20" name="Rectangle 315"/>
            <p:cNvSpPr>
              <a:spLocks noChangeArrowheads="1"/>
            </p:cNvSpPr>
            <p:nvPr/>
          </p:nvSpPr>
          <p:spPr bwMode="auto">
            <a:xfrm>
              <a:off x="3650" y="2067"/>
              <a:ext cx="99" cy="25"/>
            </a:xfrm>
            <a:prstGeom prst="rect">
              <a:avLst/>
            </a:pr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321" name="Freeform 316"/>
            <p:cNvSpPr>
              <a:spLocks/>
            </p:cNvSpPr>
            <p:nvPr/>
          </p:nvSpPr>
          <p:spPr bwMode="auto">
            <a:xfrm>
              <a:off x="3650" y="1824"/>
              <a:ext cx="336" cy="243"/>
            </a:xfrm>
            <a:custGeom>
              <a:avLst/>
              <a:gdLst>
                <a:gd name="T0" fmla="*/ 0 w 336"/>
                <a:gd name="T1" fmla="*/ 243 h 243"/>
                <a:gd name="T2" fmla="*/ 236 w 336"/>
                <a:gd name="T3" fmla="*/ 0 h 243"/>
                <a:gd name="T4" fmla="*/ 336 w 336"/>
                <a:gd name="T5" fmla="*/ 0 h 243"/>
                <a:gd name="T6" fmla="*/ 99 w 336"/>
                <a:gd name="T7" fmla="*/ 243 h 243"/>
                <a:gd name="T8" fmla="*/ 0 w 336"/>
                <a:gd name="T9" fmla="*/ 243 h 243"/>
                <a:gd name="T10" fmla="*/ 0 60000 65536"/>
                <a:gd name="T11" fmla="*/ 0 60000 65536"/>
                <a:gd name="T12" fmla="*/ 0 60000 65536"/>
                <a:gd name="T13" fmla="*/ 0 60000 65536"/>
                <a:gd name="T14" fmla="*/ 0 60000 65536"/>
                <a:gd name="T15" fmla="*/ 0 w 336"/>
                <a:gd name="T16" fmla="*/ 0 h 243"/>
                <a:gd name="T17" fmla="*/ 336 w 336"/>
                <a:gd name="T18" fmla="*/ 243 h 243"/>
              </a:gdLst>
              <a:ahLst/>
              <a:cxnLst>
                <a:cxn ang="T10">
                  <a:pos x="T0" y="T1"/>
                </a:cxn>
                <a:cxn ang="T11">
                  <a:pos x="T2" y="T3"/>
                </a:cxn>
                <a:cxn ang="T12">
                  <a:pos x="T4" y="T5"/>
                </a:cxn>
                <a:cxn ang="T13">
                  <a:pos x="T6" y="T7"/>
                </a:cxn>
                <a:cxn ang="T14">
                  <a:pos x="T8" y="T9"/>
                </a:cxn>
              </a:cxnLst>
              <a:rect l="T15" t="T16" r="T17" b="T18"/>
              <a:pathLst>
                <a:path w="336" h="243">
                  <a:moveTo>
                    <a:pt x="0" y="243"/>
                  </a:moveTo>
                  <a:lnTo>
                    <a:pt x="236" y="0"/>
                  </a:lnTo>
                  <a:lnTo>
                    <a:pt x="336" y="0"/>
                  </a:lnTo>
                  <a:lnTo>
                    <a:pt x="99" y="243"/>
                  </a:lnTo>
                  <a:lnTo>
                    <a:pt x="0" y="243"/>
                  </a:lnTo>
                  <a:close/>
                </a:path>
              </a:pathLst>
            </a:custGeom>
            <a:solidFill>
              <a:srgbClr val="E6E6E6"/>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22" name="Freeform 317"/>
            <p:cNvSpPr>
              <a:spLocks/>
            </p:cNvSpPr>
            <p:nvPr/>
          </p:nvSpPr>
          <p:spPr bwMode="auto">
            <a:xfrm>
              <a:off x="3650" y="1824"/>
              <a:ext cx="336" cy="243"/>
            </a:xfrm>
            <a:custGeom>
              <a:avLst/>
              <a:gdLst>
                <a:gd name="T0" fmla="*/ 0 w 336"/>
                <a:gd name="T1" fmla="*/ 243 h 243"/>
                <a:gd name="T2" fmla="*/ 236 w 336"/>
                <a:gd name="T3" fmla="*/ 0 h 243"/>
                <a:gd name="T4" fmla="*/ 336 w 336"/>
                <a:gd name="T5" fmla="*/ 0 h 243"/>
                <a:gd name="T6" fmla="*/ 99 w 336"/>
                <a:gd name="T7" fmla="*/ 243 h 243"/>
                <a:gd name="T8" fmla="*/ 0 w 336"/>
                <a:gd name="T9" fmla="*/ 243 h 243"/>
                <a:gd name="T10" fmla="*/ 0 60000 65536"/>
                <a:gd name="T11" fmla="*/ 0 60000 65536"/>
                <a:gd name="T12" fmla="*/ 0 60000 65536"/>
                <a:gd name="T13" fmla="*/ 0 60000 65536"/>
                <a:gd name="T14" fmla="*/ 0 60000 65536"/>
                <a:gd name="T15" fmla="*/ 0 w 336"/>
                <a:gd name="T16" fmla="*/ 0 h 243"/>
                <a:gd name="T17" fmla="*/ 336 w 336"/>
                <a:gd name="T18" fmla="*/ 243 h 243"/>
              </a:gdLst>
              <a:ahLst/>
              <a:cxnLst>
                <a:cxn ang="T10">
                  <a:pos x="T0" y="T1"/>
                </a:cxn>
                <a:cxn ang="T11">
                  <a:pos x="T2" y="T3"/>
                </a:cxn>
                <a:cxn ang="T12">
                  <a:pos x="T4" y="T5"/>
                </a:cxn>
                <a:cxn ang="T13">
                  <a:pos x="T6" y="T7"/>
                </a:cxn>
                <a:cxn ang="T14">
                  <a:pos x="T8" y="T9"/>
                </a:cxn>
              </a:cxnLst>
              <a:rect l="T15" t="T16" r="T17" b="T18"/>
              <a:pathLst>
                <a:path w="336" h="243">
                  <a:moveTo>
                    <a:pt x="0" y="243"/>
                  </a:moveTo>
                  <a:lnTo>
                    <a:pt x="236" y="0"/>
                  </a:lnTo>
                  <a:lnTo>
                    <a:pt x="336" y="0"/>
                  </a:lnTo>
                  <a:lnTo>
                    <a:pt x="99" y="243"/>
                  </a:lnTo>
                  <a:lnTo>
                    <a:pt x="0" y="243"/>
                  </a:lnTo>
                  <a:close/>
                </a:path>
              </a:pathLst>
            </a:cu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323" name="Freeform 318"/>
            <p:cNvSpPr>
              <a:spLocks noEditPoints="1"/>
            </p:cNvSpPr>
            <p:nvPr/>
          </p:nvSpPr>
          <p:spPr bwMode="auto">
            <a:xfrm>
              <a:off x="3675" y="2149"/>
              <a:ext cx="46" cy="241"/>
            </a:xfrm>
            <a:custGeom>
              <a:avLst/>
              <a:gdLst>
                <a:gd name="T0" fmla="*/ 46 w 46"/>
                <a:gd name="T1" fmla="*/ 0 h 241"/>
                <a:gd name="T2" fmla="*/ 0 w 46"/>
                <a:gd name="T3" fmla="*/ 0 h 241"/>
                <a:gd name="T4" fmla="*/ 46 w 46"/>
                <a:gd name="T5" fmla="*/ 60 h 241"/>
                <a:gd name="T6" fmla="*/ 0 w 46"/>
                <a:gd name="T7" fmla="*/ 60 h 241"/>
                <a:gd name="T8" fmla="*/ 46 w 46"/>
                <a:gd name="T9" fmla="*/ 120 h 241"/>
                <a:gd name="T10" fmla="*/ 0 w 46"/>
                <a:gd name="T11" fmla="*/ 120 h 241"/>
                <a:gd name="T12" fmla="*/ 46 w 46"/>
                <a:gd name="T13" fmla="*/ 181 h 241"/>
                <a:gd name="T14" fmla="*/ 0 w 46"/>
                <a:gd name="T15" fmla="*/ 181 h 241"/>
                <a:gd name="T16" fmla="*/ 46 w 46"/>
                <a:gd name="T17" fmla="*/ 241 h 241"/>
                <a:gd name="T18" fmla="*/ 0 w 46"/>
                <a:gd name="T19" fmla="*/ 241 h 24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6"/>
                <a:gd name="T31" fmla="*/ 0 h 241"/>
                <a:gd name="T32" fmla="*/ 46 w 46"/>
                <a:gd name="T33" fmla="*/ 241 h 24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6" h="241">
                  <a:moveTo>
                    <a:pt x="46" y="0"/>
                  </a:moveTo>
                  <a:lnTo>
                    <a:pt x="0" y="0"/>
                  </a:lnTo>
                  <a:moveTo>
                    <a:pt x="46" y="60"/>
                  </a:moveTo>
                  <a:lnTo>
                    <a:pt x="0" y="60"/>
                  </a:lnTo>
                  <a:moveTo>
                    <a:pt x="46" y="120"/>
                  </a:moveTo>
                  <a:lnTo>
                    <a:pt x="0" y="120"/>
                  </a:lnTo>
                  <a:moveTo>
                    <a:pt x="46" y="181"/>
                  </a:moveTo>
                  <a:lnTo>
                    <a:pt x="0" y="181"/>
                  </a:lnTo>
                  <a:moveTo>
                    <a:pt x="46" y="241"/>
                  </a:moveTo>
                  <a:lnTo>
                    <a:pt x="0" y="241"/>
                  </a:lnTo>
                </a:path>
              </a:pathLst>
            </a:custGeom>
            <a:noFill/>
            <a:ln w="11113" cap="sq">
              <a:solidFill>
                <a:srgbClr val="E6E6E6"/>
              </a:solidFill>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324" name="Freeform 319"/>
            <p:cNvSpPr>
              <a:spLocks/>
            </p:cNvSpPr>
            <p:nvPr/>
          </p:nvSpPr>
          <p:spPr bwMode="auto">
            <a:xfrm>
              <a:off x="3650" y="1824"/>
              <a:ext cx="336" cy="627"/>
            </a:xfrm>
            <a:custGeom>
              <a:avLst/>
              <a:gdLst>
                <a:gd name="T0" fmla="*/ 25 w 336"/>
                <a:gd name="T1" fmla="*/ 627 h 627"/>
                <a:gd name="T2" fmla="*/ 25 w 336"/>
                <a:gd name="T3" fmla="*/ 268 h 627"/>
                <a:gd name="T4" fmla="*/ 0 w 336"/>
                <a:gd name="T5" fmla="*/ 268 h 627"/>
                <a:gd name="T6" fmla="*/ 0 w 336"/>
                <a:gd name="T7" fmla="*/ 243 h 627"/>
                <a:gd name="T8" fmla="*/ 236 w 336"/>
                <a:gd name="T9" fmla="*/ 0 h 627"/>
                <a:gd name="T10" fmla="*/ 336 w 336"/>
                <a:gd name="T11" fmla="*/ 0 h 627"/>
                <a:gd name="T12" fmla="*/ 336 w 336"/>
                <a:gd name="T13" fmla="*/ 25 h 627"/>
                <a:gd name="T14" fmla="*/ 311 w 336"/>
                <a:gd name="T15" fmla="*/ 51 h 627"/>
                <a:gd name="T16" fmla="*/ 311 w 336"/>
                <a:gd name="T17" fmla="*/ 384 h 627"/>
                <a:gd name="T18" fmla="*/ 74 w 336"/>
                <a:gd name="T19" fmla="*/ 627 h 627"/>
                <a:gd name="T20" fmla="*/ 25 w 336"/>
                <a:gd name="T21" fmla="*/ 627 h 62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36"/>
                <a:gd name="T34" fmla="*/ 0 h 627"/>
                <a:gd name="T35" fmla="*/ 336 w 336"/>
                <a:gd name="T36" fmla="*/ 627 h 62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36" h="627">
                  <a:moveTo>
                    <a:pt x="25" y="627"/>
                  </a:moveTo>
                  <a:lnTo>
                    <a:pt x="25" y="268"/>
                  </a:lnTo>
                  <a:lnTo>
                    <a:pt x="0" y="268"/>
                  </a:lnTo>
                  <a:lnTo>
                    <a:pt x="0" y="243"/>
                  </a:lnTo>
                  <a:lnTo>
                    <a:pt x="236" y="0"/>
                  </a:lnTo>
                  <a:lnTo>
                    <a:pt x="336" y="0"/>
                  </a:lnTo>
                  <a:lnTo>
                    <a:pt x="336" y="25"/>
                  </a:lnTo>
                  <a:lnTo>
                    <a:pt x="311" y="51"/>
                  </a:lnTo>
                  <a:lnTo>
                    <a:pt x="311" y="384"/>
                  </a:lnTo>
                  <a:lnTo>
                    <a:pt x="74" y="627"/>
                  </a:lnTo>
                  <a:lnTo>
                    <a:pt x="25" y="627"/>
                  </a:lnTo>
                </a:path>
              </a:pathLst>
            </a:custGeom>
            <a:noFill/>
            <a:ln w="17463"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325" name="Rectangle 320"/>
            <p:cNvSpPr>
              <a:spLocks noChangeArrowheads="1"/>
            </p:cNvSpPr>
            <p:nvPr/>
          </p:nvSpPr>
          <p:spPr bwMode="auto">
            <a:xfrm>
              <a:off x="3593" y="2468"/>
              <a:ext cx="248" cy="8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900" b="0">
                  <a:solidFill>
                    <a:srgbClr val="000000"/>
                  </a:solidFill>
                  <a:latin typeface="Arial" charset="0"/>
                </a:rPr>
                <a:t>Firewall</a:t>
              </a:r>
              <a:endParaRPr lang="en-US"/>
            </a:p>
          </p:txBody>
        </p:sp>
        <p:pic>
          <p:nvPicPr>
            <p:cNvPr id="326" name="Picture 783"/>
            <p:cNvPicPr>
              <a:picLocks noChangeAspect="1" noChangeArrowheads="1"/>
            </p:cNvPicPr>
            <p:nvPr/>
          </p:nvPicPr>
          <p:blipFill>
            <a:blip r:embed="rId139">
              <a:extLst>
                <a:ext uri="{28A0092B-C50C-407E-A947-70E740481C1C}">
                  <a14:useLocalDpi xmlns:a14="http://schemas.microsoft.com/office/drawing/2010/main" val="0"/>
                </a:ext>
              </a:extLst>
            </a:blip>
            <a:srcRect/>
            <a:stretch>
              <a:fillRect/>
            </a:stretch>
          </p:blipFill>
          <p:spPr bwMode="auto">
            <a:xfrm>
              <a:off x="3507" y="2694"/>
              <a:ext cx="484" cy="2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nvGrpSpPr>
            <p:cNvPr id="327" name="Group 734"/>
            <p:cNvGrpSpPr>
              <a:grpSpLocks/>
            </p:cNvGrpSpPr>
            <p:nvPr/>
          </p:nvGrpSpPr>
          <p:grpSpPr bwMode="auto">
            <a:xfrm>
              <a:off x="3678" y="2542"/>
              <a:ext cx="199" cy="461"/>
              <a:chOff x="2182" y="1582"/>
              <a:chExt cx="199" cy="461"/>
            </a:xfrm>
          </p:grpSpPr>
          <p:sp>
            <p:nvSpPr>
              <p:cNvPr id="663" name="Freeform 735"/>
              <p:cNvSpPr>
                <a:spLocks/>
              </p:cNvSpPr>
              <p:nvPr/>
            </p:nvSpPr>
            <p:spPr bwMode="auto">
              <a:xfrm>
                <a:off x="2324" y="1979"/>
                <a:ext cx="54" cy="64"/>
              </a:xfrm>
              <a:custGeom>
                <a:avLst/>
                <a:gdLst>
                  <a:gd name="T0" fmla="*/ 0 w 54"/>
                  <a:gd name="T1" fmla="*/ 64 h 64"/>
                  <a:gd name="T2" fmla="*/ 54 w 54"/>
                  <a:gd name="T3" fmla="*/ 9 h 64"/>
                  <a:gd name="T4" fmla="*/ 54 w 54"/>
                  <a:gd name="T5" fmla="*/ 0 h 64"/>
                  <a:gd name="T6" fmla="*/ 0 w 54"/>
                  <a:gd name="T7" fmla="*/ 54 h 64"/>
                  <a:gd name="T8" fmla="*/ 0 w 54"/>
                  <a:gd name="T9" fmla="*/ 64 h 64"/>
                  <a:gd name="T10" fmla="*/ 0 60000 65536"/>
                  <a:gd name="T11" fmla="*/ 0 60000 65536"/>
                  <a:gd name="T12" fmla="*/ 0 60000 65536"/>
                  <a:gd name="T13" fmla="*/ 0 60000 65536"/>
                  <a:gd name="T14" fmla="*/ 0 60000 65536"/>
                  <a:gd name="T15" fmla="*/ 0 w 54"/>
                  <a:gd name="T16" fmla="*/ 0 h 64"/>
                  <a:gd name="T17" fmla="*/ 54 w 54"/>
                  <a:gd name="T18" fmla="*/ 64 h 64"/>
                </a:gdLst>
                <a:ahLst/>
                <a:cxnLst>
                  <a:cxn ang="T10">
                    <a:pos x="T0" y="T1"/>
                  </a:cxn>
                  <a:cxn ang="T11">
                    <a:pos x="T2" y="T3"/>
                  </a:cxn>
                  <a:cxn ang="T12">
                    <a:pos x="T4" y="T5"/>
                  </a:cxn>
                  <a:cxn ang="T13">
                    <a:pos x="T6" y="T7"/>
                  </a:cxn>
                  <a:cxn ang="T14">
                    <a:pos x="T8" y="T9"/>
                  </a:cxn>
                </a:cxnLst>
                <a:rect l="T15" t="T16" r="T17" b="T18"/>
                <a:pathLst>
                  <a:path w="54" h="64">
                    <a:moveTo>
                      <a:pt x="0" y="64"/>
                    </a:moveTo>
                    <a:lnTo>
                      <a:pt x="54" y="9"/>
                    </a:lnTo>
                    <a:lnTo>
                      <a:pt x="54" y="0"/>
                    </a:lnTo>
                    <a:lnTo>
                      <a:pt x="0" y="54"/>
                    </a:lnTo>
                    <a:lnTo>
                      <a:pt x="0" y="64"/>
                    </a:lnTo>
                    <a:close/>
                  </a:path>
                </a:pathLst>
              </a:custGeom>
              <a:solidFill>
                <a:srgbClr val="9A9A9A"/>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664" name="Freeform 736"/>
              <p:cNvSpPr>
                <a:spLocks/>
              </p:cNvSpPr>
              <p:nvPr/>
            </p:nvSpPr>
            <p:spPr bwMode="auto">
              <a:xfrm>
                <a:off x="2182" y="1582"/>
                <a:ext cx="199" cy="51"/>
              </a:xfrm>
              <a:custGeom>
                <a:avLst/>
                <a:gdLst>
                  <a:gd name="T0" fmla="*/ 0 w 199"/>
                  <a:gd name="T1" fmla="*/ 51 h 51"/>
                  <a:gd name="T2" fmla="*/ 49 w 199"/>
                  <a:gd name="T3" fmla="*/ 0 h 51"/>
                  <a:gd name="T4" fmla="*/ 199 w 199"/>
                  <a:gd name="T5" fmla="*/ 0 h 51"/>
                  <a:gd name="T6" fmla="*/ 149 w 199"/>
                  <a:gd name="T7" fmla="*/ 51 h 51"/>
                  <a:gd name="T8" fmla="*/ 0 w 199"/>
                  <a:gd name="T9" fmla="*/ 51 h 51"/>
                  <a:gd name="T10" fmla="*/ 0 60000 65536"/>
                  <a:gd name="T11" fmla="*/ 0 60000 65536"/>
                  <a:gd name="T12" fmla="*/ 0 60000 65536"/>
                  <a:gd name="T13" fmla="*/ 0 60000 65536"/>
                  <a:gd name="T14" fmla="*/ 0 60000 65536"/>
                  <a:gd name="T15" fmla="*/ 0 w 199"/>
                  <a:gd name="T16" fmla="*/ 0 h 51"/>
                  <a:gd name="T17" fmla="*/ 199 w 199"/>
                  <a:gd name="T18" fmla="*/ 51 h 51"/>
                </a:gdLst>
                <a:ahLst/>
                <a:cxnLst>
                  <a:cxn ang="T10">
                    <a:pos x="T0" y="T1"/>
                  </a:cxn>
                  <a:cxn ang="T11">
                    <a:pos x="T2" y="T3"/>
                  </a:cxn>
                  <a:cxn ang="T12">
                    <a:pos x="T4" y="T5"/>
                  </a:cxn>
                  <a:cxn ang="T13">
                    <a:pos x="T6" y="T7"/>
                  </a:cxn>
                  <a:cxn ang="T14">
                    <a:pos x="T8" y="T9"/>
                  </a:cxn>
                </a:cxnLst>
                <a:rect l="T15" t="T16" r="T17" b="T18"/>
                <a:pathLst>
                  <a:path w="199" h="51">
                    <a:moveTo>
                      <a:pt x="0" y="51"/>
                    </a:moveTo>
                    <a:lnTo>
                      <a:pt x="49" y="0"/>
                    </a:lnTo>
                    <a:lnTo>
                      <a:pt x="199" y="0"/>
                    </a:lnTo>
                    <a:lnTo>
                      <a:pt x="149" y="51"/>
                    </a:lnTo>
                    <a:lnTo>
                      <a:pt x="0" y="51"/>
                    </a:lnTo>
                    <a:close/>
                  </a:path>
                </a:pathLst>
              </a:custGeom>
              <a:solidFill>
                <a:srgbClr val="E6E6E6"/>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665" name="Freeform 737"/>
              <p:cNvSpPr>
                <a:spLocks/>
              </p:cNvSpPr>
              <p:nvPr/>
            </p:nvSpPr>
            <p:spPr bwMode="auto">
              <a:xfrm>
                <a:off x="2182" y="1582"/>
                <a:ext cx="199" cy="51"/>
              </a:xfrm>
              <a:custGeom>
                <a:avLst/>
                <a:gdLst>
                  <a:gd name="T0" fmla="*/ 0 w 199"/>
                  <a:gd name="T1" fmla="*/ 51 h 51"/>
                  <a:gd name="T2" fmla="*/ 49 w 199"/>
                  <a:gd name="T3" fmla="*/ 0 h 51"/>
                  <a:gd name="T4" fmla="*/ 199 w 199"/>
                  <a:gd name="T5" fmla="*/ 0 h 51"/>
                  <a:gd name="T6" fmla="*/ 149 w 199"/>
                  <a:gd name="T7" fmla="*/ 51 h 51"/>
                  <a:gd name="T8" fmla="*/ 0 w 199"/>
                  <a:gd name="T9" fmla="*/ 51 h 51"/>
                  <a:gd name="T10" fmla="*/ 0 60000 65536"/>
                  <a:gd name="T11" fmla="*/ 0 60000 65536"/>
                  <a:gd name="T12" fmla="*/ 0 60000 65536"/>
                  <a:gd name="T13" fmla="*/ 0 60000 65536"/>
                  <a:gd name="T14" fmla="*/ 0 60000 65536"/>
                  <a:gd name="T15" fmla="*/ 0 w 199"/>
                  <a:gd name="T16" fmla="*/ 0 h 51"/>
                  <a:gd name="T17" fmla="*/ 199 w 199"/>
                  <a:gd name="T18" fmla="*/ 51 h 51"/>
                </a:gdLst>
                <a:ahLst/>
                <a:cxnLst>
                  <a:cxn ang="T10">
                    <a:pos x="T0" y="T1"/>
                  </a:cxn>
                  <a:cxn ang="T11">
                    <a:pos x="T2" y="T3"/>
                  </a:cxn>
                  <a:cxn ang="T12">
                    <a:pos x="T4" y="T5"/>
                  </a:cxn>
                  <a:cxn ang="T13">
                    <a:pos x="T6" y="T7"/>
                  </a:cxn>
                  <a:cxn ang="T14">
                    <a:pos x="T8" y="T9"/>
                  </a:cxn>
                </a:cxnLst>
                <a:rect l="T15" t="T16" r="T17" b="T18"/>
                <a:pathLst>
                  <a:path w="199" h="51">
                    <a:moveTo>
                      <a:pt x="0" y="51"/>
                    </a:moveTo>
                    <a:lnTo>
                      <a:pt x="49" y="0"/>
                    </a:lnTo>
                    <a:lnTo>
                      <a:pt x="199" y="0"/>
                    </a:lnTo>
                    <a:lnTo>
                      <a:pt x="149" y="51"/>
                    </a:lnTo>
                    <a:lnTo>
                      <a:pt x="0" y="51"/>
                    </a:lnTo>
                    <a:close/>
                  </a:path>
                </a:pathLst>
              </a:cu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666" name="Freeform 738"/>
              <p:cNvSpPr>
                <a:spLocks/>
              </p:cNvSpPr>
              <p:nvPr/>
            </p:nvSpPr>
            <p:spPr bwMode="auto">
              <a:xfrm>
                <a:off x="2331" y="1582"/>
                <a:ext cx="50" cy="451"/>
              </a:xfrm>
              <a:custGeom>
                <a:avLst/>
                <a:gdLst>
                  <a:gd name="T0" fmla="*/ 0 w 50"/>
                  <a:gd name="T1" fmla="*/ 51 h 451"/>
                  <a:gd name="T2" fmla="*/ 50 w 50"/>
                  <a:gd name="T3" fmla="*/ 0 h 451"/>
                  <a:gd name="T4" fmla="*/ 50 w 50"/>
                  <a:gd name="T5" fmla="*/ 400 h 451"/>
                  <a:gd name="T6" fmla="*/ 0 w 50"/>
                  <a:gd name="T7" fmla="*/ 451 h 451"/>
                  <a:gd name="T8" fmla="*/ 0 w 50"/>
                  <a:gd name="T9" fmla="*/ 51 h 451"/>
                  <a:gd name="T10" fmla="*/ 0 60000 65536"/>
                  <a:gd name="T11" fmla="*/ 0 60000 65536"/>
                  <a:gd name="T12" fmla="*/ 0 60000 65536"/>
                  <a:gd name="T13" fmla="*/ 0 60000 65536"/>
                  <a:gd name="T14" fmla="*/ 0 60000 65536"/>
                  <a:gd name="T15" fmla="*/ 0 w 50"/>
                  <a:gd name="T16" fmla="*/ 0 h 451"/>
                  <a:gd name="T17" fmla="*/ 50 w 50"/>
                  <a:gd name="T18" fmla="*/ 451 h 451"/>
                </a:gdLst>
                <a:ahLst/>
                <a:cxnLst>
                  <a:cxn ang="T10">
                    <a:pos x="T0" y="T1"/>
                  </a:cxn>
                  <a:cxn ang="T11">
                    <a:pos x="T2" y="T3"/>
                  </a:cxn>
                  <a:cxn ang="T12">
                    <a:pos x="T4" y="T5"/>
                  </a:cxn>
                  <a:cxn ang="T13">
                    <a:pos x="T6" y="T7"/>
                  </a:cxn>
                  <a:cxn ang="T14">
                    <a:pos x="T8" y="T9"/>
                  </a:cxn>
                </a:cxnLst>
                <a:rect l="T15" t="T16" r="T17" b="T18"/>
                <a:pathLst>
                  <a:path w="50" h="451">
                    <a:moveTo>
                      <a:pt x="0" y="51"/>
                    </a:moveTo>
                    <a:lnTo>
                      <a:pt x="50" y="0"/>
                    </a:lnTo>
                    <a:lnTo>
                      <a:pt x="50" y="400"/>
                    </a:lnTo>
                    <a:lnTo>
                      <a:pt x="0" y="451"/>
                    </a:lnTo>
                    <a:lnTo>
                      <a:pt x="0" y="51"/>
                    </a:lnTo>
                    <a:close/>
                  </a:path>
                </a:pathLst>
              </a:custGeom>
              <a:solidFill>
                <a:srgbClr val="9A9A9A"/>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667" name="Rectangle 739"/>
              <p:cNvSpPr>
                <a:spLocks noChangeArrowheads="1"/>
              </p:cNvSpPr>
              <p:nvPr/>
            </p:nvSpPr>
            <p:spPr bwMode="auto">
              <a:xfrm>
                <a:off x="2182" y="1633"/>
                <a:ext cx="149" cy="400"/>
              </a:xfrm>
              <a:prstGeom prst="rect">
                <a:avLst/>
              </a:prstGeom>
              <a:solidFill>
                <a:srgbClr val="C0C0C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668" name="Rectangle 740"/>
              <p:cNvSpPr>
                <a:spLocks noChangeArrowheads="1"/>
              </p:cNvSpPr>
              <p:nvPr/>
            </p:nvSpPr>
            <p:spPr bwMode="auto">
              <a:xfrm>
                <a:off x="2182" y="1633"/>
                <a:ext cx="149" cy="400"/>
              </a:xfrm>
              <a:prstGeom prst="rect">
                <a:avLst/>
              </a:pr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pic>
            <p:nvPicPr>
              <p:cNvPr id="669" name="Picture 741"/>
              <p:cNvPicPr>
                <a:picLocks noChangeAspect="1" noChangeArrowheads="1"/>
              </p:cNvPicPr>
              <p:nvPr/>
            </p:nvPicPr>
            <p:blipFill>
              <a:blip r:embed="rId51">
                <a:extLst>
                  <a:ext uri="{28A0092B-C50C-407E-A947-70E740481C1C}">
                    <a14:useLocalDpi xmlns:a14="http://schemas.microsoft.com/office/drawing/2010/main" val="0"/>
                  </a:ext>
                </a:extLst>
              </a:blip>
              <a:srcRect/>
              <a:stretch>
                <a:fillRect/>
              </a:stretch>
            </p:blipFill>
            <p:spPr bwMode="auto">
              <a:xfrm>
                <a:off x="2194" y="1651"/>
                <a:ext cx="112"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70" name="Picture 742"/>
              <p:cNvPicPr>
                <a:picLocks noChangeAspect="1" noChangeArrowheads="1"/>
              </p:cNvPicPr>
              <p:nvPr/>
            </p:nvPicPr>
            <p:blipFill>
              <a:blip r:embed="rId52">
                <a:extLst>
                  <a:ext uri="{28A0092B-C50C-407E-A947-70E740481C1C}">
                    <a14:useLocalDpi xmlns:a14="http://schemas.microsoft.com/office/drawing/2010/main" val="0"/>
                  </a:ext>
                </a:extLst>
              </a:blip>
              <a:srcRect/>
              <a:stretch>
                <a:fillRect/>
              </a:stretch>
            </p:blipFill>
            <p:spPr bwMode="auto">
              <a:xfrm>
                <a:off x="2194" y="1651"/>
                <a:ext cx="112"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71" name="Rectangle 743"/>
              <p:cNvSpPr>
                <a:spLocks noChangeArrowheads="1"/>
              </p:cNvSpPr>
              <p:nvPr/>
            </p:nvSpPr>
            <p:spPr bwMode="auto">
              <a:xfrm>
                <a:off x="2200" y="1652"/>
                <a:ext cx="112" cy="244"/>
              </a:xfrm>
              <a:prstGeom prst="rect">
                <a:avLst/>
              </a:pr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672" name="Freeform 744"/>
              <p:cNvSpPr>
                <a:spLocks noEditPoints="1"/>
              </p:cNvSpPr>
              <p:nvPr/>
            </p:nvSpPr>
            <p:spPr bwMode="auto">
              <a:xfrm>
                <a:off x="2214" y="1665"/>
                <a:ext cx="85" cy="209"/>
              </a:xfrm>
              <a:custGeom>
                <a:avLst/>
                <a:gdLst>
                  <a:gd name="T0" fmla="*/ 0 w 85"/>
                  <a:gd name="T1" fmla="*/ 188 h 209"/>
                  <a:gd name="T2" fmla="*/ 85 w 85"/>
                  <a:gd name="T3" fmla="*/ 188 h 209"/>
                  <a:gd name="T4" fmla="*/ 85 w 85"/>
                  <a:gd name="T5" fmla="*/ 209 h 209"/>
                  <a:gd name="T6" fmla="*/ 0 w 85"/>
                  <a:gd name="T7" fmla="*/ 209 h 209"/>
                  <a:gd name="T8" fmla="*/ 0 w 85"/>
                  <a:gd name="T9" fmla="*/ 188 h 209"/>
                  <a:gd name="T10" fmla="*/ 0 w 85"/>
                  <a:gd name="T11" fmla="*/ 156 h 209"/>
                  <a:gd name="T12" fmla="*/ 85 w 85"/>
                  <a:gd name="T13" fmla="*/ 156 h 209"/>
                  <a:gd name="T14" fmla="*/ 85 w 85"/>
                  <a:gd name="T15" fmla="*/ 177 h 209"/>
                  <a:gd name="T16" fmla="*/ 0 w 85"/>
                  <a:gd name="T17" fmla="*/ 177 h 209"/>
                  <a:gd name="T18" fmla="*/ 0 w 85"/>
                  <a:gd name="T19" fmla="*/ 156 h 209"/>
                  <a:gd name="T20" fmla="*/ 0 w 85"/>
                  <a:gd name="T21" fmla="*/ 124 h 209"/>
                  <a:gd name="T22" fmla="*/ 85 w 85"/>
                  <a:gd name="T23" fmla="*/ 124 h 209"/>
                  <a:gd name="T24" fmla="*/ 85 w 85"/>
                  <a:gd name="T25" fmla="*/ 145 h 209"/>
                  <a:gd name="T26" fmla="*/ 0 w 85"/>
                  <a:gd name="T27" fmla="*/ 145 h 209"/>
                  <a:gd name="T28" fmla="*/ 0 w 85"/>
                  <a:gd name="T29" fmla="*/ 124 h 209"/>
                  <a:gd name="T30" fmla="*/ 0 w 85"/>
                  <a:gd name="T31" fmla="*/ 92 h 209"/>
                  <a:gd name="T32" fmla="*/ 85 w 85"/>
                  <a:gd name="T33" fmla="*/ 92 h 209"/>
                  <a:gd name="T34" fmla="*/ 85 w 85"/>
                  <a:gd name="T35" fmla="*/ 113 h 209"/>
                  <a:gd name="T36" fmla="*/ 0 w 85"/>
                  <a:gd name="T37" fmla="*/ 113 h 209"/>
                  <a:gd name="T38" fmla="*/ 0 w 85"/>
                  <a:gd name="T39" fmla="*/ 92 h 209"/>
                  <a:gd name="T40" fmla="*/ 0 w 85"/>
                  <a:gd name="T41" fmla="*/ 47 h 209"/>
                  <a:gd name="T42" fmla="*/ 85 w 85"/>
                  <a:gd name="T43" fmla="*/ 47 h 209"/>
                  <a:gd name="T44" fmla="*/ 85 w 85"/>
                  <a:gd name="T45" fmla="*/ 82 h 209"/>
                  <a:gd name="T46" fmla="*/ 0 w 85"/>
                  <a:gd name="T47" fmla="*/ 82 h 209"/>
                  <a:gd name="T48" fmla="*/ 0 w 85"/>
                  <a:gd name="T49" fmla="*/ 47 h 209"/>
                  <a:gd name="T50" fmla="*/ 0 w 85"/>
                  <a:gd name="T51" fmla="*/ 0 h 209"/>
                  <a:gd name="T52" fmla="*/ 85 w 85"/>
                  <a:gd name="T53" fmla="*/ 0 h 209"/>
                  <a:gd name="T54" fmla="*/ 85 w 85"/>
                  <a:gd name="T55" fmla="*/ 35 h 209"/>
                  <a:gd name="T56" fmla="*/ 0 w 85"/>
                  <a:gd name="T57" fmla="*/ 35 h 209"/>
                  <a:gd name="T58" fmla="*/ 0 w 85"/>
                  <a:gd name="T59" fmla="*/ 0 h 209"/>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85"/>
                  <a:gd name="T91" fmla="*/ 0 h 209"/>
                  <a:gd name="T92" fmla="*/ 85 w 85"/>
                  <a:gd name="T93" fmla="*/ 209 h 209"/>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85" h="209">
                    <a:moveTo>
                      <a:pt x="0" y="188"/>
                    </a:moveTo>
                    <a:lnTo>
                      <a:pt x="85" y="188"/>
                    </a:lnTo>
                    <a:lnTo>
                      <a:pt x="85" y="209"/>
                    </a:lnTo>
                    <a:lnTo>
                      <a:pt x="0" y="209"/>
                    </a:lnTo>
                    <a:lnTo>
                      <a:pt x="0" y="188"/>
                    </a:lnTo>
                    <a:close/>
                    <a:moveTo>
                      <a:pt x="0" y="156"/>
                    </a:moveTo>
                    <a:lnTo>
                      <a:pt x="85" y="156"/>
                    </a:lnTo>
                    <a:lnTo>
                      <a:pt x="85" y="177"/>
                    </a:lnTo>
                    <a:lnTo>
                      <a:pt x="0" y="177"/>
                    </a:lnTo>
                    <a:lnTo>
                      <a:pt x="0" y="156"/>
                    </a:lnTo>
                    <a:close/>
                    <a:moveTo>
                      <a:pt x="0" y="124"/>
                    </a:moveTo>
                    <a:lnTo>
                      <a:pt x="85" y="124"/>
                    </a:lnTo>
                    <a:lnTo>
                      <a:pt x="85" y="145"/>
                    </a:lnTo>
                    <a:lnTo>
                      <a:pt x="0" y="145"/>
                    </a:lnTo>
                    <a:lnTo>
                      <a:pt x="0" y="124"/>
                    </a:lnTo>
                    <a:close/>
                    <a:moveTo>
                      <a:pt x="0" y="92"/>
                    </a:moveTo>
                    <a:lnTo>
                      <a:pt x="85" y="92"/>
                    </a:lnTo>
                    <a:lnTo>
                      <a:pt x="85" y="113"/>
                    </a:lnTo>
                    <a:lnTo>
                      <a:pt x="0" y="113"/>
                    </a:lnTo>
                    <a:lnTo>
                      <a:pt x="0" y="92"/>
                    </a:lnTo>
                    <a:close/>
                    <a:moveTo>
                      <a:pt x="0" y="47"/>
                    </a:moveTo>
                    <a:lnTo>
                      <a:pt x="85" y="47"/>
                    </a:lnTo>
                    <a:lnTo>
                      <a:pt x="85" y="82"/>
                    </a:lnTo>
                    <a:lnTo>
                      <a:pt x="0" y="82"/>
                    </a:lnTo>
                    <a:lnTo>
                      <a:pt x="0" y="47"/>
                    </a:lnTo>
                    <a:close/>
                    <a:moveTo>
                      <a:pt x="0" y="0"/>
                    </a:moveTo>
                    <a:lnTo>
                      <a:pt x="85" y="0"/>
                    </a:lnTo>
                    <a:lnTo>
                      <a:pt x="85" y="35"/>
                    </a:lnTo>
                    <a:lnTo>
                      <a:pt x="0" y="35"/>
                    </a:lnTo>
                    <a:lnTo>
                      <a:pt x="0" y="0"/>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673" name="Rectangle 745"/>
              <p:cNvSpPr>
                <a:spLocks noChangeArrowheads="1"/>
              </p:cNvSpPr>
              <p:nvPr/>
            </p:nvSpPr>
            <p:spPr bwMode="auto">
              <a:xfrm>
                <a:off x="2214" y="1853"/>
                <a:ext cx="85" cy="21"/>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674" name="Rectangle 746"/>
              <p:cNvSpPr>
                <a:spLocks noChangeArrowheads="1"/>
              </p:cNvSpPr>
              <p:nvPr/>
            </p:nvSpPr>
            <p:spPr bwMode="auto">
              <a:xfrm>
                <a:off x="2214" y="1821"/>
                <a:ext cx="85" cy="21"/>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675" name="Rectangle 747"/>
              <p:cNvSpPr>
                <a:spLocks noChangeArrowheads="1"/>
              </p:cNvSpPr>
              <p:nvPr/>
            </p:nvSpPr>
            <p:spPr bwMode="auto">
              <a:xfrm>
                <a:off x="2214" y="1789"/>
                <a:ext cx="85" cy="21"/>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676" name="Rectangle 748"/>
              <p:cNvSpPr>
                <a:spLocks noChangeArrowheads="1"/>
              </p:cNvSpPr>
              <p:nvPr/>
            </p:nvSpPr>
            <p:spPr bwMode="auto">
              <a:xfrm>
                <a:off x="2214" y="1757"/>
                <a:ext cx="85" cy="21"/>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677" name="Rectangle 749"/>
              <p:cNvSpPr>
                <a:spLocks noChangeArrowheads="1"/>
              </p:cNvSpPr>
              <p:nvPr/>
            </p:nvSpPr>
            <p:spPr bwMode="auto">
              <a:xfrm>
                <a:off x="2214" y="1712"/>
                <a:ext cx="85" cy="35"/>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678" name="Rectangle 750"/>
              <p:cNvSpPr>
                <a:spLocks noChangeArrowheads="1"/>
              </p:cNvSpPr>
              <p:nvPr/>
            </p:nvSpPr>
            <p:spPr bwMode="auto">
              <a:xfrm>
                <a:off x="2214" y="1665"/>
                <a:ext cx="85" cy="35"/>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679" name="Rectangle 751"/>
              <p:cNvSpPr>
                <a:spLocks noChangeArrowheads="1"/>
              </p:cNvSpPr>
              <p:nvPr/>
            </p:nvSpPr>
            <p:spPr bwMode="auto">
              <a:xfrm>
                <a:off x="2188" y="2033"/>
                <a:ext cx="136" cy="10"/>
              </a:xfrm>
              <a:prstGeom prst="rect">
                <a:avLst/>
              </a:prstGeom>
              <a:solidFill>
                <a:srgbClr val="9A9A9A"/>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pic>
            <p:nvPicPr>
              <p:cNvPr id="680" name="Picture 752"/>
              <p:cNvPicPr>
                <a:picLocks noChangeAspect="1" noChangeArrowheads="1"/>
              </p:cNvPicPr>
              <p:nvPr/>
            </p:nvPicPr>
            <p:blipFill>
              <a:blip r:embed="rId53">
                <a:extLst>
                  <a:ext uri="{28A0092B-C50C-407E-A947-70E740481C1C}">
                    <a14:useLocalDpi xmlns:a14="http://schemas.microsoft.com/office/drawing/2010/main" val="0"/>
                  </a:ext>
                </a:extLst>
              </a:blip>
              <a:srcRect/>
              <a:stretch>
                <a:fillRect/>
              </a:stretch>
            </p:blipFill>
            <p:spPr bwMode="auto">
              <a:xfrm>
                <a:off x="2242" y="1915"/>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81" name="Picture 753"/>
              <p:cNvPicPr>
                <a:picLocks noChangeAspect="1" noChangeArrowheads="1"/>
              </p:cNvPicPr>
              <p:nvPr/>
            </p:nvPicPr>
            <p:blipFill>
              <a:blip r:embed="rId54">
                <a:extLst>
                  <a:ext uri="{28A0092B-C50C-407E-A947-70E740481C1C}">
                    <a14:useLocalDpi xmlns:a14="http://schemas.microsoft.com/office/drawing/2010/main" val="0"/>
                  </a:ext>
                </a:extLst>
              </a:blip>
              <a:srcRect/>
              <a:stretch>
                <a:fillRect/>
              </a:stretch>
            </p:blipFill>
            <p:spPr bwMode="auto">
              <a:xfrm>
                <a:off x="2242" y="1915"/>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82" name="Picture 754"/>
              <p:cNvPicPr>
                <a:picLocks noChangeAspect="1" noChangeArrowheads="1"/>
              </p:cNvPicPr>
              <p:nvPr/>
            </p:nvPicPr>
            <p:blipFill>
              <a:blip r:embed="rId55">
                <a:extLst>
                  <a:ext uri="{28A0092B-C50C-407E-A947-70E740481C1C}">
                    <a14:useLocalDpi xmlns:a14="http://schemas.microsoft.com/office/drawing/2010/main" val="0"/>
                  </a:ext>
                </a:extLst>
              </a:blip>
              <a:srcRect/>
              <a:stretch>
                <a:fillRect/>
              </a:stretch>
            </p:blipFill>
            <p:spPr bwMode="auto">
              <a:xfrm>
                <a:off x="2250" y="1923"/>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83" name="Picture 755"/>
              <p:cNvPicPr>
                <a:picLocks noChangeAspect="1" noChangeArrowheads="1"/>
              </p:cNvPicPr>
              <p:nvPr/>
            </p:nvPicPr>
            <p:blipFill>
              <a:blip r:embed="rId56">
                <a:extLst>
                  <a:ext uri="{28A0092B-C50C-407E-A947-70E740481C1C}">
                    <a14:useLocalDpi xmlns:a14="http://schemas.microsoft.com/office/drawing/2010/main" val="0"/>
                  </a:ext>
                </a:extLst>
              </a:blip>
              <a:srcRect/>
              <a:stretch>
                <a:fillRect/>
              </a:stretch>
            </p:blipFill>
            <p:spPr bwMode="auto">
              <a:xfrm>
                <a:off x="2250" y="1947"/>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84" name="Picture 756"/>
              <p:cNvPicPr>
                <a:picLocks noChangeAspect="1" noChangeArrowheads="1"/>
              </p:cNvPicPr>
              <p:nvPr/>
            </p:nvPicPr>
            <p:blipFill>
              <a:blip r:embed="rId57">
                <a:extLst>
                  <a:ext uri="{28A0092B-C50C-407E-A947-70E740481C1C}">
                    <a14:useLocalDpi xmlns:a14="http://schemas.microsoft.com/office/drawing/2010/main" val="0"/>
                  </a:ext>
                </a:extLst>
              </a:blip>
              <a:srcRect/>
              <a:stretch>
                <a:fillRect/>
              </a:stretch>
            </p:blipFill>
            <p:spPr bwMode="auto">
              <a:xfrm>
                <a:off x="2250" y="1947"/>
                <a:ext cx="8" cy="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85" name="Rectangle 757"/>
              <p:cNvSpPr>
                <a:spLocks noChangeArrowheads="1"/>
              </p:cNvSpPr>
              <p:nvPr/>
            </p:nvSpPr>
            <p:spPr bwMode="auto">
              <a:xfrm>
                <a:off x="2234" y="1683"/>
                <a:ext cx="13" cy="3"/>
              </a:xfrm>
              <a:prstGeom prst="rect">
                <a:avLst/>
              </a:prstGeom>
              <a:solidFill>
                <a:srgbClr val="9A9A9A"/>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pic>
            <p:nvPicPr>
              <p:cNvPr id="686" name="Picture 758"/>
              <p:cNvPicPr>
                <a:picLocks noChangeAspect="1" noChangeArrowheads="1"/>
              </p:cNvPicPr>
              <p:nvPr/>
            </p:nvPicPr>
            <p:blipFill>
              <a:blip r:embed="rId58">
                <a:extLst>
                  <a:ext uri="{28A0092B-C50C-407E-A947-70E740481C1C}">
                    <a14:useLocalDpi xmlns:a14="http://schemas.microsoft.com/office/drawing/2010/main" val="0"/>
                  </a:ext>
                </a:extLst>
              </a:blip>
              <a:srcRect/>
              <a:stretch>
                <a:fillRect/>
              </a:stretch>
            </p:blipFill>
            <p:spPr bwMode="auto">
              <a:xfrm>
                <a:off x="2218" y="1667"/>
                <a:ext cx="72" cy="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87" name="Rectangle 759"/>
              <p:cNvSpPr>
                <a:spLocks noChangeArrowheads="1"/>
              </p:cNvSpPr>
              <p:nvPr/>
            </p:nvSpPr>
            <p:spPr bwMode="auto">
              <a:xfrm>
                <a:off x="2220" y="1672"/>
                <a:ext cx="72" cy="6"/>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pic>
            <p:nvPicPr>
              <p:cNvPr id="688" name="Picture 760"/>
              <p:cNvPicPr>
                <a:picLocks noChangeAspect="1" noChangeArrowheads="1"/>
              </p:cNvPicPr>
              <p:nvPr/>
            </p:nvPicPr>
            <p:blipFill>
              <a:blip r:embed="rId59">
                <a:extLst>
                  <a:ext uri="{28A0092B-C50C-407E-A947-70E740481C1C}">
                    <a14:useLocalDpi xmlns:a14="http://schemas.microsoft.com/office/drawing/2010/main" val="0"/>
                  </a:ext>
                </a:extLst>
              </a:blip>
              <a:srcRect/>
              <a:stretch>
                <a:fillRect/>
              </a:stretch>
            </p:blipFill>
            <p:spPr bwMode="auto">
              <a:xfrm>
                <a:off x="2218" y="1715"/>
                <a:ext cx="72"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89" name="Picture 761"/>
              <p:cNvPicPr>
                <a:picLocks noChangeAspect="1" noChangeArrowheads="1"/>
              </p:cNvPicPr>
              <p:nvPr/>
            </p:nvPicPr>
            <p:blipFill>
              <a:blip r:embed="rId60">
                <a:extLst>
                  <a:ext uri="{28A0092B-C50C-407E-A947-70E740481C1C}">
                    <a14:useLocalDpi xmlns:a14="http://schemas.microsoft.com/office/drawing/2010/main" val="0"/>
                  </a:ext>
                </a:extLst>
              </a:blip>
              <a:srcRect/>
              <a:stretch>
                <a:fillRect/>
              </a:stretch>
            </p:blipFill>
            <p:spPr bwMode="auto">
              <a:xfrm>
                <a:off x="2218" y="1715"/>
                <a:ext cx="72"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90" name="Freeform 762"/>
              <p:cNvSpPr>
                <a:spLocks/>
              </p:cNvSpPr>
              <p:nvPr/>
            </p:nvSpPr>
            <p:spPr bwMode="auto">
              <a:xfrm>
                <a:off x="2219" y="1720"/>
                <a:ext cx="72" cy="14"/>
              </a:xfrm>
              <a:custGeom>
                <a:avLst/>
                <a:gdLst>
                  <a:gd name="T0" fmla="*/ 0 w 144"/>
                  <a:gd name="T1" fmla="*/ 6 h 28"/>
                  <a:gd name="T2" fmla="*/ 39 w 144"/>
                  <a:gd name="T3" fmla="*/ 6 h 28"/>
                  <a:gd name="T4" fmla="*/ 117 w 144"/>
                  <a:gd name="T5" fmla="*/ 6 h 28"/>
                  <a:gd name="T6" fmla="*/ 117 w 144"/>
                  <a:gd name="T7" fmla="*/ 6 h 28"/>
                  <a:gd name="T8" fmla="*/ 144 w 144"/>
                  <a:gd name="T9" fmla="*/ 6 h 28"/>
                  <a:gd name="T10" fmla="*/ 144 w 144"/>
                  <a:gd name="T11" fmla="*/ 28 h 28"/>
                  <a:gd name="T12" fmla="*/ 0 w 144"/>
                  <a:gd name="T13" fmla="*/ 28 h 28"/>
                  <a:gd name="T14" fmla="*/ 0 w 144"/>
                  <a:gd name="T15" fmla="*/ 6 h 28"/>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28"/>
                  <a:gd name="T26" fmla="*/ 144 w 144"/>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28">
                    <a:moveTo>
                      <a:pt x="0" y="6"/>
                    </a:moveTo>
                    <a:lnTo>
                      <a:pt x="39" y="6"/>
                    </a:lnTo>
                    <a:cubicBezTo>
                      <a:pt x="64" y="0"/>
                      <a:pt x="92" y="0"/>
                      <a:pt x="117" y="6"/>
                    </a:cubicBezTo>
                    <a:lnTo>
                      <a:pt x="144" y="6"/>
                    </a:lnTo>
                    <a:lnTo>
                      <a:pt x="144" y="28"/>
                    </a:lnTo>
                    <a:lnTo>
                      <a:pt x="0" y="28"/>
                    </a:lnTo>
                    <a:lnTo>
                      <a:pt x="0" y="6"/>
                    </a:lnTo>
                  </a:path>
                </a:pathLst>
              </a:cu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691" name="Rectangle 763"/>
              <p:cNvSpPr>
                <a:spLocks noChangeArrowheads="1"/>
              </p:cNvSpPr>
              <p:nvPr/>
            </p:nvSpPr>
            <p:spPr bwMode="auto">
              <a:xfrm>
                <a:off x="2222" y="1727"/>
                <a:ext cx="65" cy="3"/>
              </a:xfrm>
              <a:prstGeom prst="rect">
                <a:avLst/>
              </a:prstGeom>
              <a:solidFill>
                <a:srgbClr val="DBDAC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692" name="Rectangle 764"/>
              <p:cNvSpPr>
                <a:spLocks noChangeArrowheads="1"/>
              </p:cNvSpPr>
              <p:nvPr/>
            </p:nvSpPr>
            <p:spPr bwMode="auto">
              <a:xfrm>
                <a:off x="2222" y="1727"/>
                <a:ext cx="65" cy="3"/>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pic>
            <p:nvPicPr>
              <p:cNvPr id="693" name="Picture 765"/>
              <p:cNvPicPr>
                <a:picLocks noChangeAspect="1" noChangeArrowheads="1"/>
              </p:cNvPicPr>
              <p:nvPr/>
            </p:nvPicPr>
            <p:blipFill>
              <a:blip r:embed="rId61">
                <a:extLst>
                  <a:ext uri="{28A0092B-C50C-407E-A947-70E740481C1C}">
                    <a14:useLocalDpi xmlns:a14="http://schemas.microsoft.com/office/drawing/2010/main" val="0"/>
                  </a:ext>
                </a:extLst>
              </a:blip>
              <a:srcRect/>
              <a:stretch>
                <a:fillRect/>
              </a:stretch>
            </p:blipFill>
            <p:spPr bwMode="auto">
              <a:xfrm>
                <a:off x="2218" y="1755"/>
                <a:ext cx="80"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94" name="Picture 766"/>
              <p:cNvPicPr>
                <a:picLocks noChangeAspect="1" noChangeArrowheads="1"/>
              </p:cNvPicPr>
              <p:nvPr/>
            </p:nvPicPr>
            <p:blipFill>
              <a:blip r:embed="rId62">
                <a:extLst>
                  <a:ext uri="{28A0092B-C50C-407E-A947-70E740481C1C}">
                    <a14:useLocalDpi xmlns:a14="http://schemas.microsoft.com/office/drawing/2010/main" val="0"/>
                  </a:ext>
                </a:extLst>
              </a:blip>
              <a:srcRect/>
              <a:stretch>
                <a:fillRect/>
              </a:stretch>
            </p:blipFill>
            <p:spPr bwMode="auto">
              <a:xfrm>
                <a:off x="2218" y="1755"/>
                <a:ext cx="80"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95" name="Freeform 767"/>
              <p:cNvSpPr>
                <a:spLocks/>
              </p:cNvSpPr>
              <p:nvPr/>
            </p:nvSpPr>
            <p:spPr bwMode="auto">
              <a:xfrm>
                <a:off x="2219" y="1760"/>
                <a:ext cx="74" cy="12"/>
              </a:xfrm>
              <a:custGeom>
                <a:avLst/>
                <a:gdLst>
                  <a:gd name="T0" fmla="*/ 0 w 149"/>
                  <a:gd name="T1" fmla="*/ 18 h 23"/>
                  <a:gd name="T2" fmla="*/ 0 w 149"/>
                  <a:gd name="T3" fmla="*/ 6 h 23"/>
                  <a:gd name="T4" fmla="*/ 48 w 149"/>
                  <a:gd name="T5" fmla="*/ 6 h 23"/>
                  <a:gd name="T6" fmla="*/ 102 w 149"/>
                  <a:gd name="T7" fmla="*/ 6 h 23"/>
                  <a:gd name="T8" fmla="*/ 102 w 149"/>
                  <a:gd name="T9" fmla="*/ 6 h 23"/>
                  <a:gd name="T10" fmla="*/ 149 w 149"/>
                  <a:gd name="T11" fmla="*/ 6 h 23"/>
                  <a:gd name="T12" fmla="*/ 149 w 149"/>
                  <a:gd name="T13" fmla="*/ 18 h 23"/>
                  <a:gd name="T14" fmla="*/ 102 w 149"/>
                  <a:gd name="T15" fmla="*/ 18 h 23"/>
                  <a:gd name="T16" fmla="*/ 48 w 149"/>
                  <a:gd name="T17" fmla="*/ 18 h 23"/>
                  <a:gd name="T18" fmla="*/ 48 w 149"/>
                  <a:gd name="T19" fmla="*/ 18 h 23"/>
                  <a:gd name="T20" fmla="*/ 0 w 149"/>
                  <a:gd name="T21" fmla="*/ 18 h 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9"/>
                  <a:gd name="T34" fmla="*/ 0 h 23"/>
                  <a:gd name="T35" fmla="*/ 149 w 149"/>
                  <a:gd name="T36" fmla="*/ 23 h 2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9" h="23">
                    <a:moveTo>
                      <a:pt x="0" y="18"/>
                    </a:moveTo>
                    <a:lnTo>
                      <a:pt x="0" y="6"/>
                    </a:lnTo>
                    <a:lnTo>
                      <a:pt x="48" y="6"/>
                    </a:lnTo>
                    <a:cubicBezTo>
                      <a:pt x="65" y="0"/>
                      <a:pt x="85" y="0"/>
                      <a:pt x="102" y="6"/>
                    </a:cubicBezTo>
                    <a:lnTo>
                      <a:pt x="149" y="6"/>
                    </a:lnTo>
                    <a:lnTo>
                      <a:pt x="149" y="18"/>
                    </a:lnTo>
                    <a:lnTo>
                      <a:pt x="102" y="18"/>
                    </a:lnTo>
                    <a:cubicBezTo>
                      <a:pt x="85" y="23"/>
                      <a:pt x="65" y="23"/>
                      <a:pt x="48" y="18"/>
                    </a:cubicBezTo>
                    <a:lnTo>
                      <a:pt x="0" y="18"/>
                    </a:lnTo>
                  </a:path>
                </a:pathLst>
              </a:cu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pic>
            <p:nvPicPr>
              <p:cNvPr id="696" name="Picture 768"/>
              <p:cNvPicPr>
                <a:picLocks noChangeAspect="1" noChangeArrowheads="1"/>
              </p:cNvPicPr>
              <p:nvPr/>
            </p:nvPicPr>
            <p:blipFill>
              <a:blip r:embed="rId63">
                <a:extLst>
                  <a:ext uri="{28A0092B-C50C-407E-A947-70E740481C1C}">
                    <a14:useLocalDpi xmlns:a14="http://schemas.microsoft.com/office/drawing/2010/main" val="0"/>
                  </a:ext>
                </a:extLst>
              </a:blip>
              <a:srcRect/>
              <a:stretch>
                <a:fillRect/>
              </a:stretch>
            </p:blipFill>
            <p:spPr bwMode="auto">
              <a:xfrm>
                <a:off x="2250" y="1675"/>
                <a:ext cx="40" cy="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97" name="Picture 769"/>
              <p:cNvPicPr>
                <a:picLocks noChangeAspect="1" noChangeArrowheads="1"/>
              </p:cNvPicPr>
              <p:nvPr/>
            </p:nvPicPr>
            <p:blipFill>
              <a:blip r:embed="rId64">
                <a:extLst>
                  <a:ext uri="{28A0092B-C50C-407E-A947-70E740481C1C}">
                    <a14:useLocalDpi xmlns:a14="http://schemas.microsoft.com/office/drawing/2010/main" val="0"/>
                  </a:ext>
                </a:extLst>
              </a:blip>
              <a:srcRect/>
              <a:stretch>
                <a:fillRect/>
              </a:stretch>
            </p:blipFill>
            <p:spPr bwMode="auto">
              <a:xfrm>
                <a:off x="2250" y="1675"/>
                <a:ext cx="40" cy="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98" name="Freeform 770"/>
              <p:cNvSpPr>
                <a:spLocks noEditPoints="1"/>
              </p:cNvSpPr>
              <p:nvPr/>
            </p:nvSpPr>
            <p:spPr bwMode="auto">
              <a:xfrm>
                <a:off x="2256" y="1682"/>
                <a:ext cx="37" cy="94"/>
              </a:xfrm>
              <a:custGeom>
                <a:avLst/>
                <a:gdLst>
                  <a:gd name="T0" fmla="*/ 26 w 37"/>
                  <a:gd name="T1" fmla="*/ 5 h 94"/>
                  <a:gd name="T2" fmla="*/ 36 w 37"/>
                  <a:gd name="T3" fmla="*/ 5 h 94"/>
                  <a:gd name="T4" fmla="*/ 36 w 37"/>
                  <a:gd name="T5" fmla="*/ 0 h 94"/>
                  <a:gd name="T6" fmla="*/ 26 w 37"/>
                  <a:gd name="T7" fmla="*/ 0 h 94"/>
                  <a:gd name="T8" fmla="*/ 26 w 37"/>
                  <a:gd name="T9" fmla="*/ 5 h 94"/>
                  <a:gd name="T10" fmla="*/ 16 w 37"/>
                  <a:gd name="T11" fmla="*/ 4 h 94"/>
                  <a:gd name="T12" fmla="*/ 10 w 37"/>
                  <a:gd name="T13" fmla="*/ 7 h 94"/>
                  <a:gd name="T14" fmla="*/ 10 w 37"/>
                  <a:gd name="T15" fmla="*/ 0 h 94"/>
                  <a:gd name="T16" fmla="*/ 16 w 37"/>
                  <a:gd name="T17" fmla="*/ 4 h 94"/>
                  <a:gd name="T18" fmla="*/ 0 w 37"/>
                  <a:gd name="T19" fmla="*/ 4 h 94"/>
                  <a:gd name="T20" fmla="*/ 7 w 37"/>
                  <a:gd name="T21" fmla="*/ 0 h 94"/>
                  <a:gd name="T22" fmla="*/ 7 w 37"/>
                  <a:gd name="T23" fmla="*/ 7 h 94"/>
                  <a:gd name="T24" fmla="*/ 0 w 37"/>
                  <a:gd name="T25" fmla="*/ 4 h 94"/>
                  <a:gd name="T26" fmla="*/ 21 w 37"/>
                  <a:gd name="T27" fmla="*/ 59 h 94"/>
                  <a:gd name="T28" fmla="*/ 34 w 37"/>
                  <a:gd name="T29" fmla="*/ 59 h 94"/>
                  <a:gd name="T30" fmla="*/ 34 w 37"/>
                  <a:gd name="T31" fmla="*/ 55 h 94"/>
                  <a:gd name="T32" fmla="*/ 21 w 37"/>
                  <a:gd name="T33" fmla="*/ 55 h 94"/>
                  <a:gd name="T34" fmla="*/ 21 w 37"/>
                  <a:gd name="T35" fmla="*/ 59 h 94"/>
                  <a:gd name="T36" fmla="*/ 24 w 37"/>
                  <a:gd name="T37" fmla="*/ 94 h 94"/>
                  <a:gd name="T38" fmla="*/ 37 w 37"/>
                  <a:gd name="T39" fmla="*/ 94 h 94"/>
                  <a:gd name="T40" fmla="*/ 37 w 37"/>
                  <a:gd name="T41" fmla="*/ 90 h 94"/>
                  <a:gd name="T42" fmla="*/ 24 w 37"/>
                  <a:gd name="T43" fmla="*/ 90 h 94"/>
                  <a:gd name="T44" fmla="*/ 24 w 37"/>
                  <a:gd name="T45" fmla="*/ 94 h 9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7"/>
                  <a:gd name="T70" fmla="*/ 0 h 94"/>
                  <a:gd name="T71" fmla="*/ 37 w 37"/>
                  <a:gd name="T72" fmla="*/ 94 h 9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7" h="94">
                    <a:moveTo>
                      <a:pt x="26" y="5"/>
                    </a:moveTo>
                    <a:lnTo>
                      <a:pt x="36" y="5"/>
                    </a:lnTo>
                    <a:lnTo>
                      <a:pt x="36" y="0"/>
                    </a:lnTo>
                    <a:lnTo>
                      <a:pt x="26" y="0"/>
                    </a:lnTo>
                    <a:lnTo>
                      <a:pt x="26" y="5"/>
                    </a:lnTo>
                    <a:moveTo>
                      <a:pt x="16" y="4"/>
                    </a:moveTo>
                    <a:lnTo>
                      <a:pt x="10" y="7"/>
                    </a:lnTo>
                    <a:lnTo>
                      <a:pt x="10" y="0"/>
                    </a:lnTo>
                    <a:lnTo>
                      <a:pt x="16" y="4"/>
                    </a:lnTo>
                    <a:moveTo>
                      <a:pt x="0" y="4"/>
                    </a:moveTo>
                    <a:lnTo>
                      <a:pt x="7" y="0"/>
                    </a:lnTo>
                    <a:lnTo>
                      <a:pt x="7" y="7"/>
                    </a:lnTo>
                    <a:lnTo>
                      <a:pt x="0" y="4"/>
                    </a:lnTo>
                    <a:moveTo>
                      <a:pt x="21" y="59"/>
                    </a:moveTo>
                    <a:lnTo>
                      <a:pt x="34" y="59"/>
                    </a:lnTo>
                    <a:lnTo>
                      <a:pt x="34" y="55"/>
                    </a:lnTo>
                    <a:lnTo>
                      <a:pt x="21" y="55"/>
                    </a:lnTo>
                    <a:lnTo>
                      <a:pt x="21" y="59"/>
                    </a:lnTo>
                    <a:moveTo>
                      <a:pt x="24" y="94"/>
                    </a:moveTo>
                    <a:lnTo>
                      <a:pt x="37" y="94"/>
                    </a:lnTo>
                    <a:lnTo>
                      <a:pt x="37" y="90"/>
                    </a:lnTo>
                    <a:lnTo>
                      <a:pt x="24" y="90"/>
                    </a:lnTo>
                    <a:lnTo>
                      <a:pt x="24" y="94"/>
                    </a:lnTo>
                  </a:path>
                </a:pathLst>
              </a:cu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699" name="Freeform 771"/>
              <p:cNvSpPr>
                <a:spLocks noEditPoints="1"/>
              </p:cNvSpPr>
              <p:nvPr/>
            </p:nvSpPr>
            <p:spPr bwMode="auto">
              <a:xfrm>
                <a:off x="2219" y="1683"/>
                <a:ext cx="8" cy="56"/>
              </a:xfrm>
              <a:custGeom>
                <a:avLst/>
                <a:gdLst>
                  <a:gd name="T0" fmla="*/ 1 w 8"/>
                  <a:gd name="T1" fmla="*/ 0 h 56"/>
                  <a:gd name="T2" fmla="*/ 8 w 8"/>
                  <a:gd name="T3" fmla="*/ 0 h 56"/>
                  <a:gd name="T4" fmla="*/ 0 w 8"/>
                  <a:gd name="T5" fmla="*/ 56 h 56"/>
                  <a:gd name="T6" fmla="*/ 6 w 8"/>
                  <a:gd name="T7" fmla="*/ 56 h 56"/>
                  <a:gd name="T8" fmla="*/ 0 60000 65536"/>
                  <a:gd name="T9" fmla="*/ 0 60000 65536"/>
                  <a:gd name="T10" fmla="*/ 0 60000 65536"/>
                  <a:gd name="T11" fmla="*/ 0 60000 65536"/>
                  <a:gd name="T12" fmla="*/ 0 w 8"/>
                  <a:gd name="T13" fmla="*/ 0 h 56"/>
                  <a:gd name="T14" fmla="*/ 8 w 8"/>
                  <a:gd name="T15" fmla="*/ 56 h 56"/>
                </a:gdLst>
                <a:ahLst/>
                <a:cxnLst>
                  <a:cxn ang="T8">
                    <a:pos x="T0" y="T1"/>
                  </a:cxn>
                  <a:cxn ang="T9">
                    <a:pos x="T2" y="T3"/>
                  </a:cxn>
                  <a:cxn ang="T10">
                    <a:pos x="T4" y="T5"/>
                  </a:cxn>
                  <a:cxn ang="T11">
                    <a:pos x="T6" y="T7"/>
                  </a:cxn>
                </a:cxnLst>
                <a:rect l="T12" t="T13" r="T14" b="T15"/>
                <a:pathLst>
                  <a:path w="8" h="56">
                    <a:moveTo>
                      <a:pt x="1" y="0"/>
                    </a:moveTo>
                    <a:lnTo>
                      <a:pt x="8" y="0"/>
                    </a:lnTo>
                    <a:moveTo>
                      <a:pt x="0" y="56"/>
                    </a:moveTo>
                    <a:lnTo>
                      <a:pt x="6" y="56"/>
                    </a:lnTo>
                  </a:path>
                </a:pathLst>
              </a:custGeom>
              <a:noFill/>
              <a:ln w="3175" cap="sq">
                <a:solidFill>
                  <a:srgbClr val="00FF00"/>
                </a:solidFill>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700" name="Rectangle 772"/>
              <p:cNvSpPr>
                <a:spLocks noChangeArrowheads="1"/>
              </p:cNvSpPr>
              <p:nvPr/>
            </p:nvSpPr>
            <p:spPr bwMode="auto">
              <a:xfrm>
                <a:off x="2194" y="1907"/>
                <a:ext cx="8" cy="112"/>
              </a:xfrm>
              <a:prstGeom prst="rect">
                <a:avLst/>
              </a:prstGeom>
              <a:solidFill>
                <a:srgbClr val="B0B0B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701" name="Rectangle 773"/>
              <p:cNvSpPr>
                <a:spLocks noChangeArrowheads="1"/>
              </p:cNvSpPr>
              <p:nvPr/>
            </p:nvSpPr>
            <p:spPr bwMode="auto">
              <a:xfrm>
                <a:off x="2202" y="1907"/>
                <a:ext cx="8" cy="112"/>
              </a:xfrm>
              <a:prstGeom prst="rect">
                <a:avLst/>
              </a:prstGeom>
              <a:solidFill>
                <a:srgbClr val="6B6B6B"/>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702" name="Rectangle 774"/>
              <p:cNvSpPr>
                <a:spLocks noChangeArrowheads="1"/>
              </p:cNvSpPr>
              <p:nvPr/>
            </p:nvSpPr>
            <p:spPr bwMode="auto">
              <a:xfrm>
                <a:off x="2210" y="1907"/>
                <a:ext cx="8" cy="112"/>
              </a:xfrm>
              <a:prstGeom prst="rect">
                <a:avLst/>
              </a:prstGeom>
              <a:solidFill>
                <a:srgbClr val="7F7F7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703" name="Rectangle 775"/>
              <p:cNvSpPr>
                <a:spLocks noChangeArrowheads="1"/>
              </p:cNvSpPr>
              <p:nvPr/>
            </p:nvSpPr>
            <p:spPr bwMode="auto">
              <a:xfrm>
                <a:off x="2218" y="1907"/>
                <a:ext cx="8" cy="112"/>
              </a:xfrm>
              <a:prstGeom prst="rect">
                <a:avLst/>
              </a:prstGeom>
              <a:solidFill>
                <a:srgbClr val="939393"/>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704" name="Rectangle 776"/>
              <p:cNvSpPr>
                <a:spLocks noChangeArrowheads="1"/>
              </p:cNvSpPr>
              <p:nvPr/>
            </p:nvSpPr>
            <p:spPr bwMode="auto">
              <a:xfrm>
                <a:off x="2226" y="1907"/>
                <a:ext cx="8" cy="112"/>
              </a:xfrm>
              <a:prstGeom prst="rect">
                <a:avLst/>
              </a:prstGeom>
              <a:solidFill>
                <a:srgbClr val="A8A8A8"/>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705" name="Rectangle 777"/>
              <p:cNvSpPr>
                <a:spLocks noChangeArrowheads="1"/>
              </p:cNvSpPr>
              <p:nvPr/>
            </p:nvSpPr>
            <p:spPr bwMode="auto">
              <a:xfrm>
                <a:off x="2274" y="1907"/>
                <a:ext cx="8" cy="112"/>
              </a:xfrm>
              <a:prstGeom prst="rect">
                <a:avLst/>
              </a:prstGeom>
              <a:solidFill>
                <a:srgbClr val="6E6E6E"/>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706" name="Rectangle 778"/>
              <p:cNvSpPr>
                <a:spLocks noChangeArrowheads="1"/>
              </p:cNvSpPr>
              <p:nvPr/>
            </p:nvSpPr>
            <p:spPr bwMode="auto">
              <a:xfrm>
                <a:off x="2282" y="1907"/>
                <a:ext cx="8" cy="112"/>
              </a:xfrm>
              <a:prstGeom prst="rect">
                <a:avLst/>
              </a:prstGeom>
              <a:solidFill>
                <a:srgbClr val="B3B3B3"/>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707" name="Rectangle 779"/>
              <p:cNvSpPr>
                <a:spLocks noChangeArrowheads="1"/>
              </p:cNvSpPr>
              <p:nvPr/>
            </p:nvSpPr>
            <p:spPr bwMode="auto">
              <a:xfrm>
                <a:off x="2290" y="1907"/>
                <a:ext cx="8" cy="112"/>
              </a:xfrm>
              <a:prstGeom prst="rect">
                <a:avLst/>
              </a:prstGeom>
              <a:solidFill>
                <a:srgbClr val="9E9E9E"/>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708" name="Rectangle 780"/>
              <p:cNvSpPr>
                <a:spLocks noChangeArrowheads="1"/>
              </p:cNvSpPr>
              <p:nvPr/>
            </p:nvSpPr>
            <p:spPr bwMode="auto">
              <a:xfrm>
                <a:off x="2298" y="1907"/>
                <a:ext cx="8" cy="112"/>
              </a:xfrm>
              <a:prstGeom prst="rect">
                <a:avLst/>
              </a:prstGeom>
              <a:solidFill>
                <a:srgbClr val="8A8A8A"/>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709" name="Rectangle 781"/>
              <p:cNvSpPr>
                <a:spLocks noChangeArrowheads="1"/>
              </p:cNvSpPr>
              <p:nvPr/>
            </p:nvSpPr>
            <p:spPr bwMode="auto">
              <a:xfrm>
                <a:off x="2306" y="1907"/>
                <a:ext cx="8" cy="112"/>
              </a:xfrm>
              <a:prstGeom prst="rect">
                <a:avLst/>
              </a:prstGeom>
              <a:solidFill>
                <a:srgbClr val="757575"/>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710" name="Freeform 782"/>
              <p:cNvSpPr>
                <a:spLocks/>
              </p:cNvSpPr>
              <p:nvPr/>
            </p:nvSpPr>
            <p:spPr bwMode="auto">
              <a:xfrm>
                <a:off x="2182" y="1582"/>
                <a:ext cx="199" cy="461"/>
              </a:xfrm>
              <a:custGeom>
                <a:avLst/>
                <a:gdLst>
                  <a:gd name="T0" fmla="*/ 6 w 199"/>
                  <a:gd name="T1" fmla="*/ 461 h 461"/>
                  <a:gd name="T2" fmla="*/ 6 w 199"/>
                  <a:gd name="T3" fmla="*/ 451 h 461"/>
                  <a:gd name="T4" fmla="*/ 0 w 199"/>
                  <a:gd name="T5" fmla="*/ 451 h 461"/>
                  <a:gd name="T6" fmla="*/ 0 w 199"/>
                  <a:gd name="T7" fmla="*/ 51 h 461"/>
                  <a:gd name="T8" fmla="*/ 49 w 199"/>
                  <a:gd name="T9" fmla="*/ 0 h 461"/>
                  <a:gd name="T10" fmla="*/ 199 w 199"/>
                  <a:gd name="T11" fmla="*/ 0 h 461"/>
                  <a:gd name="T12" fmla="*/ 199 w 199"/>
                  <a:gd name="T13" fmla="*/ 400 h 461"/>
                  <a:gd name="T14" fmla="*/ 196 w 199"/>
                  <a:gd name="T15" fmla="*/ 403 h 461"/>
                  <a:gd name="T16" fmla="*/ 196 w 199"/>
                  <a:gd name="T17" fmla="*/ 406 h 461"/>
                  <a:gd name="T18" fmla="*/ 142 w 199"/>
                  <a:gd name="T19" fmla="*/ 461 h 461"/>
                  <a:gd name="T20" fmla="*/ 6 w 199"/>
                  <a:gd name="T21" fmla="*/ 461 h 46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9"/>
                  <a:gd name="T34" fmla="*/ 0 h 461"/>
                  <a:gd name="T35" fmla="*/ 199 w 199"/>
                  <a:gd name="T36" fmla="*/ 461 h 46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9" h="461">
                    <a:moveTo>
                      <a:pt x="6" y="461"/>
                    </a:moveTo>
                    <a:lnTo>
                      <a:pt x="6" y="451"/>
                    </a:lnTo>
                    <a:lnTo>
                      <a:pt x="0" y="451"/>
                    </a:lnTo>
                    <a:lnTo>
                      <a:pt x="0" y="51"/>
                    </a:lnTo>
                    <a:lnTo>
                      <a:pt x="49" y="0"/>
                    </a:lnTo>
                    <a:lnTo>
                      <a:pt x="199" y="0"/>
                    </a:lnTo>
                    <a:lnTo>
                      <a:pt x="199" y="400"/>
                    </a:lnTo>
                    <a:lnTo>
                      <a:pt x="196" y="403"/>
                    </a:lnTo>
                    <a:lnTo>
                      <a:pt x="196" y="406"/>
                    </a:lnTo>
                    <a:lnTo>
                      <a:pt x="142" y="461"/>
                    </a:lnTo>
                    <a:lnTo>
                      <a:pt x="6" y="461"/>
                    </a:lnTo>
                  </a:path>
                </a:pathLst>
              </a:custGeom>
              <a:noFill/>
              <a:ln w="11113"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grpSp>
        <p:sp>
          <p:nvSpPr>
            <p:cNvPr id="328" name="Rectangle 784"/>
            <p:cNvSpPr>
              <a:spLocks noChangeArrowheads="1"/>
            </p:cNvSpPr>
            <p:nvPr/>
          </p:nvSpPr>
          <p:spPr bwMode="auto">
            <a:xfrm>
              <a:off x="3535" y="3027"/>
              <a:ext cx="364" cy="38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2000" b="0">
                  <a:solidFill>
                    <a:srgbClr val="FF7C80"/>
                  </a:solidFill>
                  <a:latin typeface="Arial" charset="0"/>
                </a:rPr>
                <a:t>IPS</a:t>
              </a:r>
            </a:p>
            <a:p>
              <a:r>
                <a:rPr lang="en-US" sz="2000" b="0">
                  <a:solidFill>
                    <a:srgbClr val="FF7C80"/>
                  </a:solidFill>
                  <a:latin typeface="Arial" charset="0"/>
                </a:rPr>
                <a:t>Inner</a:t>
              </a:r>
              <a:endParaRPr lang="en-US">
                <a:solidFill>
                  <a:srgbClr val="FF7C80"/>
                </a:solidFill>
              </a:endParaRPr>
            </a:p>
          </p:txBody>
        </p:sp>
        <p:grpSp>
          <p:nvGrpSpPr>
            <p:cNvPr id="329" name="Group 786"/>
            <p:cNvGrpSpPr>
              <a:grpSpLocks/>
            </p:cNvGrpSpPr>
            <p:nvPr/>
          </p:nvGrpSpPr>
          <p:grpSpPr bwMode="auto">
            <a:xfrm>
              <a:off x="2539" y="3054"/>
              <a:ext cx="698" cy="677"/>
              <a:chOff x="211" y="3142"/>
              <a:chExt cx="698" cy="677"/>
            </a:xfrm>
          </p:grpSpPr>
          <p:pic>
            <p:nvPicPr>
              <p:cNvPr id="612" name="Picture 787"/>
              <p:cNvPicPr>
                <a:picLocks noChangeAspect="1" noChangeArrowheads="1"/>
              </p:cNvPicPr>
              <p:nvPr/>
            </p:nvPicPr>
            <p:blipFill>
              <a:blip r:embed="rId139">
                <a:extLst>
                  <a:ext uri="{28A0092B-C50C-407E-A947-70E740481C1C}">
                    <a14:useLocalDpi xmlns:a14="http://schemas.microsoft.com/office/drawing/2010/main" val="0"/>
                  </a:ext>
                </a:extLst>
              </a:blip>
              <a:srcRect/>
              <a:stretch>
                <a:fillRect/>
              </a:stretch>
            </p:blipFill>
            <p:spPr bwMode="auto">
              <a:xfrm>
                <a:off x="211" y="3294"/>
                <a:ext cx="484" cy="2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nvGrpSpPr>
              <p:cNvPr id="613" name="Group 788"/>
              <p:cNvGrpSpPr>
                <a:grpSpLocks/>
              </p:cNvGrpSpPr>
              <p:nvPr/>
            </p:nvGrpSpPr>
            <p:grpSpPr bwMode="auto">
              <a:xfrm>
                <a:off x="710" y="3142"/>
                <a:ext cx="199" cy="461"/>
                <a:chOff x="2182" y="1582"/>
                <a:chExt cx="199" cy="461"/>
              </a:xfrm>
            </p:grpSpPr>
            <p:sp>
              <p:nvSpPr>
                <p:cNvPr id="615" name="Freeform 789"/>
                <p:cNvSpPr>
                  <a:spLocks/>
                </p:cNvSpPr>
                <p:nvPr/>
              </p:nvSpPr>
              <p:spPr bwMode="auto">
                <a:xfrm>
                  <a:off x="2324" y="1979"/>
                  <a:ext cx="54" cy="64"/>
                </a:xfrm>
                <a:custGeom>
                  <a:avLst/>
                  <a:gdLst>
                    <a:gd name="T0" fmla="*/ 0 w 54"/>
                    <a:gd name="T1" fmla="*/ 64 h 64"/>
                    <a:gd name="T2" fmla="*/ 54 w 54"/>
                    <a:gd name="T3" fmla="*/ 9 h 64"/>
                    <a:gd name="T4" fmla="*/ 54 w 54"/>
                    <a:gd name="T5" fmla="*/ 0 h 64"/>
                    <a:gd name="T6" fmla="*/ 0 w 54"/>
                    <a:gd name="T7" fmla="*/ 54 h 64"/>
                    <a:gd name="T8" fmla="*/ 0 w 54"/>
                    <a:gd name="T9" fmla="*/ 64 h 64"/>
                    <a:gd name="T10" fmla="*/ 0 60000 65536"/>
                    <a:gd name="T11" fmla="*/ 0 60000 65536"/>
                    <a:gd name="T12" fmla="*/ 0 60000 65536"/>
                    <a:gd name="T13" fmla="*/ 0 60000 65536"/>
                    <a:gd name="T14" fmla="*/ 0 60000 65536"/>
                    <a:gd name="T15" fmla="*/ 0 w 54"/>
                    <a:gd name="T16" fmla="*/ 0 h 64"/>
                    <a:gd name="T17" fmla="*/ 54 w 54"/>
                    <a:gd name="T18" fmla="*/ 64 h 64"/>
                  </a:gdLst>
                  <a:ahLst/>
                  <a:cxnLst>
                    <a:cxn ang="T10">
                      <a:pos x="T0" y="T1"/>
                    </a:cxn>
                    <a:cxn ang="T11">
                      <a:pos x="T2" y="T3"/>
                    </a:cxn>
                    <a:cxn ang="T12">
                      <a:pos x="T4" y="T5"/>
                    </a:cxn>
                    <a:cxn ang="T13">
                      <a:pos x="T6" y="T7"/>
                    </a:cxn>
                    <a:cxn ang="T14">
                      <a:pos x="T8" y="T9"/>
                    </a:cxn>
                  </a:cxnLst>
                  <a:rect l="T15" t="T16" r="T17" b="T18"/>
                  <a:pathLst>
                    <a:path w="54" h="64">
                      <a:moveTo>
                        <a:pt x="0" y="64"/>
                      </a:moveTo>
                      <a:lnTo>
                        <a:pt x="54" y="9"/>
                      </a:lnTo>
                      <a:lnTo>
                        <a:pt x="54" y="0"/>
                      </a:lnTo>
                      <a:lnTo>
                        <a:pt x="0" y="54"/>
                      </a:lnTo>
                      <a:lnTo>
                        <a:pt x="0" y="64"/>
                      </a:lnTo>
                      <a:close/>
                    </a:path>
                  </a:pathLst>
                </a:custGeom>
                <a:solidFill>
                  <a:srgbClr val="9A9A9A"/>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616" name="Freeform 790"/>
                <p:cNvSpPr>
                  <a:spLocks/>
                </p:cNvSpPr>
                <p:nvPr/>
              </p:nvSpPr>
              <p:spPr bwMode="auto">
                <a:xfrm>
                  <a:off x="2182" y="1582"/>
                  <a:ext cx="199" cy="51"/>
                </a:xfrm>
                <a:custGeom>
                  <a:avLst/>
                  <a:gdLst>
                    <a:gd name="T0" fmla="*/ 0 w 199"/>
                    <a:gd name="T1" fmla="*/ 51 h 51"/>
                    <a:gd name="T2" fmla="*/ 49 w 199"/>
                    <a:gd name="T3" fmla="*/ 0 h 51"/>
                    <a:gd name="T4" fmla="*/ 199 w 199"/>
                    <a:gd name="T5" fmla="*/ 0 h 51"/>
                    <a:gd name="T6" fmla="*/ 149 w 199"/>
                    <a:gd name="T7" fmla="*/ 51 h 51"/>
                    <a:gd name="T8" fmla="*/ 0 w 199"/>
                    <a:gd name="T9" fmla="*/ 51 h 51"/>
                    <a:gd name="T10" fmla="*/ 0 60000 65536"/>
                    <a:gd name="T11" fmla="*/ 0 60000 65536"/>
                    <a:gd name="T12" fmla="*/ 0 60000 65536"/>
                    <a:gd name="T13" fmla="*/ 0 60000 65536"/>
                    <a:gd name="T14" fmla="*/ 0 60000 65536"/>
                    <a:gd name="T15" fmla="*/ 0 w 199"/>
                    <a:gd name="T16" fmla="*/ 0 h 51"/>
                    <a:gd name="T17" fmla="*/ 199 w 199"/>
                    <a:gd name="T18" fmla="*/ 51 h 51"/>
                  </a:gdLst>
                  <a:ahLst/>
                  <a:cxnLst>
                    <a:cxn ang="T10">
                      <a:pos x="T0" y="T1"/>
                    </a:cxn>
                    <a:cxn ang="T11">
                      <a:pos x="T2" y="T3"/>
                    </a:cxn>
                    <a:cxn ang="T12">
                      <a:pos x="T4" y="T5"/>
                    </a:cxn>
                    <a:cxn ang="T13">
                      <a:pos x="T6" y="T7"/>
                    </a:cxn>
                    <a:cxn ang="T14">
                      <a:pos x="T8" y="T9"/>
                    </a:cxn>
                  </a:cxnLst>
                  <a:rect l="T15" t="T16" r="T17" b="T18"/>
                  <a:pathLst>
                    <a:path w="199" h="51">
                      <a:moveTo>
                        <a:pt x="0" y="51"/>
                      </a:moveTo>
                      <a:lnTo>
                        <a:pt x="49" y="0"/>
                      </a:lnTo>
                      <a:lnTo>
                        <a:pt x="199" y="0"/>
                      </a:lnTo>
                      <a:lnTo>
                        <a:pt x="149" y="51"/>
                      </a:lnTo>
                      <a:lnTo>
                        <a:pt x="0" y="51"/>
                      </a:lnTo>
                      <a:close/>
                    </a:path>
                  </a:pathLst>
                </a:custGeom>
                <a:solidFill>
                  <a:srgbClr val="E6E6E6"/>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617" name="Freeform 791"/>
                <p:cNvSpPr>
                  <a:spLocks/>
                </p:cNvSpPr>
                <p:nvPr/>
              </p:nvSpPr>
              <p:spPr bwMode="auto">
                <a:xfrm>
                  <a:off x="2182" y="1582"/>
                  <a:ext cx="199" cy="51"/>
                </a:xfrm>
                <a:custGeom>
                  <a:avLst/>
                  <a:gdLst>
                    <a:gd name="T0" fmla="*/ 0 w 199"/>
                    <a:gd name="T1" fmla="*/ 51 h 51"/>
                    <a:gd name="T2" fmla="*/ 49 w 199"/>
                    <a:gd name="T3" fmla="*/ 0 h 51"/>
                    <a:gd name="T4" fmla="*/ 199 w 199"/>
                    <a:gd name="T5" fmla="*/ 0 h 51"/>
                    <a:gd name="T6" fmla="*/ 149 w 199"/>
                    <a:gd name="T7" fmla="*/ 51 h 51"/>
                    <a:gd name="T8" fmla="*/ 0 w 199"/>
                    <a:gd name="T9" fmla="*/ 51 h 51"/>
                    <a:gd name="T10" fmla="*/ 0 60000 65536"/>
                    <a:gd name="T11" fmla="*/ 0 60000 65536"/>
                    <a:gd name="T12" fmla="*/ 0 60000 65536"/>
                    <a:gd name="T13" fmla="*/ 0 60000 65536"/>
                    <a:gd name="T14" fmla="*/ 0 60000 65536"/>
                    <a:gd name="T15" fmla="*/ 0 w 199"/>
                    <a:gd name="T16" fmla="*/ 0 h 51"/>
                    <a:gd name="T17" fmla="*/ 199 w 199"/>
                    <a:gd name="T18" fmla="*/ 51 h 51"/>
                  </a:gdLst>
                  <a:ahLst/>
                  <a:cxnLst>
                    <a:cxn ang="T10">
                      <a:pos x="T0" y="T1"/>
                    </a:cxn>
                    <a:cxn ang="T11">
                      <a:pos x="T2" y="T3"/>
                    </a:cxn>
                    <a:cxn ang="T12">
                      <a:pos x="T4" y="T5"/>
                    </a:cxn>
                    <a:cxn ang="T13">
                      <a:pos x="T6" y="T7"/>
                    </a:cxn>
                    <a:cxn ang="T14">
                      <a:pos x="T8" y="T9"/>
                    </a:cxn>
                  </a:cxnLst>
                  <a:rect l="T15" t="T16" r="T17" b="T18"/>
                  <a:pathLst>
                    <a:path w="199" h="51">
                      <a:moveTo>
                        <a:pt x="0" y="51"/>
                      </a:moveTo>
                      <a:lnTo>
                        <a:pt x="49" y="0"/>
                      </a:lnTo>
                      <a:lnTo>
                        <a:pt x="199" y="0"/>
                      </a:lnTo>
                      <a:lnTo>
                        <a:pt x="149" y="51"/>
                      </a:lnTo>
                      <a:lnTo>
                        <a:pt x="0" y="51"/>
                      </a:lnTo>
                      <a:close/>
                    </a:path>
                  </a:pathLst>
                </a:cu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618" name="Freeform 792"/>
                <p:cNvSpPr>
                  <a:spLocks/>
                </p:cNvSpPr>
                <p:nvPr/>
              </p:nvSpPr>
              <p:spPr bwMode="auto">
                <a:xfrm>
                  <a:off x="2331" y="1582"/>
                  <a:ext cx="50" cy="451"/>
                </a:xfrm>
                <a:custGeom>
                  <a:avLst/>
                  <a:gdLst>
                    <a:gd name="T0" fmla="*/ 0 w 50"/>
                    <a:gd name="T1" fmla="*/ 51 h 451"/>
                    <a:gd name="T2" fmla="*/ 50 w 50"/>
                    <a:gd name="T3" fmla="*/ 0 h 451"/>
                    <a:gd name="T4" fmla="*/ 50 w 50"/>
                    <a:gd name="T5" fmla="*/ 400 h 451"/>
                    <a:gd name="T6" fmla="*/ 0 w 50"/>
                    <a:gd name="T7" fmla="*/ 451 h 451"/>
                    <a:gd name="T8" fmla="*/ 0 w 50"/>
                    <a:gd name="T9" fmla="*/ 51 h 451"/>
                    <a:gd name="T10" fmla="*/ 0 60000 65536"/>
                    <a:gd name="T11" fmla="*/ 0 60000 65536"/>
                    <a:gd name="T12" fmla="*/ 0 60000 65536"/>
                    <a:gd name="T13" fmla="*/ 0 60000 65536"/>
                    <a:gd name="T14" fmla="*/ 0 60000 65536"/>
                    <a:gd name="T15" fmla="*/ 0 w 50"/>
                    <a:gd name="T16" fmla="*/ 0 h 451"/>
                    <a:gd name="T17" fmla="*/ 50 w 50"/>
                    <a:gd name="T18" fmla="*/ 451 h 451"/>
                  </a:gdLst>
                  <a:ahLst/>
                  <a:cxnLst>
                    <a:cxn ang="T10">
                      <a:pos x="T0" y="T1"/>
                    </a:cxn>
                    <a:cxn ang="T11">
                      <a:pos x="T2" y="T3"/>
                    </a:cxn>
                    <a:cxn ang="T12">
                      <a:pos x="T4" y="T5"/>
                    </a:cxn>
                    <a:cxn ang="T13">
                      <a:pos x="T6" y="T7"/>
                    </a:cxn>
                    <a:cxn ang="T14">
                      <a:pos x="T8" y="T9"/>
                    </a:cxn>
                  </a:cxnLst>
                  <a:rect l="T15" t="T16" r="T17" b="T18"/>
                  <a:pathLst>
                    <a:path w="50" h="451">
                      <a:moveTo>
                        <a:pt x="0" y="51"/>
                      </a:moveTo>
                      <a:lnTo>
                        <a:pt x="50" y="0"/>
                      </a:lnTo>
                      <a:lnTo>
                        <a:pt x="50" y="400"/>
                      </a:lnTo>
                      <a:lnTo>
                        <a:pt x="0" y="451"/>
                      </a:lnTo>
                      <a:lnTo>
                        <a:pt x="0" y="51"/>
                      </a:lnTo>
                      <a:close/>
                    </a:path>
                  </a:pathLst>
                </a:custGeom>
                <a:solidFill>
                  <a:srgbClr val="9A9A9A"/>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619" name="Rectangle 793"/>
                <p:cNvSpPr>
                  <a:spLocks noChangeArrowheads="1"/>
                </p:cNvSpPr>
                <p:nvPr/>
              </p:nvSpPr>
              <p:spPr bwMode="auto">
                <a:xfrm>
                  <a:off x="2182" y="1633"/>
                  <a:ext cx="149" cy="400"/>
                </a:xfrm>
                <a:prstGeom prst="rect">
                  <a:avLst/>
                </a:prstGeom>
                <a:solidFill>
                  <a:srgbClr val="C0C0C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620" name="Rectangle 794"/>
                <p:cNvSpPr>
                  <a:spLocks noChangeArrowheads="1"/>
                </p:cNvSpPr>
                <p:nvPr/>
              </p:nvSpPr>
              <p:spPr bwMode="auto">
                <a:xfrm>
                  <a:off x="2182" y="1633"/>
                  <a:ext cx="149" cy="400"/>
                </a:xfrm>
                <a:prstGeom prst="rect">
                  <a:avLst/>
                </a:pr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pic>
              <p:nvPicPr>
                <p:cNvPr id="621" name="Picture 795"/>
                <p:cNvPicPr>
                  <a:picLocks noChangeAspect="1" noChangeArrowheads="1"/>
                </p:cNvPicPr>
                <p:nvPr/>
              </p:nvPicPr>
              <p:blipFill>
                <a:blip r:embed="rId51">
                  <a:extLst>
                    <a:ext uri="{28A0092B-C50C-407E-A947-70E740481C1C}">
                      <a14:useLocalDpi xmlns:a14="http://schemas.microsoft.com/office/drawing/2010/main" val="0"/>
                    </a:ext>
                  </a:extLst>
                </a:blip>
                <a:srcRect/>
                <a:stretch>
                  <a:fillRect/>
                </a:stretch>
              </p:blipFill>
              <p:spPr bwMode="auto">
                <a:xfrm>
                  <a:off x="2194" y="1651"/>
                  <a:ext cx="112"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22" name="Picture 796"/>
                <p:cNvPicPr>
                  <a:picLocks noChangeAspect="1" noChangeArrowheads="1"/>
                </p:cNvPicPr>
                <p:nvPr/>
              </p:nvPicPr>
              <p:blipFill>
                <a:blip r:embed="rId52">
                  <a:extLst>
                    <a:ext uri="{28A0092B-C50C-407E-A947-70E740481C1C}">
                      <a14:useLocalDpi xmlns:a14="http://schemas.microsoft.com/office/drawing/2010/main" val="0"/>
                    </a:ext>
                  </a:extLst>
                </a:blip>
                <a:srcRect/>
                <a:stretch>
                  <a:fillRect/>
                </a:stretch>
              </p:blipFill>
              <p:spPr bwMode="auto">
                <a:xfrm>
                  <a:off x="2194" y="1651"/>
                  <a:ext cx="112"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23" name="Rectangle 797"/>
                <p:cNvSpPr>
                  <a:spLocks noChangeArrowheads="1"/>
                </p:cNvSpPr>
                <p:nvPr/>
              </p:nvSpPr>
              <p:spPr bwMode="auto">
                <a:xfrm>
                  <a:off x="2200" y="1652"/>
                  <a:ext cx="112" cy="244"/>
                </a:xfrm>
                <a:prstGeom prst="rect">
                  <a:avLst/>
                </a:pr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624" name="Freeform 798"/>
                <p:cNvSpPr>
                  <a:spLocks noEditPoints="1"/>
                </p:cNvSpPr>
                <p:nvPr/>
              </p:nvSpPr>
              <p:spPr bwMode="auto">
                <a:xfrm>
                  <a:off x="2214" y="1665"/>
                  <a:ext cx="85" cy="209"/>
                </a:xfrm>
                <a:custGeom>
                  <a:avLst/>
                  <a:gdLst>
                    <a:gd name="T0" fmla="*/ 0 w 85"/>
                    <a:gd name="T1" fmla="*/ 188 h 209"/>
                    <a:gd name="T2" fmla="*/ 85 w 85"/>
                    <a:gd name="T3" fmla="*/ 188 h 209"/>
                    <a:gd name="T4" fmla="*/ 85 w 85"/>
                    <a:gd name="T5" fmla="*/ 209 h 209"/>
                    <a:gd name="T6" fmla="*/ 0 w 85"/>
                    <a:gd name="T7" fmla="*/ 209 h 209"/>
                    <a:gd name="T8" fmla="*/ 0 w 85"/>
                    <a:gd name="T9" fmla="*/ 188 h 209"/>
                    <a:gd name="T10" fmla="*/ 0 w 85"/>
                    <a:gd name="T11" fmla="*/ 156 h 209"/>
                    <a:gd name="T12" fmla="*/ 85 w 85"/>
                    <a:gd name="T13" fmla="*/ 156 h 209"/>
                    <a:gd name="T14" fmla="*/ 85 w 85"/>
                    <a:gd name="T15" fmla="*/ 177 h 209"/>
                    <a:gd name="T16" fmla="*/ 0 w 85"/>
                    <a:gd name="T17" fmla="*/ 177 h 209"/>
                    <a:gd name="T18" fmla="*/ 0 w 85"/>
                    <a:gd name="T19" fmla="*/ 156 h 209"/>
                    <a:gd name="T20" fmla="*/ 0 w 85"/>
                    <a:gd name="T21" fmla="*/ 124 h 209"/>
                    <a:gd name="T22" fmla="*/ 85 w 85"/>
                    <a:gd name="T23" fmla="*/ 124 h 209"/>
                    <a:gd name="T24" fmla="*/ 85 w 85"/>
                    <a:gd name="T25" fmla="*/ 145 h 209"/>
                    <a:gd name="T26" fmla="*/ 0 w 85"/>
                    <a:gd name="T27" fmla="*/ 145 h 209"/>
                    <a:gd name="T28" fmla="*/ 0 w 85"/>
                    <a:gd name="T29" fmla="*/ 124 h 209"/>
                    <a:gd name="T30" fmla="*/ 0 w 85"/>
                    <a:gd name="T31" fmla="*/ 92 h 209"/>
                    <a:gd name="T32" fmla="*/ 85 w 85"/>
                    <a:gd name="T33" fmla="*/ 92 h 209"/>
                    <a:gd name="T34" fmla="*/ 85 w 85"/>
                    <a:gd name="T35" fmla="*/ 113 h 209"/>
                    <a:gd name="T36" fmla="*/ 0 w 85"/>
                    <a:gd name="T37" fmla="*/ 113 h 209"/>
                    <a:gd name="T38" fmla="*/ 0 w 85"/>
                    <a:gd name="T39" fmla="*/ 92 h 209"/>
                    <a:gd name="T40" fmla="*/ 0 w 85"/>
                    <a:gd name="T41" fmla="*/ 47 h 209"/>
                    <a:gd name="T42" fmla="*/ 85 w 85"/>
                    <a:gd name="T43" fmla="*/ 47 h 209"/>
                    <a:gd name="T44" fmla="*/ 85 w 85"/>
                    <a:gd name="T45" fmla="*/ 82 h 209"/>
                    <a:gd name="T46" fmla="*/ 0 w 85"/>
                    <a:gd name="T47" fmla="*/ 82 h 209"/>
                    <a:gd name="T48" fmla="*/ 0 w 85"/>
                    <a:gd name="T49" fmla="*/ 47 h 209"/>
                    <a:gd name="T50" fmla="*/ 0 w 85"/>
                    <a:gd name="T51" fmla="*/ 0 h 209"/>
                    <a:gd name="T52" fmla="*/ 85 w 85"/>
                    <a:gd name="T53" fmla="*/ 0 h 209"/>
                    <a:gd name="T54" fmla="*/ 85 w 85"/>
                    <a:gd name="T55" fmla="*/ 35 h 209"/>
                    <a:gd name="T56" fmla="*/ 0 w 85"/>
                    <a:gd name="T57" fmla="*/ 35 h 209"/>
                    <a:gd name="T58" fmla="*/ 0 w 85"/>
                    <a:gd name="T59" fmla="*/ 0 h 209"/>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85"/>
                    <a:gd name="T91" fmla="*/ 0 h 209"/>
                    <a:gd name="T92" fmla="*/ 85 w 85"/>
                    <a:gd name="T93" fmla="*/ 209 h 209"/>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85" h="209">
                      <a:moveTo>
                        <a:pt x="0" y="188"/>
                      </a:moveTo>
                      <a:lnTo>
                        <a:pt x="85" y="188"/>
                      </a:lnTo>
                      <a:lnTo>
                        <a:pt x="85" y="209"/>
                      </a:lnTo>
                      <a:lnTo>
                        <a:pt x="0" y="209"/>
                      </a:lnTo>
                      <a:lnTo>
                        <a:pt x="0" y="188"/>
                      </a:lnTo>
                      <a:close/>
                      <a:moveTo>
                        <a:pt x="0" y="156"/>
                      </a:moveTo>
                      <a:lnTo>
                        <a:pt x="85" y="156"/>
                      </a:lnTo>
                      <a:lnTo>
                        <a:pt x="85" y="177"/>
                      </a:lnTo>
                      <a:lnTo>
                        <a:pt x="0" y="177"/>
                      </a:lnTo>
                      <a:lnTo>
                        <a:pt x="0" y="156"/>
                      </a:lnTo>
                      <a:close/>
                      <a:moveTo>
                        <a:pt x="0" y="124"/>
                      </a:moveTo>
                      <a:lnTo>
                        <a:pt x="85" y="124"/>
                      </a:lnTo>
                      <a:lnTo>
                        <a:pt x="85" y="145"/>
                      </a:lnTo>
                      <a:lnTo>
                        <a:pt x="0" y="145"/>
                      </a:lnTo>
                      <a:lnTo>
                        <a:pt x="0" y="124"/>
                      </a:lnTo>
                      <a:close/>
                      <a:moveTo>
                        <a:pt x="0" y="92"/>
                      </a:moveTo>
                      <a:lnTo>
                        <a:pt x="85" y="92"/>
                      </a:lnTo>
                      <a:lnTo>
                        <a:pt x="85" y="113"/>
                      </a:lnTo>
                      <a:lnTo>
                        <a:pt x="0" y="113"/>
                      </a:lnTo>
                      <a:lnTo>
                        <a:pt x="0" y="92"/>
                      </a:lnTo>
                      <a:close/>
                      <a:moveTo>
                        <a:pt x="0" y="47"/>
                      </a:moveTo>
                      <a:lnTo>
                        <a:pt x="85" y="47"/>
                      </a:lnTo>
                      <a:lnTo>
                        <a:pt x="85" y="82"/>
                      </a:lnTo>
                      <a:lnTo>
                        <a:pt x="0" y="82"/>
                      </a:lnTo>
                      <a:lnTo>
                        <a:pt x="0" y="47"/>
                      </a:lnTo>
                      <a:close/>
                      <a:moveTo>
                        <a:pt x="0" y="0"/>
                      </a:moveTo>
                      <a:lnTo>
                        <a:pt x="85" y="0"/>
                      </a:lnTo>
                      <a:lnTo>
                        <a:pt x="85" y="35"/>
                      </a:lnTo>
                      <a:lnTo>
                        <a:pt x="0" y="35"/>
                      </a:lnTo>
                      <a:lnTo>
                        <a:pt x="0" y="0"/>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625" name="Rectangle 799"/>
                <p:cNvSpPr>
                  <a:spLocks noChangeArrowheads="1"/>
                </p:cNvSpPr>
                <p:nvPr/>
              </p:nvSpPr>
              <p:spPr bwMode="auto">
                <a:xfrm>
                  <a:off x="2214" y="1853"/>
                  <a:ext cx="85" cy="21"/>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626" name="Rectangle 800"/>
                <p:cNvSpPr>
                  <a:spLocks noChangeArrowheads="1"/>
                </p:cNvSpPr>
                <p:nvPr/>
              </p:nvSpPr>
              <p:spPr bwMode="auto">
                <a:xfrm>
                  <a:off x="2214" y="1821"/>
                  <a:ext cx="85" cy="21"/>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627" name="Rectangle 801"/>
                <p:cNvSpPr>
                  <a:spLocks noChangeArrowheads="1"/>
                </p:cNvSpPr>
                <p:nvPr/>
              </p:nvSpPr>
              <p:spPr bwMode="auto">
                <a:xfrm>
                  <a:off x="2214" y="1789"/>
                  <a:ext cx="85" cy="21"/>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628" name="Rectangle 802"/>
                <p:cNvSpPr>
                  <a:spLocks noChangeArrowheads="1"/>
                </p:cNvSpPr>
                <p:nvPr/>
              </p:nvSpPr>
              <p:spPr bwMode="auto">
                <a:xfrm>
                  <a:off x="2214" y="1757"/>
                  <a:ext cx="85" cy="21"/>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629" name="Rectangle 803"/>
                <p:cNvSpPr>
                  <a:spLocks noChangeArrowheads="1"/>
                </p:cNvSpPr>
                <p:nvPr/>
              </p:nvSpPr>
              <p:spPr bwMode="auto">
                <a:xfrm>
                  <a:off x="2214" y="1712"/>
                  <a:ext cx="85" cy="35"/>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630" name="Rectangle 804"/>
                <p:cNvSpPr>
                  <a:spLocks noChangeArrowheads="1"/>
                </p:cNvSpPr>
                <p:nvPr/>
              </p:nvSpPr>
              <p:spPr bwMode="auto">
                <a:xfrm>
                  <a:off x="2214" y="1665"/>
                  <a:ext cx="85" cy="35"/>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631" name="Rectangle 805"/>
                <p:cNvSpPr>
                  <a:spLocks noChangeArrowheads="1"/>
                </p:cNvSpPr>
                <p:nvPr/>
              </p:nvSpPr>
              <p:spPr bwMode="auto">
                <a:xfrm>
                  <a:off x="2188" y="2033"/>
                  <a:ext cx="136" cy="10"/>
                </a:xfrm>
                <a:prstGeom prst="rect">
                  <a:avLst/>
                </a:prstGeom>
                <a:solidFill>
                  <a:srgbClr val="9A9A9A"/>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pic>
              <p:nvPicPr>
                <p:cNvPr id="632" name="Picture 806"/>
                <p:cNvPicPr>
                  <a:picLocks noChangeAspect="1" noChangeArrowheads="1"/>
                </p:cNvPicPr>
                <p:nvPr/>
              </p:nvPicPr>
              <p:blipFill>
                <a:blip r:embed="rId53">
                  <a:extLst>
                    <a:ext uri="{28A0092B-C50C-407E-A947-70E740481C1C}">
                      <a14:useLocalDpi xmlns:a14="http://schemas.microsoft.com/office/drawing/2010/main" val="0"/>
                    </a:ext>
                  </a:extLst>
                </a:blip>
                <a:srcRect/>
                <a:stretch>
                  <a:fillRect/>
                </a:stretch>
              </p:blipFill>
              <p:spPr bwMode="auto">
                <a:xfrm>
                  <a:off x="2242" y="1915"/>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33" name="Picture 807"/>
                <p:cNvPicPr>
                  <a:picLocks noChangeAspect="1" noChangeArrowheads="1"/>
                </p:cNvPicPr>
                <p:nvPr/>
              </p:nvPicPr>
              <p:blipFill>
                <a:blip r:embed="rId54">
                  <a:extLst>
                    <a:ext uri="{28A0092B-C50C-407E-A947-70E740481C1C}">
                      <a14:useLocalDpi xmlns:a14="http://schemas.microsoft.com/office/drawing/2010/main" val="0"/>
                    </a:ext>
                  </a:extLst>
                </a:blip>
                <a:srcRect/>
                <a:stretch>
                  <a:fillRect/>
                </a:stretch>
              </p:blipFill>
              <p:spPr bwMode="auto">
                <a:xfrm>
                  <a:off x="2242" y="1915"/>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34" name="Picture 808"/>
                <p:cNvPicPr>
                  <a:picLocks noChangeAspect="1" noChangeArrowheads="1"/>
                </p:cNvPicPr>
                <p:nvPr/>
              </p:nvPicPr>
              <p:blipFill>
                <a:blip r:embed="rId55">
                  <a:extLst>
                    <a:ext uri="{28A0092B-C50C-407E-A947-70E740481C1C}">
                      <a14:useLocalDpi xmlns:a14="http://schemas.microsoft.com/office/drawing/2010/main" val="0"/>
                    </a:ext>
                  </a:extLst>
                </a:blip>
                <a:srcRect/>
                <a:stretch>
                  <a:fillRect/>
                </a:stretch>
              </p:blipFill>
              <p:spPr bwMode="auto">
                <a:xfrm>
                  <a:off x="2250" y="1923"/>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35" name="Picture 809"/>
                <p:cNvPicPr>
                  <a:picLocks noChangeAspect="1" noChangeArrowheads="1"/>
                </p:cNvPicPr>
                <p:nvPr/>
              </p:nvPicPr>
              <p:blipFill>
                <a:blip r:embed="rId56">
                  <a:extLst>
                    <a:ext uri="{28A0092B-C50C-407E-A947-70E740481C1C}">
                      <a14:useLocalDpi xmlns:a14="http://schemas.microsoft.com/office/drawing/2010/main" val="0"/>
                    </a:ext>
                  </a:extLst>
                </a:blip>
                <a:srcRect/>
                <a:stretch>
                  <a:fillRect/>
                </a:stretch>
              </p:blipFill>
              <p:spPr bwMode="auto">
                <a:xfrm>
                  <a:off x="2250" y="1947"/>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36" name="Picture 810"/>
                <p:cNvPicPr>
                  <a:picLocks noChangeAspect="1" noChangeArrowheads="1"/>
                </p:cNvPicPr>
                <p:nvPr/>
              </p:nvPicPr>
              <p:blipFill>
                <a:blip r:embed="rId57">
                  <a:extLst>
                    <a:ext uri="{28A0092B-C50C-407E-A947-70E740481C1C}">
                      <a14:useLocalDpi xmlns:a14="http://schemas.microsoft.com/office/drawing/2010/main" val="0"/>
                    </a:ext>
                  </a:extLst>
                </a:blip>
                <a:srcRect/>
                <a:stretch>
                  <a:fillRect/>
                </a:stretch>
              </p:blipFill>
              <p:spPr bwMode="auto">
                <a:xfrm>
                  <a:off x="2250" y="1947"/>
                  <a:ext cx="8" cy="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37" name="Rectangle 811"/>
                <p:cNvSpPr>
                  <a:spLocks noChangeArrowheads="1"/>
                </p:cNvSpPr>
                <p:nvPr/>
              </p:nvSpPr>
              <p:spPr bwMode="auto">
                <a:xfrm>
                  <a:off x="2234" y="1683"/>
                  <a:ext cx="13" cy="3"/>
                </a:xfrm>
                <a:prstGeom prst="rect">
                  <a:avLst/>
                </a:prstGeom>
                <a:solidFill>
                  <a:srgbClr val="9A9A9A"/>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pic>
              <p:nvPicPr>
                <p:cNvPr id="638" name="Picture 812"/>
                <p:cNvPicPr>
                  <a:picLocks noChangeAspect="1" noChangeArrowheads="1"/>
                </p:cNvPicPr>
                <p:nvPr/>
              </p:nvPicPr>
              <p:blipFill>
                <a:blip r:embed="rId58">
                  <a:extLst>
                    <a:ext uri="{28A0092B-C50C-407E-A947-70E740481C1C}">
                      <a14:useLocalDpi xmlns:a14="http://schemas.microsoft.com/office/drawing/2010/main" val="0"/>
                    </a:ext>
                  </a:extLst>
                </a:blip>
                <a:srcRect/>
                <a:stretch>
                  <a:fillRect/>
                </a:stretch>
              </p:blipFill>
              <p:spPr bwMode="auto">
                <a:xfrm>
                  <a:off x="2218" y="1667"/>
                  <a:ext cx="72" cy="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39" name="Rectangle 813"/>
                <p:cNvSpPr>
                  <a:spLocks noChangeArrowheads="1"/>
                </p:cNvSpPr>
                <p:nvPr/>
              </p:nvSpPr>
              <p:spPr bwMode="auto">
                <a:xfrm>
                  <a:off x="2220" y="1672"/>
                  <a:ext cx="72" cy="6"/>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pic>
              <p:nvPicPr>
                <p:cNvPr id="640" name="Picture 814"/>
                <p:cNvPicPr>
                  <a:picLocks noChangeAspect="1" noChangeArrowheads="1"/>
                </p:cNvPicPr>
                <p:nvPr/>
              </p:nvPicPr>
              <p:blipFill>
                <a:blip r:embed="rId59">
                  <a:extLst>
                    <a:ext uri="{28A0092B-C50C-407E-A947-70E740481C1C}">
                      <a14:useLocalDpi xmlns:a14="http://schemas.microsoft.com/office/drawing/2010/main" val="0"/>
                    </a:ext>
                  </a:extLst>
                </a:blip>
                <a:srcRect/>
                <a:stretch>
                  <a:fillRect/>
                </a:stretch>
              </p:blipFill>
              <p:spPr bwMode="auto">
                <a:xfrm>
                  <a:off x="2218" y="1715"/>
                  <a:ext cx="72"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41" name="Picture 815"/>
                <p:cNvPicPr>
                  <a:picLocks noChangeAspect="1" noChangeArrowheads="1"/>
                </p:cNvPicPr>
                <p:nvPr/>
              </p:nvPicPr>
              <p:blipFill>
                <a:blip r:embed="rId60">
                  <a:extLst>
                    <a:ext uri="{28A0092B-C50C-407E-A947-70E740481C1C}">
                      <a14:useLocalDpi xmlns:a14="http://schemas.microsoft.com/office/drawing/2010/main" val="0"/>
                    </a:ext>
                  </a:extLst>
                </a:blip>
                <a:srcRect/>
                <a:stretch>
                  <a:fillRect/>
                </a:stretch>
              </p:blipFill>
              <p:spPr bwMode="auto">
                <a:xfrm>
                  <a:off x="2218" y="1715"/>
                  <a:ext cx="72"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42" name="Freeform 816"/>
                <p:cNvSpPr>
                  <a:spLocks/>
                </p:cNvSpPr>
                <p:nvPr/>
              </p:nvSpPr>
              <p:spPr bwMode="auto">
                <a:xfrm>
                  <a:off x="2219" y="1720"/>
                  <a:ext cx="72" cy="14"/>
                </a:xfrm>
                <a:custGeom>
                  <a:avLst/>
                  <a:gdLst>
                    <a:gd name="T0" fmla="*/ 0 w 144"/>
                    <a:gd name="T1" fmla="*/ 6 h 28"/>
                    <a:gd name="T2" fmla="*/ 39 w 144"/>
                    <a:gd name="T3" fmla="*/ 6 h 28"/>
                    <a:gd name="T4" fmla="*/ 117 w 144"/>
                    <a:gd name="T5" fmla="*/ 6 h 28"/>
                    <a:gd name="T6" fmla="*/ 117 w 144"/>
                    <a:gd name="T7" fmla="*/ 6 h 28"/>
                    <a:gd name="T8" fmla="*/ 144 w 144"/>
                    <a:gd name="T9" fmla="*/ 6 h 28"/>
                    <a:gd name="T10" fmla="*/ 144 w 144"/>
                    <a:gd name="T11" fmla="*/ 28 h 28"/>
                    <a:gd name="T12" fmla="*/ 0 w 144"/>
                    <a:gd name="T13" fmla="*/ 28 h 28"/>
                    <a:gd name="T14" fmla="*/ 0 w 144"/>
                    <a:gd name="T15" fmla="*/ 6 h 28"/>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28"/>
                    <a:gd name="T26" fmla="*/ 144 w 144"/>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28">
                      <a:moveTo>
                        <a:pt x="0" y="6"/>
                      </a:moveTo>
                      <a:lnTo>
                        <a:pt x="39" y="6"/>
                      </a:lnTo>
                      <a:cubicBezTo>
                        <a:pt x="64" y="0"/>
                        <a:pt x="92" y="0"/>
                        <a:pt x="117" y="6"/>
                      </a:cubicBezTo>
                      <a:lnTo>
                        <a:pt x="144" y="6"/>
                      </a:lnTo>
                      <a:lnTo>
                        <a:pt x="144" y="28"/>
                      </a:lnTo>
                      <a:lnTo>
                        <a:pt x="0" y="28"/>
                      </a:lnTo>
                      <a:lnTo>
                        <a:pt x="0" y="6"/>
                      </a:lnTo>
                    </a:path>
                  </a:pathLst>
                </a:cu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643" name="Rectangle 817"/>
                <p:cNvSpPr>
                  <a:spLocks noChangeArrowheads="1"/>
                </p:cNvSpPr>
                <p:nvPr/>
              </p:nvSpPr>
              <p:spPr bwMode="auto">
                <a:xfrm>
                  <a:off x="2222" y="1727"/>
                  <a:ext cx="65" cy="3"/>
                </a:xfrm>
                <a:prstGeom prst="rect">
                  <a:avLst/>
                </a:prstGeom>
                <a:solidFill>
                  <a:srgbClr val="DBDAC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644" name="Rectangle 818"/>
                <p:cNvSpPr>
                  <a:spLocks noChangeArrowheads="1"/>
                </p:cNvSpPr>
                <p:nvPr/>
              </p:nvSpPr>
              <p:spPr bwMode="auto">
                <a:xfrm>
                  <a:off x="2222" y="1727"/>
                  <a:ext cx="65" cy="3"/>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pic>
              <p:nvPicPr>
                <p:cNvPr id="645" name="Picture 819"/>
                <p:cNvPicPr>
                  <a:picLocks noChangeAspect="1" noChangeArrowheads="1"/>
                </p:cNvPicPr>
                <p:nvPr/>
              </p:nvPicPr>
              <p:blipFill>
                <a:blip r:embed="rId61">
                  <a:extLst>
                    <a:ext uri="{28A0092B-C50C-407E-A947-70E740481C1C}">
                      <a14:useLocalDpi xmlns:a14="http://schemas.microsoft.com/office/drawing/2010/main" val="0"/>
                    </a:ext>
                  </a:extLst>
                </a:blip>
                <a:srcRect/>
                <a:stretch>
                  <a:fillRect/>
                </a:stretch>
              </p:blipFill>
              <p:spPr bwMode="auto">
                <a:xfrm>
                  <a:off x="2218" y="1755"/>
                  <a:ext cx="80"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46" name="Picture 820"/>
                <p:cNvPicPr>
                  <a:picLocks noChangeAspect="1" noChangeArrowheads="1"/>
                </p:cNvPicPr>
                <p:nvPr/>
              </p:nvPicPr>
              <p:blipFill>
                <a:blip r:embed="rId62">
                  <a:extLst>
                    <a:ext uri="{28A0092B-C50C-407E-A947-70E740481C1C}">
                      <a14:useLocalDpi xmlns:a14="http://schemas.microsoft.com/office/drawing/2010/main" val="0"/>
                    </a:ext>
                  </a:extLst>
                </a:blip>
                <a:srcRect/>
                <a:stretch>
                  <a:fillRect/>
                </a:stretch>
              </p:blipFill>
              <p:spPr bwMode="auto">
                <a:xfrm>
                  <a:off x="2218" y="1755"/>
                  <a:ext cx="80"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47" name="Freeform 821"/>
                <p:cNvSpPr>
                  <a:spLocks/>
                </p:cNvSpPr>
                <p:nvPr/>
              </p:nvSpPr>
              <p:spPr bwMode="auto">
                <a:xfrm>
                  <a:off x="2219" y="1760"/>
                  <a:ext cx="74" cy="12"/>
                </a:xfrm>
                <a:custGeom>
                  <a:avLst/>
                  <a:gdLst>
                    <a:gd name="T0" fmla="*/ 0 w 149"/>
                    <a:gd name="T1" fmla="*/ 18 h 23"/>
                    <a:gd name="T2" fmla="*/ 0 w 149"/>
                    <a:gd name="T3" fmla="*/ 6 h 23"/>
                    <a:gd name="T4" fmla="*/ 48 w 149"/>
                    <a:gd name="T5" fmla="*/ 6 h 23"/>
                    <a:gd name="T6" fmla="*/ 102 w 149"/>
                    <a:gd name="T7" fmla="*/ 6 h 23"/>
                    <a:gd name="T8" fmla="*/ 102 w 149"/>
                    <a:gd name="T9" fmla="*/ 6 h 23"/>
                    <a:gd name="T10" fmla="*/ 149 w 149"/>
                    <a:gd name="T11" fmla="*/ 6 h 23"/>
                    <a:gd name="T12" fmla="*/ 149 w 149"/>
                    <a:gd name="T13" fmla="*/ 18 h 23"/>
                    <a:gd name="T14" fmla="*/ 102 w 149"/>
                    <a:gd name="T15" fmla="*/ 18 h 23"/>
                    <a:gd name="T16" fmla="*/ 48 w 149"/>
                    <a:gd name="T17" fmla="*/ 18 h 23"/>
                    <a:gd name="T18" fmla="*/ 48 w 149"/>
                    <a:gd name="T19" fmla="*/ 18 h 23"/>
                    <a:gd name="T20" fmla="*/ 0 w 149"/>
                    <a:gd name="T21" fmla="*/ 18 h 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9"/>
                    <a:gd name="T34" fmla="*/ 0 h 23"/>
                    <a:gd name="T35" fmla="*/ 149 w 149"/>
                    <a:gd name="T36" fmla="*/ 23 h 2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9" h="23">
                      <a:moveTo>
                        <a:pt x="0" y="18"/>
                      </a:moveTo>
                      <a:lnTo>
                        <a:pt x="0" y="6"/>
                      </a:lnTo>
                      <a:lnTo>
                        <a:pt x="48" y="6"/>
                      </a:lnTo>
                      <a:cubicBezTo>
                        <a:pt x="65" y="0"/>
                        <a:pt x="85" y="0"/>
                        <a:pt x="102" y="6"/>
                      </a:cubicBezTo>
                      <a:lnTo>
                        <a:pt x="149" y="6"/>
                      </a:lnTo>
                      <a:lnTo>
                        <a:pt x="149" y="18"/>
                      </a:lnTo>
                      <a:lnTo>
                        <a:pt x="102" y="18"/>
                      </a:lnTo>
                      <a:cubicBezTo>
                        <a:pt x="85" y="23"/>
                        <a:pt x="65" y="23"/>
                        <a:pt x="48" y="18"/>
                      </a:cubicBezTo>
                      <a:lnTo>
                        <a:pt x="0" y="18"/>
                      </a:lnTo>
                    </a:path>
                  </a:pathLst>
                </a:cu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pic>
              <p:nvPicPr>
                <p:cNvPr id="648" name="Picture 822"/>
                <p:cNvPicPr>
                  <a:picLocks noChangeAspect="1" noChangeArrowheads="1"/>
                </p:cNvPicPr>
                <p:nvPr/>
              </p:nvPicPr>
              <p:blipFill>
                <a:blip r:embed="rId63">
                  <a:extLst>
                    <a:ext uri="{28A0092B-C50C-407E-A947-70E740481C1C}">
                      <a14:useLocalDpi xmlns:a14="http://schemas.microsoft.com/office/drawing/2010/main" val="0"/>
                    </a:ext>
                  </a:extLst>
                </a:blip>
                <a:srcRect/>
                <a:stretch>
                  <a:fillRect/>
                </a:stretch>
              </p:blipFill>
              <p:spPr bwMode="auto">
                <a:xfrm>
                  <a:off x="2250" y="1675"/>
                  <a:ext cx="40" cy="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49" name="Picture 823"/>
                <p:cNvPicPr>
                  <a:picLocks noChangeAspect="1" noChangeArrowheads="1"/>
                </p:cNvPicPr>
                <p:nvPr/>
              </p:nvPicPr>
              <p:blipFill>
                <a:blip r:embed="rId64">
                  <a:extLst>
                    <a:ext uri="{28A0092B-C50C-407E-A947-70E740481C1C}">
                      <a14:useLocalDpi xmlns:a14="http://schemas.microsoft.com/office/drawing/2010/main" val="0"/>
                    </a:ext>
                  </a:extLst>
                </a:blip>
                <a:srcRect/>
                <a:stretch>
                  <a:fillRect/>
                </a:stretch>
              </p:blipFill>
              <p:spPr bwMode="auto">
                <a:xfrm>
                  <a:off x="2250" y="1675"/>
                  <a:ext cx="40" cy="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50" name="Freeform 824"/>
                <p:cNvSpPr>
                  <a:spLocks noEditPoints="1"/>
                </p:cNvSpPr>
                <p:nvPr/>
              </p:nvSpPr>
              <p:spPr bwMode="auto">
                <a:xfrm>
                  <a:off x="2256" y="1682"/>
                  <a:ext cx="37" cy="94"/>
                </a:xfrm>
                <a:custGeom>
                  <a:avLst/>
                  <a:gdLst>
                    <a:gd name="T0" fmla="*/ 26 w 37"/>
                    <a:gd name="T1" fmla="*/ 5 h 94"/>
                    <a:gd name="T2" fmla="*/ 36 w 37"/>
                    <a:gd name="T3" fmla="*/ 5 h 94"/>
                    <a:gd name="T4" fmla="*/ 36 w 37"/>
                    <a:gd name="T5" fmla="*/ 0 h 94"/>
                    <a:gd name="T6" fmla="*/ 26 w 37"/>
                    <a:gd name="T7" fmla="*/ 0 h 94"/>
                    <a:gd name="T8" fmla="*/ 26 w 37"/>
                    <a:gd name="T9" fmla="*/ 5 h 94"/>
                    <a:gd name="T10" fmla="*/ 16 w 37"/>
                    <a:gd name="T11" fmla="*/ 4 h 94"/>
                    <a:gd name="T12" fmla="*/ 10 w 37"/>
                    <a:gd name="T13" fmla="*/ 7 h 94"/>
                    <a:gd name="T14" fmla="*/ 10 w 37"/>
                    <a:gd name="T15" fmla="*/ 0 h 94"/>
                    <a:gd name="T16" fmla="*/ 16 w 37"/>
                    <a:gd name="T17" fmla="*/ 4 h 94"/>
                    <a:gd name="T18" fmla="*/ 0 w 37"/>
                    <a:gd name="T19" fmla="*/ 4 h 94"/>
                    <a:gd name="T20" fmla="*/ 7 w 37"/>
                    <a:gd name="T21" fmla="*/ 0 h 94"/>
                    <a:gd name="T22" fmla="*/ 7 w 37"/>
                    <a:gd name="T23" fmla="*/ 7 h 94"/>
                    <a:gd name="T24" fmla="*/ 0 w 37"/>
                    <a:gd name="T25" fmla="*/ 4 h 94"/>
                    <a:gd name="T26" fmla="*/ 21 w 37"/>
                    <a:gd name="T27" fmla="*/ 59 h 94"/>
                    <a:gd name="T28" fmla="*/ 34 w 37"/>
                    <a:gd name="T29" fmla="*/ 59 h 94"/>
                    <a:gd name="T30" fmla="*/ 34 w 37"/>
                    <a:gd name="T31" fmla="*/ 55 h 94"/>
                    <a:gd name="T32" fmla="*/ 21 w 37"/>
                    <a:gd name="T33" fmla="*/ 55 h 94"/>
                    <a:gd name="T34" fmla="*/ 21 w 37"/>
                    <a:gd name="T35" fmla="*/ 59 h 94"/>
                    <a:gd name="T36" fmla="*/ 24 w 37"/>
                    <a:gd name="T37" fmla="*/ 94 h 94"/>
                    <a:gd name="T38" fmla="*/ 37 w 37"/>
                    <a:gd name="T39" fmla="*/ 94 h 94"/>
                    <a:gd name="T40" fmla="*/ 37 w 37"/>
                    <a:gd name="T41" fmla="*/ 90 h 94"/>
                    <a:gd name="T42" fmla="*/ 24 w 37"/>
                    <a:gd name="T43" fmla="*/ 90 h 94"/>
                    <a:gd name="T44" fmla="*/ 24 w 37"/>
                    <a:gd name="T45" fmla="*/ 94 h 9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7"/>
                    <a:gd name="T70" fmla="*/ 0 h 94"/>
                    <a:gd name="T71" fmla="*/ 37 w 37"/>
                    <a:gd name="T72" fmla="*/ 94 h 9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7" h="94">
                      <a:moveTo>
                        <a:pt x="26" y="5"/>
                      </a:moveTo>
                      <a:lnTo>
                        <a:pt x="36" y="5"/>
                      </a:lnTo>
                      <a:lnTo>
                        <a:pt x="36" y="0"/>
                      </a:lnTo>
                      <a:lnTo>
                        <a:pt x="26" y="0"/>
                      </a:lnTo>
                      <a:lnTo>
                        <a:pt x="26" y="5"/>
                      </a:lnTo>
                      <a:moveTo>
                        <a:pt x="16" y="4"/>
                      </a:moveTo>
                      <a:lnTo>
                        <a:pt x="10" y="7"/>
                      </a:lnTo>
                      <a:lnTo>
                        <a:pt x="10" y="0"/>
                      </a:lnTo>
                      <a:lnTo>
                        <a:pt x="16" y="4"/>
                      </a:lnTo>
                      <a:moveTo>
                        <a:pt x="0" y="4"/>
                      </a:moveTo>
                      <a:lnTo>
                        <a:pt x="7" y="0"/>
                      </a:lnTo>
                      <a:lnTo>
                        <a:pt x="7" y="7"/>
                      </a:lnTo>
                      <a:lnTo>
                        <a:pt x="0" y="4"/>
                      </a:lnTo>
                      <a:moveTo>
                        <a:pt x="21" y="59"/>
                      </a:moveTo>
                      <a:lnTo>
                        <a:pt x="34" y="59"/>
                      </a:lnTo>
                      <a:lnTo>
                        <a:pt x="34" y="55"/>
                      </a:lnTo>
                      <a:lnTo>
                        <a:pt x="21" y="55"/>
                      </a:lnTo>
                      <a:lnTo>
                        <a:pt x="21" y="59"/>
                      </a:lnTo>
                      <a:moveTo>
                        <a:pt x="24" y="94"/>
                      </a:moveTo>
                      <a:lnTo>
                        <a:pt x="37" y="94"/>
                      </a:lnTo>
                      <a:lnTo>
                        <a:pt x="37" y="90"/>
                      </a:lnTo>
                      <a:lnTo>
                        <a:pt x="24" y="90"/>
                      </a:lnTo>
                      <a:lnTo>
                        <a:pt x="24" y="94"/>
                      </a:lnTo>
                    </a:path>
                  </a:pathLst>
                </a:cu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651" name="Freeform 825"/>
                <p:cNvSpPr>
                  <a:spLocks noEditPoints="1"/>
                </p:cNvSpPr>
                <p:nvPr/>
              </p:nvSpPr>
              <p:spPr bwMode="auto">
                <a:xfrm>
                  <a:off x="2219" y="1683"/>
                  <a:ext cx="8" cy="56"/>
                </a:xfrm>
                <a:custGeom>
                  <a:avLst/>
                  <a:gdLst>
                    <a:gd name="T0" fmla="*/ 1 w 8"/>
                    <a:gd name="T1" fmla="*/ 0 h 56"/>
                    <a:gd name="T2" fmla="*/ 8 w 8"/>
                    <a:gd name="T3" fmla="*/ 0 h 56"/>
                    <a:gd name="T4" fmla="*/ 0 w 8"/>
                    <a:gd name="T5" fmla="*/ 56 h 56"/>
                    <a:gd name="T6" fmla="*/ 6 w 8"/>
                    <a:gd name="T7" fmla="*/ 56 h 56"/>
                    <a:gd name="T8" fmla="*/ 0 60000 65536"/>
                    <a:gd name="T9" fmla="*/ 0 60000 65536"/>
                    <a:gd name="T10" fmla="*/ 0 60000 65536"/>
                    <a:gd name="T11" fmla="*/ 0 60000 65536"/>
                    <a:gd name="T12" fmla="*/ 0 w 8"/>
                    <a:gd name="T13" fmla="*/ 0 h 56"/>
                    <a:gd name="T14" fmla="*/ 8 w 8"/>
                    <a:gd name="T15" fmla="*/ 56 h 56"/>
                  </a:gdLst>
                  <a:ahLst/>
                  <a:cxnLst>
                    <a:cxn ang="T8">
                      <a:pos x="T0" y="T1"/>
                    </a:cxn>
                    <a:cxn ang="T9">
                      <a:pos x="T2" y="T3"/>
                    </a:cxn>
                    <a:cxn ang="T10">
                      <a:pos x="T4" y="T5"/>
                    </a:cxn>
                    <a:cxn ang="T11">
                      <a:pos x="T6" y="T7"/>
                    </a:cxn>
                  </a:cxnLst>
                  <a:rect l="T12" t="T13" r="T14" b="T15"/>
                  <a:pathLst>
                    <a:path w="8" h="56">
                      <a:moveTo>
                        <a:pt x="1" y="0"/>
                      </a:moveTo>
                      <a:lnTo>
                        <a:pt x="8" y="0"/>
                      </a:lnTo>
                      <a:moveTo>
                        <a:pt x="0" y="56"/>
                      </a:moveTo>
                      <a:lnTo>
                        <a:pt x="6" y="56"/>
                      </a:lnTo>
                    </a:path>
                  </a:pathLst>
                </a:custGeom>
                <a:noFill/>
                <a:ln w="3175" cap="sq">
                  <a:solidFill>
                    <a:srgbClr val="00FF00"/>
                  </a:solidFill>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652" name="Rectangle 826"/>
                <p:cNvSpPr>
                  <a:spLocks noChangeArrowheads="1"/>
                </p:cNvSpPr>
                <p:nvPr/>
              </p:nvSpPr>
              <p:spPr bwMode="auto">
                <a:xfrm>
                  <a:off x="2194" y="1907"/>
                  <a:ext cx="8" cy="112"/>
                </a:xfrm>
                <a:prstGeom prst="rect">
                  <a:avLst/>
                </a:prstGeom>
                <a:solidFill>
                  <a:srgbClr val="B0B0B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653" name="Rectangle 827"/>
                <p:cNvSpPr>
                  <a:spLocks noChangeArrowheads="1"/>
                </p:cNvSpPr>
                <p:nvPr/>
              </p:nvSpPr>
              <p:spPr bwMode="auto">
                <a:xfrm>
                  <a:off x="2202" y="1907"/>
                  <a:ext cx="8" cy="112"/>
                </a:xfrm>
                <a:prstGeom prst="rect">
                  <a:avLst/>
                </a:prstGeom>
                <a:solidFill>
                  <a:srgbClr val="6B6B6B"/>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654" name="Rectangle 828"/>
                <p:cNvSpPr>
                  <a:spLocks noChangeArrowheads="1"/>
                </p:cNvSpPr>
                <p:nvPr/>
              </p:nvSpPr>
              <p:spPr bwMode="auto">
                <a:xfrm>
                  <a:off x="2210" y="1907"/>
                  <a:ext cx="8" cy="112"/>
                </a:xfrm>
                <a:prstGeom prst="rect">
                  <a:avLst/>
                </a:prstGeom>
                <a:solidFill>
                  <a:srgbClr val="7F7F7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655" name="Rectangle 829"/>
                <p:cNvSpPr>
                  <a:spLocks noChangeArrowheads="1"/>
                </p:cNvSpPr>
                <p:nvPr/>
              </p:nvSpPr>
              <p:spPr bwMode="auto">
                <a:xfrm>
                  <a:off x="2218" y="1907"/>
                  <a:ext cx="8" cy="112"/>
                </a:xfrm>
                <a:prstGeom prst="rect">
                  <a:avLst/>
                </a:prstGeom>
                <a:solidFill>
                  <a:srgbClr val="939393"/>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656" name="Rectangle 830"/>
                <p:cNvSpPr>
                  <a:spLocks noChangeArrowheads="1"/>
                </p:cNvSpPr>
                <p:nvPr/>
              </p:nvSpPr>
              <p:spPr bwMode="auto">
                <a:xfrm>
                  <a:off x="2226" y="1907"/>
                  <a:ext cx="8" cy="112"/>
                </a:xfrm>
                <a:prstGeom prst="rect">
                  <a:avLst/>
                </a:prstGeom>
                <a:solidFill>
                  <a:srgbClr val="A8A8A8"/>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657" name="Rectangle 831"/>
                <p:cNvSpPr>
                  <a:spLocks noChangeArrowheads="1"/>
                </p:cNvSpPr>
                <p:nvPr/>
              </p:nvSpPr>
              <p:spPr bwMode="auto">
                <a:xfrm>
                  <a:off x="2274" y="1907"/>
                  <a:ext cx="8" cy="112"/>
                </a:xfrm>
                <a:prstGeom prst="rect">
                  <a:avLst/>
                </a:prstGeom>
                <a:solidFill>
                  <a:srgbClr val="6E6E6E"/>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658" name="Rectangle 832"/>
                <p:cNvSpPr>
                  <a:spLocks noChangeArrowheads="1"/>
                </p:cNvSpPr>
                <p:nvPr/>
              </p:nvSpPr>
              <p:spPr bwMode="auto">
                <a:xfrm>
                  <a:off x="2282" y="1907"/>
                  <a:ext cx="8" cy="112"/>
                </a:xfrm>
                <a:prstGeom prst="rect">
                  <a:avLst/>
                </a:prstGeom>
                <a:solidFill>
                  <a:srgbClr val="B3B3B3"/>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659" name="Rectangle 833"/>
                <p:cNvSpPr>
                  <a:spLocks noChangeArrowheads="1"/>
                </p:cNvSpPr>
                <p:nvPr/>
              </p:nvSpPr>
              <p:spPr bwMode="auto">
                <a:xfrm>
                  <a:off x="2290" y="1907"/>
                  <a:ext cx="8" cy="112"/>
                </a:xfrm>
                <a:prstGeom prst="rect">
                  <a:avLst/>
                </a:prstGeom>
                <a:solidFill>
                  <a:srgbClr val="9E9E9E"/>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660" name="Rectangle 834"/>
                <p:cNvSpPr>
                  <a:spLocks noChangeArrowheads="1"/>
                </p:cNvSpPr>
                <p:nvPr/>
              </p:nvSpPr>
              <p:spPr bwMode="auto">
                <a:xfrm>
                  <a:off x="2298" y="1907"/>
                  <a:ext cx="8" cy="112"/>
                </a:xfrm>
                <a:prstGeom prst="rect">
                  <a:avLst/>
                </a:prstGeom>
                <a:solidFill>
                  <a:srgbClr val="8A8A8A"/>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661" name="Rectangle 835"/>
                <p:cNvSpPr>
                  <a:spLocks noChangeArrowheads="1"/>
                </p:cNvSpPr>
                <p:nvPr/>
              </p:nvSpPr>
              <p:spPr bwMode="auto">
                <a:xfrm>
                  <a:off x="2306" y="1907"/>
                  <a:ext cx="8" cy="112"/>
                </a:xfrm>
                <a:prstGeom prst="rect">
                  <a:avLst/>
                </a:prstGeom>
                <a:solidFill>
                  <a:srgbClr val="757575"/>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662" name="Freeform 836"/>
                <p:cNvSpPr>
                  <a:spLocks/>
                </p:cNvSpPr>
                <p:nvPr/>
              </p:nvSpPr>
              <p:spPr bwMode="auto">
                <a:xfrm>
                  <a:off x="2182" y="1582"/>
                  <a:ext cx="199" cy="461"/>
                </a:xfrm>
                <a:custGeom>
                  <a:avLst/>
                  <a:gdLst>
                    <a:gd name="T0" fmla="*/ 6 w 199"/>
                    <a:gd name="T1" fmla="*/ 461 h 461"/>
                    <a:gd name="T2" fmla="*/ 6 w 199"/>
                    <a:gd name="T3" fmla="*/ 451 h 461"/>
                    <a:gd name="T4" fmla="*/ 0 w 199"/>
                    <a:gd name="T5" fmla="*/ 451 h 461"/>
                    <a:gd name="T6" fmla="*/ 0 w 199"/>
                    <a:gd name="T7" fmla="*/ 51 h 461"/>
                    <a:gd name="T8" fmla="*/ 49 w 199"/>
                    <a:gd name="T9" fmla="*/ 0 h 461"/>
                    <a:gd name="T10" fmla="*/ 199 w 199"/>
                    <a:gd name="T11" fmla="*/ 0 h 461"/>
                    <a:gd name="T12" fmla="*/ 199 w 199"/>
                    <a:gd name="T13" fmla="*/ 400 h 461"/>
                    <a:gd name="T14" fmla="*/ 196 w 199"/>
                    <a:gd name="T15" fmla="*/ 403 h 461"/>
                    <a:gd name="T16" fmla="*/ 196 w 199"/>
                    <a:gd name="T17" fmla="*/ 406 h 461"/>
                    <a:gd name="T18" fmla="*/ 142 w 199"/>
                    <a:gd name="T19" fmla="*/ 461 h 461"/>
                    <a:gd name="T20" fmla="*/ 6 w 199"/>
                    <a:gd name="T21" fmla="*/ 461 h 46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9"/>
                    <a:gd name="T34" fmla="*/ 0 h 461"/>
                    <a:gd name="T35" fmla="*/ 199 w 199"/>
                    <a:gd name="T36" fmla="*/ 461 h 46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9" h="461">
                      <a:moveTo>
                        <a:pt x="6" y="461"/>
                      </a:moveTo>
                      <a:lnTo>
                        <a:pt x="6" y="451"/>
                      </a:lnTo>
                      <a:lnTo>
                        <a:pt x="0" y="451"/>
                      </a:lnTo>
                      <a:lnTo>
                        <a:pt x="0" y="51"/>
                      </a:lnTo>
                      <a:lnTo>
                        <a:pt x="49" y="0"/>
                      </a:lnTo>
                      <a:lnTo>
                        <a:pt x="199" y="0"/>
                      </a:lnTo>
                      <a:lnTo>
                        <a:pt x="199" y="400"/>
                      </a:lnTo>
                      <a:lnTo>
                        <a:pt x="196" y="403"/>
                      </a:lnTo>
                      <a:lnTo>
                        <a:pt x="196" y="406"/>
                      </a:lnTo>
                      <a:lnTo>
                        <a:pt x="142" y="461"/>
                      </a:lnTo>
                      <a:lnTo>
                        <a:pt x="6" y="461"/>
                      </a:lnTo>
                    </a:path>
                  </a:pathLst>
                </a:custGeom>
                <a:noFill/>
                <a:ln w="11113"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grpSp>
          <p:sp>
            <p:nvSpPr>
              <p:cNvPr id="614" name="Rectangle 837"/>
              <p:cNvSpPr>
                <a:spLocks noChangeArrowheads="1"/>
              </p:cNvSpPr>
              <p:nvPr/>
            </p:nvSpPr>
            <p:spPr bwMode="auto">
              <a:xfrm>
                <a:off x="614" y="3627"/>
                <a:ext cx="267" cy="1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2000" b="0">
                    <a:solidFill>
                      <a:srgbClr val="FF7C80"/>
                    </a:solidFill>
                    <a:latin typeface="Arial" charset="0"/>
                  </a:rPr>
                  <a:t>IDS</a:t>
                </a:r>
                <a:endParaRPr lang="en-US">
                  <a:solidFill>
                    <a:srgbClr val="FF7C80"/>
                  </a:solidFill>
                </a:endParaRPr>
              </a:p>
            </p:txBody>
          </p:sp>
        </p:grpSp>
        <p:grpSp>
          <p:nvGrpSpPr>
            <p:cNvPr id="330" name="Group 840"/>
            <p:cNvGrpSpPr>
              <a:grpSpLocks/>
            </p:cNvGrpSpPr>
            <p:nvPr/>
          </p:nvGrpSpPr>
          <p:grpSpPr bwMode="auto">
            <a:xfrm>
              <a:off x="4875" y="2646"/>
              <a:ext cx="698" cy="677"/>
              <a:chOff x="211" y="3142"/>
              <a:chExt cx="698" cy="677"/>
            </a:xfrm>
          </p:grpSpPr>
          <p:pic>
            <p:nvPicPr>
              <p:cNvPr id="561" name="Picture 841"/>
              <p:cNvPicPr>
                <a:picLocks noChangeAspect="1" noChangeArrowheads="1"/>
              </p:cNvPicPr>
              <p:nvPr/>
            </p:nvPicPr>
            <p:blipFill>
              <a:blip r:embed="rId139">
                <a:extLst>
                  <a:ext uri="{28A0092B-C50C-407E-A947-70E740481C1C}">
                    <a14:useLocalDpi xmlns:a14="http://schemas.microsoft.com/office/drawing/2010/main" val="0"/>
                  </a:ext>
                </a:extLst>
              </a:blip>
              <a:srcRect/>
              <a:stretch>
                <a:fillRect/>
              </a:stretch>
            </p:blipFill>
            <p:spPr bwMode="auto">
              <a:xfrm>
                <a:off x="211" y="3294"/>
                <a:ext cx="484" cy="2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nvGrpSpPr>
              <p:cNvPr id="562" name="Group 842"/>
              <p:cNvGrpSpPr>
                <a:grpSpLocks/>
              </p:cNvGrpSpPr>
              <p:nvPr/>
            </p:nvGrpSpPr>
            <p:grpSpPr bwMode="auto">
              <a:xfrm>
                <a:off x="710" y="3142"/>
                <a:ext cx="199" cy="461"/>
                <a:chOff x="2182" y="1582"/>
                <a:chExt cx="199" cy="461"/>
              </a:xfrm>
            </p:grpSpPr>
            <p:sp>
              <p:nvSpPr>
                <p:cNvPr id="564" name="Freeform 843"/>
                <p:cNvSpPr>
                  <a:spLocks/>
                </p:cNvSpPr>
                <p:nvPr/>
              </p:nvSpPr>
              <p:spPr bwMode="auto">
                <a:xfrm>
                  <a:off x="2324" y="1979"/>
                  <a:ext cx="54" cy="64"/>
                </a:xfrm>
                <a:custGeom>
                  <a:avLst/>
                  <a:gdLst>
                    <a:gd name="T0" fmla="*/ 0 w 54"/>
                    <a:gd name="T1" fmla="*/ 64 h 64"/>
                    <a:gd name="T2" fmla="*/ 54 w 54"/>
                    <a:gd name="T3" fmla="*/ 9 h 64"/>
                    <a:gd name="T4" fmla="*/ 54 w 54"/>
                    <a:gd name="T5" fmla="*/ 0 h 64"/>
                    <a:gd name="T6" fmla="*/ 0 w 54"/>
                    <a:gd name="T7" fmla="*/ 54 h 64"/>
                    <a:gd name="T8" fmla="*/ 0 w 54"/>
                    <a:gd name="T9" fmla="*/ 64 h 64"/>
                    <a:gd name="T10" fmla="*/ 0 60000 65536"/>
                    <a:gd name="T11" fmla="*/ 0 60000 65536"/>
                    <a:gd name="T12" fmla="*/ 0 60000 65536"/>
                    <a:gd name="T13" fmla="*/ 0 60000 65536"/>
                    <a:gd name="T14" fmla="*/ 0 60000 65536"/>
                    <a:gd name="T15" fmla="*/ 0 w 54"/>
                    <a:gd name="T16" fmla="*/ 0 h 64"/>
                    <a:gd name="T17" fmla="*/ 54 w 54"/>
                    <a:gd name="T18" fmla="*/ 64 h 64"/>
                  </a:gdLst>
                  <a:ahLst/>
                  <a:cxnLst>
                    <a:cxn ang="T10">
                      <a:pos x="T0" y="T1"/>
                    </a:cxn>
                    <a:cxn ang="T11">
                      <a:pos x="T2" y="T3"/>
                    </a:cxn>
                    <a:cxn ang="T12">
                      <a:pos x="T4" y="T5"/>
                    </a:cxn>
                    <a:cxn ang="T13">
                      <a:pos x="T6" y="T7"/>
                    </a:cxn>
                    <a:cxn ang="T14">
                      <a:pos x="T8" y="T9"/>
                    </a:cxn>
                  </a:cxnLst>
                  <a:rect l="T15" t="T16" r="T17" b="T18"/>
                  <a:pathLst>
                    <a:path w="54" h="64">
                      <a:moveTo>
                        <a:pt x="0" y="64"/>
                      </a:moveTo>
                      <a:lnTo>
                        <a:pt x="54" y="9"/>
                      </a:lnTo>
                      <a:lnTo>
                        <a:pt x="54" y="0"/>
                      </a:lnTo>
                      <a:lnTo>
                        <a:pt x="0" y="54"/>
                      </a:lnTo>
                      <a:lnTo>
                        <a:pt x="0" y="64"/>
                      </a:lnTo>
                      <a:close/>
                    </a:path>
                  </a:pathLst>
                </a:custGeom>
                <a:solidFill>
                  <a:srgbClr val="9A9A9A"/>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65" name="Freeform 844"/>
                <p:cNvSpPr>
                  <a:spLocks/>
                </p:cNvSpPr>
                <p:nvPr/>
              </p:nvSpPr>
              <p:spPr bwMode="auto">
                <a:xfrm>
                  <a:off x="2182" y="1582"/>
                  <a:ext cx="199" cy="51"/>
                </a:xfrm>
                <a:custGeom>
                  <a:avLst/>
                  <a:gdLst>
                    <a:gd name="T0" fmla="*/ 0 w 199"/>
                    <a:gd name="T1" fmla="*/ 51 h 51"/>
                    <a:gd name="T2" fmla="*/ 49 w 199"/>
                    <a:gd name="T3" fmla="*/ 0 h 51"/>
                    <a:gd name="T4" fmla="*/ 199 w 199"/>
                    <a:gd name="T5" fmla="*/ 0 h 51"/>
                    <a:gd name="T6" fmla="*/ 149 w 199"/>
                    <a:gd name="T7" fmla="*/ 51 h 51"/>
                    <a:gd name="T8" fmla="*/ 0 w 199"/>
                    <a:gd name="T9" fmla="*/ 51 h 51"/>
                    <a:gd name="T10" fmla="*/ 0 60000 65536"/>
                    <a:gd name="T11" fmla="*/ 0 60000 65536"/>
                    <a:gd name="T12" fmla="*/ 0 60000 65536"/>
                    <a:gd name="T13" fmla="*/ 0 60000 65536"/>
                    <a:gd name="T14" fmla="*/ 0 60000 65536"/>
                    <a:gd name="T15" fmla="*/ 0 w 199"/>
                    <a:gd name="T16" fmla="*/ 0 h 51"/>
                    <a:gd name="T17" fmla="*/ 199 w 199"/>
                    <a:gd name="T18" fmla="*/ 51 h 51"/>
                  </a:gdLst>
                  <a:ahLst/>
                  <a:cxnLst>
                    <a:cxn ang="T10">
                      <a:pos x="T0" y="T1"/>
                    </a:cxn>
                    <a:cxn ang="T11">
                      <a:pos x="T2" y="T3"/>
                    </a:cxn>
                    <a:cxn ang="T12">
                      <a:pos x="T4" y="T5"/>
                    </a:cxn>
                    <a:cxn ang="T13">
                      <a:pos x="T6" y="T7"/>
                    </a:cxn>
                    <a:cxn ang="T14">
                      <a:pos x="T8" y="T9"/>
                    </a:cxn>
                  </a:cxnLst>
                  <a:rect l="T15" t="T16" r="T17" b="T18"/>
                  <a:pathLst>
                    <a:path w="199" h="51">
                      <a:moveTo>
                        <a:pt x="0" y="51"/>
                      </a:moveTo>
                      <a:lnTo>
                        <a:pt x="49" y="0"/>
                      </a:lnTo>
                      <a:lnTo>
                        <a:pt x="199" y="0"/>
                      </a:lnTo>
                      <a:lnTo>
                        <a:pt x="149" y="51"/>
                      </a:lnTo>
                      <a:lnTo>
                        <a:pt x="0" y="51"/>
                      </a:lnTo>
                      <a:close/>
                    </a:path>
                  </a:pathLst>
                </a:custGeom>
                <a:solidFill>
                  <a:srgbClr val="E6E6E6"/>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66" name="Freeform 845"/>
                <p:cNvSpPr>
                  <a:spLocks/>
                </p:cNvSpPr>
                <p:nvPr/>
              </p:nvSpPr>
              <p:spPr bwMode="auto">
                <a:xfrm>
                  <a:off x="2182" y="1582"/>
                  <a:ext cx="199" cy="51"/>
                </a:xfrm>
                <a:custGeom>
                  <a:avLst/>
                  <a:gdLst>
                    <a:gd name="T0" fmla="*/ 0 w 199"/>
                    <a:gd name="T1" fmla="*/ 51 h 51"/>
                    <a:gd name="T2" fmla="*/ 49 w 199"/>
                    <a:gd name="T3" fmla="*/ 0 h 51"/>
                    <a:gd name="T4" fmla="*/ 199 w 199"/>
                    <a:gd name="T5" fmla="*/ 0 h 51"/>
                    <a:gd name="T6" fmla="*/ 149 w 199"/>
                    <a:gd name="T7" fmla="*/ 51 h 51"/>
                    <a:gd name="T8" fmla="*/ 0 w 199"/>
                    <a:gd name="T9" fmla="*/ 51 h 51"/>
                    <a:gd name="T10" fmla="*/ 0 60000 65536"/>
                    <a:gd name="T11" fmla="*/ 0 60000 65536"/>
                    <a:gd name="T12" fmla="*/ 0 60000 65536"/>
                    <a:gd name="T13" fmla="*/ 0 60000 65536"/>
                    <a:gd name="T14" fmla="*/ 0 60000 65536"/>
                    <a:gd name="T15" fmla="*/ 0 w 199"/>
                    <a:gd name="T16" fmla="*/ 0 h 51"/>
                    <a:gd name="T17" fmla="*/ 199 w 199"/>
                    <a:gd name="T18" fmla="*/ 51 h 51"/>
                  </a:gdLst>
                  <a:ahLst/>
                  <a:cxnLst>
                    <a:cxn ang="T10">
                      <a:pos x="T0" y="T1"/>
                    </a:cxn>
                    <a:cxn ang="T11">
                      <a:pos x="T2" y="T3"/>
                    </a:cxn>
                    <a:cxn ang="T12">
                      <a:pos x="T4" y="T5"/>
                    </a:cxn>
                    <a:cxn ang="T13">
                      <a:pos x="T6" y="T7"/>
                    </a:cxn>
                    <a:cxn ang="T14">
                      <a:pos x="T8" y="T9"/>
                    </a:cxn>
                  </a:cxnLst>
                  <a:rect l="T15" t="T16" r="T17" b="T18"/>
                  <a:pathLst>
                    <a:path w="199" h="51">
                      <a:moveTo>
                        <a:pt x="0" y="51"/>
                      </a:moveTo>
                      <a:lnTo>
                        <a:pt x="49" y="0"/>
                      </a:lnTo>
                      <a:lnTo>
                        <a:pt x="199" y="0"/>
                      </a:lnTo>
                      <a:lnTo>
                        <a:pt x="149" y="51"/>
                      </a:lnTo>
                      <a:lnTo>
                        <a:pt x="0" y="51"/>
                      </a:lnTo>
                      <a:close/>
                    </a:path>
                  </a:pathLst>
                </a:cu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567" name="Freeform 846"/>
                <p:cNvSpPr>
                  <a:spLocks/>
                </p:cNvSpPr>
                <p:nvPr/>
              </p:nvSpPr>
              <p:spPr bwMode="auto">
                <a:xfrm>
                  <a:off x="2331" y="1582"/>
                  <a:ext cx="50" cy="451"/>
                </a:xfrm>
                <a:custGeom>
                  <a:avLst/>
                  <a:gdLst>
                    <a:gd name="T0" fmla="*/ 0 w 50"/>
                    <a:gd name="T1" fmla="*/ 51 h 451"/>
                    <a:gd name="T2" fmla="*/ 50 w 50"/>
                    <a:gd name="T3" fmla="*/ 0 h 451"/>
                    <a:gd name="T4" fmla="*/ 50 w 50"/>
                    <a:gd name="T5" fmla="*/ 400 h 451"/>
                    <a:gd name="T6" fmla="*/ 0 w 50"/>
                    <a:gd name="T7" fmla="*/ 451 h 451"/>
                    <a:gd name="T8" fmla="*/ 0 w 50"/>
                    <a:gd name="T9" fmla="*/ 51 h 451"/>
                    <a:gd name="T10" fmla="*/ 0 60000 65536"/>
                    <a:gd name="T11" fmla="*/ 0 60000 65536"/>
                    <a:gd name="T12" fmla="*/ 0 60000 65536"/>
                    <a:gd name="T13" fmla="*/ 0 60000 65536"/>
                    <a:gd name="T14" fmla="*/ 0 60000 65536"/>
                    <a:gd name="T15" fmla="*/ 0 w 50"/>
                    <a:gd name="T16" fmla="*/ 0 h 451"/>
                    <a:gd name="T17" fmla="*/ 50 w 50"/>
                    <a:gd name="T18" fmla="*/ 451 h 451"/>
                  </a:gdLst>
                  <a:ahLst/>
                  <a:cxnLst>
                    <a:cxn ang="T10">
                      <a:pos x="T0" y="T1"/>
                    </a:cxn>
                    <a:cxn ang="T11">
                      <a:pos x="T2" y="T3"/>
                    </a:cxn>
                    <a:cxn ang="T12">
                      <a:pos x="T4" y="T5"/>
                    </a:cxn>
                    <a:cxn ang="T13">
                      <a:pos x="T6" y="T7"/>
                    </a:cxn>
                    <a:cxn ang="T14">
                      <a:pos x="T8" y="T9"/>
                    </a:cxn>
                  </a:cxnLst>
                  <a:rect l="T15" t="T16" r="T17" b="T18"/>
                  <a:pathLst>
                    <a:path w="50" h="451">
                      <a:moveTo>
                        <a:pt x="0" y="51"/>
                      </a:moveTo>
                      <a:lnTo>
                        <a:pt x="50" y="0"/>
                      </a:lnTo>
                      <a:lnTo>
                        <a:pt x="50" y="400"/>
                      </a:lnTo>
                      <a:lnTo>
                        <a:pt x="0" y="451"/>
                      </a:lnTo>
                      <a:lnTo>
                        <a:pt x="0" y="51"/>
                      </a:lnTo>
                      <a:close/>
                    </a:path>
                  </a:pathLst>
                </a:custGeom>
                <a:solidFill>
                  <a:srgbClr val="9A9A9A"/>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68" name="Rectangle 847"/>
                <p:cNvSpPr>
                  <a:spLocks noChangeArrowheads="1"/>
                </p:cNvSpPr>
                <p:nvPr/>
              </p:nvSpPr>
              <p:spPr bwMode="auto">
                <a:xfrm>
                  <a:off x="2182" y="1633"/>
                  <a:ext cx="149" cy="400"/>
                </a:xfrm>
                <a:prstGeom prst="rect">
                  <a:avLst/>
                </a:prstGeom>
                <a:solidFill>
                  <a:srgbClr val="C0C0C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569" name="Rectangle 848"/>
                <p:cNvSpPr>
                  <a:spLocks noChangeArrowheads="1"/>
                </p:cNvSpPr>
                <p:nvPr/>
              </p:nvSpPr>
              <p:spPr bwMode="auto">
                <a:xfrm>
                  <a:off x="2182" y="1633"/>
                  <a:ext cx="149" cy="400"/>
                </a:xfrm>
                <a:prstGeom prst="rect">
                  <a:avLst/>
                </a:pr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pic>
              <p:nvPicPr>
                <p:cNvPr id="570" name="Picture 849"/>
                <p:cNvPicPr>
                  <a:picLocks noChangeAspect="1" noChangeArrowheads="1"/>
                </p:cNvPicPr>
                <p:nvPr/>
              </p:nvPicPr>
              <p:blipFill>
                <a:blip r:embed="rId51">
                  <a:extLst>
                    <a:ext uri="{28A0092B-C50C-407E-A947-70E740481C1C}">
                      <a14:useLocalDpi xmlns:a14="http://schemas.microsoft.com/office/drawing/2010/main" val="0"/>
                    </a:ext>
                  </a:extLst>
                </a:blip>
                <a:srcRect/>
                <a:stretch>
                  <a:fillRect/>
                </a:stretch>
              </p:blipFill>
              <p:spPr bwMode="auto">
                <a:xfrm>
                  <a:off x="2194" y="1651"/>
                  <a:ext cx="112"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571" name="Picture 850"/>
                <p:cNvPicPr>
                  <a:picLocks noChangeAspect="1" noChangeArrowheads="1"/>
                </p:cNvPicPr>
                <p:nvPr/>
              </p:nvPicPr>
              <p:blipFill>
                <a:blip r:embed="rId52">
                  <a:extLst>
                    <a:ext uri="{28A0092B-C50C-407E-A947-70E740481C1C}">
                      <a14:useLocalDpi xmlns:a14="http://schemas.microsoft.com/office/drawing/2010/main" val="0"/>
                    </a:ext>
                  </a:extLst>
                </a:blip>
                <a:srcRect/>
                <a:stretch>
                  <a:fillRect/>
                </a:stretch>
              </p:blipFill>
              <p:spPr bwMode="auto">
                <a:xfrm>
                  <a:off x="2194" y="1651"/>
                  <a:ext cx="112"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72" name="Rectangle 851"/>
                <p:cNvSpPr>
                  <a:spLocks noChangeArrowheads="1"/>
                </p:cNvSpPr>
                <p:nvPr/>
              </p:nvSpPr>
              <p:spPr bwMode="auto">
                <a:xfrm>
                  <a:off x="2200" y="1652"/>
                  <a:ext cx="112" cy="244"/>
                </a:xfrm>
                <a:prstGeom prst="rect">
                  <a:avLst/>
                </a:pr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573" name="Freeform 852"/>
                <p:cNvSpPr>
                  <a:spLocks noEditPoints="1"/>
                </p:cNvSpPr>
                <p:nvPr/>
              </p:nvSpPr>
              <p:spPr bwMode="auto">
                <a:xfrm>
                  <a:off x="2214" y="1665"/>
                  <a:ext cx="85" cy="209"/>
                </a:xfrm>
                <a:custGeom>
                  <a:avLst/>
                  <a:gdLst>
                    <a:gd name="T0" fmla="*/ 0 w 85"/>
                    <a:gd name="T1" fmla="*/ 188 h 209"/>
                    <a:gd name="T2" fmla="*/ 85 w 85"/>
                    <a:gd name="T3" fmla="*/ 188 h 209"/>
                    <a:gd name="T4" fmla="*/ 85 w 85"/>
                    <a:gd name="T5" fmla="*/ 209 h 209"/>
                    <a:gd name="T6" fmla="*/ 0 w 85"/>
                    <a:gd name="T7" fmla="*/ 209 h 209"/>
                    <a:gd name="T8" fmla="*/ 0 w 85"/>
                    <a:gd name="T9" fmla="*/ 188 h 209"/>
                    <a:gd name="T10" fmla="*/ 0 w 85"/>
                    <a:gd name="T11" fmla="*/ 156 h 209"/>
                    <a:gd name="T12" fmla="*/ 85 w 85"/>
                    <a:gd name="T13" fmla="*/ 156 h 209"/>
                    <a:gd name="T14" fmla="*/ 85 w 85"/>
                    <a:gd name="T15" fmla="*/ 177 h 209"/>
                    <a:gd name="T16" fmla="*/ 0 w 85"/>
                    <a:gd name="T17" fmla="*/ 177 h 209"/>
                    <a:gd name="T18" fmla="*/ 0 w 85"/>
                    <a:gd name="T19" fmla="*/ 156 h 209"/>
                    <a:gd name="T20" fmla="*/ 0 w 85"/>
                    <a:gd name="T21" fmla="*/ 124 h 209"/>
                    <a:gd name="T22" fmla="*/ 85 w 85"/>
                    <a:gd name="T23" fmla="*/ 124 h 209"/>
                    <a:gd name="T24" fmla="*/ 85 w 85"/>
                    <a:gd name="T25" fmla="*/ 145 h 209"/>
                    <a:gd name="T26" fmla="*/ 0 w 85"/>
                    <a:gd name="T27" fmla="*/ 145 h 209"/>
                    <a:gd name="T28" fmla="*/ 0 w 85"/>
                    <a:gd name="T29" fmla="*/ 124 h 209"/>
                    <a:gd name="T30" fmla="*/ 0 w 85"/>
                    <a:gd name="T31" fmla="*/ 92 h 209"/>
                    <a:gd name="T32" fmla="*/ 85 w 85"/>
                    <a:gd name="T33" fmla="*/ 92 h 209"/>
                    <a:gd name="T34" fmla="*/ 85 w 85"/>
                    <a:gd name="T35" fmla="*/ 113 h 209"/>
                    <a:gd name="T36" fmla="*/ 0 w 85"/>
                    <a:gd name="T37" fmla="*/ 113 h 209"/>
                    <a:gd name="T38" fmla="*/ 0 w 85"/>
                    <a:gd name="T39" fmla="*/ 92 h 209"/>
                    <a:gd name="T40" fmla="*/ 0 w 85"/>
                    <a:gd name="T41" fmla="*/ 47 h 209"/>
                    <a:gd name="T42" fmla="*/ 85 w 85"/>
                    <a:gd name="T43" fmla="*/ 47 h 209"/>
                    <a:gd name="T44" fmla="*/ 85 w 85"/>
                    <a:gd name="T45" fmla="*/ 82 h 209"/>
                    <a:gd name="T46" fmla="*/ 0 w 85"/>
                    <a:gd name="T47" fmla="*/ 82 h 209"/>
                    <a:gd name="T48" fmla="*/ 0 w 85"/>
                    <a:gd name="T49" fmla="*/ 47 h 209"/>
                    <a:gd name="T50" fmla="*/ 0 w 85"/>
                    <a:gd name="T51" fmla="*/ 0 h 209"/>
                    <a:gd name="T52" fmla="*/ 85 w 85"/>
                    <a:gd name="T53" fmla="*/ 0 h 209"/>
                    <a:gd name="T54" fmla="*/ 85 w 85"/>
                    <a:gd name="T55" fmla="*/ 35 h 209"/>
                    <a:gd name="T56" fmla="*/ 0 w 85"/>
                    <a:gd name="T57" fmla="*/ 35 h 209"/>
                    <a:gd name="T58" fmla="*/ 0 w 85"/>
                    <a:gd name="T59" fmla="*/ 0 h 209"/>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85"/>
                    <a:gd name="T91" fmla="*/ 0 h 209"/>
                    <a:gd name="T92" fmla="*/ 85 w 85"/>
                    <a:gd name="T93" fmla="*/ 209 h 209"/>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85" h="209">
                      <a:moveTo>
                        <a:pt x="0" y="188"/>
                      </a:moveTo>
                      <a:lnTo>
                        <a:pt x="85" y="188"/>
                      </a:lnTo>
                      <a:lnTo>
                        <a:pt x="85" y="209"/>
                      </a:lnTo>
                      <a:lnTo>
                        <a:pt x="0" y="209"/>
                      </a:lnTo>
                      <a:lnTo>
                        <a:pt x="0" y="188"/>
                      </a:lnTo>
                      <a:close/>
                      <a:moveTo>
                        <a:pt x="0" y="156"/>
                      </a:moveTo>
                      <a:lnTo>
                        <a:pt x="85" y="156"/>
                      </a:lnTo>
                      <a:lnTo>
                        <a:pt x="85" y="177"/>
                      </a:lnTo>
                      <a:lnTo>
                        <a:pt x="0" y="177"/>
                      </a:lnTo>
                      <a:lnTo>
                        <a:pt x="0" y="156"/>
                      </a:lnTo>
                      <a:close/>
                      <a:moveTo>
                        <a:pt x="0" y="124"/>
                      </a:moveTo>
                      <a:lnTo>
                        <a:pt x="85" y="124"/>
                      </a:lnTo>
                      <a:lnTo>
                        <a:pt x="85" y="145"/>
                      </a:lnTo>
                      <a:lnTo>
                        <a:pt x="0" y="145"/>
                      </a:lnTo>
                      <a:lnTo>
                        <a:pt x="0" y="124"/>
                      </a:lnTo>
                      <a:close/>
                      <a:moveTo>
                        <a:pt x="0" y="92"/>
                      </a:moveTo>
                      <a:lnTo>
                        <a:pt x="85" y="92"/>
                      </a:lnTo>
                      <a:lnTo>
                        <a:pt x="85" y="113"/>
                      </a:lnTo>
                      <a:lnTo>
                        <a:pt x="0" y="113"/>
                      </a:lnTo>
                      <a:lnTo>
                        <a:pt x="0" y="92"/>
                      </a:lnTo>
                      <a:close/>
                      <a:moveTo>
                        <a:pt x="0" y="47"/>
                      </a:moveTo>
                      <a:lnTo>
                        <a:pt x="85" y="47"/>
                      </a:lnTo>
                      <a:lnTo>
                        <a:pt x="85" y="82"/>
                      </a:lnTo>
                      <a:lnTo>
                        <a:pt x="0" y="82"/>
                      </a:lnTo>
                      <a:lnTo>
                        <a:pt x="0" y="47"/>
                      </a:lnTo>
                      <a:close/>
                      <a:moveTo>
                        <a:pt x="0" y="0"/>
                      </a:moveTo>
                      <a:lnTo>
                        <a:pt x="85" y="0"/>
                      </a:lnTo>
                      <a:lnTo>
                        <a:pt x="85" y="35"/>
                      </a:lnTo>
                      <a:lnTo>
                        <a:pt x="0" y="35"/>
                      </a:lnTo>
                      <a:lnTo>
                        <a:pt x="0" y="0"/>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74" name="Rectangle 853"/>
                <p:cNvSpPr>
                  <a:spLocks noChangeArrowheads="1"/>
                </p:cNvSpPr>
                <p:nvPr/>
              </p:nvSpPr>
              <p:spPr bwMode="auto">
                <a:xfrm>
                  <a:off x="2214" y="1853"/>
                  <a:ext cx="85" cy="21"/>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575" name="Rectangle 854"/>
                <p:cNvSpPr>
                  <a:spLocks noChangeArrowheads="1"/>
                </p:cNvSpPr>
                <p:nvPr/>
              </p:nvSpPr>
              <p:spPr bwMode="auto">
                <a:xfrm>
                  <a:off x="2214" y="1821"/>
                  <a:ext cx="85" cy="21"/>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576" name="Rectangle 855"/>
                <p:cNvSpPr>
                  <a:spLocks noChangeArrowheads="1"/>
                </p:cNvSpPr>
                <p:nvPr/>
              </p:nvSpPr>
              <p:spPr bwMode="auto">
                <a:xfrm>
                  <a:off x="2214" y="1789"/>
                  <a:ext cx="85" cy="21"/>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577" name="Rectangle 856"/>
                <p:cNvSpPr>
                  <a:spLocks noChangeArrowheads="1"/>
                </p:cNvSpPr>
                <p:nvPr/>
              </p:nvSpPr>
              <p:spPr bwMode="auto">
                <a:xfrm>
                  <a:off x="2214" y="1757"/>
                  <a:ext cx="85" cy="21"/>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578" name="Rectangle 857"/>
                <p:cNvSpPr>
                  <a:spLocks noChangeArrowheads="1"/>
                </p:cNvSpPr>
                <p:nvPr/>
              </p:nvSpPr>
              <p:spPr bwMode="auto">
                <a:xfrm>
                  <a:off x="2214" y="1712"/>
                  <a:ext cx="85" cy="35"/>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579" name="Rectangle 858"/>
                <p:cNvSpPr>
                  <a:spLocks noChangeArrowheads="1"/>
                </p:cNvSpPr>
                <p:nvPr/>
              </p:nvSpPr>
              <p:spPr bwMode="auto">
                <a:xfrm>
                  <a:off x="2214" y="1665"/>
                  <a:ext cx="85" cy="35"/>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580" name="Rectangle 859"/>
                <p:cNvSpPr>
                  <a:spLocks noChangeArrowheads="1"/>
                </p:cNvSpPr>
                <p:nvPr/>
              </p:nvSpPr>
              <p:spPr bwMode="auto">
                <a:xfrm>
                  <a:off x="2188" y="2033"/>
                  <a:ext cx="136" cy="10"/>
                </a:xfrm>
                <a:prstGeom prst="rect">
                  <a:avLst/>
                </a:prstGeom>
                <a:solidFill>
                  <a:srgbClr val="9A9A9A"/>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pic>
              <p:nvPicPr>
                <p:cNvPr id="581" name="Picture 860"/>
                <p:cNvPicPr>
                  <a:picLocks noChangeAspect="1" noChangeArrowheads="1"/>
                </p:cNvPicPr>
                <p:nvPr/>
              </p:nvPicPr>
              <p:blipFill>
                <a:blip r:embed="rId53">
                  <a:extLst>
                    <a:ext uri="{28A0092B-C50C-407E-A947-70E740481C1C}">
                      <a14:useLocalDpi xmlns:a14="http://schemas.microsoft.com/office/drawing/2010/main" val="0"/>
                    </a:ext>
                  </a:extLst>
                </a:blip>
                <a:srcRect/>
                <a:stretch>
                  <a:fillRect/>
                </a:stretch>
              </p:blipFill>
              <p:spPr bwMode="auto">
                <a:xfrm>
                  <a:off x="2242" y="1915"/>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582" name="Picture 861"/>
                <p:cNvPicPr>
                  <a:picLocks noChangeAspect="1" noChangeArrowheads="1"/>
                </p:cNvPicPr>
                <p:nvPr/>
              </p:nvPicPr>
              <p:blipFill>
                <a:blip r:embed="rId54">
                  <a:extLst>
                    <a:ext uri="{28A0092B-C50C-407E-A947-70E740481C1C}">
                      <a14:useLocalDpi xmlns:a14="http://schemas.microsoft.com/office/drawing/2010/main" val="0"/>
                    </a:ext>
                  </a:extLst>
                </a:blip>
                <a:srcRect/>
                <a:stretch>
                  <a:fillRect/>
                </a:stretch>
              </p:blipFill>
              <p:spPr bwMode="auto">
                <a:xfrm>
                  <a:off x="2242" y="1915"/>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583" name="Picture 862"/>
                <p:cNvPicPr>
                  <a:picLocks noChangeAspect="1" noChangeArrowheads="1"/>
                </p:cNvPicPr>
                <p:nvPr/>
              </p:nvPicPr>
              <p:blipFill>
                <a:blip r:embed="rId55">
                  <a:extLst>
                    <a:ext uri="{28A0092B-C50C-407E-A947-70E740481C1C}">
                      <a14:useLocalDpi xmlns:a14="http://schemas.microsoft.com/office/drawing/2010/main" val="0"/>
                    </a:ext>
                  </a:extLst>
                </a:blip>
                <a:srcRect/>
                <a:stretch>
                  <a:fillRect/>
                </a:stretch>
              </p:blipFill>
              <p:spPr bwMode="auto">
                <a:xfrm>
                  <a:off x="2250" y="1923"/>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584" name="Picture 863"/>
                <p:cNvPicPr>
                  <a:picLocks noChangeAspect="1" noChangeArrowheads="1"/>
                </p:cNvPicPr>
                <p:nvPr/>
              </p:nvPicPr>
              <p:blipFill>
                <a:blip r:embed="rId56">
                  <a:extLst>
                    <a:ext uri="{28A0092B-C50C-407E-A947-70E740481C1C}">
                      <a14:useLocalDpi xmlns:a14="http://schemas.microsoft.com/office/drawing/2010/main" val="0"/>
                    </a:ext>
                  </a:extLst>
                </a:blip>
                <a:srcRect/>
                <a:stretch>
                  <a:fillRect/>
                </a:stretch>
              </p:blipFill>
              <p:spPr bwMode="auto">
                <a:xfrm>
                  <a:off x="2250" y="1947"/>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585" name="Picture 864"/>
                <p:cNvPicPr>
                  <a:picLocks noChangeAspect="1" noChangeArrowheads="1"/>
                </p:cNvPicPr>
                <p:nvPr/>
              </p:nvPicPr>
              <p:blipFill>
                <a:blip r:embed="rId57">
                  <a:extLst>
                    <a:ext uri="{28A0092B-C50C-407E-A947-70E740481C1C}">
                      <a14:useLocalDpi xmlns:a14="http://schemas.microsoft.com/office/drawing/2010/main" val="0"/>
                    </a:ext>
                  </a:extLst>
                </a:blip>
                <a:srcRect/>
                <a:stretch>
                  <a:fillRect/>
                </a:stretch>
              </p:blipFill>
              <p:spPr bwMode="auto">
                <a:xfrm>
                  <a:off x="2250" y="1947"/>
                  <a:ext cx="8" cy="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86" name="Rectangle 865"/>
                <p:cNvSpPr>
                  <a:spLocks noChangeArrowheads="1"/>
                </p:cNvSpPr>
                <p:nvPr/>
              </p:nvSpPr>
              <p:spPr bwMode="auto">
                <a:xfrm>
                  <a:off x="2234" y="1683"/>
                  <a:ext cx="13" cy="3"/>
                </a:xfrm>
                <a:prstGeom prst="rect">
                  <a:avLst/>
                </a:prstGeom>
                <a:solidFill>
                  <a:srgbClr val="9A9A9A"/>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pic>
              <p:nvPicPr>
                <p:cNvPr id="587" name="Picture 866"/>
                <p:cNvPicPr>
                  <a:picLocks noChangeAspect="1" noChangeArrowheads="1"/>
                </p:cNvPicPr>
                <p:nvPr/>
              </p:nvPicPr>
              <p:blipFill>
                <a:blip r:embed="rId58">
                  <a:extLst>
                    <a:ext uri="{28A0092B-C50C-407E-A947-70E740481C1C}">
                      <a14:useLocalDpi xmlns:a14="http://schemas.microsoft.com/office/drawing/2010/main" val="0"/>
                    </a:ext>
                  </a:extLst>
                </a:blip>
                <a:srcRect/>
                <a:stretch>
                  <a:fillRect/>
                </a:stretch>
              </p:blipFill>
              <p:spPr bwMode="auto">
                <a:xfrm>
                  <a:off x="2218" y="1667"/>
                  <a:ext cx="72" cy="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88" name="Rectangle 867"/>
                <p:cNvSpPr>
                  <a:spLocks noChangeArrowheads="1"/>
                </p:cNvSpPr>
                <p:nvPr/>
              </p:nvSpPr>
              <p:spPr bwMode="auto">
                <a:xfrm>
                  <a:off x="2220" y="1672"/>
                  <a:ext cx="72" cy="6"/>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pic>
              <p:nvPicPr>
                <p:cNvPr id="589" name="Picture 868"/>
                <p:cNvPicPr>
                  <a:picLocks noChangeAspect="1" noChangeArrowheads="1"/>
                </p:cNvPicPr>
                <p:nvPr/>
              </p:nvPicPr>
              <p:blipFill>
                <a:blip r:embed="rId59">
                  <a:extLst>
                    <a:ext uri="{28A0092B-C50C-407E-A947-70E740481C1C}">
                      <a14:useLocalDpi xmlns:a14="http://schemas.microsoft.com/office/drawing/2010/main" val="0"/>
                    </a:ext>
                  </a:extLst>
                </a:blip>
                <a:srcRect/>
                <a:stretch>
                  <a:fillRect/>
                </a:stretch>
              </p:blipFill>
              <p:spPr bwMode="auto">
                <a:xfrm>
                  <a:off x="2218" y="1715"/>
                  <a:ext cx="72"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590" name="Picture 869"/>
                <p:cNvPicPr>
                  <a:picLocks noChangeAspect="1" noChangeArrowheads="1"/>
                </p:cNvPicPr>
                <p:nvPr/>
              </p:nvPicPr>
              <p:blipFill>
                <a:blip r:embed="rId60">
                  <a:extLst>
                    <a:ext uri="{28A0092B-C50C-407E-A947-70E740481C1C}">
                      <a14:useLocalDpi xmlns:a14="http://schemas.microsoft.com/office/drawing/2010/main" val="0"/>
                    </a:ext>
                  </a:extLst>
                </a:blip>
                <a:srcRect/>
                <a:stretch>
                  <a:fillRect/>
                </a:stretch>
              </p:blipFill>
              <p:spPr bwMode="auto">
                <a:xfrm>
                  <a:off x="2218" y="1715"/>
                  <a:ext cx="72"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91" name="Freeform 870"/>
                <p:cNvSpPr>
                  <a:spLocks/>
                </p:cNvSpPr>
                <p:nvPr/>
              </p:nvSpPr>
              <p:spPr bwMode="auto">
                <a:xfrm>
                  <a:off x="2219" y="1720"/>
                  <a:ext cx="72" cy="14"/>
                </a:xfrm>
                <a:custGeom>
                  <a:avLst/>
                  <a:gdLst>
                    <a:gd name="T0" fmla="*/ 0 w 144"/>
                    <a:gd name="T1" fmla="*/ 6 h 28"/>
                    <a:gd name="T2" fmla="*/ 39 w 144"/>
                    <a:gd name="T3" fmla="*/ 6 h 28"/>
                    <a:gd name="T4" fmla="*/ 117 w 144"/>
                    <a:gd name="T5" fmla="*/ 6 h 28"/>
                    <a:gd name="T6" fmla="*/ 117 w 144"/>
                    <a:gd name="T7" fmla="*/ 6 h 28"/>
                    <a:gd name="T8" fmla="*/ 144 w 144"/>
                    <a:gd name="T9" fmla="*/ 6 h 28"/>
                    <a:gd name="T10" fmla="*/ 144 w 144"/>
                    <a:gd name="T11" fmla="*/ 28 h 28"/>
                    <a:gd name="T12" fmla="*/ 0 w 144"/>
                    <a:gd name="T13" fmla="*/ 28 h 28"/>
                    <a:gd name="T14" fmla="*/ 0 w 144"/>
                    <a:gd name="T15" fmla="*/ 6 h 28"/>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28"/>
                    <a:gd name="T26" fmla="*/ 144 w 144"/>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28">
                      <a:moveTo>
                        <a:pt x="0" y="6"/>
                      </a:moveTo>
                      <a:lnTo>
                        <a:pt x="39" y="6"/>
                      </a:lnTo>
                      <a:cubicBezTo>
                        <a:pt x="64" y="0"/>
                        <a:pt x="92" y="0"/>
                        <a:pt x="117" y="6"/>
                      </a:cubicBezTo>
                      <a:lnTo>
                        <a:pt x="144" y="6"/>
                      </a:lnTo>
                      <a:lnTo>
                        <a:pt x="144" y="28"/>
                      </a:lnTo>
                      <a:lnTo>
                        <a:pt x="0" y="28"/>
                      </a:lnTo>
                      <a:lnTo>
                        <a:pt x="0" y="6"/>
                      </a:lnTo>
                    </a:path>
                  </a:pathLst>
                </a:cu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592" name="Rectangle 871"/>
                <p:cNvSpPr>
                  <a:spLocks noChangeArrowheads="1"/>
                </p:cNvSpPr>
                <p:nvPr/>
              </p:nvSpPr>
              <p:spPr bwMode="auto">
                <a:xfrm>
                  <a:off x="2222" y="1727"/>
                  <a:ext cx="65" cy="3"/>
                </a:xfrm>
                <a:prstGeom prst="rect">
                  <a:avLst/>
                </a:prstGeom>
                <a:solidFill>
                  <a:srgbClr val="DBDAC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593" name="Rectangle 872"/>
                <p:cNvSpPr>
                  <a:spLocks noChangeArrowheads="1"/>
                </p:cNvSpPr>
                <p:nvPr/>
              </p:nvSpPr>
              <p:spPr bwMode="auto">
                <a:xfrm>
                  <a:off x="2222" y="1727"/>
                  <a:ext cx="65" cy="3"/>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pic>
              <p:nvPicPr>
                <p:cNvPr id="594" name="Picture 873"/>
                <p:cNvPicPr>
                  <a:picLocks noChangeAspect="1" noChangeArrowheads="1"/>
                </p:cNvPicPr>
                <p:nvPr/>
              </p:nvPicPr>
              <p:blipFill>
                <a:blip r:embed="rId61">
                  <a:extLst>
                    <a:ext uri="{28A0092B-C50C-407E-A947-70E740481C1C}">
                      <a14:useLocalDpi xmlns:a14="http://schemas.microsoft.com/office/drawing/2010/main" val="0"/>
                    </a:ext>
                  </a:extLst>
                </a:blip>
                <a:srcRect/>
                <a:stretch>
                  <a:fillRect/>
                </a:stretch>
              </p:blipFill>
              <p:spPr bwMode="auto">
                <a:xfrm>
                  <a:off x="2218" y="1755"/>
                  <a:ext cx="80"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595" name="Picture 874"/>
                <p:cNvPicPr>
                  <a:picLocks noChangeAspect="1" noChangeArrowheads="1"/>
                </p:cNvPicPr>
                <p:nvPr/>
              </p:nvPicPr>
              <p:blipFill>
                <a:blip r:embed="rId62">
                  <a:extLst>
                    <a:ext uri="{28A0092B-C50C-407E-A947-70E740481C1C}">
                      <a14:useLocalDpi xmlns:a14="http://schemas.microsoft.com/office/drawing/2010/main" val="0"/>
                    </a:ext>
                  </a:extLst>
                </a:blip>
                <a:srcRect/>
                <a:stretch>
                  <a:fillRect/>
                </a:stretch>
              </p:blipFill>
              <p:spPr bwMode="auto">
                <a:xfrm>
                  <a:off x="2218" y="1755"/>
                  <a:ext cx="80"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96" name="Freeform 875"/>
                <p:cNvSpPr>
                  <a:spLocks/>
                </p:cNvSpPr>
                <p:nvPr/>
              </p:nvSpPr>
              <p:spPr bwMode="auto">
                <a:xfrm>
                  <a:off x="2219" y="1760"/>
                  <a:ext cx="74" cy="12"/>
                </a:xfrm>
                <a:custGeom>
                  <a:avLst/>
                  <a:gdLst>
                    <a:gd name="T0" fmla="*/ 0 w 149"/>
                    <a:gd name="T1" fmla="*/ 18 h 23"/>
                    <a:gd name="T2" fmla="*/ 0 w 149"/>
                    <a:gd name="T3" fmla="*/ 6 h 23"/>
                    <a:gd name="T4" fmla="*/ 48 w 149"/>
                    <a:gd name="T5" fmla="*/ 6 h 23"/>
                    <a:gd name="T6" fmla="*/ 102 w 149"/>
                    <a:gd name="T7" fmla="*/ 6 h 23"/>
                    <a:gd name="T8" fmla="*/ 102 w 149"/>
                    <a:gd name="T9" fmla="*/ 6 h 23"/>
                    <a:gd name="T10" fmla="*/ 149 w 149"/>
                    <a:gd name="T11" fmla="*/ 6 h 23"/>
                    <a:gd name="T12" fmla="*/ 149 w 149"/>
                    <a:gd name="T13" fmla="*/ 18 h 23"/>
                    <a:gd name="T14" fmla="*/ 102 w 149"/>
                    <a:gd name="T15" fmla="*/ 18 h 23"/>
                    <a:gd name="T16" fmla="*/ 48 w 149"/>
                    <a:gd name="T17" fmla="*/ 18 h 23"/>
                    <a:gd name="T18" fmla="*/ 48 w 149"/>
                    <a:gd name="T19" fmla="*/ 18 h 23"/>
                    <a:gd name="T20" fmla="*/ 0 w 149"/>
                    <a:gd name="T21" fmla="*/ 18 h 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9"/>
                    <a:gd name="T34" fmla="*/ 0 h 23"/>
                    <a:gd name="T35" fmla="*/ 149 w 149"/>
                    <a:gd name="T36" fmla="*/ 23 h 2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9" h="23">
                      <a:moveTo>
                        <a:pt x="0" y="18"/>
                      </a:moveTo>
                      <a:lnTo>
                        <a:pt x="0" y="6"/>
                      </a:lnTo>
                      <a:lnTo>
                        <a:pt x="48" y="6"/>
                      </a:lnTo>
                      <a:cubicBezTo>
                        <a:pt x="65" y="0"/>
                        <a:pt x="85" y="0"/>
                        <a:pt x="102" y="6"/>
                      </a:cubicBezTo>
                      <a:lnTo>
                        <a:pt x="149" y="6"/>
                      </a:lnTo>
                      <a:lnTo>
                        <a:pt x="149" y="18"/>
                      </a:lnTo>
                      <a:lnTo>
                        <a:pt x="102" y="18"/>
                      </a:lnTo>
                      <a:cubicBezTo>
                        <a:pt x="85" y="23"/>
                        <a:pt x="65" y="23"/>
                        <a:pt x="48" y="18"/>
                      </a:cubicBezTo>
                      <a:lnTo>
                        <a:pt x="0" y="18"/>
                      </a:lnTo>
                    </a:path>
                  </a:pathLst>
                </a:cu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pic>
              <p:nvPicPr>
                <p:cNvPr id="597" name="Picture 876"/>
                <p:cNvPicPr>
                  <a:picLocks noChangeAspect="1" noChangeArrowheads="1"/>
                </p:cNvPicPr>
                <p:nvPr/>
              </p:nvPicPr>
              <p:blipFill>
                <a:blip r:embed="rId63">
                  <a:extLst>
                    <a:ext uri="{28A0092B-C50C-407E-A947-70E740481C1C}">
                      <a14:useLocalDpi xmlns:a14="http://schemas.microsoft.com/office/drawing/2010/main" val="0"/>
                    </a:ext>
                  </a:extLst>
                </a:blip>
                <a:srcRect/>
                <a:stretch>
                  <a:fillRect/>
                </a:stretch>
              </p:blipFill>
              <p:spPr bwMode="auto">
                <a:xfrm>
                  <a:off x="2250" y="1675"/>
                  <a:ext cx="40" cy="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598" name="Picture 877"/>
                <p:cNvPicPr>
                  <a:picLocks noChangeAspect="1" noChangeArrowheads="1"/>
                </p:cNvPicPr>
                <p:nvPr/>
              </p:nvPicPr>
              <p:blipFill>
                <a:blip r:embed="rId64">
                  <a:extLst>
                    <a:ext uri="{28A0092B-C50C-407E-A947-70E740481C1C}">
                      <a14:useLocalDpi xmlns:a14="http://schemas.microsoft.com/office/drawing/2010/main" val="0"/>
                    </a:ext>
                  </a:extLst>
                </a:blip>
                <a:srcRect/>
                <a:stretch>
                  <a:fillRect/>
                </a:stretch>
              </p:blipFill>
              <p:spPr bwMode="auto">
                <a:xfrm>
                  <a:off x="2250" y="1675"/>
                  <a:ext cx="40" cy="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99" name="Freeform 878"/>
                <p:cNvSpPr>
                  <a:spLocks noEditPoints="1"/>
                </p:cNvSpPr>
                <p:nvPr/>
              </p:nvSpPr>
              <p:spPr bwMode="auto">
                <a:xfrm>
                  <a:off x="2256" y="1682"/>
                  <a:ext cx="37" cy="94"/>
                </a:xfrm>
                <a:custGeom>
                  <a:avLst/>
                  <a:gdLst>
                    <a:gd name="T0" fmla="*/ 26 w 37"/>
                    <a:gd name="T1" fmla="*/ 5 h 94"/>
                    <a:gd name="T2" fmla="*/ 36 w 37"/>
                    <a:gd name="T3" fmla="*/ 5 h 94"/>
                    <a:gd name="T4" fmla="*/ 36 w 37"/>
                    <a:gd name="T5" fmla="*/ 0 h 94"/>
                    <a:gd name="T6" fmla="*/ 26 w 37"/>
                    <a:gd name="T7" fmla="*/ 0 h 94"/>
                    <a:gd name="T8" fmla="*/ 26 w 37"/>
                    <a:gd name="T9" fmla="*/ 5 h 94"/>
                    <a:gd name="T10" fmla="*/ 16 w 37"/>
                    <a:gd name="T11" fmla="*/ 4 h 94"/>
                    <a:gd name="T12" fmla="*/ 10 w 37"/>
                    <a:gd name="T13" fmla="*/ 7 h 94"/>
                    <a:gd name="T14" fmla="*/ 10 w 37"/>
                    <a:gd name="T15" fmla="*/ 0 h 94"/>
                    <a:gd name="T16" fmla="*/ 16 w 37"/>
                    <a:gd name="T17" fmla="*/ 4 h 94"/>
                    <a:gd name="T18" fmla="*/ 0 w 37"/>
                    <a:gd name="T19" fmla="*/ 4 h 94"/>
                    <a:gd name="T20" fmla="*/ 7 w 37"/>
                    <a:gd name="T21" fmla="*/ 0 h 94"/>
                    <a:gd name="T22" fmla="*/ 7 w 37"/>
                    <a:gd name="T23" fmla="*/ 7 h 94"/>
                    <a:gd name="T24" fmla="*/ 0 w 37"/>
                    <a:gd name="T25" fmla="*/ 4 h 94"/>
                    <a:gd name="T26" fmla="*/ 21 w 37"/>
                    <a:gd name="T27" fmla="*/ 59 h 94"/>
                    <a:gd name="T28" fmla="*/ 34 w 37"/>
                    <a:gd name="T29" fmla="*/ 59 h 94"/>
                    <a:gd name="T30" fmla="*/ 34 w 37"/>
                    <a:gd name="T31" fmla="*/ 55 h 94"/>
                    <a:gd name="T32" fmla="*/ 21 w 37"/>
                    <a:gd name="T33" fmla="*/ 55 h 94"/>
                    <a:gd name="T34" fmla="*/ 21 w 37"/>
                    <a:gd name="T35" fmla="*/ 59 h 94"/>
                    <a:gd name="T36" fmla="*/ 24 w 37"/>
                    <a:gd name="T37" fmla="*/ 94 h 94"/>
                    <a:gd name="T38" fmla="*/ 37 w 37"/>
                    <a:gd name="T39" fmla="*/ 94 h 94"/>
                    <a:gd name="T40" fmla="*/ 37 w 37"/>
                    <a:gd name="T41" fmla="*/ 90 h 94"/>
                    <a:gd name="T42" fmla="*/ 24 w 37"/>
                    <a:gd name="T43" fmla="*/ 90 h 94"/>
                    <a:gd name="T44" fmla="*/ 24 w 37"/>
                    <a:gd name="T45" fmla="*/ 94 h 9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7"/>
                    <a:gd name="T70" fmla="*/ 0 h 94"/>
                    <a:gd name="T71" fmla="*/ 37 w 37"/>
                    <a:gd name="T72" fmla="*/ 94 h 9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7" h="94">
                      <a:moveTo>
                        <a:pt x="26" y="5"/>
                      </a:moveTo>
                      <a:lnTo>
                        <a:pt x="36" y="5"/>
                      </a:lnTo>
                      <a:lnTo>
                        <a:pt x="36" y="0"/>
                      </a:lnTo>
                      <a:lnTo>
                        <a:pt x="26" y="0"/>
                      </a:lnTo>
                      <a:lnTo>
                        <a:pt x="26" y="5"/>
                      </a:lnTo>
                      <a:moveTo>
                        <a:pt x="16" y="4"/>
                      </a:moveTo>
                      <a:lnTo>
                        <a:pt x="10" y="7"/>
                      </a:lnTo>
                      <a:lnTo>
                        <a:pt x="10" y="0"/>
                      </a:lnTo>
                      <a:lnTo>
                        <a:pt x="16" y="4"/>
                      </a:lnTo>
                      <a:moveTo>
                        <a:pt x="0" y="4"/>
                      </a:moveTo>
                      <a:lnTo>
                        <a:pt x="7" y="0"/>
                      </a:lnTo>
                      <a:lnTo>
                        <a:pt x="7" y="7"/>
                      </a:lnTo>
                      <a:lnTo>
                        <a:pt x="0" y="4"/>
                      </a:lnTo>
                      <a:moveTo>
                        <a:pt x="21" y="59"/>
                      </a:moveTo>
                      <a:lnTo>
                        <a:pt x="34" y="59"/>
                      </a:lnTo>
                      <a:lnTo>
                        <a:pt x="34" y="55"/>
                      </a:lnTo>
                      <a:lnTo>
                        <a:pt x="21" y="55"/>
                      </a:lnTo>
                      <a:lnTo>
                        <a:pt x="21" y="59"/>
                      </a:lnTo>
                      <a:moveTo>
                        <a:pt x="24" y="94"/>
                      </a:moveTo>
                      <a:lnTo>
                        <a:pt x="37" y="94"/>
                      </a:lnTo>
                      <a:lnTo>
                        <a:pt x="37" y="90"/>
                      </a:lnTo>
                      <a:lnTo>
                        <a:pt x="24" y="90"/>
                      </a:lnTo>
                      <a:lnTo>
                        <a:pt x="24" y="94"/>
                      </a:lnTo>
                    </a:path>
                  </a:pathLst>
                </a:cu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600" name="Freeform 879"/>
                <p:cNvSpPr>
                  <a:spLocks noEditPoints="1"/>
                </p:cNvSpPr>
                <p:nvPr/>
              </p:nvSpPr>
              <p:spPr bwMode="auto">
                <a:xfrm>
                  <a:off x="2219" y="1683"/>
                  <a:ext cx="8" cy="56"/>
                </a:xfrm>
                <a:custGeom>
                  <a:avLst/>
                  <a:gdLst>
                    <a:gd name="T0" fmla="*/ 1 w 8"/>
                    <a:gd name="T1" fmla="*/ 0 h 56"/>
                    <a:gd name="T2" fmla="*/ 8 w 8"/>
                    <a:gd name="T3" fmla="*/ 0 h 56"/>
                    <a:gd name="T4" fmla="*/ 0 w 8"/>
                    <a:gd name="T5" fmla="*/ 56 h 56"/>
                    <a:gd name="T6" fmla="*/ 6 w 8"/>
                    <a:gd name="T7" fmla="*/ 56 h 56"/>
                    <a:gd name="T8" fmla="*/ 0 60000 65536"/>
                    <a:gd name="T9" fmla="*/ 0 60000 65536"/>
                    <a:gd name="T10" fmla="*/ 0 60000 65536"/>
                    <a:gd name="T11" fmla="*/ 0 60000 65536"/>
                    <a:gd name="T12" fmla="*/ 0 w 8"/>
                    <a:gd name="T13" fmla="*/ 0 h 56"/>
                    <a:gd name="T14" fmla="*/ 8 w 8"/>
                    <a:gd name="T15" fmla="*/ 56 h 56"/>
                  </a:gdLst>
                  <a:ahLst/>
                  <a:cxnLst>
                    <a:cxn ang="T8">
                      <a:pos x="T0" y="T1"/>
                    </a:cxn>
                    <a:cxn ang="T9">
                      <a:pos x="T2" y="T3"/>
                    </a:cxn>
                    <a:cxn ang="T10">
                      <a:pos x="T4" y="T5"/>
                    </a:cxn>
                    <a:cxn ang="T11">
                      <a:pos x="T6" y="T7"/>
                    </a:cxn>
                  </a:cxnLst>
                  <a:rect l="T12" t="T13" r="T14" b="T15"/>
                  <a:pathLst>
                    <a:path w="8" h="56">
                      <a:moveTo>
                        <a:pt x="1" y="0"/>
                      </a:moveTo>
                      <a:lnTo>
                        <a:pt x="8" y="0"/>
                      </a:lnTo>
                      <a:moveTo>
                        <a:pt x="0" y="56"/>
                      </a:moveTo>
                      <a:lnTo>
                        <a:pt x="6" y="56"/>
                      </a:lnTo>
                    </a:path>
                  </a:pathLst>
                </a:custGeom>
                <a:noFill/>
                <a:ln w="3175" cap="sq">
                  <a:solidFill>
                    <a:srgbClr val="00FF00"/>
                  </a:solidFill>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601" name="Rectangle 880"/>
                <p:cNvSpPr>
                  <a:spLocks noChangeArrowheads="1"/>
                </p:cNvSpPr>
                <p:nvPr/>
              </p:nvSpPr>
              <p:spPr bwMode="auto">
                <a:xfrm>
                  <a:off x="2194" y="1907"/>
                  <a:ext cx="8" cy="112"/>
                </a:xfrm>
                <a:prstGeom prst="rect">
                  <a:avLst/>
                </a:prstGeom>
                <a:solidFill>
                  <a:srgbClr val="B0B0B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602" name="Rectangle 881"/>
                <p:cNvSpPr>
                  <a:spLocks noChangeArrowheads="1"/>
                </p:cNvSpPr>
                <p:nvPr/>
              </p:nvSpPr>
              <p:spPr bwMode="auto">
                <a:xfrm>
                  <a:off x="2202" y="1907"/>
                  <a:ext cx="8" cy="112"/>
                </a:xfrm>
                <a:prstGeom prst="rect">
                  <a:avLst/>
                </a:prstGeom>
                <a:solidFill>
                  <a:srgbClr val="6B6B6B"/>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603" name="Rectangle 882"/>
                <p:cNvSpPr>
                  <a:spLocks noChangeArrowheads="1"/>
                </p:cNvSpPr>
                <p:nvPr/>
              </p:nvSpPr>
              <p:spPr bwMode="auto">
                <a:xfrm>
                  <a:off x="2210" y="1907"/>
                  <a:ext cx="8" cy="112"/>
                </a:xfrm>
                <a:prstGeom prst="rect">
                  <a:avLst/>
                </a:prstGeom>
                <a:solidFill>
                  <a:srgbClr val="7F7F7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604" name="Rectangle 883"/>
                <p:cNvSpPr>
                  <a:spLocks noChangeArrowheads="1"/>
                </p:cNvSpPr>
                <p:nvPr/>
              </p:nvSpPr>
              <p:spPr bwMode="auto">
                <a:xfrm>
                  <a:off x="2218" y="1907"/>
                  <a:ext cx="8" cy="112"/>
                </a:xfrm>
                <a:prstGeom prst="rect">
                  <a:avLst/>
                </a:prstGeom>
                <a:solidFill>
                  <a:srgbClr val="939393"/>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605" name="Rectangle 884"/>
                <p:cNvSpPr>
                  <a:spLocks noChangeArrowheads="1"/>
                </p:cNvSpPr>
                <p:nvPr/>
              </p:nvSpPr>
              <p:spPr bwMode="auto">
                <a:xfrm>
                  <a:off x="2226" y="1907"/>
                  <a:ext cx="8" cy="112"/>
                </a:xfrm>
                <a:prstGeom prst="rect">
                  <a:avLst/>
                </a:prstGeom>
                <a:solidFill>
                  <a:srgbClr val="A8A8A8"/>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606" name="Rectangle 885"/>
                <p:cNvSpPr>
                  <a:spLocks noChangeArrowheads="1"/>
                </p:cNvSpPr>
                <p:nvPr/>
              </p:nvSpPr>
              <p:spPr bwMode="auto">
                <a:xfrm>
                  <a:off x="2274" y="1907"/>
                  <a:ext cx="8" cy="112"/>
                </a:xfrm>
                <a:prstGeom prst="rect">
                  <a:avLst/>
                </a:prstGeom>
                <a:solidFill>
                  <a:srgbClr val="6E6E6E"/>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607" name="Rectangle 886"/>
                <p:cNvSpPr>
                  <a:spLocks noChangeArrowheads="1"/>
                </p:cNvSpPr>
                <p:nvPr/>
              </p:nvSpPr>
              <p:spPr bwMode="auto">
                <a:xfrm>
                  <a:off x="2282" y="1907"/>
                  <a:ext cx="8" cy="112"/>
                </a:xfrm>
                <a:prstGeom prst="rect">
                  <a:avLst/>
                </a:prstGeom>
                <a:solidFill>
                  <a:srgbClr val="B3B3B3"/>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608" name="Rectangle 887"/>
                <p:cNvSpPr>
                  <a:spLocks noChangeArrowheads="1"/>
                </p:cNvSpPr>
                <p:nvPr/>
              </p:nvSpPr>
              <p:spPr bwMode="auto">
                <a:xfrm>
                  <a:off x="2290" y="1907"/>
                  <a:ext cx="8" cy="112"/>
                </a:xfrm>
                <a:prstGeom prst="rect">
                  <a:avLst/>
                </a:prstGeom>
                <a:solidFill>
                  <a:srgbClr val="9E9E9E"/>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609" name="Rectangle 888"/>
                <p:cNvSpPr>
                  <a:spLocks noChangeArrowheads="1"/>
                </p:cNvSpPr>
                <p:nvPr/>
              </p:nvSpPr>
              <p:spPr bwMode="auto">
                <a:xfrm>
                  <a:off x="2298" y="1907"/>
                  <a:ext cx="8" cy="112"/>
                </a:xfrm>
                <a:prstGeom prst="rect">
                  <a:avLst/>
                </a:prstGeom>
                <a:solidFill>
                  <a:srgbClr val="8A8A8A"/>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610" name="Rectangle 889"/>
                <p:cNvSpPr>
                  <a:spLocks noChangeArrowheads="1"/>
                </p:cNvSpPr>
                <p:nvPr/>
              </p:nvSpPr>
              <p:spPr bwMode="auto">
                <a:xfrm>
                  <a:off x="2306" y="1907"/>
                  <a:ext cx="8" cy="112"/>
                </a:xfrm>
                <a:prstGeom prst="rect">
                  <a:avLst/>
                </a:prstGeom>
                <a:solidFill>
                  <a:srgbClr val="757575"/>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611" name="Freeform 890"/>
                <p:cNvSpPr>
                  <a:spLocks/>
                </p:cNvSpPr>
                <p:nvPr/>
              </p:nvSpPr>
              <p:spPr bwMode="auto">
                <a:xfrm>
                  <a:off x="2182" y="1582"/>
                  <a:ext cx="199" cy="461"/>
                </a:xfrm>
                <a:custGeom>
                  <a:avLst/>
                  <a:gdLst>
                    <a:gd name="T0" fmla="*/ 6 w 199"/>
                    <a:gd name="T1" fmla="*/ 461 h 461"/>
                    <a:gd name="T2" fmla="*/ 6 w 199"/>
                    <a:gd name="T3" fmla="*/ 451 h 461"/>
                    <a:gd name="T4" fmla="*/ 0 w 199"/>
                    <a:gd name="T5" fmla="*/ 451 h 461"/>
                    <a:gd name="T6" fmla="*/ 0 w 199"/>
                    <a:gd name="T7" fmla="*/ 51 h 461"/>
                    <a:gd name="T8" fmla="*/ 49 w 199"/>
                    <a:gd name="T9" fmla="*/ 0 h 461"/>
                    <a:gd name="T10" fmla="*/ 199 w 199"/>
                    <a:gd name="T11" fmla="*/ 0 h 461"/>
                    <a:gd name="T12" fmla="*/ 199 w 199"/>
                    <a:gd name="T13" fmla="*/ 400 h 461"/>
                    <a:gd name="T14" fmla="*/ 196 w 199"/>
                    <a:gd name="T15" fmla="*/ 403 h 461"/>
                    <a:gd name="T16" fmla="*/ 196 w 199"/>
                    <a:gd name="T17" fmla="*/ 406 h 461"/>
                    <a:gd name="T18" fmla="*/ 142 w 199"/>
                    <a:gd name="T19" fmla="*/ 461 h 461"/>
                    <a:gd name="T20" fmla="*/ 6 w 199"/>
                    <a:gd name="T21" fmla="*/ 461 h 46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9"/>
                    <a:gd name="T34" fmla="*/ 0 h 461"/>
                    <a:gd name="T35" fmla="*/ 199 w 199"/>
                    <a:gd name="T36" fmla="*/ 461 h 46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9" h="461">
                      <a:moveTo>
                        <a:pt x="6" y="461"/>
                      </a:moveTo>
                      <a:lnTo>
                        <a:pt x="6" y="451"/>
                      </a:lnTo>
                      <a:lnTo>
                        <a:pt x="0" y="451"/>
                      </a:lnTo>
                      <a:lnTo>
                        <a:pt x="0" y="51"/>
                      </a:lnTo>
                      <a:lnTo>
                        <a:pt x="49" y="0"/>
                      </a:lnTo>
                      <a:lnTo>
                        <a:pt x="199" y="0"/>
                      </a:lnTo>
                      <a:lnTo>
                        <a:pt x="199" y="400"/>
                      </a:lnTo>
                      <a:lnTo>
                        <a:pt x="196" y="403"/>
                      </a:lnTo>
                      <a:lnTo>
                        <a:pt x="196" y="406"/>
                      </a:lnTo>
                      <a:lnTo>
                        <a:pt x="142" y="461"/>
                      </a:lnTo>
                      <a:lnTo>
                        <a:pt x="6" y="461"/>
                      </a:lnTo>
                    </a:path>
                  </a:pathLst>
                </a:custGeom>
                <a:noFill/>
                <a:ln w="11113"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grpSp>
          <p:sp>
            <p:nvSpPr>
              <p:cNvPr id="563" name="Rectangle 891"/>
              <p:cNvSpPr>
                <a:spLocks noChangeArrowheads="1"/>
              </p:cNvSpPr>
              <p:nvPr/>
            </p:nvSpPr>
            <p:spPr bwMode="auto">
              <a:xfrm>
                <a:off x="614" y="3627"/>
                <a:ext cx="267" cy="1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2000" b="0">
                    <a:solidFill>
                      <a:srgbClr val="FF7C80"/>
                    </a:solidFill>
                    <a:latin typeface="Arial" charset="0"/>
                  </a:rPr>
                  <a:t>IDS</a:t>
                </a:r>
                <a:endParaRPr lang="en-US">
                  <a:solidFill>
                    <a:srgbClr val="FF7C80"/>
                  </a:solidFill>
                </a:endParaRPr>
              </a:p>
            </p:txBody>
          </p:sp>
        </p:grpSp>
        <p:grpSp>
          <p:nvGrpSpPr>
            <p:cNvPr id="331" name="Group 893"/>
            <p:cNvGrpSpPr>
              <a:grpSpLocks/>
            </p:cNvGrpSpPr>
            <p:nvPr/>
          </p:nvGrpSpPr>
          <p:grpSpPr bwMode="auto">
            <a:xfrm>
              <a:off x="2190" y="3054"/>
              <a:ext cx="199" cy="461"/>
              <a:chOff x="2182" y="1582"/>
              <a:chExt cx="199" cy="461"/>
            </a:xfrm>
          </p:grpSpPr>
          <p:sp>
            <p:nvSpPr>
              <p:cNvPr id="513" name="Freeform 894"/>
              <p:cNvSpPr>
                <a:spLocks/>
              </p:cNvSpPr>
              <p:nvPr/>
            </p:nvSpPr>
            <p:spPr bwMode="auto">
              <a:xfrm>
                <a:off x="2324" y="1979"/>
                <a:ext cx="54" cy="64"/>
              </a:xfrm>
              <a:custGeom>
                <a:avLst/>
                <a:gdLst>
                  <a:gd name="T0" fmla="*/ 0 w 54"/>
                  <a:gd name="T1" fmla="*/ 64 h 64"/>
                  <a:gd name="T2" fmla="*/ 54 w 54"/>
                  <a:gd name="T3" fmla="*/ 9 h 64"/>
                  <a:gd name="T4" fmla="*/ 54 w 54"/>
                  <a:gd name="T5" fmla="*/ 0 h 64"/>
                  <a:gd name="T6" fmla="*/ 0 w 54"/>
                  <a:gd name="T7" fmla="*/ 54 h 64"/>
                  <a:gd name="T8" fmla="*/ 0 w 54"/>
                  <a:gd name="T9" fmla="*/ 64 h 64"/>
                  <a:gd name="T10" fmla="*/ 0 60000 65536"/>
                  <a:gd name="T11" fmla="*/ 0 60000 65536"/>
                  <a:gd name="T12" fmla="*/ 0 60000 65536"/>
                  <a:gd name="T13" fmla="*/ 0 60000 65536"/>
                  <a:gd name="T14" fmla="*/ 0 60000 65536"/>
                  <a:gd name="T15" fmla="*/ 0 w 54"/>
                  <a:gd name="T16" fmla="*/ 0 h 64"/>
                  <a:gd name="T17" fmla="*/ 54 w 54"/>
                  <a:gd name="T18" fmla="*/ 64 h 64"/>
                </a:gdLst>
                <a:ahLst/>
                <a:cxnLst>
                  <a:cxn ang="T10">
                    <a:pos x="T0" y="T1"/>
                  </a:cxn>
                  <a:cxn ang="T11">
                    <a:pos x="T2" y="T3"/>
                  </a:cxn>
                  <a:cxn ang="T12">
                    <a:pos x="T4" y="T5"/>
                  </a:cxn>
                  <a:cxn ang="T13">
                    <a:pos x="T6" y="T7"/>
                  </a:cxn>
                  <a:cxn ang="T14">
                    <a:pos x="T8" y="T9"/>
                  </a:cxn>
                </a:cxnLst>
                <a:rect l="T15" t="T16" r="T17" b="T18"/>
                <a:pathLst>
                  <a:path w="54" h="64">
                    <a:moveTo>
                      <a:pt x="0" y="64"/>
                    </a:moveTo>
                    <a:lnTo>
                      <a:pt x="54" y="9"/>
                    </a:lnTo>
                    <a:lnTo>
                      <a:pt x="54" y="0"/>
                    </a:lnTo>
                    <a:lnTo>
                      <a:pt x="0" y="54"/>
                    </a:lnTo>
                    <a:lnTo>
                      <a:pt x="0" y="64"/>
                    </a:lnTo>
                    <a:close/>
                  </a:path>
                </a:pathLst>
              </a:custGeom>
              <a:solidFill>
                <a:srgbClr val="9A9A9A"/>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14" name="Freeform 895"/>
              <p:cNvSpPr>
                <a:spLocks/>
              </p:cNvSpPr>
              <p:nvPr/>
            </p:nvSpPr>
            <p:spPr bwMode="auto">
              <a:xfrm>
                <a:off x="2182" y="1582"/>
                <a:ext cx="199" cy="51"/>
              </a:xfrm>
              <a:custGeom>
                <a:avLst/>
                <a:gdLst>
                  <a:gd name="T0" fmla="*/ 0 w 199"/>
                  <a:gd name="T1" fmla="*/ 51 h 51"/>
                  <a:gd name="T2" fmla="*/ 49 w 199"/>
                  <a:gd name="T3" fmla="*/ 0 h 51"/>
                  <a:gd name="T4" fmla="*/ 199 w 199"/>
                  <a:gd name="T5" fmla="*/ 0 h 51"/>
                  <a:gd name="T6" fmla="*/ 149 w 199"/>
                  <a:gd name="T7" fmla="*/ 51 h 51"/>
                  <a:gd name="T8" fmla="*/ 0 w 199"/>
                  <a:gd name="T9" fmla="*/ 51 h 51"/>
                  <a:gd name="T10" fmla="*/ 0 60000 65536"/>
                  <a:gd name="T11" fmla="*/ 0 60000 65536"/>
                  <a:gd name="T12" fmla="*/ 0 60000 65536"/>
                  <a:gd name="T13" fmla="*/ 0 60000 65536"/>
                  <a:gd name="T14" fmla="*/ 0 60000 65536"/>
                  <a:gd name="T15" fmla="*/ 0 w 199"/>
                  <a:gd name="T16" fmla="*/ 0 h 51"/>
                  <a:gd name="T17" fmla="*/ 199 w 199"/>
                  <a:gd name="T18" fmla="*/ 51 h 51"/>
                </a:gdLst>
                <a:ahLst/>
                <a:cxnLst>
                  <a:cxn ang="T10">
                    <a:pos x="T0" y="T1"/>
                  </a:cxn>
                  <a:cxn ang="T11">
                    <a:pos x="T2" y="T3"/>
                  </a:cxn>
                  <a:cxn ang="T12">
                    <a:pos x="T4" y="T5"/>
                  </a:cxn>
                  <a:cxn ang="T13">
                    <a:pos x="T6" y="T7"/>
                  </a:cxn>
                  <a:cxn ang="T14">
                    <a:pos x="T8" y="T9"/>
                  </a:cxn>
                </a:cxnLst>
                <a:rect l="T15" t="T16" r="T17" b="T18"/>
                <a:pathLst>
                  <a:path w="199" h="51">
                    <a:moveTo>
                      <a:pt x="0" y="51"/>
                    </a:moveTo>
                    <a:lnTo>
                      <a:pt x="49" y="0"/>
                    </a:lnTo>
                    <a:lnTo>
                      <a:pt x="199" y="0"/>
                    </a:lnTo>
                    <a:lnTo>
                      <a:pt x="149" y="51"/>
                    </a:lnTo>
                    <a:lnTo>
                      <a:pt x="0" y="51"/>
                    </a:lnTo>
                    <a:close/>
                  </a:path>
                </a:pathLst>
              </a:custGeom>
              <a:solidFill>
                <a:srgbClr val="E6E6E6"/>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15" name="Freeform 896"/>
              <p:cNvSpPr>
                <a:spLocks/>
              </p:cNvSpPr>
              <p:nvPr/>
            </p:nvSpPr>
            <p:spPr bwMode="auto">
              <a:xfrm>
                <a:off x="2182" y="1582"/>
                <a:ext cx="199" cy="51"/>
              </a:xfrm>
              <a:custGeom>
                <a:avLst/>
                <a:gdLst>
                  <a:gd name="T0" fmla="*/ 0 w 199"/>
                  <a:gd name="T1" fmla="*/ 51 h 51"/>
                  <a:gd name="T2" fmla="*/ 49 w 199"/>
                  <a:gd name="T3" fmla="*/ 0 h 51"/>
                  <a:gd name="T4" fmla="*/ 199 w 199"/>
                  <a:gd name="T5" fmla="*/ 0 h 51"/>
                  <a:gd name="T6" fmla="*/ 149 w 199"/>
                  <a:gd name="T7" fmla="*/ 51 h 51"/>
                  <a:gd name="T8" fmla="*/ 0 w 199"/>
                  <a:gd name="T9" fmla="*/ 51 h 51"/>
                  <a:gd name="T10" fmla="*/ 0 60000 65536"/>
                  <a:gd name="T11" fmla="*/ 0 60000 65536"/>
                  <a:gd name="T12" fmla="*/ 0 60000 65536"/>
                  <a:gd name="T13" fmla="*/ 0 60000 65536"/>
                  <a:gd name="T14" fmla="*/ 0 60000 65536"/>
                  <a:gd name="T15" fmla="*/ 0 w 199"/>
                  <a:gd name="T16" fmla="*/ 0 h 51"/>
                  <a:gd name="T17" fmla="*/ 199 w 199"/>
                  <a:gd name="T18" fmla="*/ 51 h 51"/>
                </a:gdLst>
                <a:ahLst/>
                <a:cxnLst>
                  <a:cxn ang="T10">
                    <a:pos x="T0" y="T1"/>
                  </a:cxn>
                  <a:cxn ang="T11">
                    <a:pos x="T2" y="T3"/>
                  </a:cxn>
                  <a:cxn ang="T12">
                    <a:pos x="T4" y="T5"/>
                  </a:cxn>
                  <a:cxn ang="T13">
                    <a:pos x="T6" y="T7"/>
                  </a:cxn>
                  <a:cxn ang="T14">
                    <a:pos x="T8" y="T9"/>
                  </a:cxn>
                </a:cxnLst>
                <a:rect l="T15" t="T16" r="T17" b="T18"/>
                <a:pathLst>
                  <a:path w="199" h="51">
                    <a:moveTo>
                      <a:pt x="0" y="51"/>
                    </a:moveTo>
                    <a:lnTo>
                      <a:pt x="49" y="0"/>
                    </a:lnTo>
                    <a:lnTo>
                      <a:pt x="199" y="0"/>
                    </a:lnTo>
                    <a:lnTo>
                      <a:pt x="149" y="51"/>
                    </a:lnTo>
                    <a:lnTo>
                      <a:pt x="0" y="51"/>
                    </a:lnTo>
                    <a:close/>
                  </a:path>
                </a:pathLst>
              </a:cu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516" name="Freeform 897"/>
              <p:cNvSpPr>
                <a:spLocks/>
              </p:cNvSpPr>
              <p:nvPr/>
            </p:nvSpPr>
            <p:spPr bwMode="auto">
              <a:xfrm>
                <a:off x="2331" y="1582"/>
                <a:ext cx="50" cy="451"/>
              </a:xfrm>
              <a:custGeom>
                <a:avLst/>
                <a:gdLst>
                  <a:gd name="T0" fmla="*/ 0 w 50"/>
                  <a:gd name="T1" fmla="*/ 51 h 451"/>
                  <a:gd name="T2" fmla="*/ 50 w 50"/>
                  <a:gd name="T3" fmla="*/ 0 h 451"/>
                  <a:gd name="T4" fmla="*/ 50 w 50"/>
                  <a:gd name="T5" fmla="*/ 400 h 451"/>
                  <a:gd name="T6" fmla="*/ 0 w 50"/>
                  <a:gd name="T7" fmla="*/ 451 h 451"/>
                  <a:gd name="T8" fmla="*/ 0 w 50"/>
                  <a:gd name="T9" fmla="*/ 51 h 451"/>
                  <a:gd name="T10" fmla="*/ 0 60000 65536"/>
                  <a:gd name="T11" fmla="*/ 0 60000 65536"/>
                  <a:gd name="T12" fmla="*/ 0 60000 65536"/>
                  <a:gd name="T13" fmla="*/ 0 60000 65536"/>
                  <a:gd name="T14" fmla="*/ 0 60000 65536"/>
                  <a:gd name="T15" fmla="*/ 0 w 50"/>
                  <a:gd name="T16" fmla="*/ 0 h 451"/>
                  <a:gd name="T17" fmla="*/ 50 w 50"/>
                  <a:gd name="T18" fmla="*/ 451 h 451"/>
                </a:gdLst>
                <a:ahLst/>
                <a:cxnLst>
                  <a:cxn ang="T10">
                    <a:pos x="T0" y="T1"/>
                  </a:cxn>
                  <a:cxn ang="T11">
                    <a:pos x="T2" y="T3"/>
                  </a:cxn>
                  <a:cxn ang="T12">
                    <a:pos x="T4" y="T5"/>
                  </a:cxn>
                  <a:cxn ang="T13">
                    <a:pos x="T6" y="T7"/>
                  </a:cxn>
                  <a:cxn ang="T14">
                    <a:pos x="T8" y="T9"/>
                  </a:cxn>
                </a:cxnLst>
                <a:rect l="T15" t="T16" r="T17" b="T18"/>
                <a:pathLst>
                  <a:path w="50" h="451">
                    <a:moveTo>
                      <a:pt x="0" y="51"/>
                    </a:moveTo>
                    <a:lnTo>
                      <a:pt x="50" y="0"/>
                    </a:lnTo>
                    <a:lnTo>
                      <a:pt x="50" y="400"/>
                    </a:lnTo>
                    <a:lnTo>
                      <a:pt x="0" y="451"/>
                    </a:lnTo>
                    <a:lnTo>
                      <a:pt x="0" y="51"/>
                    </a:lnTo>
                    <a:close/>
                  </a:path>
                </a:pathLst>
              </a:custGeom>
              <a:solidFill>
                <a:srgbClr val="9A9A9A"/>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17" name="Rectangle 898"/>
              <p:cNvSpPr>
                <a:spLocks noChangeArrowheads="1"/>
              </p:cNvSpPr>
              <p:nvPr/>
            </p:nvSpPr>
            <p:spPr bwMode="auto">
              <a:xfrm>
                <a:off x="2182" y="1633"/>
                <a:ext cx="149" cy="400"/>
              </a:xfrm>
              <a:prstGeom prst="rect">
                <a:avLst/>
              </a:prstGeom>
              <a:solidFill>
                <a:srgbClr val="C0C0C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518" name="Rectangle 899"/>
              <p:cNvSpPr>
                <a:spLocks noChangeArrowheads="1"/>
              </p:cNvSpPr>
              <p:nvPr/>
            </p:nvSpPr>
            <p:spPr bwMode="auto">
              <a:xfrm>
                <a:off x="2182" y="1633"/>
                <a:ext cx="149" cy="400"/>
              </a:xfrm>
              <a:prstGeom prst="rect">
                <a:avLst/>
              </a:pr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pic>
            <p:nvPicPr>
              <p:cNvPr id="519" name="Picture 900"/>
              <p:cNvPicPr>
                <a:picLocks noChangeAspect="1" noChangeArrowheads="1"/>
              </p:cNvPicPr>
              <p:nvPr/>
            </p:nvPicPr>
            <p:blipFill>
              <a:blip r:embed="rId51">
                <a:extLst>
                  <a:ext uri="{28A0092B-C50C-407E-A947-70E740481C1C}">
                    <a14:useLocalDpi xmlns:a14="http://schemas.microsoft.com/office/drawing/2010/main" val="0"/>
                  </a:ext>
                </a:extLst>
              </a:blip>
              <a:srcRect/>
              <a:stretch>
                <a:fillRect/>
              </a:stretch>
            </p:blipFill>
            <p:spPr bwMode="auto">
              <a:xfrm>
                <a:off x="2194" y="1651"/>
                <a:ext cx="112"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520" name="Picture 901"/>
              <p:cNvPicPr>
                <a:picLocks noChangeAspect="1" noChangeArrowheads="1"/>
              </p:cNvPicPr>
              <p:nvPr/>
            </p:nvPicPr>
            <p:blipFill>
              <a:blip r:embed="rId52">
                <a:extLst>
                  <a:ext uri="{28A0092B-C50C-407E-A947-70E740481C1C}">
                    <a14:useLocalDpi xmlns:a14="http://schemas.microsoft.com/office/drawing/2010/main" val="0"/>
                  </a:ext>
                </a:extLst>
              </a:blip>
              <a:srcRect/>
              <a:stretch>
                <a:fillRect/>
              </a:stretch>
            </p:blipFill>
            <p:spPr bwMode="auto">
              <a:xfrm>
                <a:off x="2194" y="1651"/>
                <a:ext cx="112"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21" name="Rectangle 902"/>
              <p:cNvSpPr>
                <a:spLocks noChangeArrowheads="1"/>
              </p:cNvSpPr>
              <p:nvPr/>
            </p:nvSpPr>
            <p:spPr bwMode="auto">
              <a:xfrm>
                <a:off x="2200" y="1652"/>
                <a:ext cx="112" cy="244"/>
              </a:xfrm>
              <a:prstGeom prst="rect">
                <a:avLst/>
              </a:pr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522" name="Freeform 903"/>
              <p:cNvSpPr>
                <a:spLocks noEditPoints="1"/>
              </p:cNvSpPr>
              <p:nvPr/>
            </p:nvSpPr>
            <p:spPr bwMode="auto">
              <a:xfrm>
                <a:off x="2214" y="1665"/>
                <a:ext cx="85" cy="209"/>
              </a:xfrm>
              <a:custGeom>
                <a:avLst/>
                <a:gdLst>
                  <a:gd name="T0" fmla="*/ 0 w 85"/>
                  <a:gd name="T1" fmla="*/ 188 h 209"/>
                  <a:gd name="T2" fmla="*/ 85 w 85"/>
                  <a:gd name="T3" fmla="*/ 188 h 209"/>
                  <a:gd name="T4" fmla="*/ 85 w 85"/>
                  <a:gd name="T5" fmla="*/ 209 h 209"/>
                  <a:gd name="T6" fmla="*/ 0 w 85"/>
                  <a:gd name="T7" fmla="*/ 209 h 209"/>
                  <a:gd name="T8" fmla="*/ 0 w 85"/>
                  <a:gd name="T9" fmla="*/ 188 h 209"/>
                  <a:gd name="T10" fmla="*/ 0 w 85"/>
                  <a:gd name="T11" fmla="*/ 156 h 209"/>
                  <a:gd name="T12" fmla="*/ 85 w 85"/>
                  <a:gd name="T13" fmla="*/ 156 h 209"/>
                  <a:gd name="T14" fmla="*/ 85 w 85"/>
                  <a:gd name="T15" fmla="*/ 177 h 209"/>
                  <a:gd name="T16" fmla="*/ 0 w 85"/>
                  <a:gd name="T17" fmla="*/ 177 h 209"/>
                  <a:gd name="T18" fmla="*/ 0 w 85"/>
                  <a:gd name="T19" fmla="*/ 156 h 209"/>
                  <a:gd name="T20" fmla="*/ 0 w 85"/>
                  <a:gd name="T21" fmla="*/ 124 h 209"/>
                  <a:gd name="T22" fmla="*/ 85 w 85"/>
                  <a:gd name="T23" fmla="*/ 124 h 209"/>
                  <a:gd name="T24" fmla="*/ 85 w 85"/>
                  <a:gd name="T25" fmla="*/ 145 h 209"/>
                  <a:gd name="T26" fmla="*/ 0 w 85"/>
                  <a:gd name="T27" fmla="*/ 145 h 209"/>
                  <a:gd name="T28" fmla="*/ 0 w 85"/>
                  <a:gd name="T29" fmla="*/ 124 h 209"/>
                  <a:gd name="T30" fmla="*/ 0 w 85"/>
                  <a:gd name="T31" fmla="*/ 92 h 209"/>
                  <a:gd name="T32" fmla="*/ 85 w 85"/>
                  <a:gd name="T33" fmla="*/ 92 h 209"/>
                  <a:gd name="T34" fmla="*/ 85 w 85"/>
                  <a:gd name="T35" fmla="*/ 113 h 209"/>
                  <a:gd name="T36" fmla="*/ 0 w 85"/>
                  <a:gd name="T37" fmla="*/ 113 h 209"/>
                  <a:gd name="T38" fmla="*/ 0 w 85"/>
                  <a:gd name="T39" fmla="*/ 92 h 209"/>
                  <a:gd name="T40" fmla="*/ 0 w 85"/>
                  <a:gd name="T41" fmla="*/ 47 h 209"/>
                  <a:gd name="T42" fmla="*/ 85 w 85"/>
                  <a:gd name="T43" fmla="*/ 47 h 209"/>
                  <a:gd name="T44" fmla="*/ 85 w 85"/>
                  <a:gd name="T45" fmla="*/ 82 h 209"/>
                  <a:gd name="T46" fmla="*/ 0 w 85"/>
                  <a:gd name="T47" fmla="*/ 82 h 209"/>
                  <a:gd name="T48" fmla="*/ 0 w 85"/>
                  <a:gd name="T49" fmla="*/ 47 h 209"/>
                  <a:gd name="T50" fmla="*/ 0 w 85"/>
                  <a:gd name="T51" fmla="*/ 0 h 209"/>
                  <a:gd name="T52" fmla="*/ 85 w 85"/>
                  <a:gd name="T53" fmla="*/ 0 h 209"/>
                  <a:gd name="T54" fmla="*/ 85 w 85"/>
                  <a:gd name="T55" fmla="*/ 35 h 209"/>
                  <a:gd name="T56" fmla="*/ 0 w 85"/>
                  <a:gd name="T57" fmla="*/ 35 h 209"/>
                  <a:gd name="T58" fmla="*/ 0 w 85"/>
                  <a:gd name="T59" fmla="*/ 0 h 209"/>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85"/>
                  <a:gd name="T91" fmla="*/ 0 h 209"/>
                  <a:gd name="T92" fmla="*/ 85 w 85"/>
                  <a:gd name="T93" fmla="*/ 209 h 209"/>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85" h="209">
                    <a:moveTo>
                      <a:pt x="0" y="188"/>
                    </a:moveTo>
                    <a:lnTo>
                      <a:pt x="85" y="188"/>
                    </a:lnTo>
                    <a:lnTo>
                      <a:pt x="85" y="209"/>
                    </a:lnTo>
                    <a:lnTo>
                      <a:pt x="0" y="209"/>
                    </a:lnTo>
                    <a:lnTo>
                      <a:pt x="0" y="188"/>
                    </a:lnTo>
                    <a:close/>
                    <a:moveTo>
                      <a:pt x="0" y="156"/>
                    </a:moveTo>
                    <a:lnTo>
                      <a:pt x="85" y="156"/>
                    </a:lnTo>
                    <a:lnTo>
                      <a:pt x="85" y="177"/>
                    </a:lnTo>
                    <a:lnTo>
                      <a:pt x="0" y="177"/>
                    </a:lnTo>
                    <a:lnTo>
                      <a:pt x="0" y="156"/>
                    </a:lnTo>
                    <a:close/>
                    <a:moveTo>
                      <a:pt x="0" y="124"/>
                    </a:moveTo>
                    <a:lnTo>
                      <a:pt x="85" y="124"/>
                    </a:lnTo>
                    <a:lnTo>
                      <a:pt x="85" y="145"/>
                    </a:lnTo>
                    <a:lnTo>
                      <a:pt x="0" y="145"/>
                    </a:lnTo>
                    <a:lnTo>
                      <a:pt x="0" y="124"/>
                    </a:lnTo>
                    <a:close/>
                    <a:moveTo>
                      <a:pt x="0" y="92"/>
                    </a:moveTo>
                    <a:lnTo>
                      <a:pt x="85" y="92"/>
                    </a:lnTo>
                    <a:lnTo>
                      <a:pt x="85" y="113"/>
                    </a:lnTo>
                    <a:lnTo>
                      <a:pt x="0" y="113"/>
                    </a:lnTo>
                    <a:lnTo>
                      <a:pt x="0" y="92"/>
                    </a:lnTo>
                    <a:close/>
                    <a:moveTo>
                      <a:pt x="0" y="47"/>
                    </a:moveTo>
                    <a:lnTo>
                      <a:pt x="85" y="47"/>
                    </a:lnTo>
                    <a:lnTo>
                      <a:pt x="85" y="82"/>
                    </a:lnTo>
                    <a:lnTo>
                      <a:pt x="0" y="82"/>
                    </a:lnTo>
                    <a:lnTo>
                      <a:pt x="0" y="47"/>
                    </a:lnTo>
                    <a:close/>
                    <a:moveTo>
                      <a:pt x="0" y="0"/>
                    </a:moveTo>
                    <a:lnTo>
                      <a:pt x="85" y="0"/>
                    </a:lnTo>
                    <a:lnTo>
                      <a:pt x="85" y="35"/>
                    </a:lnTo>
                    <a:lnTo>
                      <a:pt x="0" y="35"/>
                    </a:lnTo>
                    <a:lnTo>
                      <a:pt x="0" y="0"/>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23" name="Rectangle 904"/>
              <p:cNvSpPr>
                <a:spLocks noChangeArrowheads="1"/>
              </p:cNvSpPr>
              <p:nvPr/>
            </p:nvSpPr>
            <p:spPr bwMode="auto">
              <a:xfrm>
                <a:off x="2214" y="1853"/>
                <a:ext cx="85" cy="21"/>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524" name="Rectangle 905"/>
              <p:cNvSpPr>
                <a:spLocks noChangeArrowheads="1"/>
              </p:cNvSpPr>
              <p:nvPr/>
            </p:nvSpPr>
            <p:spPr bwMode="auto">
              <a:xfrm>
                <a:off x="2214" y="1821"/>
                <a:ext cx="85" cy="21"/>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525" name="Rectangle 906"/>
              <p:cNvSpPr>
                <a:spLocks noChangeArrowheads="1"/>
              </p:cNvSpPr>
              <p:nvPr/>
            </p:nvSpPr>
            <p:spPr bwMode="auto">
              <a:xfrm>
                <a:off x="2214" y="1789"/>
                <a:ext cx="85" cy="21"/>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526" name="Rectangle 907"/>
              <p:cNvSpPr>
                <a:spLocks noChangeArrowheads="1"/>
              </p:cNvSpPr>
              <p:nvPr/>
            </p:nvSpPr>
            <p:spPr bwMode="auto">
              <a:xfrm>
                <a:off x="2214" y="1757"/>
                <a:ext cx="85" cy="21"/>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527" name="Rectangle 908"/>
              <p:cNvSpPr>
                <a:spLocks noChangeArrowheads="1"/>
              </p:cNvSpPr>
              <p:nvPr/>
            </p:nvSpPr>
            <p:spPr bwMode="auto">
              <a:xfrm>
                <a:off x="2214" y="1712"/>
                <a:ext cx="85" cy="35"/>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528" name="Rectangle 909"/>
              <p:cNvSpPr>
                <a:spLocks noChangeArrowheads="1"/>
              </p:cNvSpPr>
              <p:nvPr/>
            </p:nvSpPr>
            <p:spPr bwMode="auto">
              <a:xfrm>
                <a:off x="2214" y="1665"/>
                <a:ext cx="85" cy="35"/>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529" name="Rectangle 910"/>
              <p:cNvSpPr>
                <a:spLocks noChangeArrowheads="1"/>
              </p:cNvSpPr>
              <p:nvPr/>
            </p:nvSpPr>
            <p:spPr bwMode="auto">
              <a:xfrm>
                <a:off x="2188" y="2033"/>
                <a:ext cx="136" cy="10"/>
              </a:xfrm>
              <a:prstGeom prst="rect">
                <a:avLst/>
              </a:prstGeom>
              <a:solidFill>
                <a:srgbClr val="9A9A9A"/>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pic>
            <p:nvPicPr>
              <p:cNvPr id="530" name="Picture 911"/>
              <p:cNvPicPr>
                <a:picLocks noChangeAspect="1" noChangeArrowheads="1"/>
              </p:cNvPicPr>
              <p:nvPr/>
            </p:nvPicPr>
            <p:blipFill>
              <a:blip r:embed="rId53">
                <a:extLst>
                  <a:ext uri="{28A0092B-C50C-407E-A947-70E740481C1C}">
                    <a14:useLocalDpi xmlns:a14="http://schemas.microsoft.com/office/drawing/2010/main" val="0"/>
                  </a:ext>
                </a:extLst>
              </a:blip>
              <a:srcRect/>
              <a:stretch>
                <a:fillRect/>
              </a:stretch>
            </p:blipFill>
            <p:spPr bwMode="auto">
              <a:xfrm>
                <a:off x="2242" y="1915"/>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531" name="Picture 912"/>
              <p:cNvPicPr>
                <a:picLocks noChangeAspect="1" noChangeArrowheads="1"/>
              </p:cNvPicPr>
              <p:nvPr/>
            </p:nvPicPr>
            <p:blipFill>
              <a:blip r:embed="rId54">
                <a:extLst>
                  <a:ext uri="{28A0092B-C50C-407E-A947-70E740481C1C}">
                    <a14:useLocalDpi xmlns:a14="http://schemas.microsoft.com/office/drawing/2010/main" val="0"/>
                  </a:ext>
                </a:extLst>
              </a:blip>
              <a:srcRect/>
              <a:stretch>
                <a:fillRect/>
              </a:stretch>
            </p:blipFill>
            <p:spPr bwMode="auto">
              <a:xfrm>
                <a:off x="2242" y="1915"/>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532" name="Picture 913"/>
              <p:cNvPicPr>
                <a:picLocks noChangeAspect="1" noChangeArrowheads="1"/>
              </p:cNvPicPr>
              <p:nvPr/>
            </p:nvPicPr>
            <p:blipFill>
              <a:blip r:embed="rId55">
                <a:extLst>
                  <a:ext uri="{28A0092B-C50C-407E-A947-70E740481C1C}">
                    <a14:useLocalDpi xmlns:a14="http://schemas.microsoft.com/office/drawing/2010/main" val="0"/>
                  </a:ext>
                </a:extLst>
              </a:blip>
              <a:srcRect/>
              <a:stretch>
                <a:fillRect/>
              </a:stretch>
            </p:blipFill>
            <p:spPr bwMode="auto">
              <a:xfrm>
                <a:off x="2250" y="1923"/>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533" name="Picture 914"/>
              <p:cNvPicPr>
                <a:picLocks noChangeAspect="1" noChangeArrowheads="1"/>
              </p:cNvPicPr>
              <p:nvPr/>
            </p:nvPicPr>
            <p:blipFill>
              <a:blip r:embed="rId56">
                <a:extLst>
                  <a:ext uri="{28A0092B-C50C-407E-A947-70E740481C1C}">
                    <a14:useLocalDpi xmlns:a14="http://schemas.microsoft.com/office/drawing/2010/main" val="0"/>
                  </a:ext>
                </a:extLst>
              </a:blip>
              <a:srcRect/>
              <a:stretch>
                <a:fillRect/>
              </a:stretch>
            </p:blipFill>
            <p:spPr bwMode="auto">
              <a:xfrm>
                <a:off x="2250" y="1947"/>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534" name="Picture 915"/>
              <p:cNvPicPr>
                <a:picLocks noChangeAspect="1" noChangeArrowheads="1"/>
              </p:cNvPicPr>
              <p:nvPr/>
            </p:nvPicPr>
            <p:blipFill>
              <a:blip r:embed="rId57">
                <a:extLst>
                  <a:ext uri="{28A0092B-C50C-407E-A947-70E740481C1C}">
                    <a14:useLocalDpi xmlns:a14="http://schemas.microsoft.com/office/drawing/2010/main" val="0"/>
                  </a:ext>
                </a:extLst>
              </a:blip>
              <a:srcRect/>
              <a:stretch>
                <a:fillRect/>
              </a:stretch>
            </p:blipFill>
            <p:spPr bwMode="auto">
              <a:xfrm>
                <a:off x="2250" y="1947"/>
                <a:ext cx="8" cy="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35" name="Rectangle 916"/>
              <p:cNvSpPr>
                <a:spLocks noChangeArrowheads="1"/>
              </p:cNvSpPr>
              <p:nvPr/>
            </p:nvSpPr>
            <p:spPr bwMode="auto">
              <a:xfrm>
                <a:off x="2234" y="1683"/>
                <a:ext cx="13" cy="3"/>
              </a:xfrm>
              <a:prstGeom prst="rect">
                <a:avLst/>
              </a:prstGeom>
              <a:solidFill>
                <a:srgbClr val="9A9A9A"/>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pic>
            <p:nvPicPr>
              <p:cNvPr id="536" name="Picture 917"/>
              <p:cNvPicPr>
                <a:picLocks noChangeAspect="1" noChangeArrowheads="1"/>
              </p:cNvPicPr>
              <p:nvPr/>
            </p:nvPicPr>
            <p:blipFill>
              <a:blip r:embed="rId58">
                <a:extLst>
                  <a:ext uri="{28A0092B-C50C-407E-A947-70E740481C1C}">
                    <a14:useLocalDpi xmlns:a14="http://schemas.microsoft.com/office/drawing/2010/main" val="0"/>
                  </a:ext>
                </a:extLst>
              </a:blip>
              <a:srcRect/>
              <a:stretch>
                <a:fillRect/>
              </a:stretch>
            </p:blipFill>
            <p:spPr bwMode="auto">
              <a:xfrm>
                <a:off x="2218" y="1667"/>
                <a:ext cx="72" cy="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37" name="Rectangle 918"/>
              <p:cNvSpPr>
                <a:spLocks noChangeArrowheads="1"/>
              </p:cNvSpPr>
              <p:nvPr/>
            </p:nvSpPr>
            <p:spPr bwMode="auto">
              <a:xfrm>
                <a:off x="2220" y="1672"/>
                <a:ext cx="72" cy="6"/>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pic>
            <p:nvPicPr>
              <p:cNvPr id="538" name="Picture 919"/>
              <p:cNvPicPr>
                <a:picLocks noChangeAspect="1" noChangeArrowheads="1"/>
              </p:cNvPicPr>
              <p:nvPr/>
            </p:nvPicPr>
            <p:blipFill>
              <a:blip r:embed="rId59">
                <a:extLst>
                  <a:ext uri="{28A0092B-C50C-407E-A947-70E740481C1C}">
                    <a14:useLocalDpi xmlns:a14="http://schemas.microsoft.com/office/drawing/2010/main" val="0"/>
                  </a:ext>
                </a:extLst>
              </a:blip>
              <a:srcRect/>
              <a:stretch>
                <a:fillRect/>
              </a:stretch>
            </p:blipFill>
            <p:spPr bwMode="auto">
              <a:xfrm>
                <a:off x="2218" y="1715"/>
                <a:ext cx="72"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539" name="Picture 920"/>
              <p:cNvPicPr>
                <a:picLocks noChangeAspect="1" noChangeArrowheads="1"/>
              </p:cNvPicPr>
              <p:nvPr/>
            </p:nvPicPr>
            <p:blipFill>
              <a:blip r:embed="rId60">
                <a:extLst>
                  <a:ext uri="{28A0092B-C50C-407E-A947-70E740481C1C}">
                    <a14:useLocalDpi xmlns:a14="http://schemas.microsoft.com/office/drawing/2010/main" val="0"/>
                  </a:ext>
                </a:extLst>
              </a:blip>
              <a:srcRect/>
              <a:stretch>
                <a:fillRect/>
              </a:stretch>
            </p:blipFill>
            <p:spPr bwMode="auto">
              <a:xfrm>
                <a:off x="2218" y="1715"/>
                <a:ext cx="72"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40" name="Freeform 921"/>
              <p:cNvSpPr>
                <a:spLocks/>
              </p:cNvSpPr>
              <p:nvPr/>
            </p:nvSpPr>
            <p:spPr bwMode="auto">
              <a:xfrm>
                <a:off x="2219" y="1720"/>
                <a:ext cx="72" cy="14"/>
              </a:xfrm>
              <a:custGeom>
                <a:avLst/>
                <a:gdLst>
                  <a:gd name="T0" fmla="*/ 0 w 144"/>
                  <a:gd name="T1" fmla="*/ 6 h 28"/>
                  <a:gd name="T2" fmla="*/ 39 w 144"/>
                  <a:gd name="T3" fmla="*/ 6 h 28"/>
                  <a:gd name="T4" fmla="*/ 117 w 144"/>
                  <a:gd name="T5" fmla="*/ 6 h 28"/>
                  <a:gd name="T6" fmla="*/ 117 w 144"/>
                  <a:gd name="T7" fmla="*/ 6 h 28"/>
                  <a:gd name="T8" fmla="*/ 144 w 144"/>
                  <a:gd name="T9" fmla="*/ 6 h 28"/>
                  <a:gd name="T10" fmla="*/ 144 w 144"/>
                  <a:gd name="T11" fmla="*/ 28 h 28"/>
                  <a:gd name="T12" fmla="*/ 0 w 144"/>
                  <a:gd name="T13" fmla="*/ 28 h 28"/>
                  <a:gd name="T14" fmla="*/ 0 w 144"/>
                  <a:gd name="T15" fmla="*/ 6 h 28"/>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28"/>
                  <a:gd name="T26" fmla="*/ 144 w 144"/>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28">
                    <a:moveTo>
                      <a:pt x="0" y="6"/>
                    </a:moveTo>
                    <a:lnTo>
                      <a:pt x="39" y="6"/>
                    </a:lnTo>
                    <a:cubicBezTo>
                      <a:pt x="64" y="0"/>
                      <a:pt x="92" y="0"/>
                      <a:pt x="117" y="6"/>
                    </a:cubicBezTo>
                    <a:lnTo>
                      <a:pt x="144" y="6"/>
                    </a:lnTo>
                    <a:lnTo>
                      <a:pt x="144" y="28"/>
                    </a:lnTo>
                    <a:lnTo>
                      <a:pt x="0" y="28"/>
                    </a:lnTo>
                    <a:lnTo>
                      <a:pt x="0" y="6"/>
                    </a:lnTo>
                  </a:path>
                </a:pathLst>
              </a:cu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541" name="Rectangle 922"/>
              <p:cNvSpPr>
                <a:spLocks noChangeArrowheads="1"/>
              </p:cNvSpPr>
              <p:nvPr/>
            </p:nvSpPr>
            <p:spPr bwMode="auto">
              <a:xfrm>
                <a:off x="2222" y="1727"/>
                <a:ext cx="65" cy="3"/>
              </a:xfrm>
              <a:prstGeom prst="rect">
                <a:avLst/>
              </a:prstGeom>
              <a:solidFill>
                <a:srgbClr val="DBDAC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542" name="Rectangle 923"/>
              <p:cNvSpPr>
                <a:spLocks noChangeArrowheads="1"/>
              </p:cNvSpPr>
              <p:nvPr/>
            </p:nvSpPr>
            <p:spPr bwMode="auto">
              <a:xfrm>
                <a:off x="2222" y="1727"/>
                <a:ext cx="65" cy="3"/>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pic>
            <p:nvPicPr>
              <p:cNvPr id="543" name="Picture 924"/>
              <p:cNvPicPr>
                <a:picLocks noChangeAspect="1" noChangeArrowheads="1"/>
              </p:cNvPicPr>
              <p:nvPr/>
            </p:nvPicPr>
            <p:blipFill>
              <a:blip r:embed="rId61">
                <a:extLst>
                  <a:ext uri="{28A0092B-C50C-407E-A947-70E740481C1C}">
                    <a14:useLocalDpi xmlns:a14="http://schemas.microsoft.com/office/drawing/2010/main" val="0"/>
                  </a:ext>
                </a:extLst>
              </a:blip>
              <a:srcRect/>
              <a:stretch>
                <a:fillRect/>
              </a:stretch>
            </p:blipFill>
            <p:spPr bwMode="auto">
              <a:xfrm>
                <a:off x="2218" y="1755"/>
                <a:ext cx="80"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544" name="Picture 925"/>
              <p:cNvPicPr>
                <a:picLocks noChangeAspect="1" noChangeArrowheads="1"/>
              </p:cNvPicPr>
              <p:nvPr/>
            </p:nvPicPr>
            <p:blipFill>
              <a:blip r:embed="rId62">
                <a:extLst>
                  <a:ext uri="{28A0092B-C50C-407E-A947-70E740481C1C}">
                    <a14:useLocalDpi xmlns:a14="http://schemas.microsoft.com/office/drawing/2010/main" val="0"/>
                  </a:ext>
                </a:extLst>
              </a:blip>
              <a:srcRect/>
              <a:stretch>
                <a:fillRect/>
              </a:stretch>
            </p:blipFill>
            <p:spPr bwMode="auto">
              <a:xfrm>
                <a:off x="2218" y="1755"/>
                <a:ext cx="80"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45" name="Freeform 926"/>
              <p:cNvSpPr>
                <a:spLocks/>
              </p:cNvSpPr>
              <p:nvPr/>
            </p:nvSpPr>
            <p:spPr bwMode="auto">
              <a:xfrm>
                <a:off x="2219" y="1760"/>
                <a:ext cx="74" cy="12"/>
              </a:xfrm>
              <a:custGeom>
                <a:avLst/>
                <a:gdLst>
                  <a:gd name="T0" fmla="*/ 0 w 149"/>
                  <a:gd name="T1" fmla="*/ 18 h 23"/>
                  <a:gd name="T2" fmla="*/ 0 w 149"/>
                  <a:gd name="T3" fmla="*/ 6 h 23"/>
                  <a:gd name="T4" fmla="*/ 48 w 149"/>
                  <a:gd name="T5" fmla="*/ 6 h 23"/>
                  <a:gd name="T6" fmla="*/ 102 w 149"/>
                  <a:gd name="T7" fmla="*/ 6 h 23"/>
                  <a:gd name="T8" fmla="*/ 102 w 149"/>
                  <a:gd name="T9" fmla="*/ 6 h 23"/>
                  <a:gd name="T10" fmla="*/ 149 w 149"/>
                  <a:gd name="T11" fmla="*/ 6 h 23"/>
                  <a:gd name="T12" fmla="*/ 149 w 149"/>
                  <a:gd name="T13" fmla="*/ 18 h 23"/>
                  <a:gd name="T14" fmla="*/ 102 w 149"/>
                  <a:gd name="T15" fmla="*/ 18 h 23"/>
                  <a:gd name="T16" fmla="*/ 48 w 149"/>
                  <a:gd name="T17" fmla="*/ 18 h 23"/>
                  <a:gd name="T18" fmla="*/ 48 w 149"/>
                  <a:gd name="T19" fmla="*/ 18 h 23"/>
                  <a:gd name="T20" fmla="*/ 0 w 149"/>
                  <a:gd name="T21" fmla="*/ 18 h 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9"/>
                  <a:gd name="T34" fmla="*/ 0 h 23"/>
                  <a:gd name="T35" fmla="*/ 149 w 149"/>
                  <a:gd name="T36" fmla="*/ 23 h 2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9" h="23">
                    <a:moveTo>
                      <a:pt x="0" y="18"/>
                    </a:moveTo>
                    <a:lnTo>
                      <a:pt x="0" y="6"/>
                    </a:lnTo>
                    <a:lnTo>
                      <a:pt x="48" y="6"/>
                    </a:lnTo>
                    <a:cubicBezTo>
                      <a:pt x="65" y="0"/>
                      <a:pt x="85" y="0"/>
                      <a:pt x="102" y="6"/>
                    </a:cubicBezTo>
                    <a:lnTo>
                      <a:pt x="149" y="6"/>
                    </a:lnTo>
                    <a:lnTo>
                      <a:pt x="149" y="18"/>
                    </a:lnTo>
                    <a:lnTo>
                      <a:pt x="102" y="18"/>
                    </a:lnTo>
                    <a:cubicBezTo>
                      <a:pt x="85" y="23"/>
                      <a:pt x="65" y="23"/>
                      <a:pt x="48" y="18"/>
                    </a:cubicBezTo>
                    <a:lnTo>
                      <a:pt x="0" y="18"/>
                    </a:lnTo>
                  </a:path>
                </a:pathLst>
              </a:cu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pic>
            <p:nvPicPr>
              <p:cNvPr id="546" name="Picture 927"/>
              <p:cNvPicPr>
                <a:picLocks noChangeAspect="1" noChangeArrowheads="1"/>
              </p:cNvPicPr>
              <p:nvPr/>
            </p:nvPicPr>
            <p:blipFill>
              <a:blip r:embed="rId63">
                <a:extLst>
                  <a:ext uri="{28A0092B-C50C-407E-A947-70E740481C1C}">
                    <a14:useLocalDpi xmlns:a14="http://schemas.microsoft.com/office/drawing/2010/main" val="0"/>
                  </a:ext>
                </a:extLst>
              </a:blip>
              <a:srcRect/>
              <a:stretch>
                <a:fillRect/>
              </a:stretch>
            </p:blipFill>
            <p:spPr bwMode="auto">
              <a:xfrm>
                <a:off x="2250" y="1675"/>
                <a:ext cx="40" cy="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547" name="Picture 928"/>
              <p:cNvPicPr>
                <a:picLocks noChangeAspect="1" noChangeArrowheads="1"/>
              </p:cNvPicPr>
              <p:nvPr/>
            </p:nvPicPr>
            <p:blipFill>
              <a:blip r:embed="rId64">
                <a:extLst>
                  <a:ext uri="{28A0092B-C50C-407E-A947-70E740481C1C}">
                    <a14:useLocalDpi xmlns:a14="http://schemas.microsoft.com/office/drawing/2010/main" val="0"/>
                  </a:ext>
                </a:extLst>
              </a:blip>
              <a:srcRect/>
              <a:stretch>
                <a:fillRect/>
              </a:stretch>
            </p:blipFill>
            <p:spPr bwMode="auto">
              <a:xfrm>
                <a:off x="2250" y="1675"/>
                <a:ext cx="40" cy="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48" name="Freeform 929"/>
              <p:cNvSpPr>
                <a:spLocks noEditPoints="1"/>
              </p:cNvSpPr>
              <p:nvPr/>
            </p:nvSpPr>
            <p:spPr bwMode="auto">
              <a:xfrm>
                <a:off x="2256" y="1682"/>
                <a:ext cx="37" cy="94"/>
              </a:xfrm>
              <a:custGeom>
                <a:avLst/>
                <a:gdLst>
                  <a:gd name="T0" fmla="*/ 26 w 37"/>
                  <a:gd name="T1" fmla="*/ 5 h 94"/>
                  <a:gd name="T2" fmla="*/ 36 w 37"/>
                  <a:gd name="T3" fmla="*/ 5 h 94"/>
                  <a:gd name="T4" fmla="*/ 36 w 37"/>
                  <a:gd name="T5" fmla="*/ 0 h 94"/>
                  <a:gd name="T6" fmla="*/ 26 w 37"/>
                  <a:gd name="T7" fmla="*/ 0 h 94"/>
                  <a:gd name="T8" fmla="*/ 26 w 37"/>
                  <a:gd name="T9" fmla="*/ 5 h 94"/>
                  <a:gd name="T10" fmla="*/ 16 w 37"/>
                  <a:gd name="T11" fmla="*/ 4 h 94"/>
                  <a:gd name="T12" fmla="*/ 10 w 37"/>
                  <a:gd name="T13" fmla="*/ 7 h 94"/>
                  <a:gd name="T14" fmla="*/ 10 w 37"/>
                  <a:gd name="T15" fmla="*/ 0 h 94"/>
                  <a:gd name="T16" fmla="*/ 16 w 37"/>
                  <a:gd name="T17" fmla="*/ 4 h 94"/>
                  <a:gd name="T18" fmla="*/ 0 w 37"/>
                  <a:gd name="T19" fmla="*/ 4 h 94"/>
                  <a:gd name="T20" fmla="*/ 7 w 37"/>
                  <a:gd name="T21" fmla="*/ 0 h 94"/>
                  <a:gd name="T22" fmla="*/ 7 w 37"/>
                  <a:gd name="T23" fmla="*/ 7 h 94"/>
                  <a:gd name="T24" fmla="*/ 0 w 37"/>
                  <a:gd name="T25" fmla="*/ 4 h 94"/>
                  <a:gd name="T26" fmla="*/ 21 w 37"/>
                  <a:gd name="T27" fmla="*/ 59 h 94"/>
                  <a:gd name="T28" fmla="*/ 34 w 37"/>
                  <a:gd name="T29" fmla="*/ 59 h 94"/>
                  <a:gd name="T30" fmla="*/ 34 w 37"/>
                  <a:gd name="T31" fmla="*/ 55 h 94"/>
                  <a:gd name="T32" fmla="*/ 21 w 37"/>
                  <a:gd name="T33" fmla="*/ 55 h 94"/>
                  <a:gd name="T34" fmla="*/ 21 w 37"/>
                  <a:gd name="T35" fmla="*/ 59 h 94"/>
                  <a:gd name="T36" fmla="*/ 24 w 37"/>
                  <a:gd name="T37" fmla="*/ 94 h 94"/>
                  <a:gd name="T38" fmla="*/ 37 w 37"/>
                  <a:gd name="T39" fmla="*/ 94 h 94"/>
                  <a:gd name="T40" fmla="*/ 37 w 37"/>
                  <a:gd name="T41" fmla="*/ 90 h 94"/>
                  <a:gd name="T42" fmla="*/ 24 w 37"/>
                  <a:gd name="T43" fmla="*/ 90 h 94"/>
                  <a:gd name="T44" fmla="*/ 24 w 37"/>
                  <a:gd name="T45" fmla="*/ 94 h 9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7"/>
                  <a:gd name="T70" fmla="*/ 0 h 94"/>
                  <a:gd name="T71" fmla="*/ 37 w 37"/>
                  <a:gd name="T72" fmla="*/ 94 h 9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7" h="94">
                    <a:moveTo>
                      <a:pt x="26" y="5"/>
                    </a:moveTo>
                    <a:lnTo>
                      <a:pt x="36" y="5"/>
                    </a:lnTo>
                    <a:lnTo>
                      <a:pt x="36" y="0"/>
                    </a:lnTo>
                    <a:lnTo>
                      <a:pt x="26" y="0"/>
                    </a:lnTo>
                    <a:lnTo>
                      <a:pt x="26" y="5"/>
                    </a:lnTo>
                    <a:moveTo>
                      <a:pt x="16" y="4"/>
                    </a:moveTo>
                    <a:lnTo>
                      <a:pt x="10" y="7"/>
                    </a:lnTo>
                    <a:lnTo>
                      <a:pt x="10" y="0"/>
                    </a:lnTo>
                    <a:lnTo>
                      <a:pt x="16" y="4"/>
                    </a:lnTo>
                    <a:moveTo>
                      <a:pt x="0" y="4"/>
                    </a:moveTo>
                    <a:lnTo>
                      <a:pt x="7" y="0"/>
                    </a:lnTo>
                    <a:lnTo>
                      <a:pt x="7" y="7"/>
                    </a:lnTo>
                    <a:lnTo>
                      <a:pt x="0" y="4"/>
                    </a:lnTo>
                    <a:moveTo>
                      <a:pt x="21" y="59"/>
                    </a:moveTo>
                    <a:lnTo>
                      <a:pt x="34" y="59"/>
                    </a:lnTo>
                    <a:lnTo>
                      <a:pt x="34" y="55"/>
                    </a:lnTo>
                    <a:lnTo>
                      <a:pt x="21" y="55"/>
                    </a:lnTo>
                    <a:lnTo>
                      <a:pt x="21" y="59"/>
                    </a:lnTo>
                    <a:moveTo>
                      <a:pt x="24" y="94"/>
                    </a:moveTo>
                    <a:lnTo>
                      <a:pt x="37" y="94"/>
                    </a:lnTo>
                    <a:lnTo>
                      <a:pt x="37" y="90"/>
                    </a:lnTo>
                    <a:lnTo>
                      <a:pt x="24" y="90"/>
                    </a:lnTo>
                    <a:lnTo>
                      <a:pt x="24" y="94"/>
                    </a:lnTo>
                  </a:path>
                </a:pathLst>
              </a:cu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549" name="Freeform 930"/>
              <p:cNvSpPr>
                <a:spLocks noEditPoints="1"/>
              </p:cNvSpPr>
              <p:nvPr/>
            </p:nvSpPr>
            <p:spPr bwMode="auto">
              <a:xfrm>
                <a:off x="2219" y="1683"/>
                <a:ext cx="8" cy="56"/>
              </a:xfrm>
              <a:custGeom>
                <a:avLst/>
                <a:gdLst>
                  <a:gd name="T0" fmla="*/ 1 w 8"/>
                  <a:gd name="T1" fmla="*/ 0 h 56"/>
                  <a:gd name="T2" fmla="*/ 8 w 8"/>
                  <a:gd name="T3" fmla="*/ 0 h 56"/>
                  <a:gd name="T4" fmla="*/ 0 w 8"/>
                  <a:gd name="T5" fmla="*/ 56 h 56"/>
                  <a:gd name="T6" fmla="*/ 6 w 8"/>
                  <a:gd name="T7" fmla="*/ 56 h 56"/>
                  <a:gd name="T8" fmla="*/ 0 60000 65536"/>
                  <a:gd name="T9" fmla="*/ 0 60000 65536"/>
                  <a:gd name="T10" fmla="*/ 0 60000 65536"/>
                  <a:gd name="T11" fmla="*/ 0 60000 65536"/>
                  <a:gd name="T12" fmla="*/ 0 w 8"/>
                  <a:gd name="T13" fmla="*/ 0 h 56"/>
                  <a:gd name="T14" fmla="*/ 8 w 8"/>
                  <a:gd name="T15" fmla="*/ 56 h 56"/>
                </a:gdLst>
                <a:ahLst/>
                <a:cxnLst>
                  <a:cxn ang="T8">
                    <a:pos x="T0" y="T1"/>
                  </a:cxn>
                  <a:cxn ang="T9">
                    <a:pos x="T2" y="T3"/>
                  </a:cxn>
                  <a:cxn ang="T10">
                    <a:pos x="T4" y="T5"/>
                  </a:cxn>
                  <a:cxn ang="T11">
                    <a:pos x="T6" y="T7"/>
                  </a:cxn>
                </a:cxnLst>
                <a:rect l="T12" t="T13" r="T14" b="T15"/>
                <a:pathLst>
                  <a:path w="8" h="56">
                    <a:moveTo>
                      <a:pt x="1" y="0"/>
                    </a:moveTo>
                    <a:lnTo>
                      <a:pt x="8" y="0"/>
                    </a:lnTo>
                    <a:moveTo>
                      <a:pt x="0" y="56"/>
                    </a:moveTo>
                    <a:lnTo>
                      <a:pt x="6" y="56"/>
                    </a:lnTo>
                  </a:path>
                </a:pathLst>
              </a:custGeom>
              <a:noFill/>
              <a:ln w="3175" cap="sq">
                <a:solidFill>
                  <a:srgbClr val="00FF00"/>
                </a:solidFill>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550" name="Rectangle 931"/>
              <p:cNvSpPr>
                <a:spLocks noChangeArrowheads="1"/>
              </p:cNvSpPr>
              <p:nvPr/>
            </p:nvSpPr>
            <p:spPr bwMode="auto">
              <a:xfrm>
                <a:off x="2194" y="1907"/>
                <a:ext cx="8" cy="112"/>
              </a:xfrm>
              <a:prstGeom prst="rect">
                <a:avLst/>
              </a:prstGeom>
              <a:solidFill>
                <a:srgbClr val="B0B0B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551" name="Rectangle 932"/>
              <p:cNvSpPr>
                <a:spLocks noChangeArrowheads="1"/>
              </p:cNvSpPr>
              <p:nvPr/>
            </p:nvSpPr>
            <p:spPr bwMode="auto">
              <a:xfrm>
                <a:off x="2202" y="1907"/>
                <a:ext cx="8" cy="112"/>
              </a:xfrm>
              <a:prstGeom prst="rect">
                <a:avLst/>
              </a:prstGeom>
              <a:solidFill>
                <a:srgbClr val="6B6B6B"/>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552" name="Rectangle 933"/>
              <p:cNvSpPr>
                <a:spLocks noChangeArrowheads="1"/>
              </p:cNvSpPr>
              <p:nvPr/>
            </p:nvSpPr>
            <p:spPr bwMode="auto">
              <a:xfrm>
                <a:off x="2210" y="1907"/>
                <a:ext cx="8" cy="112"/>
              </a:xfrm>
              <a:prstGeom prst="rect">
                <a:avLst/>
              </a:prstGeom>
              <a:solidFill>
                <a:srgbClr val="7F7F7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553" name="Rectangle 934"/>
              <p:cNvSpPr>
                <a:spLocks noChangeArrowheads="1"/>
              </p:cNvSpPr>
              <p:nvPr/>
            </p:nvSpPr>
            <p:spPr bwMode="auto">
              <a:xfrm>
                <a:off x="2218" y="1907"/>
                <a:ext cx="8" cy="112"/>
              </a:xfrm>
              <a:prstGeom prst="rect">
                <a:avLst/>
              </a:prstGeom>
              <a:solidFill>
                <a:srgbClr val="939393"/>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554" name="Rectangle 935"/>
              <p:cNvSpPr>
                <a:spLocks noChangeArrowheads="1"/>
              </p:cNvSpPr>
              <p:nvPr/>
            </p:nvSpPr>
            <p:spPr bwMode="auto">
              <a:xfrm>
                <a:off x="2226" y="1907"/>
                <a:ext cx="8" cy="112"/>
              </a:xfrm>
              <a:prstGeom prst="rect">
                <a:avLst/>
              </a:prstGeom>
              <a:solidFill>
                <a:srgbClr val="A8A8A8"/>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555" name="Rectangle 936"/>
              <p:cNvSpPr>
                <a:spLocks noChangeArrowheads="1"/>
              </p:cNvSpPr>
              <p:nvPr/>
            </p:nvSpPr>
            <p:spPr bwMode="auto">
              <a:xfrm>
                <a:off x="2274" y="1907"/>
                <a:ext cx="8" cy="112"/>
              </a:xfrm>
              <a:prstGeom prst="rect">
                <a:avLst/>
              </a:prstGeom>
              <a:solidFill>
                <a:srgbClr val="6E6E6E"/>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556" name="Rectangle 937"/>
              <p:cNvSpPr>
                <a:spLocks noChangeArrowheads="1"/>
              </p:cNvSpPr>
              <p:nvPr/>
            </p:nvSpPr>
            <p:spPr bwMode="auto">
              <a:xfrm>
                <a:off x="2282" y="1907"/>
                <a:ext cx="8" cy="112"/>
              </a:xfrm>
              <a:prstGeom prst="rect">
                <a:avLst/>
              </a:prstGeom>
              <a:solidFill>
                <a:srgbClr val="B3B3B3"/>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557" name="Rectangle 938"/>
              <p:cNvSpPr>
                <a:spLocks noChangeArrowheads="1"/>
              </p:cNvSpPr>
              <p:nvPr/>
            </p:nvSpPr>
            <p:spPr bwMode="auto">
              <a:xfrm>
                <a:off x="2290" y="1907"/>
                <a:ext cx="8" cy="112"/>
              </a:xfrm>
              <a:prstGeom prst="rect">
                <a:avLst/>
              </a:prstGeom>
              <a:solidFill>
                <a:srgbClr val="9E9E9E"/>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558" name="Rectangle 939"/>
              <p:cNvSpPr>
                <a:spLocks noChangeArrowheads="1"/>
              </p:cNvSpPr>
              <p:nvPr/>
            </p:nvSpPr>
            <p:spPr bwMode="auto">
              <a:xfrm>
                <a:off x="2298" y="1907"/>
                <a:ext cx="8" cy="112"/>
              </a:xfrm>
              <a:prstGeom prst="rect">
                <a:avLst/>
              </a:prstGeom>
              <a:solidFill>
                <a:srgbClr val="8A8A8A"/>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559" name="Rectangle 940"/>
              <p:cNvSpPr>
                <a:spLocks noChangeArrowheads="1"/>
              </p:cNvSpPr>
              <p:nvPr/>
            </p:nvSpPr>
            <p:spPr bwMode="auto">
              <a:xfrm>
                <a:off x="2306" y="1907"/>
                <a:ext cx="8" cy="112"/>
              </a:xfrm>
              <a:prstGeom prst="rect">
                <a:avLst/>
              </a:prstGeom>
              <a:solidFill>
                <a:srgbClr val="757575"/>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560" name="Freeform 941"/>
              <p:cNvSpPr>
                <a:spLocks/>
              </p:cNvSpPr>
              <p:nvPr/>
            </p:nvSpPr>
            <p:spPr bwMode="auto">
              <a:xfrm>
                <a:off x="2182" y="1582"/>
                <a:ext cx="199" cy="461"/>
              </a:xfrm>
              <a:custGeom>
                <a:avLst/>
                <a:gdLst>
                  <a:gd name="T0" fmla="*/ 6 w 199"/>
                  <a:gd name="T1" fmla="*/ 461 h 461"/>
                  <a:gd name="T2" fmla="*/ 6 w 199"/>
                  <a:gd name="T3" fmla="*/ 451 h 461"/>
                  <a:gd name="T4" fmla="*/ 0 w 199"/>
                  <a:gd name="T5" fmla="*/ 451 h 461"/>
                  <a:gd name="T6" fmla="*/ 0 w 199"/>
                  <a:gd name="T7" fmla="*/ 51 h 461"/>
                  <a:gd name="T8" fmla="*/ 49 w 199"/>
                  <a:gd name="T9" fmla="*/ 0 h 461"/>
                  <a:gd name="T10" fmla="*/ 199 w 199"/>
                  <a:gd name="T11" fmla="*/ 0 h 461"/>
                  <a:gd name="T12" fmla="*/ 199 w 199"/>
                  <a:gd name="T13" fmla="*/ 400 h 461"/>
                  <a:gd name="T14" fmla="*/ 196 w 199"/>
                  <a:gd name="T15" fmla="*/ 403 h 461"/>
                  <a:gd name="T16" fmla="*/ 196 w 199"/>
                  <a:gd name="T17" fmla="*/ 406 h 461"/>
                  <a:gd name="T18" fmla="*/ 142 w 199"/>
                  <a:gd name="T19" fmla="*/ 461 h 461"/>
                  <a:gd name="T20" fmla="*/ 6 w 199"/>
                  <a:gd name="T21" fmla="*/ 461 h 46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9"/>
                  <a:gd name="T34" fmla="*/ 0 h 461"/>
                  <a:gd name="T35" fmla="*/ 199 w 199"/>
                  <a:gd name="T36" fmla="*/ 461 h 46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9" h="461">
                    <a:moveTo>
                      <a:pt x="6" y="461"/>
                    </a:moveTo>
                    <a:lnTo>
                      <a:pt x="6" y="451"/>
                    </a:lnTo>
                    <a:lnTo>
                      <a:pt x="0" y="451"/>
                    </a:lnTo>
                    <a:lnTo>
                      <a:pt x="0" y="51"/>
                    </a:lnTo>
                    <a:lnTo>
                      <a:pt x="49" y="0"/>
                    </a:lnTo>
                    <a:lnTo>
                      <a:pt x="199" y="0"/>
                    </a:lnTo>
                    <a:lnTo>
                      <a:pt x="199" y="400"/>
                    </a:lnTo>
                    <a:lnTo>
                      <a:pt x="196" y="403"/>
                    </a:lnTo>
                    <a:lnTo>
                      <a:pt x="196" y="406"/>
                    </a:lnTo>
                    <a:lnTo>
                      <a:pt x="142" y="461"/>
                    </a:lnTo>
                    <a:lnTo>
                      <a:pt x="6" y="461"/>
                    </a:lnTo>
                  </a:path>
                </a:pathLst>
              </a:custGeom>
              <a:noFill/>
              <a:ln w="11113"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grpSp>
        <p:sp>
          <p:nvSpPr>
            <p:cNvPr id="332" name="Rectangle 942"/>
            <p:cNvSpPr>
              <a:spLocks noChangeArrowheads="1"/>
            </p:cNvSpPr>
            <p:nvPr/>
          </p:nvSpPr>
          <p:spPr bwMode="auto">
            <a:xfrm>
              <a:off x="1999" y="3523"/>
              <a:ext cx="685" cy="1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2000" b="0">
                  <a:solidFill>
                    <a:srgbClr val="CC0066"/>
                  </a:solidFill>
                  <a:latin typeface="Arial" charset="0"/>
                </a:rPr>
                <a:t>Honeypot</a:t>
              </a:r>
              <a:endParaRPr lang="en-US">
                <a:solidFill>
                  <a:srgbClr val="CC0066"/>
                </a:solidFill>
              </a:endParaRPr>
            </a:p>
          </p:txBody>
        </p:sp>
        <p:sp>
          <p:nvSpPr>
            <p:cNvPr id="333" name="Freeform 948"/>
            <p:cNvSpPr>
              <a:spLocks noEditPoints="1"/>
            </p:cNvSpPr>
            <p:nvPr/>
          </p:nvSpPr>
          <p:spPr bwMode="auto">
            <a:xfrm>
              <a:off x="1397" y="2779"/>
              <a:ext cx="304" cy="64"/>
            </a:xfrm>
            <a:custGeom>
              <a:avLst/>
              <a:gdLst>
                <a:gd name="T0" fmla="*/ 0 w 304"/>
                <a:gd name="T1" fmla="*/ 64 h 64"/>
                <a:gd name="T2" fmla="*/ 254 w 304"/>
                <a:gd name="T3" fmla="*/ 64 h 64"/>
                <a:gd name="T4" fmla="*/ 254 w 304"/>
                <a:gd name="T5" fmla="*/ 51 h 64"/>
                <a:gd name="T6" fmla="*/ 0 w 304"/>
                <a:gd name="T7" fmla="*/ 51 h 64"/>
                <a:gd name="T8" fmla="*/ 0 w 304"/>
                <a:gd name="T9" fmla="*/ 64 h 64"/>
                <a:gd name="T10" fmla="*/ 254 w 304"/>
                <a:gd name="T11" fmla="*/ 64 h 64"/>
                <a:gd name="T12" fmla="*/ 304 w 304"/>
                <a:gd name="T13" fmla="*/ 13 h 64"/>
                <a:gd name="T14" fmla="*/ 304 w 304"/>
                <a:gd name="T15" fmla="*/ 0 h 64"/>
                <a:gd name="T16" fmla="*/ 254 w 304"/>
                <a:gd name="T17" fmla="*/ 51 h 64"/>
                <a:gd name="T18" fmla="*/ 254 w 304"/>
                <a:gd name="T19" fmla="*/ 64 h 6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04"/>
                <a:gd name="T31" fmla="*/ 0 h 64"/>
                <a:gd name="T32" fmla="*/ 304 w 304"/>
                <a:gd name="T33" fmla="*/ 64 h 6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04" h="64">
                  <a:moveTo>
                    <a:pt x="0" y="64"/>
                  </a:moveTo>
                  <a:lnTo>
                    <a:pt x="254" y="64"/>
                  </a:lnTo>
                  <a:lnTo>
                    <a:pt x="254" y="51"/>
                  </a:lnTo>
                  <a:lnTo>
                    <a:pt x="0" y="51"/>
                  </a:lnTo>
                  <a:lnTo>
                    <a:pt x="0" y="64"/>
                  </a:lnTo>
                  <a:close/>
                  <a:moveTo>
                    <a:pt x="254" y="64"/>
                  </a:moveTo>
                  <a:lnTo>
                    <a:pt x="304" y="13"/>
                  </a:lnTo>
                  <a:lnTo>
                    <a:pt x="304" y="0"/>
                  </a:lnTo>
                  <a:lnTo>
                    <a:pt x="254" y="51"/>
                  </a:lnTo>
                  <a:lnTo>
                    <a:pt x="254" y="64"/>
                  </a:lnTo>
                  <a:close/>
                </a:path>
              </a:pathLst>
            </a:custGeom>
            <a:solidFill>
              <a:srgbClr val="9A9A9A"/>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34" name="Freeform 949"/>
            <p:cNvSpPr>
              <a:spLocks/>
            </p:cNvSpPr>
            <p:nvPr/>
          </p:nvSpPr>
          <p:spPr bwMode="auto">
            <a:xfrm>
              <a:off x="1657" y="2382"/>
              <a:ext cx="51" cy="448"/>
            </a:xfrm>
            <a:custGeom>
              <a:avLst/>
              <a:gdLst>
                <a:gd name="T0" fmla="*/ 0 w 51"/>
                <a:gd name="T1" fmla="*/ 448 h 448"/>
                <a:gd name="T2" fmla="*/ 51 w 51"/>
                <a:gd name="T3" fmla="*/ 397 h 448"/>
                <a:gd name="T4" fmla="*/ 51 w 51"/>
                <a:gd name="T5" fmla="*/ 0 h 448"/>
                <a:gd name="T6" fmla="*/ 0 w 51"/>
                <a:gd name="T7" fmla="*/ 52 h 448"/>
                <a:gd name="T8" fmla="*/ 0 w 51"/>
                <a:gd name="T9" fmla="*/ 448 h 448"/>
                <a:gd name="T10" fmla="*/ 0 60000 65536"/>
                <a:gd name="T11" fmla="*/ 0 60000 65536"/>
                <a:gd name="T12" fmla="*/ 0 60000 65536"/>
                <a:gd name="T13" fmla="*/ 0 60000 65536"/>
                <a:gd name="T14" fmla="*/ 0 60000 65536"/>
                <a:gd name="T15" fmla="*/ 0 w 51"/>
                <a:gd name="T16" fmla="*/ 0 h 448"/>
                <a:gd name="T17" fmla="*/ 51 w 51"/>
                <a:gd name="T18" fmla="*/ 448 h 448"/>
              </a:gdLst>
              <a:ahLst/>
              <a:cxnLst>
                <a:cxn ang="T10">
                  <a:pos x="T0" y="T1"/>
                </a:cxn>
                <a:cxn ang="T11">
                  <a:pos x="T2" y="T3"/>
                </a:cxn>
                <a:cxn ang="T12">
                  <a:pos x="T4" y="T5"/>
                </a:cxn>
                <a:cxn ang="T13">
                  <a:pos x="T6" y="T7"/>
                </a:cxn>
                <a:cxn ang="T14">
                  <a:pos x="T8" y="T9"/>
                </a:cxn>
              </a:cxnLst>
              <a:rect l="T15" t="T16" r="T17" b="T18"/>
              <a:pathLst>
                <a:path w="51" h="448">
                  <a:moveTo>
                    <a:pt x="0" y="448"/>
                  </a:moveTo>
                  <a:lnTo>
                    <a:pt x="51" y="397"/>
                  </a:lnTo>
                  <a:lnTo>
                    <a:pt x="51" y="0"/>
                  </a:lnTo>
                  <a:lnTo>
                    <a:pt x="0" y="52"/>
                  </a:lnTo>
                  <a:lnTo>
                    <a:pt x="0" y="448"/>
                  </a:lnTo>
                  <a:close/>
                </a:path>
              </a:pathLst>
            </a:custGeom>
            <a:solidFill>
              <a:srgbClr val="9A9A9A"/>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35" name="Freeform 950"/>
            <p:cNvSpPr>
              <a:spLocks/>
            </p:cNvSpPr>
            <p:nvPr/>
          </p:nvSpPr>
          <p:spPr bwMode="auto">
            <a:xfrm>
              <a:off x="1384" y="2382"/>
              <a:ext cx="324" cy="52"/>
            </a:xfrm>
            <a:custGeom>
              <a:avLst/>
              <a:gdLst>
                <a:gd name="T0" fmla="*/ 0 w 324"/>
                <a:gd name="T1" fmla="*/ 52 h 52"/>
                <a:gd name="T2" fmla="*/ 50 w 324"/>
                <a:gd name="T3" fmla="*/ 0 h 52"/>
                <a:gd name="T4" fmla="*/ 324 w 324"/>
                <a:gd name="T5" fmla="*/ 0 h 52"/>
                <a:gd name="T6" fmla="*/ 273 w 324"/>
                <a:gd name="T7" fmla="*/ 52 h 52"/>
                <a:gd name="T8" fmla="*/ 0 w 324"/>
                <a:gd name="T9" fmla="*/ 52 h 52"/>
                <a:gd name="T10" fmla="*/ 0 60000 65536"/>
                <a:gd name="T11" fmla="*/ 0 60000 65536"/>
                <a:gd name="T12" fmla="*/ 0 60000 65536"/>
                <a:gd name="T13" fmla="*/ 0 60000 65536"/>
                <a:gd name="T14" fmla="*/ 0 60000 65536"/>
                <a:gd name="T15" fmla="*/ 0 w 324"/>
                <a:gd name="T16" fmla="*/ 0 h 52"/>
                <a:gd name="T17" fmla="*/ 324 w 324"/>
                <a:gd name="T18" fmla="*/ 52 h 52"/>
              </a:gdLst>
              <a:ahLst/>
              <a:cxnLst>
                <a:cxn ang="T10">
                  <a:pos x="T0" y="T1"/>
                </a:cxn>
                <a:cxn ang="T11">
                  <a:pos x="T2" y="T3"/>
                </a:cxn>
                <a:cxn ang="T12">
                  <a:pos x="T4" y="T5"/>
                </a:cxn>
                <a:cxn ang="T13">
                  <a:pos x="T6" y="T7"/>
                </a:cxn>
                <a:cxn ang="T14">
                  <a:pos x="T8" y="T9"/>
                </a:cxn>
              </a:cxnLst>
              <a:rect l="T15" t="T16" r="T17" b="T18"/>
              <a:pathLst>
                <a:path w="324" h="52">
                  <a:moveTo>
                    <a:pt x="0" y="52"/>
                  </a:moveTo>
                  <a:lnTo>
                    <a:pt x="50" y="0"/>
                  </a:lnTo>
                  <a:lnTo>
                    <a:pt x="324" y="0"/>
                  </a:lnTo>
                  <a:lnTo>
                    <a:pt x="273" y="52"/>
                  </a:lnTo>
                  <a:lnTo>
                    <a:pt x="0" y="52"/>
                  </a:lnTo>
                  <a:close/>
                </a:path>
              </a:pathLst>
            </a:custGeom>
            <a:solidFill>
              <a:srgbClr val="E6E6E6"/>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36" name="Rectangle 951"/>
            <p:cNvSpPr>
              <a:spLocks noChangeArrowheads="1"/>
            </p:cNvSpPr>
            <p:nvPr/>
          </p:nvSpPr>
          <p:spPr bwMode="auto">
            <a:xfrm>
              <a:off x="1384" y="2434"/>
              <a:ext cx="273" cy="396"/>
            </a:xfrm>
            <a:prstGeom prst="rect">
              <a:avLst/>
            </a:prstGeom>
            <a:solidFill>
              <a:srgbClr val="C0C0C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37" name="Rectangle 952"/>
            <p:cNvSpPr>
              <a:spLocks noChangeArrowheads="1"/>
            </p:cNvSpPr>
            <p:nvPr/>
          </p:nvSpPr>
          <p:spPr bwMode="auto">
            <a:xfrm>
              <a:off x="1384" y="2434"/>
              <a:ext cx="273" cy="396"/>
            </a:xfrm>
            <a:prstGeom prst="rect">
              <a:avLst/>
            </a:pr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338" name="Rectangle 953"/>
            <p:cNvSpPr>
              <a:spLocks noChangeArrowheads="1"/>
            </p:cNvSpPr>
            <p:nvPr/>
          </p:nvSpPr>
          <p:spPr bwMode="auto">
            <a:xfrm>
              <a:off x="1401" y="2548"/>
              <a:ext cx="232" cy="8"/>
            </a:xfrm>
            <a:prstGeom prst="rect">
              <a:avLst/>
            </a:prstGeom>
            <a:solidFill>
              <a:srgbClr val="E5E5E5"/>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39" name="Rectangle 954"/>
            <p:cNvSpPr>
              <a:spLocks noChangeArrowheads="1"/>
            </p:cNvSpPr>
            <p:nvPr/>
          </p:nvSpPr>
          <p:spPr bwMode="auto">
            <a:xfrm>
              <a:off x="1401" y="2556"/>
              <a:ext cx="232" cy="8"/>
            </a:xfrm>
            <a:prstGeom prst="rect">
              <a:avLst/>
            </a:prstGeom>
            <a:solidFill>
              <a:srgbClr val="C0C0C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40" name="Rectangle 955"/>
            <p:cNvSpPr>
              <a:spLocks noChangeArrowheads="1"/>
            </p:cNvSpPr>
            <p:nvPr/>
          </p:nvSpPr>
          <p:spPr bwMode="auto">
            <a:xfrm>
              <a:off x="1401" y="2564"/>
              <a:ext cx="232" cy="8"/>
            </a:xfrm>
            <a:prstGeom prst="rect">
              <a:avLst/>
            </a:prstGeom>
            <a:solidFill>
              <a:srgbClr val="C1C1C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41" name="Rectangle 956"/>
            <p:cNvSpPr>
              <a:spLocks noChangeArrowheads="1"/>
            </p:cNvSpPr>
            <p:nvPr/>
          </p:nvSpPr>
          <p:spPr bwMode="auto">
            <a:xfrm>
              <a:off x="1401" y="2572"/>
              <a:ext cx="232" cy="8"/>
            </a:xfrm>
            <a:prstGeom prst="rect">
              <a:avLst/>
            </a:prstGeom>
            <a:solidFill>
              <a:srgbClr val="C3C3C3"/>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42" name="Rectangle 957"/>
            <p:cNvSpPr>
              <a:spLocks noChangeArrowheads="1"/>
            </p:cNvSpPr>
            <p:nvPr/>
          </p:nvSpPr>
          <p:spPr bwMode="auto">
            <a:xfrm>
              <a:off x="1401" y="2580"/>
              <a:ext cx="232" cy="8"/>
            </a:xfrm>
            <a:prstGeom prst="rect">
              <a:avLst/>
            </a:prstGeom>
            <a:solidFill>
              <a:srgbClr val="C4C4C4"/>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43" name="Rectangle 958"/>
            <p:cNvSpPr>
              <a:spLocks noChangeArrowheads="1"/>
            </p:cNvSpPr>
            <p:nvPr/>
          </p:nvSpPr>
          <p:spPr bwMode="auto">
            <a:xfrm>
              <a:off x="1401" y="2588"/>
              <a:ext cx="232" cy="8"/>
            </a:xfrm>
            <a:prstGeom prst="rect">
              <a:avLst/>
            </a:prstGeom>
            <a:solidFill>
              <a:srgbClr val="C5C5C5"/>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44" name="Rectangle 959"/>
            <p:cNvSpPr>
              <a:spLocks noChangeArrowheads="1"/>
            </p:cNvSpPr>
            <p:nvPr/>
          </p:nvSpPr>
          <p:spPr bwMode="auto">
            <a:xfrm>
              <a:off x="1401" y="2596"/>
              <a:ext cx="232" cy="8"/>
            </a:xfrm>
            <a:prstGeom prst="rect">
              <a:avLst/>
            </a:prstGeom>
            <a:solidFill>
              <a:srgbClr val="C6C6C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45" name="Rectangle 960"/>
            <p:cNvSpPr>
              <a:spLocks noChangeArrowheads="1"/>
            </p:cNvSpPr>
            <p:nvPr/>
          </p:nvSpPr>
          <p:spPr bwMode="auto">
            <a:xfrm>
              <a:off x="1401" y="2604"/>
              <a:ext cx="232" cy="8"/>
            </a:xfrm>
            <a:prstGeom prst="rect">
              <a:avLst/>
            </a:prstGeom>
            <a:solidFill>
              <a:srgbClr val="C8C8C8"/>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46" name="Rectangle 961"/>
            <p:cNvSpPr>
              <a:spLocks noChangeArrowheads="1"/>
            </p:cNvSpPr>
            <p:nvPr/>
          </p:nvSpPr>
          <p:spPr bwMode="auto">
            <a:xfrm>
              <a:off x="1401" y="2612"/>
              <a:ext cx="232" cy="8"/>
            </a:xfrm>
            <a:prstGeom prst="rect">
              <a:avLst/>
            </a:prstGeom>
            <a:solidFill>
              <a:srgbClr val="C9C9C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47" name="Rectangle 962"/>
            <p:cNvSpPr>
              <a:spLocks noChangeArrowheads="1"/>
            </p:cNvSpPr>
            <p:nvPr/>
          </p:nvSpPr>
          <p:spPr bwMode="auto">
            <a:xfrm>
              <a:off x="1401" y="2620"/>
              <a:ext cx="232" cy="8"/>
            </a:xfrm>
            <a:prstGeom prst="rect">
              <a:avLst/>
            </a:prstGeom>
            <a:solidFill>
              <a:srgbClr val="CACACA"/>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48" name="Rectangle 963"/>
            <p:cNvSpPr>
              <a:spLocks noChangeArrowheads="1"/>
            </p:cNvSpPr>
            <p:nvPr/>
          </p:nvSpPr>
          <p:spPr bwMode="auto">
            <a:xfrm>
              <a:off x="1401" y="2628"/>
              <a:ext cx="232" cy="8"/>
            </a:xfrm>
            <a:prstGeom prst="rect">
              <a:avLst/>
            </a:prstGeom>
            <a:solidFill>
              <a:srgbClr val="CBCBCB"/>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49" name="Rectangle 964"/>
            <p:cNvSpPr>
              <a:spLocks noChangeArrowheads="1"/>
            </p:cNvSpPr>
            <p:nvPr/>
          </p:nvSpPr>
          <p:spPr bwMode="auto">
            <a:xfrm>
              <a:off x="1401" y="2636"/>
              <a:ext cx="232" cy="8"/>
            </a:xfrm>
            <a:prstGeom prst="rect">
              <a:avLst/>
            </a:prstGeom>
            <a:solidFill>
              <a:srgbClr val="CCCCCC"/>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50" name="Rectangle 965"/>
            <p:cNvSpPr>
              <a:spLocks noChangeArrowheads="1"/>
            </p:cNvSpPr>
            <p:nvPr/>
          </p:nvSpPr>
          <p:spPr bwMode="auto">
            <a:xfrm>
              <a:off x="1401" y="2644"/>
              <a:ext cx="232" cy="8"/>
            </a:xfrm>
            <a:prstGeom prst="rect">
              <a:avLst/>
            </a:prstGeom>
            <a:solidFill>
              <a:srgbClr val="CDCDCD"/>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51" name="Rectangle 966"/>
            <p:cNvSpPr>
              <a:spLocks noChangeArrowheads="1"/>
            </p:cNvSpPr>
            <p:nvPr/>
          </p:nvSpPr>
          <p:spPr bwMode="auto">
            <a:xfrm>
              <a:off x="1401" y="2652"/>
              <a:ext cx="232" cy="8"/>
            </a:xfrm>
            <a:prstGeom prst="rect">
              <a:avLst/>
            </a:prstGeom>
            <a:solidFill>
              <a:srgbClr val="CFCFC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52" name="Rectangle 967"/>
            <p:cNvSpPr>
              <a:spLocks noChangeArrowheads="1"/>
            </p:cNvSpPr>
            <p:nvPr/>
          </p:nvSpPr>
          <p:spPr bwMode="auto">
            <a:xfrm>
              <a:off x="1401" y="2660"/>
              <a:ext cx="232" cy="8"/>
            </a:xfrm>
            <a:prstGeom prst="rect">
              <a:avLst/>
            </a:prstGeom>
            <a:solidFill>
              <a:srgbClr val="D0D0D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53" name="Rectangle 968"/>
            <p:cNvSpPr>
              <a:spLocks noChangeArrowheads="1"/>
            </p:cNvSpPr>
            <p:nvPr/>
          </p:nvSpPr>
          <p:spPr bwMode="auto">
            <a:xfrm>
              <a:off x="1401" y="2668"/>
              <a:ext cx="232" cy="8"/>
            </a:xfrm>
            <a:prstGeom prst="rect">
              <a:avLst/>
            </a:prstGeom>
            <a:solidFill>
              <a:srgbClr val="D1D1D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54" name="Rectangle 969"/>
            <p:cNvSpPr>
              <a:spLocks noChangeArrowheads="1"/>
            </p:cNvSpPr>
            <p:nvPr/>
          </p:nvSpPr>
          <p:spPr bwMode="auto">
            <a:xfrm>
              <a:off x="1401" y="2676"/>
              <a:ext cx="232" cy="8"/>
            </a:xfrm>
            <a:prstGeom prst="rect">
              <a:avLst/>
            </a:prstGeom>
            <a:solidFill>
              <a:srgbClr val="D2D2D2"/>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55" name="Rectangle 970"/>
            <p:cNvSpPr>
              <a:spLocks noChangeArrowheads="1"/>
            </p:cNvSpPr>
            <p:nvPr/>
          </p:nvSpPr>
          <p:spPr bwMode="auto">
            <a:xfrm>
              <a:off x="1401" y="2684"/>
              <a:ext cx="232" cy="8"/>
            </a:xfrm>
            <a:prstGeom prst="rect">
              <a:avLst/>
            </a:prstGeom>
            <a:solidFill>
              <a:srgbClr val="D3D3D3"/>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56" name="Rectangle 971"/>
            <p:cNvSpPr>
              <a:spLocks noChangeArrowheads="1"/>
            </p:cNvSpPr>
            <p:nvPr/>
          </p:nvSpPr>
          <p:spPr bwMode="auto">
            <a:xfrm>
              <a:off x="1401" y="2692"/>
              <a:ext cx="232" cy="8"/>
            </a:xfrm>
            <a:prstGeom prst="rect">
              <a:avLst/>
            </a:prstGeom>
            <a:solidFill>
              <a:srgbClr val="D4D4D4"/>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57" name="Rectangle 972"/>
            <p:cNvSpPr>
              <a:spLocks noChangeArrowheads="1"/>
            </p:cNvSpPr>
            <p:nvPr/>
          </p:nvSpPr>
          <p:spPr bwMode="auto">
            <a:xfrm>
              <a:off x="1401" y="2700"/>
              <a:ext cx="232" cy="8"/>
            </a:xfrm>
            <a:prstGeom prst="rect">
              <a:avLst/>
            </a:prstGeom>
            <a:solidFill>
              <a:srgbClr val="D6D6D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58" name="Rectangle 973"/>
            <p:cNvSpPr>
              <a:spLocks noChangeArrowheads="1"/>
            </p:cNvSpPr>
            <p:nvPr/>
          </p:nvSpPr>
          <p:spPr bwMode="auto">
            <a:xfrm>
              <a:off x="1401" y="2708"/>
              <a:ext cx="232" cy="8"/>
            </a:xfrm>
            <a:prstGeom prst="rect">
              <a:avLst/>
            </a:prstGeom>
            <a:solidFill>
              <a:srgbClr val="D7D7D7"/>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59" name="Rectangle 974"/>
            <p:cNvSpPr>
              <a:spLocks noChangeArrowheads="1"/>
            </p:cNvSpPr>
            <p:nvPr/>
          </p:nvSpPr>
          <p:spPr bwMode="auto">
            <a:xfrm>
              <a:off x="1401" y="2716"/>
              <a:ext cx="232" cy="8"/>
            </a:xfrm>
            <a:prstGeom prst="rect">
              <a:avLst/>
            </a:prstGeom>
            <a:solidFill>
              <a:srgbClr val="D8D8D8"/>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60" name="Rectangle 975"/>
            <p:cNvSpPr>
              <a:spLocks noChangeArrowheads="1"/>
            </p:cNvSpPr>
            <p:nvPr/>
          </p:nvSpPr>
          <p:spPr bwMode="auto">
            <a:xfrm>
              <a:off x="1401" y="2724"/>
              <a:ext cx="232" cy="8"/>
            </a:xfrm>
            <a:prstGeom prst="rect">
              <a:avLst/>
            </a:prstGeom>
            <a:solidFill>
              <a:srgbClr val="D9D9D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61" name="Rectangle 976"/>
            <p:cNvSpPr>
              <a:spLocks noChangeArrowheads="1"/>
            </p:cNvSpPr>
            <p:nvPr/>
          </p:nvSpPr>
          <p:spPr bwMode="auto">
            <a:xfrm>
              <a:off x="1401" y="2732"/>
              <a:ext cx="232" cy="8"/>
            </a:xfrm>
            <a:prstGeom prst="rect">
              <a:avLst/>
            </a:prstGeom>
            <a:solidFill>
              <a:srgbClr val="DBDBDB"/>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62" name="Rectangle 977"/>
            <p:cNvSpPr>
              <a:spLocks noChangeArrowheads="1"/>
            </p:cNvSpPr>
            <p:nvPr/>
          </p:nvSpPr>
          <p:spPr bwMode="auto">
            <a:xfrm>
              <a:off x="1401" y="2740"/>
              <a:ext cx="232" cy="8"/>
            </a:xfrm>
            <a:prstGeom prst="rect">
              <a:avLst/>
            </a:prstGeom>
            <a:solidFill>
              <a:srgbClr val="DCDCDC"/>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63" name="Rectangle 978"/>
            <p:cNvSpPr>
              <a:spLocks noChangeArrowheads="1"/>
            </p:cNvSpPr>
            <p:nvPr/>
          </p:nvSpPr>
          <p:spPr bwMode="auto">
            <a:xfrm>
              <a:off x="1401" y="2748"/>
              <a:ext cx="232" cy="8"/>
            </a:xfrm>
            <a:prstGeom prst="rect">
              <a:avLst/>
            </a:prstGeom>
            <a:solidFill>
              <a:srgbClr val="DDDDDD"/>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64" name="Rectangle 979"/>
            <p:cNvSpPr>
              <a:spLocks noChangeArrowheads="1"/>
            </p:cNvSpPr>
            <p:nvPr/>
          </p:nvSpPr>
          <p:spPr bwMode="auto">
            <a:xfrm>
              <a:off x="1401" y="2756"/>
              <a:ext cx="232" cy="8"/>
            </a:xfrm>
            <a:prstGeom prst="rect">
              <a:avLst/>
            </a:prstGeom>
            <a:solidFill>
              <a:srgbClr val="DEDEDE"/>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65" name="Rectangle 980"/>
            <p:cNvSpPr>
              <a:spLocks noChangeArrowheads="1"/>
            </p:cNvSpPr>
            <p:nvPr/>
          </p:nvSpPr>
          <p:spPr bwMode="auto">
            <a:xfrm>
              <a:off x="1401" y="2764"/>
              <a:ext cx="232" cy="8"/>
            </a:xfrm>
            <a:prstGeom prst="rect">
              <a:avLst/>
            </a:prstGeom>
            <a:solidFill>
              <a:srgbClr val="DFDFD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66" name="Rectangle 981"/>
            <p:cNvSpPr>
              <a:spLocks noChangeArrowheads="1"/>
            </p:cNvSpPr>
            <p:nvPr/>
          </p:nvSpPr>
          <p:spPr bwMode="auto">
            <a:xfrm>
              <a:off x="1401" y="2772"/>
              <a:ext cx="232" cy="8"/>
            </a:xfrm>
            <a:prstGeom prst="rect">
              <a:avLst/>
            </a:prstGeom>
            <a:solidFill>
              <a:srgbClr val="E0E0E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67" name="Rectangle 982"/>
            <p:cNvSpPr>
              <a:spLocks noChangeArrowheads="1"/>
            </p:cNvSpPr>
            <p:nvPr/>
          </p:nvSpPr>
          <p:spPr bwMode="auto">
            <a:xfrm>
              <a:off x="1401" y="2780"/>
              <a:ext cx="232" cy="8"/>
            </a:xfrm>
            <a:prstGeom prst="rect">
              <a:avLst/>
            </a:prstGeom>
            <a:solidFill>
              <a:srgbClr val="E2E2E2"/>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68" name="Rectangle 983"/>
            <p:cNvSpPr>
              <a:spLocks noChangeArrowheads="1"/>
            </p:cNvSpPr>
            <p:nvPr/>
          </p:nvSpPr>
          <p:spPr bwMode="auto">
            <a:xfrm>
              <a:off x="1401" y="2788"/>
              <a:ext cx="232" cy="8"/>
            </a:xfrm>
            <a:prstGeom prst="rect">
              <a:avLst/>
            </a:prstGeom>
            <a:solidFill>
              <a:srgbClr val="E3E3E3"/>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69" name="Rectangle 984"/>
            <p:cNvSpPr>
              <a:spLocks noChangeArrowheads="1"/>
            </p:cNvSpPr>
            <p:nvPr/>
          </p:nvSpPr>
          <p:spPr bwMode="auto">
            <a:xfrm>
              <a:off x="1401" y="2796"/>
              <a:ext cx="232" cy="8"/>
            </a:xfrm>
            <a:prstGeom prst="rect">
              <a:avLst/>
            </a:prstGeom>
            <a:solidFill>
              <a:srgbClr val="E4E4E4"/>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70" name="Rectangle 985"/>
            <p:cNvSpPr>
              <a:spLocks noChangeArrowheads="1"/>
            </p:cNvSpPr>
            <p:nvPr/>
          </p:nvSpPr>
          <p:spPr bwMode="auto">
            <a:xfrm>
              <a:off x="1401" y="2676"/>
              <a:ext cx="8" cy="80"/>
            </a:xfrm>
            <a:prstGeom prst="rect">
              <a:avLst/>
            </a:prstGeom>
            <a:solidFill>
              <a:srgbClr val="E5E5E5"/>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71" name="Rectangle 986"/>
            <p:cNvSpPr>
              <a:spLocks noChangeArrowheads="1"/>
            </p:cNvSpPr>
            <p:nvPr/>
          </p:nvSpPr>
          <p:spPr bwMode="auto">
            <a:xfrm>
              <a:off x="1409" y="2676"/>
              <a:ext cx="8" cy="80"/>
            </a:xfrm>
            <a:prstGeom prst="rect">
              <a:avLst/>
            </a:prstGeom>
            <a:solidFill>
              <a:srgbClr val="C1C1C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72" name="Rectangle 987"/>
            <p:cNvSpPr>
              <a:spLocks noChangeArrowheads="1"/>
            </p:cNvSpPr>
            <p:nvPr/>
          </p:nvSpPr>
          <p:spPr bwMode="auto">
            <a:xfrm>
              <a:off x="1417" y="2676"/>
              <a:ext cx="8" cy="80"/>
            </a:xfrm>
            <a:prstGeom prst="rect">
              <a:avLst/>
            </a:prstGeom>
            <a:solidFill>
              <a:srgbClr val="C2C2C2"/>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73" name="Rectangle 988"/>
            <p:cNvSpPr>
              <a:spLocks noChangeArrowheads="1"/>
            </p:cNvSpPr>
            <p:nvPr/>
          </p:nvSpPr>
          <p:spPr bwMode="auto">
            <a:xfrm>
              <a:off x="1425" y="2676"/>
              <a:ext cx="8" cy="80"/>
            </a:xfrm>
            <a:prstGeom prst="rect">
              <a:avLst/>
            </a:prstGeom>
            <a:solidFill>
              <a:srgbClr val="C3C3C3"/>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74" name="Rectangle 989"/>
            <p:cNvSpPr>
              <a:spLocks noChangeArrowheads="1"/>
            </p:cNvSpPr>
            <p:nvPr/>
          </p:nvSpPr>
          <p:spPr bwMode="auto">
            <a:xfrm>
              <a:off x="1433" y="2676"/>
              <a:ext cx="8" cy="80"/>
            </a:xfrm>
            <a:prstGeom prst="rect">
              <a:avLst/>
            </a:prstGeom>
            <a:solidFill>
              <a:srgbClr val="C5C5C5"/>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75" name="Rectangle 990"/>
            <p:cNvSpPr>
              <a:spLocks noChangeArrowheads="1"/>
            </p:cNvSpPr>
            <p:nvPr/>
          </p:nvSpPr>
          <p:spPr bwMode="auto">
            <a:xfrm>
              <a:off x="1441" y="2676"/>
              <a:ext cx="8" cy="80"/>
            </a:xfrm>
            <a:prstGeom prst="rect">
              <a:avLst/>
            </a:prstGeom>
            <a:solidFill>
              <a:srgbClr val="C6C6C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76" name="Rectangle 991"/>
            <p:cNvSpPr>
              <a:spLocks noChangeArrowheads="1"/>
            </p:cNvSpPr>
            <p:nvPr/>
          </p:nvSpPr>
          <p:spPr bwMode="auto">
            <a:xfrm>
              <a:off x="1449" y="2676"/>
              <a:ext cx="8" cy="80"/>
            </a:xfrm>
            <a:prstGeom prst="rect">
              <a:avLst/>
            </a:prstGeom>
            <a:solidFill>
              <a:srgbClr val="C8C8C8"/>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77" name="Rectangle 992"/>
            <p:cNvSpPr>
              <a:spLocks noChangeArrowheads="1"/>
            </p:cNvSpPr>
            <p:nvPr/>
          </p:nvSpPr>
          <p:spPr bwMode="auto">
            <a:xfrm>
              <a:off x="1457" y="2676"/>
              <a:ext cx="8" cy="80"/>
            </a:xfrm>
            <a:prstGeom prst="rect">
              <a:avLst/>
            </a:prstGeom>
            <a:solidFill>
              <a:srgbClr val="CACACA"/>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78" name="Rectangle 993"/>
            <p:cNvSpPr>
              <a:spLocks noChangeArrowheads="1"/>
            </p:cNvSpPr>
            <p:nvPr/>
          </p:nvSpPr>
          <p:spPr bwMode="auto">
            <a:xfrm>
              <a:off x="1465" y="2676"/>
              <a:ext cx="8" cy="80"/>
            </a:xfrm>
            <a:prstGeom prst="rect">
              <a:avLst/>
            </a:prstGeom>
            <a:solidFill>
              <a:srgbClr val="CBCBCB"/>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79" name="Rectangle 994"/>
            <p:cNvSpPr>
              <a:spLocks noChangeArrowheads="1"/>
            </p:cNvSpPr>
            <p:nvPr/>
          </p:nvSpPr>
          <p:spPr bwMode="auto">
            <a:xfrm>
              <a:off x="1473" y="2676"/>
              <a:ext cx="8" cy="80"/>
            </a:xfrm>
            <a:prstGeom prst="rect">
              <a:avLst/>
            </a:prstGeom>
            <a:solidFill>
              <a:srgbClr val="CCCCCC"/>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80" name="Rectangle 995"/>
            <p:cNvSpPr>
              <a:spLocks noChangeArrowheads="1"/>
            </p:cNvSpPr>
            <p:nvPr/>
          </p:nvSpPr>
          <p:spPr bwMode="auto">
            <a:xfrm>
              <a:off x="1481" y="2676"/>
              <a:ext cx="8" cy="80"/>
            </a:xfrm>
            <a:prstGeom prst="rect">
              <a:avLst/>
            </a:prstGeom>
            <a:solidFill>
              <a:srgbClr val="CDCDCD"/>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81" name="Rectangle 996"/>
            <p:cNvSpPr>
              <a:spLocks noChangeArrowheads="1"/>
            </p:cNvSpPr>
            <p:nvPr/>
          </p:nvSpPr>
          <p:spPr bwMode="auto">
            <a:xfrm>
              <a:off x="1489" y="2676"/>
              <a:ext cx="8" cy="80"/>
            </a:xfrm>
            <a:prstGeom prst="rect">
              <a:avLst/>
            </a:prstGeom>
            <a:solidFill>
              <a:srgbClr val="CFCFC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82" name="Rectangle 997"/>
            <p:cNvSpPr>
              <a:spLocks noChangeArrowheads="1"/>
            </p:cNvSpPr>
            <p:nvPr/>
          </p:nvSpPr>
          <p:spPr bwMode="auto">
            <a:xfrm>
              <a:off x="1497" y="2676"/>
              <a:ext cx="8" cy="80"/>
            </a:xfrm>
            <a:prstGeom prst="rect">
              <a:avLst/>
            </a:prstGeom>
            <a:solidFill>
              <a:srgbClr val="D1D1D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83" name="Rectangle 998"/>
            <p:cNvSpPr>
              <a:spLocks noChangeArrowheads="1"/>
            </p:cNvSpPr>
            <p:nvPr/>
          </p:nvSpPr>
          <p:spPr bwMode="auto">
            <a:xfrm>
              <a:off x="1505" y="2676"/>
              <a:ext cx="8" cy="80"/>
            </a:xfrm>
            <a:prstGeom prst="rect">
              <a:avLst/>
            </a:prstGeom>
            <a:solidFill>
              <a:srgbClr val="D2D2D2"/>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84" name="Rectangle 999"/>
            <p:cNvSpPr>
              <a:spLocks noChangeArrowheads="1"/>
            </p:cNvSpPr>
            <p:nvPr/>
          </p:nvSpPr>
          <p:spPr bwMode="auto">
            <a:xfrm>
              <a:off x="1513" y="2676"/>
              <a:ext cx="8" cy="80"/>
            </a:xfrm>
            <a:prstGeom prst="rect">
              <a:avLst/>
            </a:prstGeom>
            <a:solidFill>
              <a:srgbClr val="D3D3D3"/>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85" name="Rectangle 1000"/>
            <p:cNvSpPr>
              <a:spLocks noChangeArrowheads="1"/>
            </p:cNvSpPr>
            <p:nvPr/>
          </p:nvSpPr>
          <p:spPr bwMode="auto">
            <a:xfrm>
              <a:off x="1521" y="2676"/>
              <a:ext cx="8" cy="80"/>
            </a:xfrm>
            <a:prstGeom prst="rect">
              <a:avLst/>
            </a:prstGeom>
            <a:solidFill>
              <a:srgbClr val="D5D5D5"/>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86" name="Rectangle 1001"/>
            <p:cNvSpPr>
              <a:spLocks noChangeArrowheads="1"/>
            </p:cNvSpPr>
            <p:nvPr/>
          </p:nvSpPr>
          <p:spPr bwMode="auto">
            <a:xfrm>
              <a:off x="1529" y="2676"/>
              <a:ext cx="8" cy="80"/>
            </a:xfrm>
            <a:prstGeom prst="rect">
              <a:avLst/>
            </a:prstGeom>
            <a:solidFill>
              <a:srgbClr val="D6D6D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87" name="Rectangle 1002"/>
            <p:cNvSpPr>
              <a:spLocks noChangeArrowheads="1"/>
            </p:cNvSpPr>
            <p:nvPr/>
          </p:nvSpPr>
          <p:spPr bwMode="auto">
            <a:xfrm>
              <a:off x="1537" y="2676"/>
              <a:ext cx="8" cy="80"/>
            </a:xfrm>
            <a:prstGeom prst="rect">
              <a:avLst/>
            </a:prstGeom>
            <a:solidFill>
              <a:srgbClr val="D8D8D8"/>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88" name="Rectangle 1003"/>
            <p:cNvSpPr>
              <a:spLocks noChangeArrowheads="1"/>
            </p:cNvSpPr>
            <p:nvPr/>
          </p:nvSpPr>
          <p:spPr bwMode="auto">
            <a:xfrm>
              <a:off x="1545" y="2676"/>
              <a:ext cx="8" cy="80"/>
            </a:xfrm>
            <a:prstGeom prst="rect">
              <a:avLst/>
            </a:prstGeom>
            <a:solidFill>
              <a:srgbClr val="D9D9D9"/>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89" name="Rectangle 1004"/>
            <p:cNvSpPr>
              <a:spLocks noChangeArrowheads="1"/>
            </p:cNvSpPr>
            <p:nvPr/>
          </p:nvSpPr>
          <p:spPr bwMode="auto">
            <a:xfrm>
              <a:off x="1553" y="2676"/>
              <a:ext cx="8" cy="80"/>
            </a:xfrm>
            <a:prstGeom prst="rect">
              <a:avLst/>
            </a:prstGeom>
            <a:solidFill>
              <a:srgbClr val="DBDBDB"/>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90" name="Rectangle 1005"/>
            <p:cNvSpPr>
              <a:spLocks noChangeArrowheads="1"/>
            </p:cNvSpPr>
            <p:nvPr/>
          </p:nvSpPr>
          <p:spPr bwMode="auto">
            <a:xfrm>
              <a:off x="1561" y="2676"/>
              <a:ext cx="8" cy="80"/>
            </a:xfrm>
            <a:prstGeom prst="rect">
              <a:avLst/>
            </a:prstGeom>
            <a:solidFill>
              <a:srgbClr val="DCDCDC"/>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91" name="Rectangle 1006"/>
            <p:cNvSpPr>
              <a:spLocks noChangeArrowheads="1"/>
            </p:cNvSpPr>
            <p:nvPr/>
          </p:nvSpPr>
          <p:spPr bwMode="auto">
            <a:xfrm>
              <a:off x="1569" y="2676"/>
              <a:ext cx="8" cy="80"/>
            </a:xfrm>
            <a:prstGeom prst="rect">
              <a:avLst/>
            </a:prstGeom>
            <a:solidFill>
              <a:srgbClr val="DEDEDE"/>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92" name="Rectangle 1007"/>
            <p:cNvSpPr>
              <a:spLocks noChangeArrowheads="1"/>
            </p:cNvSpPr>
            <p:nvPr/>
          </p:nvSpPr>
          <p:spPr bwMode="auto">
            <a:xfrm>
              <a:off x="1577" y="2676"/>
              <a:ext cx="8" cy="80"/>
            </a:xfrm>
            <a:prstGeom prst="rect">
              <a:avLst/>
            </a:prstGeom>
            <a:solidFill>
              <a:srgbClr val="DFDFD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93" name="Rectangle 1008"/>
            <p:cNvSpPr>
              <a:spLocks noChangeArrowheads="1"/>
            </p:cNvSpPr>
            <p:nvPr/>
          </p:nvSpPr>
          <p:spPr bwMode="auto">
            <a:xfrm>
              <a:off x="1585" y="2676"/>
              <a:ext cx="8" cy="80"/>
            </a:xfrm>
            <a:prstGeom prst="rect">
              <a:avLst/>
            </a:prstGeom>
            <a:solidFill>
              <a:srgbClr val="E0E0E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94" name="Rectangle 1009"/>
            <p:cNvSpPr>
              <a:spLocks noChangeArrowheads="1"/>
            </p:cNvSpPr>
            <p:nvPr/>
          </p:nvSpPr>
          <p:spPr bwMode="auto">
            <a:xfrm>
              <a:off x="1593" y="2676"/>
              <a:ext cx="8" cy="80"/>
            </a:xfrm>
            <a:prstGeom prst="rect">
              <a:avLst/>
            </a:prstGeom>
            <a:solidFill>
              <a:srgbClr val="E2E2E2"/>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95" name="Rectangle 1010"/>
            <p:cNvSpPr>
              <a:spLocks noChangeArrowheads="1"/>
            </p:cNvSpPr>
            <p:nvPr/>
          </p:nvSpPr>
          <p:spPr bwMode="auto">
            <a:xfrm>
              <a:off x="1601" y="2676"/>
              <a:ext cx="8" cy="80"/>
            </a:xfrm>
            <a:prstGeom prst="rect">
              <a:avLst/>
            </a:prstGeom>
            <a:solidFill>
              <a:srgbClr val="E3E3E3"/>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96" name="Rectangle 1011"/>
            <p:cNvSpPr>
              <a:spLocks noChangeArrowheads="1"/>
            </p:cNvSpPr>
            <p:nvPr/>
          </p:nvSpPr>
          <p:spPr bwMode="auto">
            <a:xfrm>
              <a:off x="1609" y="2676"/>
              <a:ext cx="8" cy="80"/>
            </a:xfrm>
            <a:prstGeom prst="rect">
              <a:avLst/>
            </a:prstGeom>
            <a:solidFill>
              <a:srgbClr val="E5E5E5"/>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97" name="Rectangle 1012"/>
            <p:cNvSpPr>
              <a:spLocks noChangeArrowheads="1"/>
            </p:cNvSpPr>
            <p:nvPr/>
          </p:nvSpPr>
          <p:spPr bwMode="auto">
            <a:xfrm>
              <a:off x="1401" y="2452"/>
              <a:ext cx="232" cy="8"/>
            </a:xfrm>
            <a:prstGeom prst="rect">
              <a:avLst/>
            </a:prstGeom>
            <a:solidFill>
              <a:srgbClr val="A8A8A8"/>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98" name="Rectangle 1013"/>
            <p:cNvSpPr>
              <a:spLocks noChangeArrowheads="1"/>
            </p:cNvSpPr>
            <p:nvPr/>
          </p:nvSpPr>
          <p:spPr bwMode="auto">
            <a:xfrm>
              <a:off x="1401" y="2460"/>
              <a:ext cx="232" cy="8"/>
            </a:xfrm>
            <a:prstGeom prst="rect">
              <a:avLst/>
            </a:prstGeom>
            <a:solidFill>
              <a:srgbClr val="C1C1C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99" name="Rectangle 1014"/>
            <p:cNvSpPr>
              <a:spLocks noChangeArrowheads="1"/>
            </p:cNvSpPr>
            <p:nvPr/>
          </p:nvSpPr>
          <p:spPr bwMode="auto">
            <a:xfrm>
              <a:off x="1406" y="2453"/>
              <a:ext cx="230" cy="9"/>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400" name="Rectangle 1015"/>
            <p:cNvSpPr>
              <a:spLocks noChangeArrowheads="1"/>
            </p:cNvSpPr>
            <p:nvPr/>
          </p:nvSpPr>
          <p:spPr bwMode="auto">
            <a:xfrm>
              <a:off x="1401" y="2460"/>
              <a:ext cx="8" cy="40"/>
            </a:xfrm>
            <a:prstGeom prst="rect">
              <a:avLst/>
            </a:prstGeom>
            <a:solidFill>
              <a:srgbClr val="9D9D9D"/>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01" name="Rectangle 1016"/>
            <p:cNvSpPr>
              <a:spLocks noChangeArrowheads="1"/>
            </p:cNvSpPr>
            <p:nvPr/>
          </p:nvSpPr>
          <p:spPr bwMode="auto">
            <a:xfrm>
              <a:off x="1409" y="2460"/>
              <a:ext cx="8" cy="40"/>
            </a:xfrm>
            <a:prstGeom prst="rect">
              <a:avLst/>
            </a:prstGeom>
            <a:solidFill>
              <a:srgbClr val="9C9C9C"/>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02" name="Rectangle 1017"/>
            <p:cNvSpPr>
              <a:spLocks noChangeArrowheads="1"/>
            </p:cNvSpPr>
            <p:nvPr/>
          </p:nvSpPr>
          <p:spPr bwMode="auto">
            <a:xfrm>
              <a:off x="1417" y="2460"/>
              <a:ext cx="8" cy="40"/>
            </a:xfrm>
            <a:prstGeom prst="rect">
              <a:avLst/>
            </a:prstGeom>
            <a:solidFill>
              <a:srgbClr val="A2A2A2"/>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03" name="Rectangle 1018"/>
            <p:cNvSpPr>
              <a:spLocks noChangeArrowheads="1"/>
            </p:cNvSpPr>
            <p:nvPr/>
          </p:nvSpPr>
          <p:spPr bwMode="auto">
            <a:xfrm>
              <a:off x="1425" y="2460"/>
              <a:ext cx="8" cy="40"/>
            </a:xfrm>
            <a:prstGeom prst="rect">
              <a:avLst/>
            </a:prstGeom>
            <a:solidFill>
              <a:srgbClr val="A7A7A7"/>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04" name="Rectangle 1019"/>
            <p:cNvSpPr>
              <a:spLocks noChangeArrowheads="1"/>
            </p:cNvSpPr>
            <p:nvPr/>
          </p:nvSpPr>
          <p:spPr bwMode="auto">
            <a:xfrm>
              <a:off x="1433" y="2460"/>
              <a:ext cx="8" cy="40"/>
            </a:xfrm>
            <a:prstGeom prst="rect">
              <a:avLst/>
            </a:prstGeom>
            <a:solidFill>
              <a:srgbClr val="ACACAC"/>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05" name="Rectangle 1020"/>
            <p:cNvSpPr>
              <a:spLocks noChangeArrowheads="1"/>
            </p:cNvSpPr>
            <p:nvPr/>
          </p:nvSpPr>
          <p:spPr bwMode="auto">
            <a:xfrm>
              <a:off x="1441" y="2460"/>
              <a:ext cx="8" cy="40"/>
            </a:xfrm>
            <a:prstGeom prst="rect">
              <a:avLst/>
            </a:prstGeom>
            <a:solidFill>
              <a:srgbClr val="B2B2B2"/>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06" name="Rectangle 1021"/>
            <p:cNvSpPr>
              <a:spLocks noChangeArrowheads="1"/>
            </p:cNvSpPr>
            <p:nvPr/>
          </p:nvSpPr>
          <p:spPr bwMode="auto">
            <a:xfrm>
              <a:off x="1449" y="2460"/>
              <a:ext cx="8" cy="40"/>
            </a:xfrm>
            <a:prstGeom prst="rect">
              <a:avLst/>
            </a:prstGeom>
            <a:solidFill>
              <a:srgbClr val="B7B7B7"/>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07" name="Rectangle 1022"/>
            <p:cNvSpPr>
              <a:spLocks noChangeArrowheads="1"/>
            </p:cNvSpPr>
            <p:nvPr/>
          </p:nvSpPr>
          <p:spPr bwMode="auto">
            <a:xfrm>
              <a:off x="1457" y="2460"/>
              <a:ext cx="8" cy="40"/>
            </a:xfrm>
            <a:prstGeom prst="rect">
              <a:avLst/>
            </a:prstGeom>
            <a:solidFill>
              <a:srgbClr val="BCBCBC"/>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08" name="Rectangle 1023"/>
            <p:cNvSpPr>
              <a:spLocks noChangeArrowheads="1"/>
            </p:cNvSpPr>
            <p:nvPr/>
          </p:nvSpPr>
          <p:spPr bwMode="auto">
            <a:xfrm>
              <a:off x="1465" y="2460"/>
              <a:ext cx="8" cy="40"/>
            </a:xfrm>
            <a:prstGeom prst="rect">
              <a:avLst/>
            </a:prstGeom>
            <a:solidFill>
              <a:srgbClr val="C1C1C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09" name="Rectangle 1024"/>
            <p:cNvSpPr>
              <a:spLocks noChangeArrowheads="1"/>
            </p:cNvSpPr>
            <p:nvPr/>
          </p:nvSpPr>
          <p:spPr bwMode="auto">
            <a:xfrm>
              <a:off x="1473" y="2460"/>
              <a:ext cx="8" cy="40"/>
            </a:xfrm>
            <a:prstGeom prst="rect">
              <a:avLst/>
            </a:prstGeom>
            <a:solidFill>
              <a:srgbClr val="C7C7C7"/>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10" name="Rectangle 1025"/>
            <p:cNvSpPr>
              <a:spLocks noChangeArrowheads="1"/>
            </p:cNvSpPr>
            <p:nvPr/>
          </p:nvSpPr>
          <p:spPr bwMode="auto">
            <a:xfrm>
              <a:off x="1481" y="2460"/>
              <a:ext cx="8" cy="40"/>
            </a:xfrm>
            <a:prstGeom prst="rect">
              <a:avLst/>
            </a:prstGeom>
            <a:solidFill>
              <a:srgbClr val="CCCCCC"/>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11" name="Rectangle 1026"/>
            <p:cNvSpPr>
              <a:spLocks noChangeArrowheads="1"/>
            </p:cNvSpPr>
            <p:nvPr/>
          </p:nvSpPr>
          <p:spPr bwMode="auto">
            <a:xfrm>
              <a:off x="1489" y="2460"/>
              <a:ext cx="8" cy="40"/>
            </a:xfrm>
            <a:prstGeom prst="rect">
              <a:avLst/>
            </a:prstGeom>
            <a:solidFill>
              <a:srgbClr val="D1D1D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12" name="Rectangle 1027"/>
            <p:cNvSpPr>
              <a:spLocks noChangeArrowheads="1"/>
            </p:cNvSpPr>
            <p:nvPr/>
          </p:nvSpPr>
          <p:spPr bwMode="auto">
            <a:xfrm>
              <a:off x="1497" y="2460"/>
              <a:ext cx="8" cy="40"/>
            </a:xfrm>
            <a:prstGeom prst="rect">
              <a:avLst/>
            </a:prstGeom>
            <a:solidFill>
              <a:srgbClr val="D7D7D7"/>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13" name="Rectangle 1028"/>
            <p:cNvSpPr>
              <a:spLocks noChangeArrowheads="1"/>
            </p:cNvSpPr>
            <p:nvPr/>
          </p:nvSpPr>
          <p:spPr bwMode="auto">
            <a:xfrm>
              <a:off x="1505" y="2460"/>
              <a:ext cx="8" cy="40"/>
            </a:xfrm>
            <a:prstGeom prst="rect">
              <a:avLst/>
            </a:prstGeom>
            <a:solidFill>
              <a:srgbClr val="DCDCDC"/>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14" name="Rectangle 1029"/>
            <p:cNvSpPr>
              <a:spLocks noChangeArrowheads="1"/>
            </p:cNvSpPr>
            <p:nvPr/>
          </p:nvSpPr>
          <p:spPr bwMode="auto">
            <a:xfrm>
              <a:off x="1513" y="2460"/>
              <a:ext cx="8" cy="40"/>
            </a:xfrm>
            <a:prstGeom prst="rect">
              <a:avLst/>
            </a:prstGeom>
            <a:solidFill>
              <a:srgbClr val="E1E1E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15" name="Rectangle 1030"/>
            <p:cNvSpPr>
              <a:spLocks noChangeArrowheads="1"/>
            </p:cNvSpPr>
            <p:nvPr/>
          </p:nvSpPr>
          <p:spPr bwMode="auto">
            <a:xfrm>
              <a:off x="1521" y="2460"/>
              <a:ext cx="8" cy="40"/>
            </a:xfrm>
            <a:prstGeom prst="rect">
              <a:avLst/>
            </a:prstGeom>
            <a:solidFill>
              <a:srgbClr val="E6E6E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16" name="Rectangle 1031"/>
            <p:cNvSpPr>
              <a:spLocks noChangeArrowheads="1"/>
            </p:cNvSpPr>
            <p:nvPr/>
          </p:nvSpPr>
          <p:spPr bwMode="auto">
            <a:xfrm>
              <a:off x="1529" y="2460"/>
              <a:ext cx="8" cy="40"/>
            </a:xfrm>
            <a:prstGeom prst="rect">
              <a:avLst/>
            </a:prstGeom>
            <a:solidFill>
              <a:srgbClr val="E1E1E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17" name="Rectangle 1032"/>
            <p:cNvSpPr>
              <a:spLocks noChangeArrowheads="1"/>
            </p:cNvSpPr>
            <p:nvPr/>
          </p:nvSpPr>
          <p:spPr bwMode="auto">
            <a:xfrm>
              <a:off x="1537" y="2460"/>
              <a:ext cx="8" cy="40"/>
            </a:xfrm>
            <a:prstGeom prst="rect">
              <a:avLst/>
            </a:prstGeom>
            <a:solidFill>
              <a:srgbClr val="DBDBDB"/>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18" name="Rectangle 1033"/>
            <p:cNvSpPr>
              <a:spLocks noChangeArrowheads="1"/>
            </p:cNvSpPr>
            <p:nvPr/>
          </p:nvSpPr>
          <p:spPr bwMode="auto">
            <a:xfrm>
              <a:off x="1545" y="2460"/>
              <a:ext cx="8" cy="40"/>
            </a:xfrm>
            <a:prstGeom prst="rect">
              <a:avLst/>
            </a:prstGeom>
            <a:solidFill>
              <a:srgbClr val="D6D6D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19" name="Rectangle 1034"/>
            <p:cNvSpPr>
              <a:spLocks noChangeArrowheads="1"/>
            </p:cNvSpPr>
            <p:nvPr/>
          </p:nvSpPr>
          <p:spPr bwMode="auto">
            <a:xfrm>
              <a:off x="1553" y="2460"/>
              <a:ext cx="8" cy="40"/>
            </a:xfrm>
            <a:prstGeom prst="rect">
              <a:avLst/>
            </a:prstGeom>
            <a:solidFill>
              <a:srgbClr val="D1D1D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20" name="Rectangle 1035"/>
            <p:cNvSpPr>
              <a:spLocks noChangeArrowheads="1"/>
            </p:cNvSpPr>
            <p:nvPr/>
          </p:nvSpPr>
          <p:spPr bwMode="auto">
            <a:xfrm>
              <a:off x="1561" y="2460"/>
              <a:ext cx="8" cy="40"/>
            </a:xfrm>
            <a:prstGeom prst="rect">
              <a:avLst/>
            </a:prstGeom>
            <a:solidFill>
              <a:srgbClr val="CCCCCC"/>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21" name="Rectangle 1036"/>
            <p:cNvSpPr>
              <a:spLocks noChangeArrowheads="1"/>
            </p:cNvSpPr>
            <p:nvPr/>
          </p:nvSpPr>
          <p:spPr bwMode="auto">
            <a:xfrm>
              <a:off x="1569" y="2460"/>
              <a:ext cx="8" cy="40"/>
            </a:xfrm>
            <a:prstGeom prst="rect">
              <a:avLst/>
            </a:prstGeom>
            <a:solidFill>
              <a:srgbClr val="C6C6C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22" name="Rectangle 1037"/>
            <p:cNvSpPr>
              <a:spLocks noChangeArrowheads="1"/>
            </p:cNvSpPr>
            <p:nvPr/>
          </p:nvSpPr>
          <p:spPr bwMode="auto">
            <a:xfrm>
              <a:off x="1577" y="2460"/>
              <a:ext cx="8" cy="40"/>
            </a:xfrm>
            <a:prstGeom prst="rect">
              <a:avLst/>
            </a:prstGeom>
            <a:solidFill>
              <a:srgbClr val="C1C1C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23" name="Rectangle 1038"/>
            <p:cNvSpPr>
              <a:spLocks noChangeArrowheads="1"/>
            </p:cNvSpPr>
            <p:nvPr/>
          </p:nvSpPr>
          <p:spPr bwMode="auto">
            <a:xfrm>
              <a:off x="1585" y="2460"/>
              <a:ext cx="8" cy="40"/>
            </a:xfrm>
            <a:prstGeom prst="rect">
              <a:avLst/>
            </a:prstGeom>
            <a:solidFill>
              <a:srgbClr val="BCBCBC"/>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24" name="Rectangle 1039"/>
            <p:cNvSpPr>
              <a:spLocks noChangeArrowheads="1"/>
            </p:cNvSpPr>
            <p:nvPr/>
          </p:nvSpPr>
          <p:spPr bwMode="auto">
            <a:xfrm>
              <a:off x="1593" y="2460"/>
              <a:ext cx="8" cy="40"/>
            </a:xfrm>
            <a:prstGeom prst="rect">
              <a:avLst/>
            </a:prstGeom>
            <a:solidFill>
              <a:srgbClr val="B6B6B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25" name="Rectangle 1040"/>
            <p:cNvSpPr>
              <a:spLocks noChangeArrowheads="1"/>
            </p:cNvSpPr>
            <p:nvPr/>
          </p:nvSpPr>
          <p:spPr bwMode="auto">
            <a:xfrm>
              <a:off x="1601" y="2460"/>
              <a:ext cx="8" cy="40"/>
            </a:xfrm>
            <a:prstGeom prst="rect">
              <a:avLst/>
            </a:prstGeom>
            <a:solidFill>
              <a:srgbClr val="B1B1B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26" name="Rectangle 1041"/>
            <p:cNvSpPr>
              <a:spLocks noChangeArrowheads="1"/>
            </p:cNvSpPr>
            <p:nvPr/>
          </p:nvSpPr>
          <p:spPr bwMode="auto">
            <a:xfrm>
              <a:off x="1609" y="2460"/>
              <a:ext cx="8" cy="40"/>
            </a:xfrm>
            <a:prstGeom prst="rect">
              <a:avLst/>
            </a:prstGeom>
            <a:solidFill>
              <a:srgbClr val="ABABAB"/>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27" name="Rectangle 1042"/>
            <p:cNvSpPr>
              <a:spLocks noChangeArrowheads="1"/>
            </p:cNvSpPr>
            <p:nvPr/>
          </p:nvSpPr>
          <p:spPr bwMode="auto">
            <a:xfrm>
              <a:off x="1617" y="2460"/>
              <a:ext cx="8" cy="40"/>
            </a:xfrm>
            <a:prstGeom prst="rect">
              <a:avLst/>
            </a:prstGeom>
            <a:solidFill>
              <a:srgbClr val="A6A6A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28" name="Rectangle 1043"/>
            <p:cNvSpPr>
              <a:spLocks noChangeArrowheads="1"/>
            </p:cNvSpPr>
            <p:nvPr/>
          </p:nvSpPr>
          <p:spPr bwMode="auto">
            <a:xfrm>
              <a:off x="1625" y="2460"/>
              <a:ext cx="8" cy="40"/>
            </a:xfrm>
            <a:prstGeom prst="rect">
              <a:avLst/>
            </a:prstGeom>
            <a:solidFill>
              <a:srgbClr val="A1A1A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29" name="Rectangle 1044"/>
            <p:cNvSpPr>
              <a:spLocks noChangeArrowheads="1"/>
            </p:cNvSpPr>
            <p:nvPr/>
          </p:nvSpPr>
          <p:spPr bwMode="auto">
            <a:xfrm>
              <a:off x="1406" y="2462"/>
              <a:ext cx="230" cy="36"/>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430" name="Rectangle 1045"/>
            <p:cNvSpPr>
              <a:spLocks noChangeArrowheads="1"/>
            </p:cNvSpPr>
            <p:nvPr/>
          </p:nvSpPr>
          <p:spPr bwMode="auto">
            <a:xfrm>
              <a:off x="1412" y="2469"/>
              <a:ext cx="50" cy="22"/>
            </a:xfrm>
            <a:prstGeom prst="rect">
              <a:avLst/>
            </a:prstGeom>
            <a:solidFill>
              <a:srgbClr val="66666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31" name="Rectangle 1046"/>
            <p:cNvSpPr>
              <a:spLocks noChangeArrowheads="1"/>
            </p:cNvSpPr>
            <p:nvPr/>
          </p:nvSpPr>
          <p:spPr bwMode="auto">
            <a:xfrm>
              <a:off x="1412" y="2469"/>
              <a:ext cx="50" cy="22"/>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432" name="Rectangle 1047"/>
            <p:cNvSpPr>
              <a:spLocks noChangeArrowheads="1"/>
            </p:cNvSpPr>
            <p:nvPr/>
          </p:nvSpPr>
          <p:spPr bwMode="auto">
            <a:xfrm>
              <a:off x="1415" y="2472"/>
              <a:ext cx="13" cy="6"/>
            </a:xfrm>
            <a:prstGeom prst="rect">
              <a:avLst/>
            </a:prstGeom>
            <a:solidFill>
              <a:srgbClr val="FF00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33" name="Rectangle 1048"/>
            <p:cNvSpPr>
              <a:spLocks noChangeArrowheads="1"/>
            </p:cNvSpPr>
            <p:nvPr/>
          </p:nvSpPr>
          <p:spPr bwMode="auto">
            <a:xfrm>
              <a:off x="1446" y="2472"/>
              <a:ext cx="13" cy="6"/>
            </a:xfrm>
            <a:prstGeom prst="rect">
              <a:avLst/>
            </a:prstGeom>
            <a:solidFill>
              <a:srgbClr val="00FF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34" name="Rectangle 1049"/>
            <p:cNvSpPr>
              <a:spLocks noChangeArrowheads="1"/>
            </p:cNvSpPr>
            <p:nvPr/>
          </p:nvSpPr>
          <p:spPr bwMode="auto">
            <a:xfrm>
              <a:off x="1415" y="2482"/>
              <a:ext cx="13" cy="6"/>
            </a:xfrm>
            <a:prstGeom prst="rect">
              <a:avLst/>
            </a:prstGeom>
            <a:solidFill>
              <a:srgbClr val="00FF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35" name="Rectangle 1050"/>
            <p:cNvSpPr>
              <a:spLocks noChangeArrowheads="1"/>
            </p:cNvSpPr>
            <p:nvPr/>
          </p:nvSpPr>
          <p:spPr bwMode="auto">
            <a:xfrm>
              <a:off x="1431" y="2482"/>
              <a:ext cx="12" cy="6"/>
            </a:xfrm>
            <a:prstGeom prst="rect">
              <a:avLst/>
            </a:prstGeom>
            <a:solidFill>
              <a:srgbClr val="FF00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36" name="Rectangle 1051"/>
            <p:cNvSpPr>
              <a:spLocks noChangeArrowheads="1"/>
            </p:cNvSpPr>
            <p:nvPr/>
          </p:nvSpPr>
          <p:spPr bwMode="auto">
            <a:xfrm>
              <a:off x="1431" y="2472"/>
              <a:ext cx="12" cy="6"/>
            </a:xfrm>
            <a:prstGeom prst="rect">
              <a:avLst/>
            </a:prstGeom>
            <a:solidFill>
              <a:srgbClr val="FF00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37" name="Rectangle 1052"/>
            <p:cNvSpPr>
              <a:spLocks noChangeArrowheads="1"/>
            </p:cNvSpPr>
            <p:nvPr/>
          </p:nvSpPr>
          <p:spPr bwMode="auto">
            <a:xfrm>
              <a:off x="1446" y="2482"/>
              <a:ext cx="13" cy="6"/>
            </a:xfrm>
            <a:prstGeom prst="rect">
              <a:avLst/>
            </a:prstGeom>
            <a:solidFill>
              <a:srgbClr val="00FF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38" name="Freeform 1053"/>
            <p:cNvSpPr>
              <a:spLocks noEditPoints="1"/>
            </p:cNvSpPr>
            <p:nvPr/>
          </p:nvSpPr>
          <p:spPr bwMode="auto">
            <a:xfrm>
              <a:off x="1406" y="2552"/>
              <a:ext cx="230" cy="259"/>
            </a:xfrm>
            <a:custGeom>
              <a:avLst/>
              <a:gdLst>
                <a:gd name="T0" fmla="*/ 230 w 230"/>
                <a:gd name="T1" fmla="*/ 128 h 259"/>
                <a:gd name="T2" fmla="*/ 230 w 230"/>
                <a:gd name="T3" fmla="*/ 131 h 259"/>
                <a:gd name="T4" fmla="*/ 0 w 230"/>
                <a:gd name="T5" fmla="*/ 131 h 259"/>
                <a:gd name="T6" fmla="*/ 0 w 230"/>
                <a:gd name="T7" fmla="*/ 128 h 259"/>
                <a:gd name="T8" fmla="*/ 230 w 230"/>
                <a:gd name="T9" fmla="*/ 128 h 259"/>
                <a:gd name="T10" fmla="*/ 230 w 230"/>
                <a:gd name="T11" fmla="*/ 102 h 259"/>
                <a:gd name="T12" fmla="*/ 230 w 230"/>
                <a:gd name="T13" fmla="*/ 106 h 259"/>
                <a:gd name="T14" fmla="*/ 0 w 230"/>
                <a:gd name="T15" fmla="*/ 106 h 259"/>
                <a:gd name="T16" fmla="*/ 0 w 230"/>
                <a:gd name="T17" fmla="*/ 102 h 259"/>
                <a:gd name="T18" fmla="*/ 230 w 230"/>
                <a:gd name="T19" fmla="*/ 102 h 259"/>
                <a:gd name="T20" fmla="*/ 230 w 230"/>
                <a:gd name="T21" fmla="*/ 77 h 259"/>
                <a:gd name="T22" fmla="*/ 230 w 230"/>
                <a:gd name="T23" fmla="*/ 80 h 259"/>
                <a:gd name="T24" fmla="*/ 0 w 230"/>
                <a:gd name="T25" fmla="*/ 80 h 259"/>
                <a:gd name="T26" fmla="*/ 0 w 230"/>
                <a:gd name="T27" fmla="*/ 77 h 259"/>
                <a:gd name="T28" fmla="*/ 230 w 230"/>
                <a:gd name="T29" fmla="*/ 77 h 259"/>
                <a:gd name="T30" fmla="*/ 230 w 230"/>
                <a:gd name="T31" fmla="*/ 51 h 259"/>
                <a:gd name="T32" fmla="*/ 230 w 230"/>
                <a:gd name="T33" fmla="*/ 54 h 259"/>
                <a:gd name="T34" fmla="*/ 0 w 230"/>
                <a:gd name="T35" fmla="*/ 54 h 259"/>
                <a:gd name="T36" fmla="*/ 0 w 230"/>
                <a:gd name="T37" fmla="*/ 51 h 259"/>
                <a:gd name="T38" fmla="*/ 230 w 230"/>
                <a:gd name="T39" fmla="*/ 51 h 259"/>
                <a:gd name="T40" fmla="*/ 230 w 230"/>
                <a:gd name="T41" fmla="*/ 26 h 259"/>
                <a:gd name="T42" fmla="*/ 230 w 230"/>
                <a:gd name="T43" fmla="*/ 29 h 259"/>
                <a:gd name="T44" fmla="*/ 0 w 230"/>
                <a:gd name="T45" fmla="*/ 29 h 259"/>
                <a:gd name="T46" fmla="*/ 0 w 230"/>
                <a:gd name="T47" fmla="*/ 26 h 259"/>
                <a:gd name="T48" fmla="*/ 230 w 230"/>
                <a:gd name="T49" fmla="*/ 26 h 259"/>
                <a:gd name="T50" fmla="*/ 230 w 230"/>
                <a:gd name="T51" fmla="*/ 0 h 259"/>
                <a:gd name="T52" fmla="*/ 230 w 230"/>
                <a:gd name="T53" fmla="*/ 3 h 259"/>
                <a:gd name="T54" fmla="*/ 0 w 230"/>
                <a:gd name="T55" fmla="*/ 3 h 259"/>
                <a:gd name="T56" fmla="*/ 0 w 230"/>
                <a:gd name="T57" fmla="*/ 0 h 259"/>
                <a:gd name="T58" fmla="*/ 230 w 230"/>
                <a:gd name="T59" fmla="*/ 0 h 259"/>
                <a:gd name="T60" fmla="*/ 230 w 230"/>
                <a:gd name="T61" fmla="*/ 179 h 259"/>
                <a:gd name="T62" fmla="*/ 230 w 230"/>
                <a:gd name="T63" fmla="*/ 182 h 259"/>
                <a:gd name="T64" fmla="*/ 205 w 230"/>
                <a:gd name="T65" fmla="*/ 182 h 259"/>
                <a:gd name="T66" fmla="*/ 205 w 230"/>
                <a:gd name="T67" fmla="*/ 179 h 259"/>
                <a:gd name="T68" fmla="*/ 230 w 230"/>
                <a:gd name="T69" fmla="*/ 179 h 259"/>
                <a:gd name="T70" fmla="*/ 230 w 230"/>
                <a:gd name="T71" fmla="*/ 154 h 259"/>
                <a:gd name="T72" fmla="*/ 230 w 230"/>
                <a:gd name="T73" fmla="*/ 157 h 259"/>
                <a:gd name="T74" fmla="*/ 205 w 230"/>
                <a:gd name="T75" fmla="*/ 157 h 259"/>
                <a:gd name="T76" fmla="*/ 205 w 230"/>
                <a:gd name="T77" fmla="*/ 154 h 259"/>
                <a:gd name="T78" fmla="*/ 230 w 230"/>
                <a:gd name="T79" fmla="*/ 154 h 259"/>
                <a:gd name="T80" fmla="*/ 230 w 230"/>
                <a:gd name="T81" fmla="*/ 205 h 259"/>
                <a:gd name="T82" fmla="*/ 230 w 230"/>
                <a:gd name="T83" fmla="*/ 208 h 259"/>
                <a:gd name="T84" fmla="*/ 0 w 230"/>
                <a:gd name="T85" fmla="*/ 208 h 259"/>
                <a:gd name="T86" fmla="*/ 0 w 230"/>
                <a:gd name="T87" fmla="*/ 205 h 259"/>
                <a:gd name="T88" fmla="*/ 230 w 230"/>
                <a:gd name="T89" fmla="*/ 205 h 259"/>
                <a:gd name="T90" fmla="*/ 230 w 230"/>
                <a:gd name="T91" fmla="*/ 230 h 259"/>
                <a:gd name="T92" fmla="*/ 230 w 230"/>
                <a:gd name="T93" fmla="*/ 234 h 259"/>
                <a:gd name="T94" fmla="*/ 0 w 230"/>
                <a:gd name="T95" fmla="*/ 234 h 259"/>
                <a:gd name="T96" fmla="*/ 0 w 230"/>
                <a:gd name="T97" fmla="*/ 230 h 259"/>
                <a:gd name="T98" fmla="*/ 230 w 230"/>
                <a:gd name="T99" fmla="*/ 230 h 259"/>
                <a:gd name="T100" fmla="*/ 230 w 230"/>
                <a:gd name="T101" fmla="*/ 256 h 259"/>
                <a:gd name="T102" fmla="*/ 230 w 230"/>
                <a:gd name="T103" fmla="*/ 259 h 259"/>
                <a:gd name="T104" fmla="*/ 0 w 230"/>
                <a:gd name="T105" fmla="*/ 259 h 259"/>
                <a:gd name="T106" fmla="*/ 0 w 230"/>
                <a:gd name="T107" fmla="*/ 256 h 259"/>
                <a:gd name="T108" fmla="*/ 230 w 230"/>
                <a:gd name="T109" fmla="*/ 256 h 25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30"/>
                <a:gd name="T166" fmla="*/ 0 h 259"/>
                <a:gd name="T167" fmla="*/ 230 w 230"/>
                <a:gd name="T168" fmla="*/ 259 h 25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30" h="259">
                  <a:moveTo>
                    <a:pt x="230" y="128"/>
                  </a:moveTo>
                  <a:lnTo>
                    <a:pt x="230" y="131"/>
                  </a:lnTo>
                  <a:lnTo>
                    <a:pt x="0" y="131"/>
                  </a:lnTo>
                  <a:lnTo>
                    <a:pt x="0" y="128"/>
                  </a:lnTo>
                  <a:lnTo>
                    <a:pt x="230" y="128"/>
                  </a:lnTo>
                  <a:close/>
                  <a:moveTo>
                    <a:pt x="230" y="102"/>
                  </a:moveTo>
                  <a:lnTo>
                    <a:pt x="230" y="106"/>
                  </a:lnTo>
                  <a:lnTo>
                    <a:pt x="0" y="106"/>
                  </a:lnTo>
                  <a:lnTo>
                    <a:pt x="0" y="102"/>
                  </a:lnTo>
                  <a:lnTo>
                    <a:pt x="230" y="102"/>
                  </a:lnTo>
                  <a:close/>
                  <a:moveTo>
                    <a:pt x="230" y="77"/>
                  </a:moveTo>
                  <a:lnTo>
                    <a:pt x="230" y="80"/>
                  </a:lnTo>
                  <a:lnTo>
                    <a:pt x="0" y="80"/>
                  </a:lnTo>
                  <a:lnTo>
                    <a:pt x="0" y="77"/>
                  </a:lnTo>
                  <a:lnTo>
                    <a:pt x="230" y="77"/>
                  </a:lnTo>
                  <a:close/>
                  <a:moveTo>
                    <a:pt x="230" y="51"/>
                  </a:moveTo>
                  <a:lnTo>
                    <a:pt x="230" y="54"/>
                  </a:lnTo>
                  <a:lnTo>
                    <a:pt x="0" y="54"/>
                  </a:lnTo>
                  <a:lnTo>
                    <a:pt x="0" y="51"/>
                  </a:lnTo>
                  <a:lnTo>
                    <a:pt x="230" y="51"/>
                  </a:lnTo>
                  <a:close/>
                  <a:moveTo>
                    <a:pt x="230" y="26"/>
                  </a:moveTo>
                  <a:lnTo>
                    <a:pt x="230" y="29"/>
                  </a:lnTo>
                  <a:lnTo>
                    <a:pt x="0" y="29"/>
                  </a:lnTo>
                  <a:lnTo>
                    <a:pt x="0" y="26"/>
                  </a:lnTo>
                  <a:lnTo>
                    <a:pt x="230" y="26"/>
                  </a:lnTo>
                  <a:close/>
                  <a:moveTo>
                    <a:pt x="230" y="0"/>
                  </a:moveTo>
                  <a:lnTo>
                    <a:pt x="230" y="3"/>
                  </a:lnTo>
                  <a:lnTo>
                    <a:pt x="0" y="3"/>
                  </a:lnTo>
                  <a:lnTo>
                    <a:pt x="0" y="0"/>
                  </a:lnTo>
                  <a:lnTo>
                    <a:pt x="230" y="0"/>
                  </a:lnTo>
                  <a:close/>
                  <a:moveTo>
                    <a:pt x="230" y="179"/>
                  </a:moveTo>
                  <a:lnTo>
                    <a:pt x="230" y="182"/>
                  </a:lnTo>
                  <a:lnTo>
                    <a:pt x="205" y="182"/>
                  </a:lnTo>
                  <a:lnTo>
                    <a:pt x="205" y="179"/>
                  </a:lnTo>
                  <a:lnTo>
                    <a:pt x="230" y="179"/>
                  </a:lnTo>
                  <a:close/>
                  <a:moveTo>
                    <a:pt x="230" y="154"/>
                  </a:moveTo>
                  <a:lnTo>
                    <a:pt x="230" y="157"/>
                  </a:lnTo>
                  <a:lnTo>
                    <a:pt x="205" y="157"/>
                  </a:lnTo>
                  <a:lnTo>
                    <a:pt x="205" y="154"/>
                  </a:lnTo>
                  <a:lnTo>
                    <a:pt x="230" y="154"/>
                  </a:lnTo>
                  <a:close/>
                  <a:moveTo>
                    <a:pt x="230" y="205"/>
                  </a:moveTo>
                  <a:lnTo>
                    <a:pt x="230" y="208"/>
                  </a:lnTo>
                  <a:lnTo>
                    <a:pt x="0" y="208"/>
                  </a:lnTo>
                  <a:lnTo>
                    <a:pt x="0" y="205"/>
                  </a:lnTo>
                  <a:lnTo>
                    <a:pt x="230" y="205"/>
                  </a:lnTo>
                  <a:close/>
                  <a:moveTo>
                    <a:pt x="230" y="230"/>
                  </a:moveTo>
                  <a:lnTo>
                    <a:pt x="230" y="234"/>
                  </a:lnTo>
                  <a:lnTo>
                    <a:pt x="0" y="234"/>
                  </a:lnTo>
                  <a:lnTo>
                    <a:pt x="0" y="230"/>
                  </a:lnTo>
                  <a:lnTo>
                    <a:pt x="230" y="230"/>
                  </a:lnTo>
                  <a:close/>
                  <a:moveTo>
                    <a:pt x="230" y="256"/>
                  </a:moveTo>
                  <a:lnTo>
                    <a:pt x="230" y="259"/>
                  </a:lnTo>
                  <a:lnTo>
                    <a:pt x="0" y="259"/>
                  </a:lnTo>
                  <a:lnTo>
                    <a:pt x="0" y="256"/>
                  </a:lnTo>
                  <a:lnTo>
                    <a:pt x="230" y="256"/>
                  </a:lnTo>
                  <a:close/>
                </a:path>
              </a:pathLst>
            </a:custGeom>
            <a:solidFill>
              <a:srgbClr val="666666"/>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pic>
          <p:nvPicPr>
            <p:cNvPr id="439" name="Picture 1054"/>
            <p:cNvPicPr>
              <a:picLocks noChangeAspect="1" noChangeArrowheads="1"/>
            </p:cNvPicPr>
            <p:nvPr/>
          </p:nvPicPr>
          <p:blipFill>
            <a:blip r:embed="rId134">
              <a:extLst>
                <a:ext uri="{28A0092B-C50C-407E-A947-70E740481C1C}">
                  <a14:useLocalDpi xmlns:a14="http://schemas.microsoft.com/office/drawing/2010/main" val="0"/>
                </a:ext>
              </a:extLst>
            </a:blip>
            <a:srcRect/>
            <a:stretch>
              <a:fillRect/>
            </a:stretch>
          </p:blipFill>
          <p:spPr bwMode="auto">
            <a:xfrm>
              <a:off x="1585" y="2684"/>
              <a:ext cx="40" cy="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40" name="Picture 1055"/>
            <p:cNvPicPr>
              <a:picLocks noChangeAspect="1" noChangeArrowheads="1"/>
            </p:cNvPicPr>
            <p:nvPr/>
          </p:nvPicPr>
          <p:blipFill>
            <a:blip r:embed="rId135">
              <a:extLst>
                <a:ext uri="{28A0092B-C50C-407E-A947-70E740481C1C}">
                  <a14:useLocalDpi xmlns:a14="http://schemas.microsoft.com/office/drawing/2010/main" val="0"/>
                </a:ext>
              </a:extLst>
            </a:blip>
            <a:srcRect/>
            <a:stretch>
              <a:fillRect/>
            </a:stretch>
          </p:blipFill>
          <p:spPr bwMode="auto">
            <a:xfrm>
              <a:off x="1585" y="2684"/>
              <a:ext cx="40" cy="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41" name="Rectangle 1056"/>
            <p:cNvSpPr>
              <a:spLocks noChangeArrowheads="1"/>
            </p:cNvSpPr>
            <p:nvPr/>
          </p:nvSpPr>
          <p:spPr bwMode="auto">
            <a:xfrm>
              <a:off x="1611" y="2498"/>
              <a:ext cx="6" cy="332"/>
            </a:xfrm>
            <a:prstGeom prst="rect">
              <a:avLst/>
            </a:prstGeom>
            <a:solidFill>
              <a:srgbClr val="66666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42" name="Rectangle 1057"/>
            <p:cNvSpPr>
              <a:spLocks noChangeArrowheads="1"/>
            </p:cNvSpPr>
            <p:nvPr/>
          </p:nvSpPr>
          <p:spPr bwMode="auto">
            <a:xfrm>
              <a:off x="1608" y="2498"/>
              <a:ext cx="6" cy="332"/>
            </a:xfrm>
            <a:prstGeom prst="rect">
              <a:avLst/>
            </a:prstGeom>
            <a:solidFill>
              <a:srgbClr val="9A9A9A"/>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pic>
          <p:nvPicPr>
            <p:cNvPr id="443" name="Picture 1058"/>
            <p:cNvPicPr>
              <a:picLocks noChangeAspect="1" noChangeArrowheads="1"/>
            </p:cNvPicPr>
            <p:nvPr/>
          </p:nvPicPr>
          <p:blipFill>
            <a:blip r:embed="rId136">
              <a:extLst>
                <a:ext uri="{28A0092B-C50C-407E-A947-70E740481C1C}">
                  <a14:useLocalDpi xmlns:a14="http://schemas.microsoft.com/office/drawing/2010/main" val="0"/>
                </a:ext>
              </a:extLst>
            </a:blip>
            <a:srcRect/>
            <a:stretch>
              <a:fillRect/>
            </a:stretch>
          </p:blipFill>
          <p:spPr bwMode="auto">
            <a:xfrm>
              <a:off x="1593" y="2772"/>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44" name="Picture 1059"/>
            <p:cNvPicPr>
              <a:picLocks noChangeAspect="1" noChangeArrowheads="1"/>
            </p:cNvPicPr>
            <p:nvPr/>
          </p:nvPicPr>
          <p:blipFill>
            <a:blip r:embed="rId137">
              <a:extLst>
                <a:ext uri="{28A0092B-C50C-407E-A947-70E740481C1C}">
                  <a14:useLocalDpi xmlns:a14="http://schemas.microsoft.com/office/drawing/2010/main" val="0"/>
                </a:ext>
              </a:extLst>
            </a:blip>
            <a:srcRect/>
            <a:stretch>
              <a:fillRect/>
            </a:stretch>
          </p:blipFill>
          <p:spPr bwMode="auto">
            <a:xfrm>
              <a:off x="1601" y="2772"/>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45" name="Picture 1060"/>
            <p:cNvPicPr>
              <a:picLocks noChangeAspect="1" noChangeArrowheads="1"/>
            </p:cNvPicPr>
            <p:nvPr/>
          </p:nvPicPr>
          <p:blipFill>
            <a:blip r:embed="rId138">
              <a:extLst>
                <a:ext uri="{28A0092B-C50C-407E-A947-70E740481C1C}">
                  <a14:useLocalDpi xmlns:a14="http://schemas.microsoft.com/office/drawing/2010/main" val="0"/>
                </a:ext>
              </a:extLst>
            </a:blip>
            <a:srcRect/>
            <a:stretch>
              <a:fillRect/>
            </a:stretch>
          </p:blipFill>
          <p:spPr bwMode="auto">
            <a:xfrm>
              <a:off x="1601" y="2772"/>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46" name="Freeform 1061"/>
            <p:cNvSpPr>
              <a:spLocks/>
            </p:cNvSpPr>
            <p:nvPr/>
          </p:nvSpPr>
          <p:spPr bwMode="auto">
            <a:xfrm>
              <a:off x="1609" y="2781"/>
              <a:ext cx="4" cy="5"/>
            </a:xfrm>
            <a:custGeom>
              <a:avLst/>
              <a:gdLst>
                <a:gd name="T0" fmla="*/ 0 w 8"/>
                <a:gd name="T1" fmla="*/ 5 h 9"/>
                <a:gd name="T2" fmla="*/ 4 w 8"/>
                <a:gd name="T3" fmla="*/ 0 h 9"/>
                <a:gd name="T4" fmla="*/ 8 w 8"/>
                <a:gd name="T5" fmla="*/ 5 h 9"/>
                <a:gd name="T6" fmla="*/ 8 w 8"/>
                <a:gd name="T7" fmla="*/ 5 h 9"/>
                <a:gd name="T8" fmla="*/ 4 w 8"/>
                <a:gd name="T9" fmla="*/ 9 h 9"/>
                <a:gd name="T10" fmla="*/ 0 w 8"/>
                <a:gd name="T11" fmla="*/ 5 h 9"/>
                <a:gd name="T12" fmla="*/ 0 60000 65536"/>
                <a:gd name="T13" fmla="*/ 0 60000 65536"/>
                <a:gd name="T14" fmla="*/ 0 60000 65536"/>
                <a:gd name="T15" fmla="*/ 0 60000 65536"/>
                <a:gd name="T16" fmla="*/ 0 60000 65536"/>
                <a:gd name="T17" fmla="*/ 0 60000 65536"/>
                <a:gd name="T18" fmla="*/ 0 w 8"/>
                <a:gd name="T19" fmla="*/ 0 h 9"/>
                <a:gd name="T20" fmla="*/ 8 w 8"/>
                <a:gd name="T21" fmla="*/ 9 h 9"/>
              </a:gdLst>
              <a:ahLst/>
              <a:cxnLst>
                <a:cxn ang="T12">
                  <a:pos x="T0" y="T1"/>
                </a:cxn>
                <a:cxn ang="T13">
                  <a:pos x="T2" y="T3"/>
                </a:cxn>
                <a:cxn ang="T14">
                  <a:pos x="T4" y="T5"/>
                </a:cxn>
                <a:cxn ang="T15">
                  <a:pos x="T6" y="T7"/>
                </a:cxn>
                <a:cxn ang="T16">
                  <a:pos x="T8" y="T9"/>
                </a:cxn>
                <a:cxn ang="T17">
                  <a:pos x="T10" y="T11"/>
                </a:cxn>
              </a:cxnLst>
              <a:rect l="T18" t="T19" r="T20" b="T21"/>
              <a:pathLst>
                <a:path w="8" h="9">
                  <a:moveTo>
                    <a:pt x="0" y="5"/>
                  </a:moveTo>
                  <a:cubicBezTo>
                    <a:pt x="0" y="2"/>
                    <a:pt x="2" y="0"/>
                    <a:pt x="4" y="0"/>
                  </a:cubicBezTo>
                  <a:cubicBezTo>
                    <a:pt x="6" y="0"/>
                    <a:pt x="8" y="2"/>
                    <a:pt x="8" y="5"/>
                  </a:cubicBezTo>
                  <a:cubicBezTo>
                    <a:pt x="8" y="5"/>
                    <a:pt x="8" y="5"/>
                    <a:pt x="8" y="5"/>
                  </a:cubicBezTo>
                  <a:cubicBezTo>
                    <a:pt x="8" y="7"/>
                    <a:pt x="6" y="9"/>
                    <a:pt x="4" y="9"/>
                  </a:cubicBezTo>
                  <a:cubicBezTo>
                    <a:pt x="2" y="9"/>
                    <a:pt x="0" y="7"/>
                    <a:pt x="0" y="5"/>
                  </a:cubicBezTo>
                </a:path>
              </a:pathLst>
            </a:custGeom>
            <a:solidFill>
              <a:srgbClr val="00FF00"/>
            </a:solidFill>
            <a:ln w="0">
              <a:solidFill>
                <a:srgbClr val="000000"/>
              </a:solidFill>
              <a:round/>
              <a:headEnd/>
              <a:tailEnd/>
            </a:ln>
          </p:spPr>
          <p:txBody>
            <a:bodyPr/>
            <a:lstStyle/>
            <a:p>
              <a:endParaRPr lang="en-US"/>
            </a:p>
          </p:txBody>
        </p:sp>
        <p:sp>
          <p:nvSpPr>
            <p:cNvPr id="447" name="Freeform 1062"/>
            <p:cNvSpPr>
              <a:spLocks/>
            </p:cNvSpPr>
            <p:nvPr/>
          </p:nvSpPr>
          <p:spPr bwMode="auto">
            <a:xfrm>
              <a:off x="1609" y="2781"/>
              <a:ext cx="4" cy="5"/>
            </a:xfrm>
            <a:custGeom>
              <a:avLst/>
              <a:gdLst>
                <a:gd name="T0" fmla="*/ 0 w 4"/>
                <a:gd name="T1" fmla="*/ 3 h 5"/>
                <a:gd name="T2" fmla="*/ 2 w 4"/>
                <a:gd name="T3" fmla="*/ 0 h 5"/>
                <a:gd name="T4" fmla="*/ 4 w 4"/>
                <a:gd name="T5" fmla="*/ 3 h 5"/>
                <a:gd name="T6" fmla="*/ 4 w 4"/>
                <a:gd name="T7" fmla="*/ 3 h 5"/>
                <a:gd name="T8" fmla="*/ 2 w 4"/>
                <a:gd name="T9" fmla="*/ 5 h 5"/>
                <a:gd name="T10" fmla="*/ 0 w 4"/>
                <a:gd name="T11" fmla="*/ 3 h 5"/>
                <a:gd name="T12" fmla="*/ 0 60000 65536"/>
                <a:gd name="T13" fmla="*/ 0 60000 65536"/>
                <a:gd name="T14" fmla="*/ 0 60000 65536"/>
                <a:gd name="T15" fmla="*/ 0 60000 65536"/>
                <a:gd name="T16" fmla="*/ 0 60000 65536"/>
                <a:gd name="T17" fmla="*/ 0 60000 65536"/>
                <a:gd name="T18" fmla="*/ 0 w 4"/>
                <a:gd name="T19" fmla="*/ 0 h 5"/>
                <a:gd name="T20" fmla="*/ 4 w 4"/>
                <a:gd name="T21" fmla="*/ 5 h 5"/>
              </a:gdLst>
              <a:ahLst/>
              <a:cxnLst>
                <a:cxn ang="T12">
                  <a:pos x="T0" y="T1"/>
                </a:cxn>
                <a:cxn ang="T13">
                  <a:pos x="T2" y="T3"/>
                </a:cxn>
                <a:cxn ang="T14">
                  <a:pos x="T4" y="T5"/>
                </a:cxn>
                <a:cxn ang="T15">
                  <a:pos x="T6" y="T7"/>
                </a:cxn>
                <a:cxn ang="T16">
                  <a:pos x="T8" y="T9"/>
                </a:cxn>
                <a:cxn ang="T17">
                  <a:pos x="T10" y="T11"/>
                </a:cxn>
              </a:cxnLst>
              <a:rect l="T18" t="T19" r="T20" b="T21"/>
              <a:pathLst>
                <a:path w="4" h="5">
                  <a:moveTo>
                    <a:pt x="0" y="3"/>
                  </a:moveTo>
                  <a:cubicBezTo>
                    <a:pt x="0" y="1"/>
                    <a:pt x="1" y="0"/>
                    <a:pt x="2" y="0"/>
                  </a:cubicBezTo>
                  <a:cubicBezTo>
                    <a:pt x="3" y="0"/>
                    <a:pt x="4" y="1"/>
                    <a:pt x="4" y="3"/>
                  </a:cubicBezTo>
                  <a:cubicBezTo>
                    <a:pt x="4" y="3"/>
                    <a:pt x="4" y="3"/>
                    <a:pt x="4" y="3"/>
                  </a:cubicBezTo>
                  <a:cubicBezTo>
                    <a:pt x="4" y="4"/>
                    <a:pt x="3" y="5"/>
                    <a:pt x="2" y="5"/>
                  </a:cubicBezTo>
                  <a:cubicBezTo>
                    <a:pt x="1" y="5"/>
                    <a:pt x="0" y="4"/>
                    <a:pt x="0" y="3"/>
                  </a:cubicBezTo>
                </a:path>
              </a:pathLst>
            </a:custGeom>
            <a:noFill/>
            <a:ln w="3175" cap="sq">
              <a:solidFill>
                <a:srgbClr val="00FF00"/>
              </a:solidFill>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448" name="Freeform 1063"/>
            <p:cNvSpPr>
              <a:spLocks/>
            </p:cNvSpPr>
            <p:nvPr/>
          </p:nvSpPr>
          <p:spPr bwMode="auto">
            <a:xfrm>
              <a:off x="1384" y="2382"/>
              <a:ext cx="324" cy="461"/>
            </a:xfrm>
            <a:custGeom>
              <a:avLst/>
              <a:gdLst>
                <a:gd name="T0" fmla="*/ 13 w 324"/>
                <a:gd name="T1" fmla="*/ 461 h 461"/>
                <a:gd name="T2" fmla="*/ 13 w 324"/>
                <a:gd name="T3" fmla="*/ 448 h 461"/>
                <a:gd name="T4" fmla="*/ 0 w 324"/>
                <a:gd name="T5" fmla="*/ 448 h 461"/>
                <a:gd name="T6" fmla="*/ 0 w 324"/>
                <a:gd name="T7" fmla="*/ 52 h 461"/>
                <a:gd name="T8" fmla="*/ 50 w 324"/>
                <a:gd name="T9" fmla="*/ 0 h 461"/>
                <a:gd name="T10" fmla="*/ 324 w 324"/>
                <a:gd name="T11" fmla="*/ 0 h 461"/>
                <a:gd name="T12" fmla="*/ 324 w 324"/>
                <a:gd name="T13" fmla="*/ 397 h 461"/>
                <a:gd name="T14" fmla="*/ 317 w 324"/>
                <a:gd name="T15" fmla="*/ 404 h 461"/>
                <a:gd name="T16" fmla="*/ 317 w 324"/>
                <a:gd name="T17" fmla="*/ 410 h 461"/>
                <a:gd name="T18" fmla="*/ 267 w 324"/>
                <a:gd name="T19" fmla="*/ 461 h 461"/>
                <a:gd name="T20" fmla="*/ 13 w 324"/>
                <a:gd name="T21" fmla="*/ 461 h 46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24"/>
                <a:gd name="T34" fmla="*/ 0 h 461"/>
                <a:gd name="T35" fmla="*/ 324 w 324"/>
                <a:gd name="T36" fmla="*/ 461 h 46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24" h="461">
                  <a:moveTo>
                    <a:pt x="13" y="461"/>
                  </a:moveTo>
                  <a:lnTo>
                    <a:pt x="13" y="448"/>
                  </a:lnTo>
                  <a:lnTo>
                    <a:pt x="0" y="448"/>
                  </a:lnTo>
                  <a:lnTo>
                    <a:pt x="0" y="52"/>
                  </a:lnTo>
                  <a:lnTo>
                    <a:pt x="50" y="0"/>
                  </a:lnTo>
                  <a:lnTo>
                    <a:pt x="324" y="0"/>
                  </a:lnTo>
                  <a:lnTo>
                    <a:pt x="324" y="397"/>
                  </a:lnTo>
                  <a:lnTo>
                    <a:pt x="317" y="404"/>
                  </a:lnTo>
                  <a:lnTo>
                    <a:pt x="317" y="410"/>
                  </a:lnTo>
                  <a:lnTo>
                    <a:pt x="267" y="461"/>
                  </a:lnTo>
                  <a:lnTo>
                    <a:pt x="13" y="461"/>
                  </a:lnTo>
                </a:path>
              </a:pathLst>
            </a:custGeom>
            <a:noFill/>
            <a:ln w="11113"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449" name="Freeform 1064"/>
            <p:cNvSpPr>
              <a:spLocks/>
            </p:cNvSpPr>
            <p:nvPr/>
          </p:nvSpPr>
          <p:spPr bwMode="auto">
            <a:xfrm>
              <a:off x="1512" y="1921"/>
              <a:ext cx="233" cy="601"/>
            </a:xfrm>
            <a:custGeom>
              <a:avLst/>
              <a:gdLst>
                <a:gd name="T0" fmla="*/ 0 w 233"/>
                <a:gd name="T1" fmla="*/ 601 h 601"/>
                <a:gd name="T2" fmla="*/ 233 w 233"/>
                <a:gd name="T3" fmla="*/ 360 h 601"/>
                <a:gd name="T4" fmla="*/ 233 w 233"/>
                <a:gd name="T5" fmla="*/ 0 h 601"/>
                <a:gd name="T6" fmla="*/ 0 w 233"/>
                <a:gd name="T7" fmla="*/ 240 h 601"/>
                <a:gd name="T8" fmla="*/ 0 w 233"/>
                <a:gd name="T9" fmla="*/ 601 h 601"/>
                <a:gd name="T10" fmla="*/ 0 60000 65536"/>
                <a:gd name="T11" fmla="*/ 0 60000 65536"/>
                <a:gd name="T12" fmla="*/ 0 60000 65536"/>
                <a:gd name="T13" fmla="*/ 0 60000 65536"/>
                <a:gd name="T14" fmla="*/ 0 60000 65536"/>
                <a:gd name="T15" fmla="*/ 0 w 233"/>
                <a:gd name="T16" fmla="*/ 0 h 601"/>
                <a:gd name="T17" fmla="*/ 233 w 233"/>
                <a:gd name="T18" fmla="*/ 601 h 601"/>
              </a:gdLst>
              <a:ahLst/>
              <a:cxnLst>
                <a:cxn ang="T10">
                  <a:pos x="T0" y="T1"/>
                </a:cxn>
                <a:cxn ang="T11">
                  <a:pos x="T2" y="T3"/>
                </a:cxn>
                <a:cxn ang="T12">
                  <a:pos x="T4" y="T5"/>
                </a:cxn>
                <a:cxn ang="T13">
                  <a:pos x="T6" y="T7"/>
                </a:cxn>
                <a:cxn ang="T14">
                  <a:pos x="T8" y="T9"/>
                </a:cxn>
              </a:cxnLst>
              <a:rect l="T15" t="T16" r="T17" b="T18"/>
              <a:pathLst>
                <a:path w="233" h="601">
                  <a:moveTo>
                    <a:pt x="0" y="601"/>
                  </a:moveTo>
                  <a:lnTo>
                    <a:pt x="233" y="360"/>
                  </a:lnTo>
                  <a:lnTo>
                    <a:pt x="233" y="0"/>
                  </a:lnTo>
                  <a:lnTo>
                    <a:pt x="0" y="240"/>
                  </a:lnTo>
                  <a:lnTo>
                    <a:pt x="0" y="601"/>
                  </a:lnTo>
                  <a:close/>
                </a:path>
              </a:pathLst>
            </a:custGeom>
            <a:solidFill>
              <a:srgbClr val="D0624F"/>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50" name="Freeform 1065"/>
            <p:cNvSpPr>
              <a:spLocks/>
            </p:cNvSpPr>
            <p:nvPr/>
          </p:nvSpPr>
          <p:spPr bwMode="auto">
            <a:xfrm>
              <a:off x="1512" y="1921"/>
              <a:ext cx="233" cy="601"/>
            </a:xfrm>
            <a:custGeom>
              <a:avLst/>
              <a:gdLst>
                <a:gd name="T0" fmla="*/ 0 w 233"/>
                <a:gd name="T1" fmla="*/ 601 h 601"/>
                <a:gd name="T2" fmla="*/ 233 w 233"/>
                <a:gd name="T3" fmla="*/ 360 h 601"/>
                <a:gd name="T4" fmla="*/ 233 w 233"/>
                <a:gd name="T5" fmla="*/ 0 h 601"/>
                <a:gd name="T6" fmla="*/ 0 w 233"/>
                <a:gd name="T7" fmla="*/ 240 h 601"/>
                <a:gd name="T8" fmla="*/ 0 w 233"/>
                <a:gd name="T9" fmla="*/ 601 h 601"/>
                <a:gd name="T10" fmla="*/ 0 60000 65536"/>
                <a:gd name="T11" fmla="*/ 0 60000 65536"/>
                <a:gd name="T12" fmla="*/ 0 60000 65536"/>
                <a:gd name="T13" fmla="*/ 0 60000 65536"/>
                <a:gd name="T14" fmla="*/ 0 60000 65536"/>
                <a:gd name="T15" fmla="*/ 0 w 233"/>
                <a:gd name="T16" fmla="*/ 0 h 601"/>
                <a:gd name="T17" fmla="*/ 233 w 233"/>
                <a:gd name="T18" fmla="*/ 601 h 601"/>
              </a:gdLst>
              <a:ahLst/>
              <a:cxnLst>
                <a:cxn ang="T10">
                  <a:pos x="T0" y="T1"/>
                </a:cxn>
                <a:cxn ang="T11">
                  <a:pos x="T2" y="T3"/>
                </a:cxn>
                <a:cxn ang="T12">
                  <a:pos x="T4" y="T5"/>
                </a:cxn>
                <a:cxn ang="T13">
                  <a:pos x="T6" y="T7"/>
                </a:cxn>
                <a:cxn ang="T14">
                  <a:pos x="T8" y="T9"/>
                </a:cxn>
              </a:cxnLst>
              <a:rect l="T15" t="T16" r="T17" b="T18"/>
              <a:pathLst>
                <a:path w="233" h="601">
                  <a:moveTo>
                    <a:pt x="0" y="601"/>
                  </a:moveTo>
                  <a:lnTo>
                    <a:pt x="233" y="360"/>
                  </a:lnTo>
                  <a:lnTo>
                    <a:pt x="233" y="0"/>
                  </a:lnTo>
                  <a:lnTo>
                    <a:pt x="0" y="240"/>
                  </a:lnTo>
                  <a:lnTo>
                    <a:pt x="0" y="601"/>
                  </a:lnTo>
                  <a:close/>
                </a:path>
              </a:pathLst>
            </a:custGeom>
            <a:noFill/>
            <a:ln w="11113" cap="rnd">
              <a:solidFill>
                <a:srgbClr val="CDCDCD"/>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451" name="Freeform 1066"/>
            <p:cNvSpPr>
              <a:spLocks noEditPoints="1"/>
            </p:cNvSpPr>
            <p:nvPr/>
          </p:nvSpPr>
          <p:spPr bwMode="auto">
            <a:xfrm>
              <a:off x="1512" y="1950"/>
              <a:ext cx="233" cy="511"/>
            </a:xfrm>
            <a:custGeom>
              <a:avLst/>
              <a:gdLst>
                <a:gd name="T0" fmla="*/ 29 w 233"/>
                <a:gd name="T1" fmla="*/ 240 h 511"/>
                <a:gd name="T2" fmla="*/ 58 w 233"/>
                <a:gd name="T3" fmla="*/ 210 h 511"/>
                <a:gd name="T4" fmla="*/ 87 w 233"/>
                <a:gd name="T5" fmla="*/ 180 h 511"/>
                <a:gd name="T6" fmla="*/ 116 w 233"/>
                <a:gd name="T7" fmla="*/ 150 h 511"/>
                <a:gd name="T8" fmla="*/ 145 w 233"/>
                <a:gd name="T9" fmla="*/ 120 h 511"/>
                <a:gd name="T10" fmla="*/ 174 w 233"/>
                <a:gd name="T11" fmla="*/ 90 h 511"/>
                <a:gd name="T12" fmla="*/ 204 w 233"/>
                <a:gd name="T13" fmla="*/ 60 h 511"/>
                <a:gd name="T14" fmla="*/ 29 w 233"/>
                <a:gd name="T15" fmla="*/ 300 h 511"/>
                <a:gd name="T16" fmla="*/ 58 w 233"/>
                <a:gd name="T17" fmla="*/ 270 h 511"/>
                <a:gd name="T18" fmla="*/ 87 w 233"/>
                <a:gd name="T19" fmla="*/ 240 h 511"/>
                <a:gd name="T20" fmla="*/ 116 w 233"/>
                <a:gd name="T21" fmla="*/ 210 h 511"/>
                <a:gd name="T22" fmla="*/ 145 w 233"/>
                <a:gd name="T23" fmla="*/ 180 h 511"/>
                <a:gd name="T24" fmla="*/ 174 w 233"/>
                <a:gd name="T25" fmla="*/ 150 h 511"/>
                <a:gd name="T26" fmla="*/ 204 w 233"/>
                <a:gd name="T27" fmla="*/ 120 h 511"/>
                <a:gd name="T28" fmla="*/ 233 w 233"/>
                <a:gd name="T29" fmla="*/ 90 h 511"/>
                <a:gd name="T30" fmla="*/ 29 w 233"/>
                <a:gd name="T31" fmla="*/ 360 h 511"/>
                <a:gd name="T32" fmla="*/ 58 w 233"/>
                <a:gd name="T33" fmla="*/ 330 h 511"/>
                <a:gd name="T34" fmla="*/ 87 w 233"/>
                <a:gd name="T35" fmla="*/ 300 h 511"/>
                <a:gd name="T36" fmla="*/ 116 w 233"/>
                <a:gd name="T37" fmla="*/ 270 h 511"/>
                <a:gd name="T38" fmla="*/ 145 w 233"/>
                <a:gd name="T39" fmla="*/ 240 h 511"/>
                <a:gd name="T40" fmla="*/ 174 w 233"/>
                <a:gd name="T41" fmla="*/ 210 h 511"/>
                <a:gd name="T42" fmla="*/ 204 w 233"/>
                <a:gd name="T43" fmla="*/ 180 h 511"/>
                <a:gd name="T44" fmla="*/ 233 w 233"/>
                <a:gd name="T45" fmla="*/ 150 h 511"/>
                <a:gd name="T46" fmla="*/ 29 w 233"/>
                <a:gd name="T47" fmla="*/ 420 h 511"/>
                <a:gd name="T48" fmla="*/ 58 w 233"/>
                <a:gd name="T49" fmla="*/ 390 h 511"/>
                <a:gd name="T50" fmla="*/ 87 w 233"/>
                <a:gd name="T51" fmla="*/ 360 h 511"/>
                <a:gd name="T52" fmla="*/ 116 w 233"/>
                <a:gd name="T53" fmla="*/ 330 h 511"/>
                <a:gd name="T54" fmla="*/ 145 w 233"/>
                <a:gd name="T55" fmla="*/ 300 h 511"/>
                <a:gd name="T56" fmla="*/ 174 w 233"/>
                <a:gd name="T57" fmla="*/ 270 h 511"/>
                <a:gd name="T58" fmla="*/ 204 w 233"/>
                <a:gd name="T59" fmla="*/ 240 h 511"/>
                <a:gd name="T60" fmla="*/ 233 w 233"/>
                <a:gd name="T61" fmla="*/ 210 h 511"/>
                <a:gd name="T62" fmla="*/ 29 w 233"/>
                <a:gd name="T63" fmla="*/ 481 h 511"/>
                <a:gd name="T64" fmla="*/ 58 w 233"/>
                <a:gd name="T65" fmla="*/ 451 h 511"/>
                <a:gd name="T66" fmla="*/ 87 w 233"/>
                <a:gd name="T67" fmla="*/ 420 h 511"/>
                <a:gd name="T68" fmla="*/ 116 w 233"/>
                <a:gd name="T69" fmla="*/ 390 h 511"/>
                <a:gd name="T70" fmla="*/ 145 w 233"/>
                <a:gd name="T71" fmla="*/ 360 h 511"/>
                <a:gd name="T72" fmla="*/ 174 w 233"/>
                <a:gd name="T73" fmla="*/ 330 h 511"/>
                <a:gd name="T74" fmla="*/ 204 w 233"/>
                <a:gd name="T75" fmla="*/ 300 h 511"/>
                <a:gd name="T76" fmla="*/ 233 w 233"/>
                <a:gd name="T77" fmla="*/ 270 h 511"/>
                <a:gd name="T78" fmla="*/ 29 w 233"/>
                <a:gd name="T79" fmla="*/ 180 h 511"/>
                <a:gd name="T80" fmla="*/ 29 w 233"/>
                <a:gd name="T81" fmla="*/ 300 h 511"/>
                <a:gd name="T82" fmla="*/ 29 w 233"/>
                <a:gd name="T83" fmla="*/ 420 h 511"/>
                <a:gd name="T84" fmla="*/ 58 w 233"/>
                <a:gd name="T85" fmla="*/ 451 h 511"/>
                <a:gd name="T86" fmla="*/ 58 w 233"/>
                <a:gd name="T87" fmla="*/ 210 h 511"/>
                <a:gd name="T88" fmla="*/ 58 w 233"/>
                <a:gd name="T89" fmla="*/ 330 h 511"/>
                <a:gd name="T90" fmla="*/ 87 w 233"/>
                <a:gd name="T91" fmla="*/ 120 h 511"/>
                <a:gd name="T92" fmla="*/ 87 w 233"/>
                <a:gd name="T93" fmla="*/ 240 h 511"/>
                <a:gd name="T94" fmla="*/ 87 w 233"/>
                <a:gd name="T95" fmla="*/ 360 h 511"/>
                <a:gd name="T96" fmla="*/ 116 w 233"/>
                <a:gd name="T97" fmla="*/ 390 h 511"/>
                <a:gd name="T98" fmla="*/ 116 w 233"/>
                <a:gd name="T99" fmla="*/ 150 h 511"/>
                <a:gd name="T100" fmla="*/ 116 w 233"/>
                <a:gd name="T101" fmla="*/ 270 h 511"/>
                <a:gd name="T102" fmla="*/ 145 w 233"/>
                <a:gd name="T103" fmla="*/ 60 h 511"/>
                <a:gd name="T104" fmla="*/ 145 w 233"/>
                <a:gd name="T105" fmla="*/ 180 h 511"/>
                <a:gd name="T106" fmla="*/ 145 w 233"/>
                <a:gd name="T107" fmla="*/ 300 h 511"/>
                <a:gd name="T108" fmla="*/ 174 w 233"/>
                <a:gd name="T109" fmla="*/ 330 h 511"/>
                <a:gd name="T110" fmla="*/ 174 w 233"/>
                <a:gd name="T111" fmla="*/ 90 h 511"/>
                <a:gd name="T112" fmla="*/ 174 w 233"/>
                <a:gd name="T113" fmla="*/ 210 h 511"/>
                <a:gd name="T114" fmla="*/ 204 w 233"/>
                <a:gd name="T115" fmla="*/ 120 h 511"/>
                <a:gd name="T116" fmla="*/ 204 w 233"/>
                <a:gd name="T117" fmla="*/ 240 h 511"/>
                <a:gd name="T118" fmla="*/ 204 w 233"/>
                <a:gd name="T119" fmla="*/ 0 h 511"/>
                <a:gd name="T120" fmla="*/ 233 w 233"/>
                <a:gd name="T121" fmla="*/ 30 h 511"/>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33"/>
                <a:gd name="T184" fmla="*/ 0 h 511"/>
                <a:gd name="T185" fmla="*/ 233 w 233"/>
                <a:gd name="T186" fmla="*/ 511 h 511"/>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33" h="511">
                  <a:moveTo>
                    <a:pt x="0" y="270"/>
                  </a:moveTo>
                  <a:lnTo>
                    <a:pt x="29" y="240"/>
                  </a:lnTo>
                  <a:moveTo>
                    <a:pt x="29" y="240"/>
                  </a:moveTo>
                  <a:lnTo>
                    <a:pt x="58" y="210"/>
                  </a:lnTo>
                  <a:moveTo>
                    <a:pt x="58" y="210"/>
                  </a:moveTo>
                  <a:lnTo>
                    <a:pt x="87" y="180"/>
                  </a:lnTo>
                  <a:moveTo>
                    <a:pt x="87" y="180"/>
                  </a:moveTo>
                  <a:lnTo>
                    <a:pt x="116" y="150"/>
                  </a:lnTo>
                  <a:moveTo>
                    <a:pt x="116" y="150"/>
                  </a:moveTo>
                  <a:lnTo>
                    <a:pt x="145" y="120"/>
                  </a:lnTo>
                  <a:moveTo>
                    <a:pt x="145" y="120"/>
                  </a:moveTo>
                  <a:lnTo>
                    <a:pt x="174" y="90"/>
                  </a:lnTo>
                  <a:moveTo>
                    <a:pt x="174" y="90"/>
                  </a:moveTo>
                  <a:lnTo>
                    <a:pt x="204" y="60"/>
                  </a:lnTo>
                  <a:moveTo>
                    <a:pt x="0" y="330"/>
                  </a:moveTo>
                  <a:lnTo>
                    <a:pt x="29" y="300"/>
                  </a:lnTo>
                  <a:moveTo>
                    <a:pt x="29" y="300"/>
                  </a:moveTo>
                  <a:lnTo>
                    <a:pt x="58" y="270"/>
                  </a:lnTo>
                  <a:moveTo>
                    <a:pt x="58" y="270"/>
                  </a:moveTo>
                  <a:lnTo>
                    <a:pt x="87" y="240"/>
                  </a:lnTo>
                  <a:moveTo>
                    <a:pt x="87" y="240"/>
                  </a:moveTo>
                  <a:lnTo>
                    <a:pt x="116" y="210"/>
                  </a:lnTo>
                  <a:moveTo>
                    <a:pt x="116" y="210"/>
                  </a:moveTo>
                  <a:lnTo>
                    <a:pt x="145" y="180"/>
                  </a:lnTo>
                  <a:moveTo>
                    <a:pt x="145" y="180"/>
                  </a:moveTo>
                  <a:lnTo>
                    <a:pt x="174" y="150"/>
                  </a:lnTo>
                  <a:moveTo>
                    <a:pt x="174" y="150"/>
                  </a:moveTo>
                  <a:lnTo>
                    <a:pt x="204" y="120"/>
                  </a:lnTo>
                  <a:moveTo>
                    <a:pt x="204" y="120"/>
                  </a:moveTo>
                  <a:lnTo>
                    <a:pt x="233" y="90"/>
                  </a:lnTo>
                  <a:moveTo>
                    <a:pt x="0" y="390"/>
                  </a:moveTo>
                  <a:lnTo>
                    <a:pt x="29" y="360"/>
                  </a:lnTo>
                  <a:moveTo>
                    <a:pt x="29" y="360"/>
                  </a:moveTo>
                  <a:lnTo>
                    <a:pt x="58" y="330"/>
                  </a:lnTo>
                  <a:moveTo>
                    <a:pt x="58" y="330"/>
                  </a:moveTo>
                  <a:lnTo>
                    <a:pt x="87" y="300"/>
                  </a:lnTo>
                  <a:moveTo>
                    <a:pt x="87" y="300"/>
                  </a:moveTo>
                  <a:lnTo>
                    <a:pt x="116" y="270"/>
                  </a:lnTo>
                  <a:moveTo>
                    <a:pt x="116" y="270"/>
                  </a:moveTo>
                  <a:lnTo>
                    <a:pt x="145" y="240"/>
                  </a:lnTo>
                  <a:moveTo>
                    <a:pt x="145" y="240"/>
                  </a:moveTo>
                  <a:lnTo>
                    <a:pt x="174" y="210"/>
                  </a:lnTo>
                  <a:moveTo>
                    <a:pt x="174" y="210"/>
                  </a:moveTo>
                  <a:lnTo>
                    <a:pt x="204" y="180"/>
                  </a:lnTo>
                  <a:moveTo>
                    <a:pt x="204" y="180"/>
                  </a:moveTo>
                  <a:lnTo>
                    <a:pt x="233" y="150"/>
                  </a:lnTo>
                  <a:moveTo>
                    <a:pt x="0" y="451"/>
                  </a:moveTo>
                  <a:lnTo>
                    <a:pt x="29" y="420"/>
                  </a:lnTo>
                  <a:moveTo>
                    <a:pt x="29" y="420"/>
                  </a:moveTo>
                  <a:lnTo>
                    <a:pt x="58" y="390"/>
                  </a:lnTo>
                  <a:moveTo>
                    <a:pt x="58" y="390"/>
                  </a:moveTo>
                  <a:lnTo>
                    <a:pt x="87" y="360"/>
                  </a:lnTo>
                  <a:moveTo>
                    <a:pt x="87" y="360"/>
                  </a:moveTo>
                  <a:lnTo>
                    <a:pt x="116" y="330"/>
                  </a:lnTo>
                  <a:moveTo>
                    <a:pt x="116" y="330"/>
                  </a:moveTo>
                  <a:lnTo>
                    <a:pt x="145" y="300"/>
                  </a:lnTo>
                  <a:moveTo>
                    <a:pt x="145" y="300"/>
                  </a:moveTo>
                  <a:lnTo>
                    <a:pt x="174" y="270"/>
                  </a:lnTo>
                  <a:moveTo>
                    <a:pt x="174" y="270"/>
                  </a:moveTo>
                  <a:lnTo>
                    <a:pt x="204" y="240"/>
                  </a:lnTo>
                  <a:moveTo>
                    <a:pt x="204" y="240"/>
                  </a:moveTo>
                  <a:lnTo>
                    <a:pt x="233" y="210"/>
                  </a:lnTo>
                  <a:moveTo>
                    <a:pt x="0" y="511"/>
                  </a:moveTo>
                  <a:lnTo>
                    <a:pt x="29" y="481"/>
                  </a:lnTo>
                  <a:moveTo>
                    <a:pt x="29" y="481"/>
                  </a:moveTo>
                  <a:lnTo>
                    <a:pt x="58" y="451"/>
                  </a:lnTo>
                  <a:moveTo>
                    <a:pt x="58" y="451"/>
                  </a:moveTo>
                  <a:lnTo>
                    <a:pt x="87" y="420"/>
                  </a:lnTo>
                  <a:moveTo>
                    <a:pt x="87" y="420"/>
                  </a:moveTo>
                  <a:lnTo>
                    <a:pt x="116" y="390"/>
                  </a:lnTo>
                  <a:moveTo>
                    <a:pt x="116" y="390"/>
                  </a:moveTo>
                  <a:lnTo>
                    <a:pt x="145" y="360"/>
                  </a:lnTo>
                  <a:moveTo>
                    <a:pt x="145" y="360"/>
                  </a:moveTo>
                  <a:lnTo>
                    <a:pt x="174" y="330"/>
                  </a:lnTo>
                  <a:moveTo>
                    <a:pt x="174" y="330"/>
                  </a:moveTo>
                  <a:lnTo>
                    <a:pt x="204" y="300"/>
                  </a:lnTo>
                  <a:moveTo>
                    <a:pt x="204" y="300"/>
                  </a:moveTo>
                  <a:lnTo>
                    <a:pt x="233" y="270"/>
                  </a:lnTo>
                  <a:moveTo>
                    <a:pt x="29" y="240"/>
                  </a:moveTo>
                  <a:lnTo>
                    <a:pt x="29" y="180"/>
                  </a:lnTo>
                  <a:moveTo>
                    <a:pt x="29" y="360"/>
                  </a:moveTo>
                  <a:lnTo>
                    <a:pt x="29" y="300"/>
                  </a:lnTo>
                  <a:moveTo>
                    <a:pt x="29" y="481"/>
                  </a:moveTo>
                  <a:lnTo>
                    <a:pt x="29" y="420"/>
                  </a:lnTo>
                  <a:moveTo>
                    <a:pt x="58" y="511"/>
                  </a:moveTo>
                  <a:lnTo>
                    <a:pt x="58" y="451"/>
                  </a:lnTo>
                  <a:moveTo>
                    <a:pt x="58" y="270"/>
                  </a:moveTo>
                  <a:lnTo>
                    <a:pt x="58" y="210"/>
                  </a:lnTo>
                  <a:moveTo>
                    <a:pt x="58" y="390"/>
                  </a:moveTo>
                  <a:lnTo>
                    <a:pt x="58" y="330"/>
                  </a:lnTo>
                  <a:moveTo>
                    <a:pt x="87" y="180"/>
                  </a:moveTo>
                  <a:lnTo>
                    <a:pt x="87" y="120"/>
                  </a:lnTo>
                  <a:moveTo>
                    <a:pt x="87" y="300"/>
                  </a:moveTo>
                  <a:lnTo>
                    <a:pt x="87" y="240"/>
                  </a:lnTo>
                  <a:moveTo>
                    <a:pt x="87" y="420"/>
                  </a:moveTo>
                  <a:lnTo>
                    <a:pt x="87" y="360"/>
                  </a:lnTo>
                  <a:moveTo>
                    <a:pt x="116" y="451"/>
                  </a:moveTo>
                  <a:lnTo>
                    <a:pt x="116" y="390"/>
                  </a:lnTo>
                  <a:moveTo>
                    <a:pt x="116" y="210"/>
                  </a:moveTo>
                  <a:lnTo>
                    <a:pt x="116" y="150"/>
                  </a:lnTo>
                  <a:moveTo>
                    <a:pt x="116" y="330"/>
                  </a:moveTo>
                  <a:lnTo>
                    <a:pt x="116" y="270"/>
                  </a:lnTo>
                  <a:moveTo>
                    <a:pt x="145" y="120"/>
                  </a:moveTo>
                  <a:lnTo>
                    <a:pt x="145" y="60"/>
                  </a:lnTo>
                  <a:moveTo>
                    <a:pt x="145" y="240"/>
                  </a:moveTo>
                  <a:lnTo>
                    <a:pt x="145" y="180"/>
                  </a:lnTo>
                  <a:moveTo>
                    <a:pt x="145" y="360"/>
                  </a:moveTo>
                  <a:lnTo>
                    <a:pt x="145" y="300"/>
                  </a:lnTo>
                  <a:moveTo>
                    <a:pt x="174" y="390"/>
                  </a:moveTo>
                  <a:lnTo>
                    <a:pt x="174" y="330"/>
                  </a:lnTo>
                  <a:moveTo>
                    <a:pt x="174" y="150"/>
                  </a:moveTo>
                  <a:lnTo>
                    <a:pt x="174" y="90"/>
                  </a:lnTo>
                  <a:moveTo>
                    <a:pt x="174" y="270"/>
                  </a:moveTo>
                  <a:lnTo>
                    <a:pt x="174" y="210"/>
                  </a:lnTo>
                  <a:moveTo>
                    <a:pt x="204" y="180"/>
                  </a:moveTo>
                  <a:lnTo>
                    <a:pt x="204" y="120"/>
                  </a:lnTo>
                  <a:moveTo>
                    <a:pt x="204" y="300"/>
                  </a:moveTo>
                  <a:lnTo>
                    <a:pt x="204" y="240"/>
                  </a:lnTo>
                  <a:moveTo>
                    <a:pt x="204" y="60"/>
                  </a:moveTo>
                  <a:lnTo>
                    <a:pt x="204" y="0"/>
                  </a:lnTo>
                  <a:moveTo>
                    <a:pt x="204" y="60"/>
                  </a:moveTo>
                  <a:lnTo>
                    <a:pt x="233" y="30"/>
                  </a:lnTo>
                </a:path>
              </a:pathLst>
            </a:custGeom>
            <a:noFill/>
            <a:ln w="11113" cap="sq">
              <a:solidFill>
                <a:srgbClr val="CDCDCD"/>
              </a:solidFill>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452" name="Rectangle 1067"/>
            <p:cNvSpPr>
              <a:spLocks noChangeArrowheads="1"/>
            </p:cNvSpPr>
            <p:nvPr/>
          </p:nvSpPr>
          <p:spPr bwMode="auto">
            <a:xfrm>
              <a:off x="1459" y="2161"/>
              <a:ext cx="49" cy="361"/>
            </a:xfrm>
            <a:prstGeom prst="rect">
              <a:avLst/>
            </a:prstGeom>
            <a:solidFill>
              <a:srgbClr val="DC7E5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53" name="Rectangle 1068"/>
            <p:cNvSpPr>
              <a:spLocks noChangeArrowheads="1"/>
            </p:cNvSpPr>
            <p:nvPr/>
          </p:nvSpPr>
          <p:spPr bwMode="auto">
            <a:xfrm>
              <a:off x="1459" y="2161"/>
              <a:ext cx="49" cy="361"/>
            </a:xfrm>
            <a:prstGeom prst="rect">
              <a:avLst/>
            </a:prstGeom>
            <a:noFill/>
            <a:ln w="11113" cap="rnd">
              <a:solidFill>
                <a:srgbClr val="E6E6E6"/>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454" name="Freeform 1069"/>
            <p:cNvSpPr>
              <a:spLocks/>
            </p:cNvSpPr>
            <p:nvPr/>
          </p:nvSpPr>
          <p:spPr bwMode="auto">
            <a:xfrm>
              <a:off x="1533" y="1896"/>
              <a:ext cx="237" cy="268"/>
            </a:xfrm>
            <a:custGeom>
              <a:avLst/>
              <a:gdLst>
                <a:gd name="T0" fmla="*/ 0 w 237"/>
                <a:gd name="T1" fmla="*/ 268 h 268"/>
                <a:gd name="T2" fmla="*/ 237 w 237"/>
                <a:gd name="T3" fmla="*/ 25 h 268"/>
                <a:gd name="T4" fmla="*/ 237 w 237"/>
                <a:gd name="T5" fmla="*/ 0 h 268"/>
                <a:gd name="T6" fmla="*/ 0 w 237"/>
                <a:gd name="T7" fmla="*/ 243 h 268"/>
                <a:gd name="T8" fmla="*/ 0 w 237"/>
                <a:gd name="T9" fmla="*/ 268 h 268"/>
                <a:gd name="T10" fmla="*/ 0 60000 65536"/>
                <a:gd name="T11" fmla="*/ 0 60000 65536"/>
                <a:gd name="T12" fmla="*/ 0 60000 65536"/>
                <a:gd name="T13" fmla="*/ 0 60000 65536"/>
                <a:gd name="T14" fmla="*/ 0 60000 65536"/>
                <a:gd name="T15" fmla="*/ 0 w 237"/>
                <a:gd name="T16" fmla="*/ 0 h 268"/>
                <a:gd name="T17" fmla="*/ 237 w 237"/>
                <a:gd name="T18" fmla="*/ 268 h 268"/>
              </a:gdLst>
              <a:ahLst/>
              <a:cxnLst>
                <a:cxn ang="T10">
                  <a:pos x="T0" y="T1"/>
                </a:cxn>
                <a:cxn ang="T11">
                  <a:pos x="T2" y="T3"/>
                </a:cxn>
                <a:cxn ang="T12">
                  <a:pos x="T4" y="T5"/>
                </a:cxn>
                <a:cxn ang="T13">
                  <a:pos x="T6" y="T7"/>
                </a:cxn>
                <a:cxn ang="T14">
                  <a:pos x="T8" y="T9"/>
                </a:cxn>
              </a:cxnLst>
              <a:rect l="T15" t="T16" r="T17" b="T18"/>
              <a:pathLst>
                <a:path w="237" h="268">
                  <a:moveTo>
                    <a:pt x="0" y="268"/>
                  </a:moveTo>
                  <a:lnTo>
                    <a:pt x="237" y="25"/>
                  </a:lnTo>
                  <a:lnTo>
                    <a:pt x="237" y="0"/>
                  </a:lnTo>
                  <a:lnTo>
                    <a:pt x="0" y="243"/>
                  </a:lnTo>
                  <a:lnTo>
                    <a:pt x="0" y="268"/>
                  </a:lnTo>
                  <a:close/>
                </a:path>
              </a:pathLst>
            </a:custGeom>
            <a:solidFill>
              <a:srgbClr val="9A9A9A"/>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55" name="Freeform 1070"/>
            <p:cNvSpPr>
              <a:spLocks/>
            </p:cNvSpPr>
            <p:nvPr/>
          </p:nvSpPr>
          <p:spPr bwMode="auto">
            <a:xfrm>
              <a:off x="1533" y="1896"/>
              <a:ext cx="237" cy="268"/>
            </a:xfrm>
            <a:custGeom>
              <a:avLst/>
              <a:gdLst>
                <a:gd name="T0" fmla="*/ 0 w 237"/>
                <a:gd name="T1" fmla="*/ 268 h 268"/>
                <a:gd name="T2" fmla="*/ 237 w 237"/>
                <a:gd name="T3" fmla="*/ 25 h 268"/>
                <a:gd name="T4" fmla="*/ 237 w 237"/>
                <a:gd name="T5" fmla="*/ 0 h 268"/>
                <a:gd name="T6" fmla="*/ 0 w 237"/>
                <a:gd name="T7" fmla="*/ 243 h 268"/>
                <a:gd name="T8" fmla="*/ 0 w 237"/>
                <a:gd name="T9" fmla="*/ 268 h 268"/>
                <a:gd name="T10" fmla="*/ 0 60000 65536"/>
                <a:gd name="T11" fmla="*/ 0 60000 65536"/>
                <a:gd name="T12" fmla="*/ 0 60000 65536"/>
                <a:gd name="T13" fmla="*/ 0 60000 65536"/>
                <a:gd name="T14" fmla="*/ 0 60000 65536"/>
                <a:gd name="T15" fmla="*/ 0 w 237"/>
                <a:gd name="T16" fmla="*/ 0 h 268"/>
                <a:gd name="T17" fmla="*/ 237 w 237"/>
                <a:gd name="T18" fmla="*/ 268 h 268"/>
              </a:gdLst>
              <a:ahLst/>
              <a:cxnLst>
                <a:cxn ang="T10">
                  <a:pos x="T0" y="T1"/>
                </a:cxn>
                <a:cxn ang="T11">
                  <a:pos x="T2" y="T3"/>
                </a:cxn>
                <a:cxn ang="T12">
                  <a:pos x="T4" y="T5"/>
                </a:cxn>
                <a:cxn ang="T13">
                  <a:pos x="T6" y="T7"/>
                </a:cxn>
                <a:cxn ang="T14">
                  <a:pos x="T8" y="T9"/>
                </a:cxn>
              </a:cxnLst>
              <a:rect l="T15" t="T16" r="T17" b="T18"/>
              <a:pathLst>
                <a:path w="237" h="268">
                  <a:moveTo>
                    <a:pt x="0" y="268"/>
                  </a:moveTo>
                  <a:lnTo>
                    <a:pt x="237" y="25"/>
                  </a:lnTo>
                  <a:lnTo>
                    <a:pt x="237" y="0"/>
                  </a:lnTo>
                  <a:lnTo>
                    <a:pt x="0" y="243"/>
                  </a:lnTo>
                  <a:lnTo>
                    <a:pt x="0" y="268"/>
                  </a:lnTo>
                  <a:close/>
                </a:path>
              </a:pathLst>
            </a:cu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456" name="Rectangle 1071"/>
            <p:cNvSpPr>
              <a:spLocks noChangeArrowheads="1"/>
            </p:cNvSpPr>
            <p:nvPr/>
          </p:nvSpPr>
          <p:spPr bwMode="auto">
            <a:xfrm>
              <a:off x="1434" y="2139"/>
              <a:ext cx="99" cy="25"/>
            </a:xfrm>
            <a:prstGeom prst="rect">
              <a:avLst/>
            </a:prstGeom>
            <a:solidFill>
              <a:srgbClr val="C0C0C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57" name="Rectangle 1072"/>
            <p:cNvSpPr>
              <a:spLocks noChangeArrowheads="1"/>
            </p:cNvSpPr>
            <p:nvPr/>
          </p:nvSpPr>
          <p:spPr bwMode="auto">
            <a:xfrm>
              <a:off x="1434" y="2139"/>
              <a:ext cx="99" cy="25"/>
            </a:xfrm>
            <a:prstGeom prst="rect">
              <a:avLst/>
            </a:pr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458" name="Freeform 1073"/>
            <p:cNvSpPr>
              <a:spLocks/>
            </p:cNvSpPr>
            <p:nvPr/>
          </p:nvSpPr>
          <p:spPr bwMode="auto">
            <a:xfrm>
              <a:off x="1434" y="1896"/>
              <a:ext cx="336" cy="243"/>
            </a:xfrm>
            <a:custGeom>
              <a:avLst/>
              <a:gdLst>
                <a:gd name="T0" fmla="*/ 0 w 336"/>
                <a:gd name="T1" fmla="*/ 243 h 243"/>
                <a:gd name="T2" fmla="*/ 236 w 336"/>
                <a:gd name="T3" fmla="*/ 0 h 243"/>
                <a:gd name="T4" fmla="*/ 336 w 336"/>
                <a:gd name="T5" fmla="*/ 0 h 243"/>
                <a:gd name="T6" fmla="*/ 99 w 336"/>
                <a:gd name="T7" fmla="*/ 243 h 243"/>
                <a:gd name="T8" fmla="*/ 0 w 336"/>
                <a:gd name="T9" fmla="*/ 243 h 243"/>
                <a:gd name="T10" fmla="*/ 0 60000 65536"/>
                <a:gd name="T11" fmla="*/ 0 60000 65536"/>
                <a:gd name="T12" fmla="*/ 0 60000 65536"/>
                <a:gd name="T13" fmla="*/ 0 60000 65536"/>
                <a:gd name="T14" fmla="*/ 0 60000 65536"/>
                <a:gd name="T15" fmla="*/ 0 w 336"/>
                <a:gd name="T16" fmla="*/ 0 h 243"/>
                <a:gd name="T17" fmla="*/ 336 w 336"/>
                <a:gd name="T18" fmla="*/ 243 h 243"/>
              </a:gdLst>
              <a:ahLst/>
              <a:cxnLst>
                <a:cxn ang="T10">
                  <a:pos x="T0" y="T1"/>
                </a:cxn>
                <a:cxn ang="T11">
                  <a:pos x="T2" y="T3"/>
                </a:cxn>
                <a:cxn ang="T12">
                  <a:pos x="T4" y="T5"/>
                </a:cxn>
                <a:cxn ang="T13">
                  <a:pos x="T6" y="T7"/>
                </a:cxn>
                <a:cxn ang="T14">
                  <a:pos x="T8" y="T9"/>
                </a:cxn>
              </a:cxnLst>
              <a:rect l="T15" t="T16" r="T17" b="T18"/>
              <a:pathLst>
                <a:path w="336" h="243">
                  <a:moveTo>
                    <a:pt x="0" y="243"/>
                  </a:moveTo>
                  <a:lnTo>
                    <a:pt x="236" y="0"/>
                  </a:lnTo>
                  <a:lnTo>
                    <a:pt x="336" y="0"/>
                  </a:lnTo>
                  <a:lnTo>
                    <a:pt x="99" y="243"/>
                  </a:lnTo>
                  <a:lnTo>
                    <a:pt x="0" y="243"/>
                  </a:lnTo>
                  <a:close/>
                </a:path>
              </a:pathLst>
            </a:custGeom>
            <a:solidFill>
              <a:srgbClr val="E6E6E6"/>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59" name="Freeform 1074"/>
            <p:cNvSpPr>
              <a:spLocks/>
            </p:cNvSpPr>
            <p:nvPr/>
          </p:nvSpPr>
          <p:spPr bwMode="auto">
            <a:xfrm>
              <a:off x="1434" y="1896"/>
              <a:ext cx="336" cy="243"/>
            </a:xfrm>
            <a:custGeom>
              <a:avLst/>
              <a:gdLst>
                <a:gd name="T0" fmla="*/ 0 w 336"/>
                <a:gd name="T1" fmla="*/ 243 h 243"/>
                <a:gd name="T2" fmla="*/ 236 w 336"/>
                <a:gd name="T3" fmla="*/ 0 h 243"/>
                <a:gd name="T4" fmla="*/ 336 w 336"/>
                <a:gd name="T5" fmla="*/ 0 h 243"/>
                <a:gd name="T6" fmla="*/ 99 w 336"/>
                <a:gd name="T7" fmla="*/ 243 h 243"/>
                <a:gd name="T8" fmla="*/ 0 w 336"/>
                <a:gd name="T9" fmla="*/ 243 h 243"/>
                <a:gd name="T10" fmla="*/ 0 60000 65536"/>
                <a:gd name="T11" fmla="*/ 0 60000 65536"/>
                <a:gd name="T12" fmla="*/ 0 60000 65536"/>
                <a:gd name="T13" fmla="*/ 0 60000 65536"/>
                <a:gd name="T14" fmla="*/ 0 60000 65536"/>
                <a:gd name="T15" fmla="*/ 0 w 336"/>
                <a:gd name="T16" fmla="*/ 0 h 243"/>
                <a:gd name="T17" fmla="*/ 336 w 336"/>
                <a:gd name="T18" fmla="*/ 243 h 243"/>
              </a:gdLst>
              <a:ahLst/>
              <a:cxnLst>
                <a:cxn ang="T10">
                  <a:pos x="T0" y="T1"/>
                </a:cxn>
                <a:cxn ang="T11">
                  <a:pos x="T2" y="T3"/>
                </a:cxn>
                <a:cxn ang="T12">
                  <a:pos x="T4" y="T5"/>
                </a:cxn>
                <a:cxn ang="T13">
                  <a:pos x="T6" y="T7"/>
                </a:cxn>
                <a:cxn ang="T14">
                  <a:pos x="T8" y="T9"/>
                </a:cxn>
              </a:cxnLst>
              <a:rect l="T15" t="T16" r="T17" b="T18"/>
              <a:pathLst>
                <a:path w="336" h="243">
                  <a:moveTo>
                    <a:pt x="0" y="243"/>
                  </a:moveTo>
                  <a:lnTo>
                    <a:pt x="236" y="0"/>
                  </a:lnTo>
                  <a:lnTo>
                    <a:pt x="336" y="0"/>
                  </a:lnTo>
                  <a:lnTo>
                    <a:pt x="99" y="243"/>
                  </a:lnTo>
                  <a:lnTo>
                    <a:pt x="0" y="243"/>
                  </a:lnTo>
                  <a:close/>
                </a:path>
              </a:pathLst>
            </a:cu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460" name="Freeform 1075"/>
            <p:cNvSpPr>
              <a:spLocks noEditPoints="1"/>
            </p:cNvSpPr>
            <p:nvPr/>
          </p:nvSpPr>
          <p:spPr bwMode="auto">
            <a:xfrm>
              <a:off x="1459" y="2221"/>
              <a:ext cx="46" cy="241"/>
            </a:xfrm>
            <a:custGeom>
              <a:avLst/>
              <a:gdLst>
                <a:gd name="T0" fmla="*/ 46 w 46"/>
                <a:gd name="T1" fmla="*/ 0 h 241"/>
                <a:gd name="T2" fmla="*/ 0 w 46"/>
                <a:gd name="T3" fmla="*/ 0 h 241"/>
                <a:gd name="T4" fmla="*/ 46 w 46"/>
                <a:gd name="T5" fmla="*/ 60 h 241"/>
                <a:gd name="T6" fmla="*/ 0 w 46"/>
                <a:gd name="T7" fmla="*/ 60 h 241"/>
                <a:gd name="T8" fmla="*/ 46 w 46"/>
                <a:gd name="T9" fmla="*/ 120 h 241"/>
                <a:gd name="T10" fmla="*/ 0 w 46"/>
                <a:gd name="T11" fmla="*/ 120 h 241"/>
                <a:gd name="T12" fmla="*/ 46 w 46"/>
                <a:gd name="T13" fmla="*/ 181 h 241"/>
                <a:gd name="T14" fmla="*/ 0 w 46"/>
                <a:gd name="T15" fmla="*/ 181 h 241"/>
                <a:gd name="T16" fmla="*/ 46 w 46"/>
                <a:gd name="T17" fmla="*/ 241 h 241"/>
                <a:gd name="T18" fmla="*/ 0 w 46"/>
                <a:gd name="T19" fmla="*/ 241 h 24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6"/>
                <a:gd name="T31" fmla="*/ 0 h 241"/>
                <a:gd name="T32" fmla="*/ 46 w 46"/>
                <a:gd name="T33" fmla="*/ 241 h 24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6" h="241">
                  <a:moveTo>
                    <a:pt x="46" y="0"/>
                  </a:moveTo>
                  <a:lnTo>
                    <a:pt x="0" y="0"/>
                  </a:lnTo>
                  <a:moveTo>
                    <a:pt x="46" y="60"/>
                  </a:moveTo>
                  <a:lnTo>
                    <a:pt x="0" y="60"/>
                  </a:lnTo>
                  <a:moveTo>
                    <a:pt x="46" y="120"/>
                  </a:moveTo>
                  <a:lnTo>
                    <a:pt x="0" y="120"/>
                  </a:lnTo>
                  <a:moveTo>
                    <a:pt x="46" y="181"/>
                  </a:moveTo>
                  <a:lnTo>
                    <a:pt x="0" y="181"/>
                  </a:lnTo>
                  <a:moveTo>
                    <a:pt x="46" y="241"/>
                  </a:moveTo>
                  <a:lnTo>
                    <a:pt x="0" y="241"/>
                  </a:lnTo>
                </a:path>
              </a:pathLst>
            </a:custGeom>
            <a:noFill/>
            <a:ln w="11113" cap="sq">
              <a:solidFill>
                <a:srgbClr val="E6E6E6"/>
              </a:solidFill>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461" name="Freeform 1076"/>
            <p:cNvSpPr>
              <a:spLocks/>
            </p:cNvSpPr>
            <p:nvPr/>
          </p:nvSpPr>
          <p:spPr bwMode="auto">
            <a:xfrm>
              <a:off x="1434" y="1896"/>
              <a:ext cx="336" cy="627"/>
            </a:xfrm>
            <a:custGeom>
              <a:avLst/>
              <a:gdLst>
                <a:gd name="T0" fmla="*/ 25 w 336"/>
                <a:gd name="T1" fmla="*/ 627 h 627"/>
                <a:gd name="T2" fmla="*/ 25 w 336"/>
                <a:gd name="T3" fmla="*/ 268 h 627"/>
                <a:gd name="T4" fmla="*/ 0 w 336"/>
                <a:gd name="T5" fmla="*/ 268 h 627"/>
                <a:gd name="T6" fmla="*/ 0 w 336"/>
                <a:gd name="T7" fmla="*/ 243 h 627"/>
                <a:gd name="T8" fmla="*/ 236 w 336"/>
                <a:gd name="T9" fmla="*/ 0 h 627"/>
                <a:gd name="T10" fmla="*/ 336 w 336"/>
                <a:gd name="T11" fmla="*/ 0 h 627"/>
                <a:gd name="T12" fmla="*/ 336 w 336"/>
                <a:gd name="T13" fmla="*/ 25 h 627"/>
                <a:gd name="T14" fmla="*/ 311 w 336"/>
                <a:gd name="T15" fmla="*/ 51 h 627"/>
                <a:gd name="T16" fmla="*/ 311 w 336"/>
                <a:gd name="T17" fmla="*/ 384 h 627"/>
                <a:gd name="T18" fmla="*/ 74 w 336"/>
                <a:gd name="T19" fmla="*/ 627 h 627"/>
                <a:gd name="T20" fmla="*/ 25 w 336"/>
                <a:gd name="T21" fmla="*/ 627 h 62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36"/>
                <a:gd name="T34" fmla="*/ 0 h 627"/>
                <a:gd name="T35" fmla="*/ 336 w 336"/>
                <a:gd name="T36" fmla="*/ 627 h 62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36" h="627">
                  <a:moveTo>
                    <a:pt x="25" y="627"/>
                  </a:moveTo>
                  <a:lnTo>
                    <a:pt x="25" y="268"/>
                  </a:lnTo>
                  <a:lnTo>
                    <a:pt x="0" y="268"/>
                  </a:lnTo>
                  <a:lnTo>
                    <a:pt x="0" y="243"/>
                  </a:lnTo>
                  <a:lnTo>
                    <a:pt x="236" y="0"/>
                  </a:lnTo>
                  <a:lnTo>
                    <a:pt x="336" y="0"/>
                  </a:lnTo>
                  <a:lnTo>
                    <a:pt x="336" y="25"/>
                  </a:lnTo>
                  <a:lnTo>
                    <a:pt x="311" y="51"/>
                  </a:lnTo>
                  <a:lnTo>
                    <a:pt x="311" y="384"/>
                  </a:lnTo>
                  <a:lnTo>
                    <a:pt x="74" y="627"/>
                  </a:lnTo>
                  <a:lnTo>
                    <a:pt x="25" y="627"/>
                  </a:lnTo>
                </a:path>
              </a:pathLst>
            </a:custGeom>
            <a:noFill/>
            <a:ln w="17463"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462" name="Rectangle 1077"/>
            <p:cNvSpPr>
              <a:spLocks noChangeArrowheads="1"/>
            </p:cNvSpPr>
            <p:nvPr/>
          </p:nvSpPr>
          <p:spPr bwMode="auto">
            <a:xfrm>
              <a:off x="1377" y="2540"/>
              <a:ext cx="248" cy="8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900" b="0">
                  <a:solidFill>
                    <a:srgbClr val="000000"/>
                  </a:solidFill>
                  <a:latin typeface="Arial" charset="0"/>
                </a:rPr>
                <a:t>Firewall</a:t>
              </a:r>
              <a:endParaRPr lang="en-US"/>
            </a:p>
          </p:txBody>
        </p:sp>
        <p:pic>
          <p:nvPicPr>
            <p:cNvPr id="463" name="Picture 1078"/>
            <p:cNvPicPr>
              <a:picLocks noChangeAspect="1" noChangeArrowheads="1"/>
            </p:cNvPicPr>
            <p:nvPr/>
          </p:nvPicPr>
          <p:blipFill>
            <a:blip r:embed="rId139">
              <a:extLst>
                <a:ext uri="{28A0092B-C50C-407E-A947-70E740481C1C}">
                  <a14:useLocalDpi xmlns:a14="http://schemas.microsoft.com/office/drawing/2010/main" val="0"/>
                </a:ext>
              </a:extLst>
            </a:blip>
            <a:srcRect/>
            <a:stretch>
              <a:fillRect/>
            </a:stretch>
          </p:blipFill>
          <p:spPr bwMode="auto">
            <a:xfrm>
              <a:off x="1291" y="2766"/>
              <a:ext cx="484" cy="2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nvGrpSpPr>
            <p:cNvPr id="464" name="Group 1079"/>
            <p:cNvGrpSpPr>
              <a:grpSpLocks/>
            </p:cNvGrpSpPr>
            <p:nvPr/>
          </p:nvGrpSpPr>
          <p:grpSpPr bwMode="auto">
            <a:xfrm>
              <a:off x="1462" y="2614"/>
              <a:ext cx="199" cy="461"/>
              <a:chOff x="2182" y="1582"/>
              <a:chExt cx="199" cy="461"/>
            </a:xfrm>
          </p:grpSpPr>
          <p:sp>
            <p:nvSpPr>
              <p:cNvPr id="465" name="Freeform 1080"/>
              <p:cNvSpPr>
                <a:spLocks/>
              </p:cNvSpPr>
              <p:nvPr/>
            </p:nvSpPr>
            <p:spPr bwMode="auto">
              <a:xfrm>
                <a:off x="2324" y="1979"/>
                <a:ext cx="54" cy="64"/>
              </a:xfrm>
              <a:custGeom>
                <a:avLst/>
                <a:gdLst>
                  <a:gd name="T0" fmla="*/ 0 w 54"/>
                  <a:gd name="T1" fmla="*/ 64 h 64"/>
                  <a:gd name="T2" fmla="*/ 54 w 54"/>
                  <a:gd name="T3" fmla="*/ 9 h 64"/>
                  <a:gd name="T4" fmla="*/ 54 w 54"/>
                  <a:gd name="T5" fmla="*/ 0 h 64"/>
                  <a:gd name="T6" fmla="*/ 0 w 54"/>
                  <a:gd name="T7" fmla="*/ 54 h 64"/>
                  <a:gd name="T8" fmla="*/ 0 w 54"/>
                  <a:gd name="T9" fmla="*/ 64 h 64"/>
                  <a:gd name="T10" fmla="*/ 0 60000 65536"/>
                  <a:gd name="T11" fmla="*/ 0 60000 65536"/>
                  <a:gd name="T12" fmla="*/ 0 60000 65536"/>
                  <a:gd name="T13" fmla="*/ 0 60000 65536"/>
                  <a:gd name="T14" fmla="*/ 0 60000 65536"/>
                  <a:gd name="T15" fmla="*/ 0 w 54"/>
                  <a:gd name="T16" fmla="*/ 0 h 64"/>
                  <a:gd name="T17" fmla="*/ 54 w 54"/>
                  <a:gd name="T18" fmla="*/ 64 h 64"/>
                </a:gdLst>
                <a:ahLst/>
                <a:cxnLst>
                  <a:cxn ang="T10">
                    <a:pos x="T0" y="T1"/>
                  </a:cxn>
                  <a:cxn ang="T11">
                    <a:pos x="T2" y="T3"/>
                  </a:cxn>
                  <a:cxn ang="T12">
                    <a:pos x="T4" y="T5"/>
                  </a:cxn>
                  <a:cxn ang="T13">
                    <a:pos x="T6" y="T7"/>
                  </a:cxn>
                  <a:cxn ang="T14">
                    <a:pos x="T8" y="T9"/>
                  </a:cxn>
                </a:cxnLst>
                <a:rect l="T15" t="T16" r="T17" b="T18"/>
                <a:pathLst>
                  <a:path w="54" h="64">
                    <a:moveTo>
                      <a:pt x="0" y="64"/>
                    </a:moveTo>
                    <a:lnTo>
                      <a:pt x="54" y="9"/>
                    </a:lnTo>
                    <a:lnTo>
                      <a:pt x="54" y="0"/>
                    </a:lnTo>
                    <a:lnTo>
                      <a:pt x="0" y="54"/>
                    </a:lnTo>
                    <a:lnTo>
                      <a:pt x="0" y="64"/>
                    </a:lnTo>
                    <a:close/>
                  </a:path>
                </a:pathLst>
              </a:custGeom>
              <a:solidFill>
                <a:srgbClr val="9A9A9A"/>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66" name="Freeform 1081"/>
              <p:cNvSpPr>
                <a:spLocks/>
              </p:cNvSpPr>
              <p:nvPr/>
            </p:nvSpPr>
            <p:spPr bwMode="auto">
              <a:xfrm>
                <a:off x="2182" y="1582"/>
                <a:ext cx="199" cy="51"/>
              </a:xfrm>
              <a:custGeom>
                <a:avLst/>
                <a:gdLst>
                  <a:gd name="T0" fmla="*/ 0 w 199"/>
                  <a:gd name="T1" fmla="*/ 51 h 51"/>
                  <a:gd name="T2" fmla="*/ 49 w 199"/>
                  <a:gd name="T3" fmla="*/ 0 h 51"/>
                  <a:gd name="T4" fmla="*/ 199 w 199"/>
                  <a:gd name="T5" fmla="*/ 0 h 51"/>
                  <a:gd name="T6" fmla="*/ 149 w 199"/>
                  <a:gd name="T7" fmla="*/ 51 h 51"/>
                  <a:gd name="T8" fmla="*/ 0 w 199"/>
                  <a:gd name="T9" fmla="*/ 51 h 51"/>
                  <a:gd name="T10" fmla="*/ 0 60000 65536"/>
                  <a:gd name="T11" fmla="*/ 0 60000 65536"/>
                  <a:gd name="T12" fmla="*/ 0 60000 65536"/>
                  <a:gd name="T13" fmla="*/ 0 60000 65536"/>
                  <a:gd name="T14" fmla="*/ 0 60000 65536"/>
                  <a:gd name="T15" fmla="*/ 0 w 199"/>
                  <a:gd name="T16" fmla="*/ 0 h 51"/>
                  <a:gd name="T17" fmla="*/ 199 w 199"/>
                  <a:gd name="T18" fmla="*/ 51 h 51"/>
                </a:gdLst>
                <a:ahLst/>
                <a:cxnLst>
                  <a:cxn ang="T10">
                    <a:pos x="T0" y="T1"/>
                  </a:cxn>
                  <a:cxn ang="T11">
                    <a:pos x="T2" y="T3"/>
                  </a:cxn>
                  <a:cxn ang="T12">
                    <a:pos x="T4" y="T5"/>
                  </a:cxn>
                  <a:cxn ang="T13">
                    <a:pos x="T6" y="T7"/>
                  </a:cxn>
                  <a:cxn ang="T14">
                    <a:pos x="T8" y="T9"/>
                  </a:cxn>
                </a:cxnLst>
                <a:rect l="T15" t="T16" r="T17" b="T18"/>
                <a:pathLst>
                  <a:path w="199" h="51">
                    <a:moveTo>
                      <a:pt x="0" y="51"/>
                    </a:moveTo>
                    <a:lnTo>
                      <a:pt x="49" y="0"/>
                    </a:lnTo>
                    <a:lnTo>
                      <a:pt x="199" y="0"/>
                    </a:lnTo>
                    <a:lnTo>
                      <a:pt x="149" y="51"/>
                    </a:lnTo>
                    <a:lnTo>
                      <a:pt x="0" y="51"/>
                    </a:lnTo>
                    <a:close/>
                  </a:path>
                </a:pathLst>
              </a:custGeom>
              <a:solidFill>
                <a:srgbClr val="E6E6E6"/>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67" name="Freeform 1082"/>
              <p:cNvSpPr>
                <a:spLocks/>
              </p:cNvSpPr>
              <p:nvPr/>
            </p:nvSpPr>
            <p:spPr bwMode="auto">
              <a:xfrm>
                <a:off x="2182" y="1582"/>
                <a:ext cx="199" cy="51"/>
              </a:xfrm>
              <a:custGeom>
                <a:avLst/>
                <a:gdLst>
                  <a:gd name="T0" fmla="*/ 0 w 199"/>
                  <a:gd name="T1" fmla="*/ 51 h 51"/>
                  <a:gd name="T2" fmla="*/ 49 w 199"/>
                  <a:gd name="T3" fmla="*/ 0 h 51"/>
                  <a:gd name="T4" fmla="*/ 199 w 199"/>
                  <a:gd name="T5" fmla="*/ 0 h 51"/>
                  <a:gd name="T6" fmla="*/ 149 w 199"/>
                  <a:gd name="T7" fmla="*/ 51 h 51"/>
                  <a:gd name="T8" fmla="*/ 0 w 199"/>
                  <a:gd name="T9" fmla="*/ 51 h 51"/>
                  <a:gd name="T10" fmla="*/ 0 60000 65536"/>
                  <a:gd name="T11" fmla="*/ 0 60000 65536"/>
                  <a:gd name="T12" fmla="*/ 0 60000 65536"/>
                  <a:gd name="T13" fmla="*/ 0 60000 65536"/>
                  <a:gd name="T14" fmla="*/ 0 60000 65536"/>
                  <a:gd name="T15" fmla="*/ 0 w 199"/>
                  <a:gd name="T16" fmla="*/ 0 h 51"/>
                  <a:gd name="T17" fmla="*/ 199 w 199"/>
                  <a:gd name="T18" fmla="*/ 51 h 51"/>
                </a:gdLst>
                <a:ahLst/>
                <a:cxnLst>
                  <a:cxn ang="T10">
                    <a:pos x="T0" y="T1"/>
                  </a:cxn>
                  <a:cxn ang="T11">
                    <a:pos x="T2" y="T3"/>
                  </a:cxn>
                  <a:cxn ang="T12">
                    <a:pos x="T4" y="T5"/>
                  </a:cxn>
                  <a:cxn ang="T13">
                    <a:pos x="T6" y="T7"/>
                  </a:cxn>
                  <a:cxn ang="T14">
                    <a:pos x="T8" y="T9"/>
                  </a:cxn>
                </a:cxnLst>
                <a:rect l="T15" t="T16" r="T17" b="T18"/>
                <a:pathLst>
                  <a:path w="199" h="51">
                    <a:moveTo>
                      <a:pt x="0" y="51"/>
                    </a:moveTo>
                    <a:lnTo>
                      <a:pt x="49" y="0"/>
                    </a:lnTo>
                    <a:lnTo>
                      <a:pt x="199" y="0"/>
                    </a:lnTo>
                    <a:lnTo>
                      <a:pt x="149" y="51"/>
                    </a:lnTo>
                    <a:lnTo>
                      <a:pt x="0" y="51"/>
                    </a:lnTo>
                    <a:close/>
                  </a:path>
                </a:pathLst>
              </a:cu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468" name="Freeform 1083"/>
              <p:cNvSpPr>
                <a:spLocks/>
              </p:cNvSpPr>
              <p:nvPr/>
            </p:nvSpPr>
            <p:spPr bwMode="auto">
              <a:xfrm>
                <a:off x="2331" y="1582"/>
                <a:ext cx="50" cy="451"/>
              </a:xfrm>
              <a:custGeom>
                <a:avLst/>
                <a:gdLst>
                  <a:gd name="T0" fmla="*/ 0 w 50"/>
                  <a:gd name="T1" fmla="*/ 51 h 451"/>
                  <a:gd name="T2" fmla="*/ 50 w 50"/>
                  <a:gd name="T3" fmla="*/ 0 h 451"/>
                  <a:gd name="T4" fmla="*/ 50 w 50"/>
                  <a:gd name="T5" fmla="*/ 400 h 451"/>
                  <a:gd name="T6" fmla="*/ 0 w 50"/>
                  <a:gd name="T7" fmla="*/ 451 h 451"/>
                  <a:gd name="T8" fmla="*/ 0 w 50"/>
                  <a:gd name="T9" fmla="*/ 51 h 451"/>
                  <a:gd name="T10" fmla="*/ 0 60000 65536"/>
                  <a:gd name="T11" fmla="*/ 0 60000 65536"/>
                  <a:gd name="T12" fmla="*/ 0 60000 65536"/>
                  <a:gd name="T13" fmla="*/ 0 60000 65536"/>
                  <a:gd name="T14" fmla="*/ 0 60000 65536"/>
                  <a:gd name="T15" fmla="*/ 0 w 50"/>
                  <a:gd name="T16" fmla="*/ 0 h 451"/>
                  <a:gd name="T17" fmla="*/ 50 w 50"/>
                  <a:gd name="T18" fmla="*/ 451 h 451"/>
                </a:gdLst>
                <a:ahLst/>
                <a:cxnLst>
                  <a:cxn ang="T10">
                    <a:pos x="T0" y="T1"/>
                  </a:cxn>
                  <a:cxn ang="T11">
                    <a:pos x="T2" y="T3"/>
                  </a:cxn>
                  <a:cxn ang="T12">
                    <a:pos x="T4" y="T5"/>
                  </a:cxn>
                  <a:cxn ang="T13">
                    <a:pos x="T6" y="T7"/>
                  </a:cxn>
                  <a:cxn ang="T14">
                    <a:pos x="T8" y="T9"/>
                  </a:cxn>
                </a:cxnLst>
                <a:rect l="T15" t="T16" r="T17" b="T18"/>
                <a:pathLst>
                  <a:path w="50" h="451">
                    <a:moveTo>
                      <a:pt x="0" y="51"/>
                    </a:moveTo>
                    <a:lnTo>
                      <a:pt x="50" y="0"/>
                    </a:lnTo>
                    <a:lnTo>
                      <a:pt x="50" y="400"/>
                    </a:lnTo>
                    <a:lnTo>
                      <a:pt x="0" y="451"/>
                    </a:lnTo>
                    <a:lnTo>
                      <a:pt x="0" y="51"/>
                    </a:lnTo>
                    <a:close/>
                  </a:path>
                </a:pathLst>
              </a:custGeom>
              <a:solidFill>
                <a:srgbClr val="9A9A9A"/>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69" name="Rectangle 1084"/>
              <p:cNvSpPr>
                <a:spLocks noChangeArrowheads="1"/>
              </p:cNvSpPr>
              <p:nvPr/>
            </p:nvSpPr>
            <p:spPr bwMode="auto">
              <a:xfrm>
                <a:off x="2182" y="1633"/>
                <a:ext cx="149" cy="400"/>
              </a:xfrm>
              <a:prstGeom prst="rect">
                <a:avLst/>
              </a:prstGeom>
              <a:solidFill>
                <a:srgbClr val="C0C0C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70" name="Rectangle 1085"/>
              <p:cNvSpPr>
                <a:spLocks noChangeArrowheads="1"/>
              </p:cNvSpPr>
              <p:nvPr/>
            </p:nvSpPr>
            <p:spPr bwMode="auto">
              <a:xfrm>
                <a:off x="2182" y="1633"/>
                <a:ext cx="149" cy="400"/>
              </a:xfrm>
              <a:prstGeom prst="rect">
                <a:avLst/>
              </a:pr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pic>
            <p:nvPicPr>
              <p:cNvPr id="471" name="Picture 1086"/>
              <p:cNvPicPr>
                <a:picLocks noChangeAspect="1" noChangeArrowheads="1"/>
              </p:cNvPicPr>
              <p:nvPr/>
            </p:nvPicPr>
            <p:blipFill>
              <a:blip r:embed="rId51">
                <a:extLst>
                  <a:ext uri="{28A0092B-C50C-407E-A947-70E740481C1C}">
                    <a14:useLocalDpi xmlns:a14="http://schemas.microsoft.com/office/drawing/2010/main" val="0"/>
                  </a:ext>
                </a:extLst>
              </a:blip>
              <a:srcRect/>
              <a:stretch>
                <a:fillRect/>
              </a:stretch>
            </p:blipFill>
            <p:spPr bwMode="auto">
              <a:xfrm>
                <a:off x="2194" y="1651"/>
                <a:ext cx="112"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72" name="Picture 1087"/>
              <p:cNvPicPr>
                <a:picLocks noChangeAspect="1" noChangeArrowheads="1"/>
              </p:cNvPicPr>
              <p:nvPr/>
            </p:nvPicPr>
            <p:blipFill>
              <a:blip r:embed="rId52">
                <a:extLst>
                  <a:ext uri="{28A0092B-C50C-407E-A947-70E740481C1C}">
                    <a14:useLocalDpi xmlns:a14="http://schemas.microsoft.com/office/drawing/2010/main" val="0"/>
                  </a:ext>
                </a:extLst>
              </a:blip>
              <a:srcRect/>
              <a:stretch>
                <a:fillRect/>
              </a:stretch>
            </p:blipFill>
            <p:spPr bwMode="auto">
              <a:xfrm>
                <a:off x="2194" y="1651"/>
                <a:ext cx="112" cy="2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73" name="Rectangle 1088"/>
              <p:cNvSpPr>
                <a:spLocks noChangeArrowheads="1"/>
              </p:cNvSpPr>
              <p:nvPr/>
            </p:nvSpPr>
            <p:spPr bwMode="auto">
              <a:xfrm>
                <a:off x="2200" y="1652"/>
                <a:ext cx="112" cy="244"/>
              </a:xfrm>
              <a:prstGeom prst="rect">
                <a:avLst/>
              </a:prstGeom>
              <a:noFill/>
              <a:ln w="3175"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474" name="Freeform 1089"/>
              <p:cNvSpPr>
                <a:spLocks noEditPoints="1"/>
              </p:cNvSpPr>
              <p:nvPr/>
            </p:nvSpPr>
            <p:spPr bwMode="auto">
              <a:xfrm>
                <a:off x="2214" y="1665"/>
                <a:ext cx="85" cy="209"/>
              </a:xfrm>
              <a:custGeom>
                <a:avLst/>
                <a:gdLst>
                  <a:gd name="T0" fmla="*/ 0 w 85"/>
                  <a:gd name="T1" fmla="*/ 188 h 209"/>
                  <a:gd name="T2" fmla="*/ 85 w 85"/>
                  <a:gd name="T3" fmla="*/ 188 h 209"/>
                  <a:gd name="T4" fmla="*/ 85 w 85"/>
                  <a:gd name="T5" fmla="*/ 209 h 209"/>
                  <a:gd name="T6" fmla="*/ 0 w 85"/>
                  <a:gd name="T7" fmla="*/ 209 h 209"/>
                  <a:gd name="T8" fmla="*/ 0 w 85"/>
                  <a:gd name="T9" fmla="*/ 188 h 209"/>
                  <a:gd name="T10" fmla="*/ 0 w 85"/>
                  <a:gd name="T11" fmla="*/ 156 h 209"/>
                  <a:gd name="T12" fmla="*/ 85 w 85"/>
                  <a:gd name="T13" fmla="*/ 156 h 209"/>
                  <a:gd name="T14" fmla="*/ 85 w 85"/>
                  <a:gd name="T15" fmla="*/ 177 h 209"/>
                  <a:gd name="T16" fmla="*/ 0 w 85"/>
                  <a:gd name="T17" fmla="*/ 177 h 209"/>
                  <a:gd name="T18" fmla="*/ 0 w 85"/>
                  <a:gd name="T19" fmla="*/ 156 h 209"/>
                  <a:gd name="T20" fmla="*/ 0 w 85"/>
                  <a:gd name="T21" fmla="*/ 124 h 209"/>
                  <a:gd name="T22" fmla="*/ 85 w 85"/>
                  <a:gd name="T23" fmla="*/ 124 h 209"/>
                  <a:gd name="T24" fmla="*/ 85 w 85"/>
                  <a:gd name="T25" fmla="*/ 145 h 209"/>
                  <a:gd name="T26" fmla="*/ 0 w 85"/>
                  <a:gd name="T27" fmla="*/ 145 h 209"/>
                  <a:gd name="T28" fmla="*/ 0 w 85"/>
                  <a:gd name="T29" fmla="*/ 124 h 209"/>
                  <a:gd name="T30" fmla="*/ 0 w 85"/>
                  <a:gd name="T31" fmla="*/ 92 h 209"/>
                  <a:gd name="T32" fmla="*/ 85 w 85"/>
                  <a:gd name="T33" fmla="*/ 92 h 209"/>
                  <a:gd name="T34" fmla="*/ 85 w 85"/>
                  <a:gd name="T35" fmla="*/ 113 h 209"/>
                  <a:gd name="T36" fmla="*/ 0 w 85"/>
                  <a:gd name="T37" fmla="*/ 113 h 209"/>
                  <a:gd name="T38" fmla="*/ 0 w 85"/>
                  <a:gd name="T39" fmla="*/ 92 h 209"/>
                  <a:gd name="T40" fmla="*/ 0 w 85"/>
                  <a:gd name="T41" fmla="*/ 47 h 209"/>
                  <a:gd name="T42" fmla="*/ 85 w 85"/>
                  <a:gd name="T43" fmla="*/ 47 h 209"/>
                  <a:gd name="T44" fmla="*/ 85 w 85"/>
                  <a:gd name="T45" fmla="*/ 82 h 209"/>
                  <a:gd name="T46" fmla="*/ 0 w 85"/>
                  <a:gd name="T47" fmla="*/ 82 h 209"/>
                  <a:gd name="T48" fmla="*/ 0 w 85"/>
                  <a:gd name="T49" fmla="*/ 47 h 209"/>
                  <a:gd name="T50" fmla="*/ 0 w 85"/>
                  <a:gd name="T51" fmla="*/ 0 h 209"/>
                  <a:gd name="T52" fmla="*/ 85 w 85"/>
                  <a:gd name="T53" fmla="*/ 0 h 209"/>
                  <a:gd name="T54" fmla="*/ 85 w 85"/>
                  <a:gd name="T55" fmla="*/ 35 h 209"/>
                  <a:gd name="T56" fmla="*/ 0 w 85"/>
                  <a:gd name="T57" fmla="*/ 35 h 209"/>
                  <a:gd name="T58" fmla="*/ 0 w 85"/>
                  <a:gd name="T59" fmla="*/ 0 h 209"/>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85"/>
                  <a:gd name="T91" fmla="*/ 0 h 209"/>
                  <a:gd name="T92" fmla="*/ 85 w 85"/>
                  <a:gd name="T93" fmla="*/ 209 h 209"/>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85" h="209">
                    <a:moveTo>
                      <a:pt x="0" y="188"/>
                    </a:moveTo>
                    <a:lnTo>
                      <a:pt x="85" y="188"/>
                    </a:lnTo>
                    <a:lnTo>
                      <a:pt x="85" y="209"/>
                    </a:lnTo>
                    <a:lnTo>
                      <a:pt x="0" y="209"/>
                    </a:lnTo>
                    <a:lnTo>
                      <a:pt x="0" y="188"/>
                    </a:lnTo>
                    <a:close/>
                    <a:moveTo>
                      <a:pt x="0" y="156"/>
                    </a:moveTo>
                    <a:lnTo>
                      <a:pt x="85" y="156"/>
                    </a:lnTo>
                    <a:lnTo>
                      <a:pt x="85" y="177"/>
                    </a:lnTo>
                    <a:lnTo>
                      <a:pt x="0" y="177"/>
                    </a:lnTo>
                    <a:lnTo>
                      <a:pt x="0" y="156"/>
                    </a:lnTo>
                    <a:close/>
                    <a:moveTo>
                      <a:pt x="0" y="124"/>
                    </a:moveTo>
                    <a:lnTo>
                      <a:pt x="85" y="124"/>
                    </a:lnTo>
                    <a:lnTo>
                      <a:pt x="85" y="145"/>
                    </a:lnTo>
                    <a:lnTo>
                      <a:pt x="0" y="145"/>
                    </a:lnTo>
                    <a:lnTo>
                      <a:pt x="0" y="124"/>
                    </a:lnTo>
                    <a:close/>
                    <a:moveTo>
                      <a:pt x="0" y="92"/>
                    </a:moveTo>
                    <a:lnTo>
                      <a:pt x="85" y="92"/>
                    </a:lnTo>
                    <a:lnTo>
                      <a:pt x="85" y="113"/>
                    </a:lnTo>
                    <a:lnTo>
                      <a:pt x="0" y="113"/>
                    </a:lnTo>
                    <a:lnTo>
                      <a:pt x="0" y="92"/>
                    </a:lnTo>
                    <a:close/>
                    <a:moveTo>
                      <a:pt x="0" y="47"/>
                    </a:moveTo>
                    <a:lnTo>
                      <a:pt x="85" y="47"/>
                    </a:lnTo>
                    <a:lnTo>
                      <a:pt x="85" y="82"/>
                    </a:lnTo>
                    <a:lnTo>
                      <a:pt x="0" y="82"/>
                    </a:lnTo>
                    <a:lnTo>
                      <a:pt x="0" y="47"/>
                    </a:lnTo>
                    <a:close/>
                    <a:moveTo>
                      <a:pt x="0" y="0"/>
                    </a:moveTo>
                    <a:lnTo>
                      <a:pt x="85" y="0"/>
                    </a:lnTo>
                    <a:lnTo>
                      <a:pt x="85" y="35"/>
                    </a:lnTo>
                    <a:lnTo>
                      <a:pt x="0" y="35"/>
                    </a:lnTo>
                    <a:lnTo>
                      <a:pt x="0" y="0"/>
                    </a:lnTo>
                    <a:close/>
                  </a:path>
                </a:pathLst>
              </a:custGeom>
              <a:solidFill>
                <a:srgbClr val="C0C0C0"/>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75" name="Rectangle 1090"/>
              <p:cNvSpPr>
                <a:spLocks noChangeArrowheads="1"/>
              </p:cNvSpPr>
              <p:nvPr/>
            </p:nvSpPr>
            <p:spPr bwMode="auto">
              <a:xfrm>
                <a:off x="2214" y="1853"/>
                <a:ext cx="85" cy="21"/>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476" name="Rectangle 1091"/>
              <p:cNvSpPr>
                <a:spLocks noChangeArrowheads="1"/>
              </p:cNvSpPr>
              <p:nvPr/>
            </p:nvSpPr>
            <p:spPr bwMode="auto">
              <a:xfrm>
                <a:off x="2214" y="1821"/>
                <a:ext cx="85" cy="21"/>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477" name="Rectangle 1092"/>
              <p:cNvSpPr>
                <a:spLocks noChangeArrowheads="1"/>
              </p:cNvSpPr>
              <p:nvPr/>
            </p:nvSpPr>
            <p:spPr bwMode="auto">
              <a:xfrm>
                <a:off x="2214" y="1789"/>
                <a:ext cx="85" cy="21"/>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478" name="Rectangle 1093"/>
              <p:cNvSpPr>
                <a:spLocks noChangeArrowheads="1"/>
              </p:cNvSpPr>
              <p:nvPr/>
            </p:nvSpPr>
            <p:spPr bwMode="auto">
              <a:xfrm>
                <a:off x="2214" y="1757"/>
                <a:ext cx="85" cy="21"/>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479" name="Rectangle 1094"/>
              <p:cNvSpPr>
                <a:spLocks noChangeArrowheads="1"/>
              </p:cNvSpPr>
              <p:nvPr/>
            </p:nvSpPr>
            <p:spPr bwMode="auto">
              <a:xfrm>
                <a:off x="2214" y="1712"/>
                <a:ext cx="85" cy="35"/>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480" name="Rectangle 1095"/>
              <p:cNvSpPr>
                <a:spLocks noChangeArrowheads="1"/>
              </p:cNvSpPr>
              <p:nvPr/>
            </p:nvSpPr>
            <p:spPr bwMode="auto">
              <a:xfrm>
                <a:off x="2214" y="1665"/>
                <a:ext cx="85" cy="35"/>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481" name="Rectangle 1096"/>
              <p:cNvSpPr>
                <a:spLocks noChangeArrowheads="1"/>
              </p:cNvSpPr>
              <p:nvPr/>
            </p:nvSpPr>
            <p:spPr bwMode="auto">
              <a:xfrm>
                <a:off x="2188" y="2033"/>
                <a:ext cx="136" cy="10"/>
              </a:xfrm>
              <a:prstGeom prst="rect">
                <a:avLst/>
              </a:prstGeom>
              <a:solidFill>
                <a:srgbClr val="9A9A9A"/>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pic>
            <p:nvPicPr>
              <p:cNvPr id="482" name="Picture 1097"/>
              <p:cNvPicPr>
                <a:picLocks noChangeAspect="1" noChangeArrowheads="1"/>
              </p:cNvPicPr>
              <p:nvPr/>
            </p:nvPicPr>
            <p:blipFill>
              <a:blip r:embed="rId53">
                <a:extLst>
                  <a:ext uri="{28A0092B-C50C-407E-A947-70E740481C1C}">
                    <a14:useLocalDpi xmlns:a14="http://schemas.microsoft.com/office/drawing/2010/main" val="0"/>
                  </a:ext>
                </a:extLst>
              </a:blip>
              <a:srcRect/>
              <a:stretch>
                <a:fillRect/>
              </a:stretch>
            </p:blipFill>
            <p:spPr bwMode="auto">
              <a:xfrm>
                <a:off x="2242" y="1915"/>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83" name="Picture 1098"/>
              <p:cNvPicPr>
                <a:picLocks noChangeAspect="1" noChangeArrowheads="1"/>
              </p:cNvPicPr>
              <p:nvPr/>
            </p:nvPicPr>
            <p:blipFill>
              <a:blip r:embed="rId54">
                <a:extLst>
                  <a:ext uri="{28A0092B-C50C-407E-A947-70E740481C1C}">
                    <a14:useLocalDpi xmlns:a14="http://schemas.microsoft.com/office/drawing/2010/main" val="0"/>
                  </a:ext>
                </a:extLst>
              </a:blip>
              <a:srcRect/>
              <a:stretch>
                <a:fillRect/>
              </a:stretch>
            </p:blipFill>
            <p:spPr bwMode="auto">
              <a:xfrm>
                <a:off x="2242" y="1915"/>
                <a:ext cx="24" cy="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84" name="Picture 1099"/>
              <p:cNvPicPr>
                <a:picLocks noChangeAspect="1" noChangeArrowheads="1"/>
              </p:cNvPicPr>
              <p:nvPr/>
            </p:nvPicPr>
            <p:blipFill>
              <a:blip r:embed="rId55">
                <a:extLst>
                  <a:ext uri="{28A0092B-C50C-407E-A947-70E740481C1C}">
                    <a14:useLocalDpi xmlns:a14="http://schemas.microsoft.com/office/drawing/2010/main" val="0"/>
                  </a:ext>
                </a:extLst>
              </a:blip>
              <a:srcRect/>
              <a:stretch>
                <a:fillRect/>
              </a:stretch>
            </p:blipFill>
            <p:spPr bwMode="auto">
              <a:xfrm>
                <a:off x="2250" y="1923"/>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85" name="Picture 1100"/>
              <p:cNvPicPr>
                <a:picLocks noChangeAspect="1" noChangeArrowheads="1"/>
              </p:cNvPicPr>
              <p:nvPr/>
            </p:nvPicPr>
            <p:blipFill>
              <a:blip r:embed="rId56">
                <a:extLst>
                  <a:ext uri="{28A0092B-C50C-407E-A947-70E740481C1C}">
                    <a14:useLocalDpi xmlns:a14="http://schemas.microsoft.com/office/drawing/2010/main" val="0"/>
                  </a:ext>
                </a:extLst>
              </a:blip>
              <a:srcRect/>
              <a:stretch>
                <a:fillRect/>
              </a:stretch>
            </p:blipFill>
            <p:spPr bwMode="auto">
              <a:xfrm>
                <a:off x="2250" y="1947"/>
                <a:ext cx="16"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86" name="Picture 1101"/>
              <p:cNvPicPr>
                <a:picLocks noChangeAspect="1" noChangeArrowheads="1"/>
              </p:cNvPicPr>
              <p:nvPr/>
            </p:nvPicPr>
            <p:blipFill>
              <a:blip r:embed="rId57">
                <a:extLst>
                  <a:ext uri="{28A0092B-C50C-407E-A947-70E740481C1C}">
                    <a14:useLocalDpi xmlns:a14="http://schemas.microsoft.com/office/drawing/2010/main" val="0"/>
                  </a:ext>
                </a:extLst>
              </a:blip>
              <a:srcRect/>
              <a:stretch>
                <a:fillRect/>
              </a:stretch>
            </p:blipFill>
            <p:spPr bwMode="auto">
              <a:xfrm>
                <a:off x="2250" y="1947"/>
                <a:ext cx="8" cy="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87" name="Rectangle 1102"/>
              <p:cNvSpPr>
                <a:spLocks noChangeArrowheads="1"/>
              </p:cNvSpPr>
              <p:nvPr/>
            </p:nvSpPr>
            <p:spPr bwMode="auto">
              <a:xfrm>
                <a:off x="2234" y="1683"/>
                <a:ext cx="13" cy="3"/>
              </a:xfrm>
              <a:prstGeom prst="rect">
                <a:avLst/>
              </a:prstGeom>
              <a:solidFill>
                <a:srgbClr val="9A9A9A"/>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pic>
            <p:nvPicPr>
              <p:cNvPr id="488" name="Picture 1103"/>
              <p:cNvPicPr>
                <a:picLocks noChangeAspect="1" noChangeArrowheads="1"/>
              </p:cNvPicPr>
              <p:nvPr/>
            </p:nvPicPr>
            <p:blipFill>
              <a:blip r:embed="rId58">
                <a:extLst>
                  <a:ext uri="{28A0092B-C50C-407E-A947-70E740481C1C}">
                    <a14:useLocalDpi xmlns:a14="http://schemas.microsoft.com/office/drawing/2010/main" val="0"/>
                  </a:ext>
                </a:extLst>
              </a:blip>
              <a:srcRect/>
              <a:stretch>
                <a:fillRect/>
              </a:stretch>
            </p:blipFill>
            <p:spPr bwMode="auto">
              <a:xfrm>
                <a:off x="2218" y="1667"/>
                <a:ext cx="72" cy="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89" name="Rectangle 1104"/>
              <p:cNvSpPr>
                <a:spLocks noChangeArrowheads="1"/>
              </p:cNvSpPr>
              <p:nvPr/>
            </p:nvSpPr>
            <p:spPr bwMode="auto">
              <a:xfrm>
                <a:off x="2220" y="1672"/>
                <a:ext cx="72" cy="6"/>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pic>
            <p:nvPicPr>
              <p:cNvPr id="490" name="Picture 1105"/>
              <p:cNvPicPr>
                <a:picLocks noChangeAspect="1" noChangeArrowheads="1"/>
              </p:cNvPicPr>
              <p:nvPr/>
            </p:nvPicPr>
            <p:blipFill>
              <a:blip r:embed="rId59">
                <a:extLst>
                  <a:ext uri="{28A0092B-C50C-407E-A947-70E740481C1C}">
                    <a14:useLocalDpi xmlns:a14="http://schemas.microsoft.com/office/drawing/2010/main" val="0"/>
                  </a:ext>
                </a:extLst>
              </a:blip>
              <a:srcRect/>
              <a:stretch>
                <a:fillRect/>
              </a:stretch>
            </p:blipFill>
            <p:spPr bwMode="auto">
              <a:xfrm>
                <a:off x="2218" y="1715"/>
                <a:ext cx="72"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91" name="Picture 1106"/>
              <p:cNvPicPr>
                <a:picLocks noChangeAspect="1" noChangeArrowheads="1"/>
              </p:cNvPicPr>
              <p:nvPr/>
            </p:nvPicPr>
            <p:blipFill>
              <a:blip r:embed="rId60">
                <a:extLst>
                  <a:ext uri="{28A0092B-C50C-407E-A947-70E740481C1C}">
                    <a14:useLocalDpi xmlns:a14="http://schemas.microsoft.com/office/drawing/2010/main" val="0"/>
                  </a:ext>
                </a:extLst>
              </a:blip>
              <a:srcRect/>
              <a:stretch>
                <a:fillRect/>
              </a:stretch>
            </p:blipFill>
            <p:spPr bwMode="auto">
              <a:xfrm>
                <a:off x="2218" y="1715"/>
                <a:ext cx="72"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92" name="Freeform 1107"/>
              <p:cNvSpPr>
                <a:spLocks/>
              </p:cNvSpPr>
              <p:nvPr/>
            </p:nvSpPr>
            <p:spPr bwMode="auto">
              <a:xfrm>
                <a:off x="2219" y="1720"/>
                <a:ext cx="72" cy="14"/>
              </a:xfrm>
              <a:custGeom>
                <a:avLst/>
                <a:gdLst>
                  <a:gd name="T0" fmla="*/ 0 w 144"/>
                  <a:gd name="T1" fmla="*/ 6 h 28"/>
                  <a:gd name="T2" fmla="*/ 39 w 144"/>
                  <a:gd name="T3" fmla="*/ 6 h 28"/>
                  <a:gd name="T4" fmla="*/ 117 w 144"/>
                  <a:gd name="T5" fmla="*/ 6 h 28"/>
                  <a:gd name="T6" fmla="*/ 117 w 144"/>
                  <a:gd name="T7" fmla="*/ 6 h 28"/>
                  <a:gd name="T8" fmla="*/ 144 w 144"/>
                  <a:gd name="T9" fmla="*/ 6 h 28"/>
                  <a:gd name="T10" fmla="*/ 144 w 144"/>
                  <a:gd name="T11" fmla="*/ 28 h 28"/>
                  <a:gd name="T12" fmla="*/ 0 w 144"/>
                  <a:gd name="T13" fmla="*/ 28 h 28"/>
                  <a:gd name="T14" fmla="*/ 0 w 144"/>
                  <a:gd name="T15" fmla="*/ 6 h 28"/>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28"/>
                  <a:gd name="T26" fmla="*/ 144 w 144"/>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28">
                    <a:moveTo>
                      <a:pt x="0" y="6"/>
                    </a:moveTo>
                    <a:lnTo>
                      <a:pt x="39" y="6"/>
                    </a:lnTo>
                    <a:cubicBezTo>
                      <a:pt x="64" y="0"/>
                      <a:pt x="92" y="0"/>
                      <a:pt x="117" y="6"/>
                    </a:cubicBezTo>
                    <a:lnTo>
                      <a:pt x="144" y="6"/>
                    </a:lnTo>
                    <a:lnTo>
                      <a:pt x="144" y="28"/>
                    </a:lnTo>
                    <a:lnTo>
                      <a:pt x="0" y="28"/>
                    </a:lnTo>
                    <a:lnTo>
                      <a:pt x="0" y="6"/>
                    </a:lnTo>
                  </a:path>
                </a:pathLst>
              </a:cu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493" name="Rectangle 1108"/>
              <p:cNvSpPr>
                <a:spLocks noChangeArrowheads="1"/>
              </p:cNvSpPr>
              <p:nvPr/>
            </p:nvSpPr>
            <p:spPr bwMode="auto">
              <a:xfrm>
                <a:off x="2222" y="1727"/>
                <a:ext cx="65" cy="3"/>
              </a:xfrm>
              <a:prstGeom prst="rect">
                <a:avLst/>
              </a:prstGeom>
              <a:solidFill>
                <a:srgbClr val="DBDAC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94" name="Rectangle 1109"/>
              <p:cNvSpPr>
                <a:spLocks noChangeArrowheads="1"/>
              </p:cNvSpPr>
              <p:nvPr/>
            </p:nvSpPr>
            <p:spPr bwMode="auto">
              <a:xfrm>
                <a:off x="2222" y="1727"/>
                <a:ext cx="65" cy="3"/>
              </a:xfrm>
              <a:prstGeom prst="rect">
                <a:avLst/>
              </a:pr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pic>
            <p:nvPicPr>
              <p:cNvPr id="495" name="Picture 1110"/>
              <p:cNvPicPr>
                <a:picLocks noChangeAspect="1" noChangeArrowheads="1"/>
              </p:cNvPicPr>
              <p:nvPr/>
            </p:nvPicPr>
            <p:blipFill>
              <a:blip r:embed="rId61">
                <a:extLst>
                  <a:ext uri="{28A0092B-C50C-407E-A947-70E740481C1C}">
                    <a14:useLocalDpi xmlns:a14="http://schemas.microsoft.com/office/drawing/2010/main" val="0"/>
                  </a:ext>
                </a:extLst>
              </a:blip>
              <a:srcRect/>
              <a:stretch>
                <a:fillRect/>
              </a:stretch>
            </p:blipFill>
            <p:spPr bwMode="auto">
              <a:xfrm>
                <a:off x="2218" y="1755"/>
                <a:ext cx="80"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96" name="Picture 1111"/>
              <p:cNvPicPr>
                <a:picLocks noChangeAspect="1" noChangeArrowheads="1"/>
              </p:cNvPicPr>
              <p:nvPr/>
            </p:nvPicPr>
            <p:blipFill>
              <a:blip r:embed="rId62">
                <a:extLst>
                  <a:ext uri="{28A0092B-C50C-407E-A947-70E740481C1C}">
                    <a14:useLocalDpi xmlns:a14="http://schemas.microsoft.com/office/drawing/2010/main" val="0"/>
                  </a:ext>
                </a:extLst>
              </a:blip>
              <a:srcRect/>
              <a:stretch>
                <a:fillRect/>
              </a:stretch>
            </p:blipFill>
            <p:spPr bwMode="auto">
              <a:xfrm>
                <a:off x="2218" y="1755"/>
                <a:ext cx="80" cy="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97" name="Freeform 1112"/>
              <p:cNvSpPr>
                <a:spLocks/>
              </p:cNvSpPr>
              <p:nvPr/>
            </p:nvSpPr>
            <p:spPr bwMode="auto">
              <a:xfrm>
                <a:off x="2219" y="1760"/>
                <a:ext cx="74" cy="12"/>
              </a:xfrm>
              <a:custGeom>
                <a:avLst/>
                <a:gdLst>
                  <a:gd name="T0" fmla="*/ 0 w 149"/>
                  <a:gd name="T1" fmla="*/ 18 h 23"/>
                  <a:gd name="T2" fmla="*/ 0 w 149"/>
                  <a:gd name="T3" fmla="*/ 6 h 23"/>
                  <a:gd name="T4" fmla="*/ 48 w 149"/>
                  <a:gd name="T5" fmla="*/ 6 h 23"/>
                  <a:gd name="T6" fmla="*/ 102 w 149"/>
                  <a:gd name="T7" fmla="*/ 6 h 23"/>
                  <a:gd name="T8" fmla="*/ 102 w 149"/>
                  <a:gd name="T9" fmla="*/ 6 h 23"/>
                  <a:gd name="T10" fmla="*/ 149 w 149"/>
                  <a:gd name="T11" fmla="*/ 6 h 23"/>
                  <a:gd name="T12" fmla="*/ 149 w 149"/>
                  <a:gd name="T13" fmla="*/ 18 h 23"/>
                  <a:gd name="T14" fmla="*/ 102 w 149"/>
                  <a:gd name="T15" fmla="*/ 18 h 23"/>
                  <a:gd name="T16" fmla="*/ 48 w 149"/>
                  <a:gd name="T17" fmla="*/ 18 h 23"/>
                  <a:gd name="T18" fmla="*/ 48 w 149"/>
                  <a:gd name="T19" fmla="*/ 18 h 23"/>
                  <a:gd name="T20" fmla="*/ 0 w 149"/>
                  <a:gd name="T21" fmla="*/ 18 h 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9"/>
                  <a:gd name="T34" fmla="*/ 0 h 23"/>
                  <a:gd name="T35" fmla="*/ 149 w 149"/>
                  <a:gd name="T36" fmla="*/ 23 h 2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9" h="23">
                    <a:moveTo>
                      <a:pt x="0" y="18"/>
                    </a:moveTo>
                    <a:lnTo>
                      <a:pt x="0" y="6"/>
                    </a:lnTo>
                    <a:lnTo>
                      <a:pt x="48" y="6"/>
                    </a:lnTo>
                    <a:cubicBezTo>
                      <a:pt x="65" y="0"/>
                      <a:pt x="85" y="0"/>
                      <a:pt x="102" y="6"/>
                    </a:cubicBezTo>
                    <a:lnTo>
                      <a:pt x="149" y="6"/>
                    </a:lnTo>
                    <a:lnTo>
                      <a:pt x="149" y="18"/>
                    </a:lnTo>
                    <a:lnTo>
                      <a:pt x="102" y="18"/>
                    </a:lnTo>
                    <a:cubicBezTo>
                      <a:pt x="85" y="23"/>
                      <a:pt x="65" y="23"/>
                      <a:pt x="48" y="18"/>
                    </a:cubicBezTo>
                    <a:lnTo>
                      <a:pt x="0" y="18"/>
                    </a:lnTo>
                  </a:path>
                </a:pathLst>
              </a:cu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pic>
            <p:nvPicPr>
              <p:cNvPr id="498" name="Picture 1113"/>
              <p:cNvPicPr>
                <a:picLocks noChangeAspect="1" noChangeArrowheads="1"/>
              </p:cNvPicPr>
              <p:nvPr/>
            </p:nvPicPr>
            <p:blipFill>
              <a:blip r:embed="rId63">
                <a:extLst>
                  <a:ext uri="{28A0092B-C50C-407E-A947-70E740481C1C}">
                    <a14:useLocalDpi xmlns:a14="http://schemas.microsoft.com/office/drawing/2010/main" val="0"/>
                  </a:ext>
                </a:extLst>
              </a:blip>
              <a:srcRect/>
              <a:stretch>
                <a:fillRect/>
              </a:stretch>
            </p:blipFill>
            <p:spPr bwMode="auto">
              <a:xfrm>
                <a:off x="2250" y="1675"/>
                <a:ext cx="40" cy="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99" name="Picture 1114"/>
              <p:cNvPicPr>
                <a:picLocks noChangeAspect="1" noChangeArrowheads="1"/>
              </p:cNvPicPr>
              <p:nvPr/>
            </p:nvPicPr>
            <p:blipFill>
              <a:blip r:embed="rId64">
                <a:extLst>
                  <a:ext uri="{28A0092B-C50C-407E-A947-70E740481C1C}">
                    <a14:useLocalDpi xmlns:a14="http://schemas.microsoft.com/office/drawing/2010/main" val="0"/>
                  </a:ext>
                </a:extLst>
              </a:blip>
              <a:srcRect/>
              <a:stretch>
                <a:fillRect/>
              </a:stretch>
            </p:blipFill>
            <p:spPr bwMode="auto">
              <a:xfrm>
                <a:off x="2250" y="1675"/>
                <a:ext cx="40" cy="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00" name="Freeform 1115"/>
              <p:cNvSpPr>
                <a:spLocks noEditPoints="1"/>
              </p:cNvSpPr>
              <p:nvPr/>
            </p:nvSpPr>
            <p:spPr bwMode="auto">
              <a:xfrm>
                <a:off x="2256" y="1682"/>
                <a:ext cx="37" cy="94"/>
              </a:xfrm>
              <a:custGeom>
                <a:avLst/>
                <a:gdLst>
                  <a:gd name="T0" fmla="*/ 26 w 37"/>
                  <a:gd name="T1" fmla="*/ 5 h 94"/>
                  <a:gd name="T2" fmla="*/ 36 w 37"/>
                  <a:gd name="T3" fmla="*/ 5 h 94"/>
                  <a:gd name="T4" fmla="*/ 36 w 37"/>
                  <a:gd name="T5" fmla="*/ 0 h 94"/>
                  <a:gd name="T6" fmla="*/ 26 w 37"/>
                  <a:gd name="T7" fmla="*/ 0 h 94"/>
                  <a:gd name="T8" fmla="*/ 26 w 37"/>
                  <a:gd name="T9" fmla="*/ 5 h 94"/>
                  <a:gd name="T10" fmla="*/ 16 w 37"/>
                  <a:gd name="T11" fmla="*/ 4 h 94"/>
                  <a:gd name="T12" fmla="*/ 10 w 37"/>
                  <a:gd name="T13" fmla="*/ 7 h 94"/>
                  <a:gd name="T14" fmla="*/ 10 w 37"/>
                  <a:gd name="T15" fmla="*/ 0 h 94"/>
                  <a:gd name="T16" fmla="*/ 16 w 37"/>
                  <a:gd name="T17" fmla="*/ 4 h 94"/>
                  <a:gd name="T18" fmla="*/ 0 w 37"/>
                  <a:gd name="T19" fmla="*/ 4 h 94"/>
                  <a:gd name="T20" fmla="*/ 7 w 37"/>
                  <a:gd name="T21" fmla="*/ 0 h 94"/>
                  <a:gd name="T22" fmla="*/ 7 w 37"/>
                  <a:gd name="T23" fmla="*/ 7 h 94"/>
                  <a:gd name="T24" fmla="*/ 0 w 37"/>
                  <a:gd name="T25" fmla="*/ 4 h 94"/>
                  <a:gd name="T26" fmla="*/ 21 w 37"/>
                  <a:gd name="T27" fmla="*/ 59 h 94"/>
                  <a:gd name="T28" fmla="*/ 34 w 37"/>
                  <a:gd name="T29" fmla="*/ 59 h 94"/>
                  <a:gd name="T30" fmla="*/ 34 w 37"/>
                  <a:gd name="T31" fmla="*/ 55 h 94"/>
                  <a:gd name="T32" fmla="*/ 21 w 37"/>
                  <a:gd name="T33" fmla="*/ 55 h 94"/>
                  <a:gd name="T34" fmla="*/ 21 w 37"/>
                  <a:gd name="T35" fmla="*/ 59 h 94"/>
                  <a:gd name="T36" fmla="*/ 24 w 37"/>
                  <a:gd name="T37" fmla="*/ 94 h 94"/>
                  <a:gd name="T38" fmla="*/ 37 w 37"/>
                  <a:gd name="T39" fmla="*/ 94 h 94"/>
                  <a:gd name="T40" fmla="*/ 37 w 37"/>
                  <a:gd name="T41" fmla="*/ 90 h 94"/>
                  <a:gd name="T42" fmla="*/ 24 w 37"/>
                  <a:gd name="T43" fmla="*/ 90 h 94"/>
                  <a:gd name="T44" fmla="*/ 24 w 37"/>
                  <a:gd name="T45" fmla="*/ 94 h 9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7"/>
                  <a:gd name="T70" fmla="*/ 0 h 94"/>
                  <a:gd name="T71" fmla="*/ 37 w 37"/>
                  <a:gd name="T72" fmla="*/ 94 h 9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7" h="94">
                    <a:moveTo>
                      <a:pt x="26" y="5"/>
                    </a:moveTo>
                    <a:lnTo>
                      <a:pt x="36" y="5"/>
                    </a:lnTo>
                    <a:lnTo>
                      <a:pt x="36" y="0"/>
                    </a:lnTo>
                    <a:lnTo>
                      <a:pt x="26" y="0"/>
                    </a:lnTo>
                    <a:lnTo>
                      <a:pt x="26" y="5"/>
                    </a:lnTo>
                    <a:moveTo>
                      <a:pt x="16" y="4"/>
                    </a:moveTo>
                    <a:lnTo>
                      <a:pt x="10" y="7"/>
                    </a:lnTo>
                    <a:lnTo>
                      <a:pt x="10" y="0"/>
                    </a:lnTo>
                    <a:lnTo>
                      <a:pt x="16" y="4"/>
                    </a:lnTo>
                    <a:moveTo>
                      <a:pt x="0" y="4"/>
                    </a:moveTo>
                    <a:lnTo>
                      <a:pt x="7" y="0"/>
                    </a:lnTo>
                    <a:lnTo>
                      <a:pt x="7" y="7"/>
                    </a:lnTo>
                    <a:lnTo>
                      <a:pt x="0" y="4"/>
                    </a:lnTo>
                    <a:moveTo>
                      <a:pt x="21" y="59"/>
                    </a:moveTo>
                    <a:lnTo>
                      <a:pt x="34" y="59"/>
                    </a:lnTo>
                    <a:lnTo>
                      <a:pt x="34" y="55"/>
                    </a:lnTo>
                    <a:lnTo>
                      <a:pt x="21" y="55"/>
                    </a:lnTo>
                    <a:lnTo>
                      <a:pt x="21" y="59"/>
                    </a:lnTo>
                    <a:moveTo>
                      <a:pt x="24" y="94"/>
                    </a:moveTo>
                    <a:lnTo>
                      <a:pt x="37" y="94"/>
                    </a:lnTo>
                    <a:lnTo>
                      <a:pt x="37" y="90"/>
                    </a:lnTo>
                    <a:lnTo>
                      <a:pt x="24" y="90"/>
                    </a:lnTo>
                    <a:lnTo>
                      <a:pt x="24" y="94"/>
                    </a:lnTo>
                  </a:path>
                </a:pathLst>
              </a:custGeom>
              <a:noFill/>
              <a:ln w="1588"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501" name="Freeform 1116"/>
              <p:cNvSpPr>
                <a:spLocks noEditPoints="1"/>
              </p:cNvSpPr>
              <p:nvPr/>
            </p:nvSpPr>
            <p:spPr bwMode="auto">
              <a:xfrm>
                <a:off x="2219" y="1683"/>
                <a:ext cx="8" cy="56"/>
              </a:xfrm>
              <a:custGeom>
                <a:avLst/>
                <a:gdLst>
                  <a:gd name="T0" fmla="*/ 1 w 8"/>
                  <a:gd name="T1" fmla="*/ 0 h 56"/>
                  <a:gd name="T2" fmla="*/ 8 w 8"/>
                  <a:gd name="T3" fmla="*/ 0 h 56"/>
                  <a:gd name="T4" fmla="*/ 0 w 8"/>
                  <a:gd name="T5" fmla="*/ 56 h 56"/>
                  <a:gd name="T6" fmla="*/ 6 w 8"/>
                  <a:gd name="T7" fmla="*/ 56 h 56"/>
                  <a:gd name="T8" fmla="*/ 0 60000 65536"/>
                  <a:gd name="T9" fmla="*/ 0 60000 65536"/>
                  <a:gd name="T10" fmla="*/ 0 60000 65536"/>
                  <a:gd name="T11" fmla="*/ 0 60000 65536"/>
                  <a:gd name="T12" fmla="*/ 0 w 8"/>
                  <a:gd name="T13" fmla="*/ 0 h 56"/>
                  <a:gd name="T14" fmla="*/ 8 w 8"/>
                  <a:gd name="T15" fmla="*/ 56 h 56"/>
                </a:gdLst>
                <a:ahLst/>
                <a:cxnLst>
                  <a:cxn ang="T8">
                    <a:pos x="T0" y="T1"/>
                  </a:cxn>
                  <a:cxn ang="T9">
                    <a:pos x="T2" y="T3"/>
                  </a:cxn>
                  <a:cxn ang="T10">
                    <a:pos x="T4" y="T5"/>
                  </a:cxn>
                  <a:cxn ang="T11">
                    <a:pos x="T6" y="T7"/>
                  </a:cxn>
                </a:cxnLst>
                <a:rect l="T12" t="T13" r="T14" b="T15"/>
                <a:pathLst>
                  <a:path w="8" h="56">
                    <a:moveTo>
                      <a:pt x="1" y="0"/>
                    </a:moveTo>
                    <a:lnTo>
                      <a:pt x="8" y="0"/>
                    </a:lnTo>
                    <a:moveTo>
                      <a:pt x="0" y="56"/>
                    </a:moveTo>
                    <a:lnTo>
                      <a:pt x="6" y="56"/>
                    </a:lnTo>
                  </a:path>
                </a:pathLst>
              </a:custGeom>
              <a:noFill/>
              <a:ln w="3175" cap="sq">
                <a:solidFill>
                  <a:srgbClr val="00FF00"/>
                </a:solidFill>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502" name="Rectangle 1117"/>
              <p:cNvSpPr>
                <a:spLocks noChangeArrowheads="1"/>
              </p:cNvSpPr>
              <p:nvPr/>
            </p:nvSpPr>
            <p:spPr bwMode="auto">
              <a:xfrm>
                <a:off x="2194" y="1907"/>
                <a:ext cx="8" cy="112"/>
              </a:xfrm>
              <a:prstGeom prst="rect">
                <a:avLst/>
              </a:prstGeom>
              <a:solidFill>
                <a:srgbClr val="B0B0B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503" name="Rectangle 1118"/>
              <p:cNvSpPr>
                <a:spLocks noChangeArrowheads="1"/>
              </p:cNvSpPr>
              <p:nvPr/>
            </p:nvSpPr>
            <p:spPr bwMode="auto">
              <a:xfrm>
                <a:off x="2202" y="1907"/>
                <a:ext cx="8" cy="112"/>
              </a:xfrm>
              <a:prstGeom prst="rect">
                <a:avLst/>
              </a:prstGeom>
              <a:solidFill>
                <a:srgbClr val="6B6B6B"/>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504" name="Rectangle 1119"/>
              <p:cNvSpPr>
                <a:spLocks noChangeArrowheads="1"/>
              </p:cNvSpPr>
              <p:nvPr/>
            </p:nvSpPr>
            <p:spPr bwMode="auto">
              <a:xfrm>
                <a:off x="2210" y="1907"/>
                <a:ext cx="8" cy="112"/>
              </a:xfrm>
              <a:prstGeom prst="rect">
                <a:avLst/>
              </a:prstGeom>
              <a:solidFill>
                <a:srgbClr val="7F7F7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505" name="Rectangle 1120"/>
              <p:cNvSpPr>
                <a:spLocks noChangeArrowheads="1"/>
              </p:cNvSpPr>
              <p:nvPr/>
            </p:nvSpPr>
            <p:spPr bwMode="auto">
              <a:xfrm>
                <a:off x="2218" y="1907"/>
                <a:ext cx="8" cy="112"/>
              </a:xfrm>
              <a:prstGeom prst="rect">
                <a:avLst/>
              </a:prstGeom>
              <a:solidFill>
                <a:srgbClr val="939393"/>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506" name="Rectangle 1121"/>
              <p:cNvSpPr>
                <a:spLocks noChangeArrowheads="1"/>
              </p:cNvSpPr>
              <p:nvPr/>
            </p:nvSpPr>
            <p:spPr bwMode="auto">
              <a:xfrm>
                <a:off x="2226" y="1907"/>
                <a:ext cx="8" cy="112"/>
              </a:xfrm>
              <a:prstGeom prst="rect">
                <a:avLst/>
              </a:prstGeom>
              <a:solidFill>
                <a:srgbClr val="A8A8A8"/>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507" name="Rectangle 1122"/>
              <p:cNvSpPr>
                <a:spLocks noChangeArrowheads="1"/>
              </p:cNvSpPr>
              <p:nvPr/>
            </p:nvSpPr>
            <p:spPr bwMode="auto">
              <a:xfrm>
                <a:off x="2274" y="1907"/>
                <a:ext cx="8" cy="112"/>
              </a:xfrm>
              <a:prstGeom prst="rect">
                <a:avLst/>
              </a:prstGeom>
              <a:solidFill>
                <a:srgbClr val="6E6E6E"/>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508" name="Rectangle 1123"/>
              <p:cNvSpPr>
                <a:spLocks noChangeArrowheads="1"/>
              </p:cNvSpPr>
              <p:nvPr/>
            </p:nvSpPr>
            <p:spPr bwMode="auto">
              <a:xfrm>
                <a:off x="2282" y="1907"/>
                <a:ext cx="8" cy="112"/>
              </a:xfrm>
              <a:prstGeom prst="rect">
                <a:avLst/>
              </a:prstGeom>
              <a:solidFill>
                <a:srgbClr val="B3B3B3"/>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509" name="Rectangle 1124"/>
              <p:cNvSpPr>
                <a:spLocks noChangeArrowheads="1"/>
              </p:cNvSpPr>
              <p:nvPr/>
            </p:nvSpPr>
            <p:spPr bwMode="auto">
              <a:xfrm>
                <a:off x="2290" y="1907"/>
                <a:ext cx="8" cy="112"/>
              </a:xfrm>
              <a:prstGeom prst="rect">
                <a:avLst/>
              </a:prstGeom>
              <a:solidFill>
                <a:srgbClr val="9E9E9E"/>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510" name="Rectangle 1125"/>
              <p:cNvSpPr>
                <a:spLocks noChangeArrowheads="1"/>
              </p:cNvSpPr>
              <p:nvPr/>
            </p:nvSpPr>
            <p:spPr bwMode="auto">
              <a:xfrm>
                <a:off x="2298" y="1907"/>
                <a:ext cx="8" cy="112"/>
              </a:xfrm>
              <a:prstGeom prst="rect">
                <a:avLst/>
              </a:prstGeom>
              <a:solidFill>
                <a:srgbClr val="8A8A8A"/>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511" name="Rectangle 1126"/>
              <p:cNvSpPr>
                <a:spLocks noChangeArrowheads="1"/>
              </p:cNvSpPr>
              <p:nvPr/>
            </p:nvSpPr>
            <p:spPr bwMode="auto">
              <a:xfrm>
                <a:off x="2306" y="1907"/>
                <a:ext cx="8" cy="112"/>
              </a:xfrm>
              <a:prstGeom prst="rect">
                <a:avLst/>
              </a:prstGeom>
              <a:solidFill>
                <a:srgbClr val="757575"/>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512" name="Freeform 1127"/>
              <p:cNvSpPr>
                <a:spLocks/>
              </p:cNvSpPr>
              <p:nvPr/>
            </p:nvSpPr>
            <p:spPr bwMode="auto">
              <a:xfrm>
                <a:off x="2182" y="1582"/>
                <a:ext cx="199" cy="461"/>
              </a:xfrm>
              <a:custGeom>
                <a:avLst/>
                <a:gdLst>
                  <a:gd name="T0" fmla="*/ 6 w 199"/>
                  <a:gd name="T1" fmla="*/ 461 h 461"/>
                  <a:gd name="T2" fmla="*/ 6 w 199"/>
                  <a:gd name="T3" fmla="*/ 451 h 461"/>
                  <a:gd name="T4" fmla="*/ 0 w 199"/>
                  <a:gd name="T5" fmla="*/ 451 h 461"/>
                  <a:gd name="T6" fmla="*/ 0 w 199"/>
                  <a:gd name="T7" fmla="*/ 51 h 461"/>
                  <a:gd name="T8" fmla="*/ 49 w 199"/>
                  <a:gd name="T9" fmla="*/ 0 h 461"/>
                  <a:gd name="T10" fmla="*/ 199 w 199"/>
                  <a:gd name="T11" fmla="*/ 0 h 461"/>
                  <a:gd name="T12" fmla="*/ 199 w 199"/>
                  <a:gd name="T13" fmla="*/ 400 h 461"/>
                  <a:gd name="T14" fmla="*/ 196 w 199"/>
                  <a:gd name="T15" fmla="*/ 403 h 461"/>
                  <a:gd name="T16" fmla="*/ 196 w 199"/>
                  <a:gd name="T17" fmla="*/ 406 h 461"/>
                  <a:gd name="T18" fmla="*/ 142 w 199"/>
                  <a:gd name="T19" fmla="*/ 461 h 461"/>
                  <a:gd name="T20" fmla="*/ 6 w 199"/>
                  <a:gd name="T21" fmla="*/ 461 h 46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9"/>
                  <a:gd name="T34" fmla="*/ 0 h 461"/>
                  <a:gd name="T35" fmla="*/ 199 w 199"/>
                  <a:gd name="T36" fmla="*/ 461 h 46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9" h="461">
                    <a:moveTo>
                      <a:pt x="6" y="461"/>
                    </a:moveTo>
                    <a:lnTo>
                      <a:pt x="6" y="451"/>
                    </a:lnTo>
                    <a:lnTo>
                      <a:pt x="0" y="451"/>
                    </a:lnTo>
                    <a:lnTo>
                      <a:pt x="0" y="51"/>
                    </a:lnTo>
                    <a:lnTo>
                      <a:pt x="49" y="0"/>
                    </a:lnTo>
                    <a:lnTo>
                      <a:pt x="199" y="0"/>
                    </a:lnTo>
                    <a:lnTo>
                      <a:pt x="199" y="400"/>
                    </a:lnTo>
                    <a:lnTo>
                      <a:pt x="196" y="403"/>
                    </a:lnTo>
                    <a:lnTo>
                      <a:pt x="196" y="406"/>
                    </a:lnTo>
                    <a:lnTo>
                      <a:pt x="142" y="461"/>
                    </a:lnTo>
                    <a:lnTo>
                      <a:pt x="6" y="461"/>
                    </a:lnTo>
                  </a:path>
                </a:pathLst>
              </a:custGeom>
              <a:noFill/>
              <a:ln w="11113" cap="rnd">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grpSp>
      </p:grpSp>
      <p:sp>
        <p:nvSpPr>
          <p:cNvPr id="925" name="Rectangle 924"/>
          <p:cNvSpPr/>
          <p:nvPr/>
        </p:nvSpPr>
        <p:spPr>
          <a:xfrm>
            <a:off x="2487612" y="6098567"/>
            <a:ext cx="3494090" cy="369332"/>
          </a:xfrm>
          <a:prstGeom prst="rect">
            <a:avLst/>
          </a:prstGeom>
        </p:spPr>
        <p:txBody>
          <a:bodyPr wrap="none">
            <a:spAutoFit/>
          </a:bodyPr>
          <a:lstStyle/>
          <a:p>
            <a:r>
              <a:rPr lang="en-US" dirty="0">
                <a:solidFill>
                  <a:srgbClr val="000000"/>
                </a:solidFill>
                <a:latin typeface="Arial" charset="0"/>
              </a:rPr>
              <a:t>From C. Edward Chow at UCCS</a:t>
            </a:r>
            <a:endParaRPr lang="en-US" b="0" dirty="0">
              <a:solidFill>
                <a:srgbClr val="000000"/>
              </a:solidFill>
              <a:latin typeface="Times New Roman" charset="0"/>
            </a:endParaRPr>
          </a:p>
        </p:txBody>
      </p:sp>
    </p:spTree>
    <p:extLst>
      <p:ext uri="{BB962C8B-B14F-4D97-AF65-F5344CB8AC3E}">
        <p14:creationId xmlns:p14="http://schemas.microsoft.com/office/powerpoint/2010/main" val="28797677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Separation of Privilege</a:t>
            </a:r>
          </a:p>
        </p:txBody>
      </p:sp>
      <p:sp>
        <p:nvSpPr>
          <p:cNvPr id="3" name="Content Placeholder 2"/>
          <p:cNvSpPr>
            <a:spLocks noGrp="1"/>
          </p:cNvSpPr>
          <p:nvPr>
            <p:ph idx="1"/>
          </p:nvPr>
        </p:nvSpPr>
        <p:spPr/>
        <p:txBody>
          <a:bodyPr>
            <a:normAutofit/>
          </a:bodyPr>
          <a:lstStyle/>
          <a:p>
            <a:r>
              <a:rPr lang="en-US" dirty="0"/>
              <a:t>A system should not grant permission based on a single condition.</a:t>
            </a:r>
          </a:p>
          <a:p>
            <a:r>
              <a:rPr lang="en-US" dirty="0"/>
              <a:t>Separation of duty principle.</a:t>
            </a:r>
          </a:p>
          <a:p>
            <a:pPr lvl="1"/>
            <a:r>
              <a:rPr lang="en-US" dirty="0"/>
              <a:t>A email client: receiving email + sending email</a:t>
            </a:r>
          </a:p>
          <a:p>
            <a:pPr lvl="1"/>
            <a:r>
              <a:rPr lang="en-US" dirty="0"/>
              <a:t>Separate the privilege:</a:t>
            </a:r>
          </a:p>
          <a:p>
            <a:pPr lvl="2"/>
            <a:r>
              <a:rPr lang="en-US" dirty="0"/>
              <a:t>The receiver cannot touch files other than attachments.</a:t>
            </a:r>
          </a:p>
          <a:p>
            <a:pPr lvl="2"/>
            <a:r>
              <a:rPr lang="en-US" dirty="0"/>
              <a:t>The sender can touch all files. </a:t>
            </a:r>
          </a:p>
          <a:p>
            <a:pPr lvl="1"/>
            <a:r>
              <a:rPr lang="en-US" dirty="0"/>
              <a:t>Advantage:</a:t>
            </a:r>
          </a:p>
          <a:p>
            <a:pPr lvl="2"/>
            <a:r>
              <a:rPr lang="en-US" dirty="0"/>
              <a:t>When the receiver is compromised, files are still secure. </a:t>
            </a:r>
          </a:p>
        </p:txBody>
      </p:sp>
    </p:spTree>
    <p:extLst>
      <p:ext uri="{BB962C8B-B14F-4D97-AF65-F5344CB8AC3E}">
        <p14:creationId xmlns:p14="http://schemas.microsoft.com/office/powerpoint/2010/main" val="13008604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Least Privilege</a:t>
            </a:r>
          </a:p>
        </p:txBody>
      </p:sp>
      <p:sp>
        <p:nvSpPr>
          <p:cNvPr id="3" name="Content Placeholder 2"/>
          <p:cNvSpPr>
            <a:spLocks noGrp="1"/>
          </p:cNvSpPr>
          <p:nvPr>
            <p:ph idx="1"/>
          </p:nvPr>
        </p:nvSpPr>
        <p:spPr/>
        <p:txBody>
          <a:bodyPr/>
          <a:lstStyle/>
          <a:p>
            <a:r>
              <a:rPr lang="en-US" dirty="0"/>
              <a:t>A subject should be given only those privileges that it needs in order to  complete its task.</a:t>
            </a:r>
          </a:p>
          <a:p>
            <a:r>
              <a:rPr lang="en-US" dirty="0"/>
              <a:t>Two practical challenges:</a:t>
            </a:r>
          </a:p>
          <a:p>
            <a:pPr lvl="1"/>
            <a:r>
              <a:rPr lang="en-US" dirty="0"/>
              <a:t>How do you define necessity?</a:t>
            </a:r>
          </a:p>
          <a:p>
            <a:pPr lvl="1"/>
            <a:r>
              <a:rPr lang="en-US" dirty="0"/>
              <a:t>Granularity of information to enforce privilege check?</a:t>
            </a:r>
          </a:p>
        </p:txBody>
      </p:sp>
    </p:spTree>
    <p:extLst>
      <p:ext uri="{BB962C8B-B14F-4D97-AF65-F5344CB8AC3E}">
        <p14:creationId xmlns:p14="http://schemas.microsoft.com/office/powerpoint/2010/main" val="24545952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Least Privilege</a:t>
            </a:r>
          </a:p>
        </p:txBody>
      </p:sp>
      <p:pic>
        <p:nvPicPr>
          <p:cNvPr id="6" name="Picture 5" descr="facebook_android_permissions.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66510" y="1417638"/>
            <a:ext cx="3239970" cy="5054353"/>
          </a:xfrm>
          <a:prstGeom prst="rect">
            <a:avLst/>
          </a:prstGeom>
        </p:spPr>
      </p:pic>
    </p:spTree>
    <p:extLst>
      <p:ext uri="{BB962C8B-B14F-4D97-AF65-F5344CB8AC3E}">
        <p14:creationId xmlns:p14="http://schemas.microsoft.com/office/powerpoint/2010/main" val="27800281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Least Privilege</a:t>
            </a:r>
          </a:p>
        </p:txBody>
      </p:sp>
      <p:sp>
        <p:nvSpPr>
          <p:cNvPr id="3" name="Content Placeholder 2"/>
          <p:cNvSpPr>
            <a:spLocks noGrp="1"/>
          </p:cNvSpPr>
          <p:nvPr>
            <p:ph idx="1"/>
          </p:nvPr>
        </p:nvSpPr>
        <p:spPr/>
        <p:txBody>
          <a:bodyPr/>
          <a:lstStyle/>
          <a:p>
            <a:r>
              <a:rPr lang="en-US" dirty="0"/>
              <a:t>Grant permissions at installation?</a:t>
            </a:r>
          </a:p>
          <a:p>
            <a:pPr lvl="1"/>
            <a:r>
              <a:rPr lang="en-US" dirty="0"/>
              <a:t>But perhaps I will never use my app to access the contact list. </a:t>
            </a:r>
          </a:p>
          <a:p>
            <a:endParaRPr lang="en-US" dirty="0"/>
          </a:p>
          <a:p>
            <a:r>
              <a:rPr lang="en-US" dirty="0"/>
              <a:t>Grant permissions at the first time of usage. </a:t>
            </a:r>
          </a:p>
          <a:p>
            <a:pPr lvl="1"/>
            <a:r>
              <a:rPr lang="en-US" dirty="0"/>
              <a:t>What about the subsequent usage? </a:t>
            </a:r>
          </a:p>
        </p:txBody>
      </p:sp>
    </p:spTree>
    <p:extLst>
      <p:ext uri="{BB962C8B-B14F-4D97-AF65-F5344CB8AC3E}">
        <p14:creationId xmlns:p14="http://schemas.microsoft.com/office/powerpoint/2010/main" val="9882452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Least Privilege</a:t>
            </a:r>
          </a:p>
        </p:txBody>
      </p:sp>
      <p:sp>
        <p:nvSpPr>
          <p:cNvPr id="3" name="Content Placeholder 2"/>
          <p:cNvSpPr>
            <a:spLocks noGrp="1"/>
          </p:cNvSpPr>
          <p:nvPr>
            <p:ph idx="1"/>
          </p:nvPr>
        </p:nvSpPr>
        <p:spPr/>
        <p:txBody>
          <a:bodyPr/>
          <a:lstStyle/>
          <a:p>
            <a:r>
              <a:rPr lang="en-US" dirty="0"/>
              <a:t>Give an application the access to the contact list?</a:t>
            </a:r>
          </a:p>
          <a:p>
            <a:endParaRPr lang="en-US" dirty="0"/>
          </a:p>
          <a:p>
            <a:r>
              <a:rPr lang="en-US" dirty="0"/>
              <a:t>Give an application the access to specific persons on the contact list?</a:t>
            </a:r>
          </a:p>
          <a:p>
            <a:endParaRPr lang="en-US" dirty="0"/>
          </a:p>
          <a:p>
            <a:r>
              <a:rPr lang="en-US" dirty="0"/>
              <a:t>Give an application the access to specific information of a person on the contact list? </a:t>
            </a:r>
          </a:p>
        </p:txBody>
      </p:sp>
    </p:spTree>
    <p:extLst>
      <p:ext uri="{BB962C8B-B14F-4D97-AF65-F5344CB8AC3E}">
        <p14:creationId xmlns:p14="http://schemas.microsoft.com/office/powerpoint/2010/main" val="33236488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Principle of Least Common Mechanism</a:t>
            </a:r>
          </a:p>
        </p:txBody>
      </p:sp>
      <p:sp>
        <p:nvSpPr>
          <p:cNvPr id="3" name="Content Placeholder 2"/>
          <p:cNvSpPr>
            <a:spLocks noGrp="1"/>
          </p:cNvSpPr>
          <p:nvPr>
            <p:ph idx="1"/>
          </p:nvPr>
        </p:nvSpPr>
        <p:spPr/>
        <p:txBody>
          <a:bodyPr/>
          <a:lstStyle/>
          <a:p>
            <a:r>
              <a:rPr lang="en-US" dirty="0"/>
              <a:t>Mechanisms used to access resources should not be shared.</a:t>
            </a:r>
          </a:p>
          <a:p>
            <a:pPr lvl="1"/>
            <a:r>
              <a:rPr lang="en-US" dirty="0"/>
              <a:t>Do you want to use the same password for your different online accounts? </a:t>
            </a:r>
          </a:p>
          <a:p>
            <a:endParaRPr lang="en-US" dirty="0"/>
          </a:p>
        </p:txBody>
      </p:sp>
    </p:spTree>
    <p:extLst>
      <p:ext uri="{BB962C8B-B14F-4D97-AF65-F5344CB8AC3E}">
        <p14:creationId xmlns:p14="http://schemas.microsoft.com/office/powerpoint/2010/main" val="27265238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Principle of Least Common Mechanism</a:t>
            </a:r>
          </a:p>
        </p:txBody>
      </p:sp>
      <p:pic>
        <p:nvPicPr>
          <p:cNvPr id="4" name="Picture 3" descr="desktop-browser-share-2014.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58238" y="1275442"/>
            <a:ext cx="5275968" cy="5177658"/>
          </a:xfrm>
          <a:prstGeom prst="rect">
            <a:avLst/>
          </a:prstGeom>
        </p:spPr>
      </p:pic>
    </p:spTree>
    <p:extLst>
      <p:ext uri="{BB962C8B-B14F-4D97-AF65-F5344CB8AC3E}">
        <p14:creationId xmlns:p14="http://schemas.microsoft.com/office/powerpoint/2010/main" val="4056694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Principle of Least Common Mechanism</a:t>
            </a:r>
          </a:p>
        </p:txBody>
      </p:sp>
      <p:pic>
        <p:nvPicPr>
          <p:cNvPr id="4" name="Picture 3" descr="pie-chart-blogging-platforms.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8012" y="1417638"/>
            <a:ext cx="8826500" cy="5080000"/>
          </a:xfrm>
          <a:prstGeom prst="rect">
            <a:avLst/>
          </a:prstGeom>
        </p:spPr>
      </p:pic>
    </p:spTree>
    <p:extLst>
      <p:ext uri="{BB962C8B-B14F-4D97-AF65-F5344CB8AC3E}">
        <p14:creationId xmlns:p14="http://schemas.microsoft.com/office/powerpoint/2010/main" val="29543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Principle of Least Common Mechanism</a:t>
            </a:r>
          </a:p>
        </p:txBody>
      </p:sp>
      <p:sp>
        <p:nvSpPr>
          <p:cNvPr id="3" name="Content Placeholder 2"/>
          <p:cNvSpPr>
            <a:spLocks noGrp="1"/>
          </p:cNvSpPr>
          <p:nvPr>
            <p:ph idx="1"/>
          </p:nvPr>
        </p:nvSpPr>
        <p:spPr/>
        <p:txBody>
          <a:bodyPr/>
          <a:lstStyle/>
          <a:p>
            <a:r>
              <a:rPr lang="en-US" dirty="0"/>
              <a:t>https://</a:t>
            </a:r>
            <a:r>
              <a:rPr lang="en-US" dirty="0" err="1"/>
              <a:t>blog.sucuri.net</a:t>
            </a:r>
            <a:r>
              <a:rPr lang="en-US" dirty="0"/>
              <a:t>/category/</a:t>
            </a:r>
            <a:r>
              <a:rPr lang="en-US" dirty="0" err="1"/>
              <a:t>wordpress</a:t>
            </a:r>
            <a:r>
              <a:rPr lang="en-US" dirty="0"/>
              <a:t>-security</a:t>
            </a:r>
          </a:p>
        </p:txBody>
      </p:sp>
    </p:spTree>
    <p:extLst>
      <p:ext uri="{BB962C8B-B14F-4D97-AF65-F5344CB8AC3E}">
        <p14:creationId xmlns:p14="http://schemas.microsoft.com/office/powerpoint/2010/main" val="23854249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817" y="-182562"/>
            <a:ext cx="8229600" cy="1143000"/>
          </a:xfrm>
        </p:spPr>
        <p:txBody>
          <a:bodyPr>
            <a:normAutofit fontScale="90000"/>
          </a:bodyPr>
          <a:lstStyle/>
          <a:p>
            <a:r>
              <a:rPr lang="en-US" dirty="0"/>
              <a:t>Principle of Least Common Mechanism</a:t>
            </a:r>
          </a:p>
        </p:txBody>
      </p:sp>
      <p:sp>
        <p:nvSpPr>
          <p:cNvPr id="3" name="Content Placeholder 2"/>
          <p:cNvSpPr>
            <a:spLocks noGrp="1"/>
          </p:cNvSpPr>
          <p:nvPr>
            <p:ph idx="1"/>
          </p:nvPr>
        </p:nvSpPr>
        <p:spPr>
          <a:xfrm>
            <a:off x="287383" y="1166018"/>
            <a:ext cx="8229600" cy="5195593"/>
          </a:xfrm>
        </p:spPr>
        <p:txBody>
          <a:bodyPr>
            <a:normAutofit/>
          </a:bodyPr>
          <a:lstStyle/>
          <a:p>
            <a:r>
              <a:rPr lang="en-US" sz="2400" dirty="0"/>
              <a:t>Positive Examples</a:t>
            </a:r>
          </a:p>
          <a:p>
            <a:pPr lvl="1"/>
            <a:r>
              <a:rPr lang="en-US" sz="2000" dirty="0"/>
              <a:t>Address space layout randomization</a:t>
            </a:r>
          </a:p>
          <a:p>
            <a:pPr lvl="1"/>
            <a:r>
              <a:rPr lang="en-US" sz="2000" dirty="0"/>
              <a:t>Instruction set randomization</a:t>
            </a:r>
          </a:p>
          <a:p>
            <a:pPr lvl="1"/>
            <a:r>
              <a:rPr lang="en-US" sz="2000" dirty="0"/>
              <a:t>DNS 0x20 Encoding</a:t>
            </a:r>
          </a:p>
          <a:p>
            <a:r>
              <a:rPr lang="en-US" sz="2400" dirty="0"/>
              <a:t>Similar to moving target defense</a:t>
            </a:r>
          </a:p>
          <a:p>
            <a:endParaRPr lang="en-US" sz="2400" dirty="0"/>
          </a:p>
          <a:p>
            <a:r>
              <a:rPr lang="en-US" sz="2400" dirty="0"/>
              <a:t>Moving target defense: </a:t>
            </a:r>
            <a:r>
              <a:rPr lang="en-US" sz="2000" b="0" i="0" u="none" strike="noStrike" kern="1200" baseline="0" dirty="0">
                <a:solidFill>
                  <a:schemeClr val="tx1"/>
                </a:solidFill>
                <a:latin typeface="+mn-lt"/>
                <a:ea typeface="+mn-ea"/>
                <a:cs typeface="+mn-cs"/>
              </a:rPr>
              <a:t>Aim to substantially increase the cost of attacks by deploying and operating networks/systems to makes them less deterministic, less homogeneous, and less static.</a:t>
            </a:r>
          </a:p>
          <a:p>
            <a:pPr marL="0" indent="0">
              <a:buNone/>
            </a:pPr>
            <a:r>
              <a:rPr lang="en-US" sz="1600" b="0" i="0" u="none" strike="noStrike" kern="1200" baseline="0" dirty="0">
                <a:solidFill>
                  <a:schemeClr val="tx1"/>
                </a:solidFill>
                <a:latin typeface="+mn-lt"/>
                <a:ea typeface="+mn-ea"/>
                <a:cs typeface="+mn-cs"/>
              </a:rPr>
              <a:t>	</a:t>
            </a:r>
            <a:r>
              <a:rPr lang="en-US" sz="2000" b="0" i="0" u="none" strike="noStrike" kern="1200" baseline="0" dirty="0">
                <a:solidFill>
                  <a:schemeClr val="tx1"/>
                </a:solidFill>
                <a:latin typeface="+mn-lt"/>
                <a:ea typeface="+mn-ea"/>
                <a:cs typeface="+mn-cs"/>
              </a:rPr>
              <a:t>Continually shift and change over time to increase complexity and cost for attackers, limit the exposure of vulnerabilities and opportunities for attack, and increase system resiliency. </a:t>
            </a:r>
          </a:p>
          <a:p>
            <a:pPr marL="0" indent="0">
              <a:buNone/>
            </a:pPr>
            <a:r>
              <a:rPr lang="en-US" sz="2000" b="0" i="0" u="none" strike="noStrike" kern="1200" baseline="0" dirty="0">
                <a:solidFill>
                  <a:schemeClr val="tx1"/>
                </a:solidFill>
                <a:latin typeface="+mn-lt"/>
                <a:ea typeface="+mn-ea"/>
                <a:cs typeface="+mn-cs"/>
              </a:rPr>
              <a:t>	Dynamically altered in ways that are manageable by the defender yet make the attack space appear unpredictable to the attacker. </a:t>
            </a:r>
          </a:p>
          <a:p>
            <a:pPr lvl="1"/>
            <a:endParaRPr lang="en-US" sz="1500" b="0" i="0" u="none" strike="noStrike" kern="1200" baseline="0" dirty="0">
              <a:solidFill>
                <a:schemeClr val="tx1"/>
              </a:solidFill>
              <a:latin typeface="+mn-lt"/>
              <a:ea typeface="+mn-ea"/>
              <a:cs typeface="+mn-cs"/>
            </a:endParaRPr>
          </a:p>
          <a:p>
            <a:endParaRPr lang="en-US" dirty="0"/>
          </a:p>
        </p:txBody>
      </p:sp>
    </p:spTree>
    <p:extLst>
      <p:ext uri="{BB962C8B-B14F-4D97-AF65-F5344CB8AC3E}">
        <p14:creationId xmlns:p14="http://schemas.microsoft.com/office/powerpoint/2010/main" val="13447295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Open Design</a:t>
            </a:r>
          </a:p>
        </p:txBody>
      </p:sp>
      <p:sp>
        <p:nvSpPr>
          <p:cNvPr id="3" name="Content Placeholder 2"/>
          <p:cNvSpPr>
            <a:spLocks noGrp="1"/>
          </p:cNvSpPr>
          <p:nvPr>
            <p:ph idx="1"/>
          </p:nvPr>
        </p:nvSpPr>
        <p:spPr/>
        <p:txBody>
          <a:bodyPr/>
          <a:lstStyle/>
          <a:p>
            <a:r>
              <a:rPr lang="en-US" dirty="0"/>
              <a:t>The security of a mechanism should not depend on the secrecy of its design or implementation.</a:t>
            </a:r>
          </a:p>
          <a:p>
            <a:endParaRPr lang="en-US" dirty="0"/>
          </a:p>
          <a:p>
            <a:pPr lvl="1"/>
            <a:r>
              <a:rPr lang="en-US" dirty="0"/>
              <a:t>d = </a:t>
            </a:r>
            <a:r>
              <a:rPr lang="en-US" dirty="0" err="1"/>
              <a:t>system.timestamp</a:t>
            </a:r>
            <a:r>
              <a:rPr lang="en-US" dirty="0"/>
              <a:t>();</a:t>
            </a:r>
          </a:p>
          <a:p>
            <a:pPr lvl="1"/>
            <a:r>
              <a:rPr lang="en-US" dirty="0"/>
              <a:t>Key = hash(d);</a:t>
            </a:r>
          </a:p>
        </p:txBody>
      </p:sp>
    </p:spTree>
    <p:extLst>
      <p:ext uri="{BB962C8B-B14F-4D97-AF65-F5344CB8AC3E}">
        <p14:creationId xmlns:p14="http://schemas.microsoft.com/office/powerpoint/2010/main" val="32193370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Principle of Psychological Acceptability</a:t>
            </a:r>
          </a:p>
        </p:txBody>
      </p:sp>
      <p:sp>
        <p:nvSpPr>
          <p:cNvPr id="3" name="Content Placeholder 2"/>
          <p:cNvSpPr>
            <a:spLocks noGrp="1"/>
          </p:cNvSpPr>
          <p:nvPr>
            <p:ph idx="1"/>
          </p:nvPr>
        </p:nvSpPr>
        <p:spPr/>
        <p:txBody>
          <a:bodyPr/>
          <a:lstStyle/>
          <a:p>
            <a:r>
              <a:rPr lang="en-US" dirty="0"/>
              <a:t>Security mechanisms should not make the resource more difficult to access than if the security mechanisms were not present. </a:t>
            </a:r>
          </a:p>
          <a:p>
            <a:endParaRPr lang="en-US" dirty="0"/>
          </a:p>
          <a:p>
            <a:r>
              <a:rPr lang="en-US" dirty="0"/>
              <a:t>Our passwords for W---- accounts are required to be changed every 3 months</a:t>
            </a:r>
          </a:p>
          <a:p>
            <a:pPr lvl="1"/>
            <a:r>
              <a:rPr lang="en-US" dirty="0"/>
              <a:t>How much do you actually change for your password?</a:t>
            </a:r>
          </a:p>
        </p:txBody>
      </p:sp>
    </p:spTree>
    <p:extLst>
      <p:ext uri="{BB962C8B-B14F-4D97-AF65-F5344CB8AC3E}">
        <p14:creationId xmlns:p14="http://schemas.microsoft.com/office/powerpoint/2010/main" val="11384434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Other Principles</a:t>
            </a:r>
          </a:p>
        </p:txBody>
      </p:sp>
      <p:sp>
        <p:nvSpPr>
          <p:cNvPr id="3" name="Content Placeholder 2"/>
          <p:cNvSpPr>
            <a:spLocks noGrp="1"/>
          </p:cNvSpPr>
          <p:nvPr>
            <p:ph idx="1"/>
          </p:nvPr>
        </p:nvSpPr>
        <p:spPr/>
        <p:txBody>
          <a:bodyPr/>
          <a:lstStyle/>
          <a:p>
            <a:r>
              <a:rPr lang="en-US" dirty="0"/>
              <a:t>Principle of Work Factor</a:t>
            </a:r>
          </a:p>
          <a:p>
            <a:pPr lvl="1"/>
            <a:r>
              <a:rPr lang="en-US" dirty="0"/>
              <a:t>Do you have reasonable assumption of attackers?</a:t>
            </a:r>
          </a:p>
          <a:p>
            <a:pPr marL="457200" lvl="1" indent="0">
              <a:buNone/>
            </a:pPr>
            <a:endParaRPr lang="en-US" dirty="0"/>
          </a:p>
          <a:p>
            <a:r>
              <a:rPr lang="en-US" dirty="0"/>
              <a:t>Principle of Compromising Recording</a:t>
            </a:r>
          </a:p>
          <a:p>
            <a:pPr lvl="1"/>
            <a:r>
              <a:rPr lang="en-US" dirty="0"/>
              <a:t>sometimes it is more desirable </a:t>
            </a:r>
            <a:r>
              <a:rPr lang="en-US" b="1" dirty="0"/>
              <a:t>to</a:t>
            </a:r>
            <a:r>
              <a:rPr lang="en-US" dirty="0"/>
              <a:t> record the details of intrusion that to adopt a more sophisticated measure to prevent it.</a:t>
            </a:r>
          </a:p>
        </p:txBody>
      </p:sp>
    </p:spTree>
    <p:extLst>
      <p:ext uri="{BB962C8B-B14F-4D97-AF65-F5344CB8AC3E}">
        <p14:creationId xmlns:p14="http://schemas.microsoft.com/office/powerpoint/2010/main" val="30919381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a:normAutofit/>
          </a:bodyPr>
          <a:lstStyle/>
          <a:p>
            <a:r>
              <a:rPr lang="en-US" dirty="0"/>
              <a:t>Other Principles</a:t>
            </a:r>
            <a:endParaRPr lang="en-US" altLang="en-US" dirty="0"/>
          </a:p>
        </p:txBody>
      </p:sp>
      <p:sp>
        <p:nvSpPr>
          <p:cNvPr id="38915" name="Content Placeholder 2"/>
          <p:cNvSpPr>
            <a:spLocks noGrp="1"/>
          </p:cNvSpPr>
          <p:nvPr>
            <p:ph idx="1"/>
          </p:nvPr>
        </p:nvSpPr>
        <p:spPr>
          <a:xfrm>
            <a:off x="457200" y="1447800"/>
            <a:ext cx="8229600" cy="4573588"/>
          </a:xfrm>
        </p:spPr>
        <p:txBody>
          <a:bodyPr>
            <a:normAutofit fontScale="92500" lnSpcReduction="20000"/>
          </a:bodyPr>
          <a:lstStyle/>
          <a:p>
            <a:pPr eaLnBrk="1" hangingPunct="1"/>
            <a:r>
              <a:rPr lang="en-US" altLang="en-US" dirty="0"/>
              <a:t>Isolation</a:t>
            </a:r>
          </a:p>
          <a:p>
            <a:pPr lvl="1" eaLnBrk="1" hangingPunct="1"/>
            <a:r>
              <a:rPr lang="en-US" altLang="en-US" dirty="0"/>
              <a:t>Public access should be isolated from critical resources (no connection between public and critical information)</a:t>
            </a:r>
          </a:p>
          <a:p>
            <a:pPr lvl="1" eaLnBrk="1" hangingPunct="1"/>
            <a:r>
              <a:rPr lang="en-US" altLang="en-US" dirty="0"/>
              <a:t>Users files should be isolated from one another (except when desired)</a:t>
            </a:r>
          </a:p>
          <a:p>
            <a:pPr lvl="1" eaLnBrk="1" hangingPunct="1"/>
            <a:r>
              <a:rPr lang="en-US" altLang="en-US" dirty="0"/>
              <a:t>Security mechanism should be isolated (i.e., preventing access to those mechanisms)</a:t>
            </a:r>
          </a:p>
          <a:p>
            <a:pPr eaLnBrk="1" hangingPunct="1"/>
            <a:r>
              <a:rPr lang="en-US" altLang="en-US" dirty="0"/>
              <a:t>Encapsulation: similar to object concepts (hide internal structures)</a:t>
            </a:r>
          </a:p>
          <a:p>
            <a:pPr eaLnBrk="1" hangingPunct="1"/>
            <a:r>
              <a:rPr lang="en-US" altLang="en-US" dirty="0"/>
              <a:t>Modularity: modular structure</a:t>
            </a:r>
          </a:p>
          <a:p>
            <a:pPr lvl="1" eaLnBrk="1" hangingPunct="1"/>
            <a:endParaRPr lang="en-US" altLang="en-US" dirty="0"/>
          </a:p>
          <a:p>
            <a:pPr eaLnBrk="1" hangingPunct="1"/>
            <a:endParaRPr lang="en-US" altLang="en-US" dirty="0"/>
          </a:p>
        </p:txBody>
      </p:sp>
    </p:spTree>
    <p:extLst>
      <p:ext uri="{BB962C8B-B14F-4D97-AF65-F5344CB8AC3E}">
        <p14:creationId xmlns:p14="http://schemas.microsoft.com/office/powerpoint/2010/main" val="2044170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p:txBody>
          <a:bodyPr>
            <a:normAutofit/>
          </a:bodyPr>
          <a:lstStyle/>
          <a:p>
            <a:r>
              <a:rPr lang="en-US" dirty="0"/>
              <a:t>Other Principles</a:t>
            </a:r>
            <a:endParaRPr lang="en-US" altLang="en-US" dirty="0"/>
          </a:p>
        </p:txBody>
      </p:sp>
      <p:sp>
        <p:nvSpPr>
          <p:cNvPr id="39939" name="Content Placeholder 2"/>
          <p:cNvSpPr>
            <a:spLocks noGrp="1"/>
          </p:cNvSpPr>
          <p:nvPr>
            <p:ph idx="1"/>
          </p:nvPr>
        </p:nvSpPr>
        <p:spPr>
          <a:xfrm>
            <a:off x="457200" y="1447800"/>
            <a:ext cx="8229600" cy="4573588"/>
          </a:xfrm>
        </p:spPr>
        <p:txBody>
          <a:bodyPr/>
          <a:lstStyle/>
          <a:p>
            <a:pPr eaLnBrk="1" hangingPunct="1"/>
            <a:r>
              <a:rPr lang="en-US" altLang="en-US" dirty="0"/>
              <a:t>Layering (defense in depth): use of multiple, overlapping protection approaches</a:t>
            </a:r>
          </a:p>
          <a:p>
            <a:pPr lvl="1"/>
            <a:r>
              <a:rPr lang="en-US" altLang="en-US" dirty="0"/>
              <a:t>By placing safeguards at two or more points along the access path to the asset, failure of one safeguard can be counteracted. </a:t>
            </a:r>
          </a:p>
          <a:p>
            <a:pPr eaLnBrk="1" hangingPunct="1"/>
            <a:r>
              <a:rPr lang="en-US" altLang="en-US" dirty="0"/>
              <a:t>Least astonishment: a program or interface should always respond in a way that is least likely to astonish a user</a:t>
            </a:r>
          </a:p>
          <a:p>
            <a:pPr eaLnBrk="1" hangingPunct="1"/>
            <a:endParaRPr lang="en-US" altLang="en-US" dirty="0"/>
          </a:p>
        </p:txBody>
      </p:sp>
    </p:spTree>
    <p:extLst>
      <p:ext uri="{BB962C8B-B14F-4D97-AF65-F5344CB8AC3E}">
        <p14:creationId xmlns:p14="http://schemas.microsoft.com/office/powerpoint/2010/main" val="10956270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a:extLst>
              <a:ext uri="{FF2B5EF4-FFF2-40B4-BE49-F238E27FC236}">
                <a16:creationId xmlns:a16="http://schemas.microsoft.com/office/drawing/2014/main" id="{159059E0-0E64-6140-8C20-2E4314B31D32}"/>
              </a:ext>
            </a:extLst>
          </p:cNvPr>
          <p:cNvSpPr>
            <a:spLocks noGrp="1" noChangeArrowheads="1"/>
          </p:cNvSpPr>
          <p:nvPr>
            <p:ph type="title"/>
          </p:nvPr>
        </p:nvSpPr>
        <p:spPr>
          <a:xfrm>
            <a:off x="685800" y="1752600"/>
            <a:ext cx="7772400" cy="1143000"/>
          </a:xfrm>
        </p:spPr>
        <p:txBody>
          <a:bodyPr/>
          <a:lstStyle/>
          <a:p>
            <a:pPr eaLnBrk="1" hangingPunct="1">
              <a:defRPr/>
            </a:pPr>
            <a:r>
              <a:rPr lang="en-US" dirty="0">
                <a:cs typeface="+mj-cs"/>
              </a:rPr>
              <a:t>Security Models</a:t>
            </a:r>
          </a:p>
        </p:txBody>
      </p:sp>
    </p:spTree>
    <p:extLst>
      <p:ext uri="{BB962C8B-B14F-4D97-AF65-F5344CB8AC3E}">
        <p14:creationId xmlns:p14="http://schemas.microsoft.com/office/powerpoint/2010/main" val="595609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B0A78-93C0-5F42-8127-66ABA78D455C}"/>
              </a:ext>
            </a:extLst>
          </p:cNvPr>
          <p:cNvSpPr>
            <a:spLocks noGrp="1"/>
          </p:cNvSpPr>
          <p:nvPr>
            <p:ph type="title"/>
          </p:nvPr>
        </p:nvSpPr>
        <p:spPr/>
        <p:txBody>
          <a:bodyPr/>
          <a:lstStyle/>
          <a:p>
            <a:pPr>
              <a:defRPr/>
            </a:pPr>
            <a:r>
              <a:rPr lang="en-US" dirty="0"/>
              <a:t>Disclaimer</a:t>
            </a:r>
          </a:p>
        </p:txBody>
      </p:sp>
      <p:sp>
        <p:nvSpPr>
          <p:cNvPr id="3" name="Content Placeholder 2">
            <a:extLst>
              <a:ext uri="{FF2B5EF4-FFF2-40B4-BE49-F238E27FC236}">
                <a16:creationId xmlns:a16="http://schemas.microsoft.com/office/drawing/2014/main" id="{A5BB7581-09E7-A14A-87F1-2F53B63A4A67}"/>
              </a:ext>
            </a:extLst>
          </p:cNvPr>
          <p:cNvSpPr>
            <a:spLocks noGrp="1"/>
          </p:cNvSpPr>
          <p:nvPr>
            <p:ph idx="1"/>
          </p:nvPr>
        </p:nvSpPr>
        <p:spPr/>
        <p:txBody>
          <a:bodyPr/>
          <a:lstStyle/>
          <a:p>
            <a:r>
              <a:rPr lang="en-US" altLang="en-US"/>
              <a:t>These lecture notes are mainly based on the power point slides by the author of the book </a:t>
            </a:r>
            <a:r>
              <a:rPr lang="ja-JP" altLang="en-US"/>
              <a:t>“</a:t>
            </a:r>
            <a:r>
              <a:rPr lang="en-US" altLang="ja-JP"/>
              <a:t>Information Security: Principles and Practice</a:t>
            </a:r>
            <a:r>
              <a:rPr lang="ja-JP" altLang="en-US"/>
              <a:t>”</a:t>
            </a:r>
            <a:r>
              <a:rPr lang="en-US" altLang="ja-JP"/>
              <a:t>, Dr. Mark Stamp. </a:t>
            </a:r>
            <a:endParaRPr lang="en-US" altLang="en-US"/>
          </a:p>
        </p:txBody>
      </p:sp>
      <p:sp>
        <p:nvSpPr>
          <p:cNvPr id="4" name="Footer Placeholder 3">
            <a:extLst>
              <a:ext uri="{FF2B5EF4-FFF2-40B4-BE49-F238E27FC236}">
                <a16:creationId xmlns:a16="http://schemas.microsoft.com/office/drawing/2014/main" id="{8EDB21B1-6BCA-784D-8A45-61FC69781A15}"/>
              </a:ext>
            </a:extLst>
          </p:cNvPr>
          <p:cNvSpPr>
            <a:spLocks noGrp="1"/>
          </p:cNvSpPr>
          <p:nvPr>
            <p:ph type="ftr" sz="quarter" idx="10"/>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eaLnBrk="0" hangingPunct="0">
              <a:defRPr sz="2400">
                <a:solidFill>
                  <a:schemeClr val="tx1"/>
                </a:solidFill>
                <a:latin typeface="Comic Sans MS" panose="030F0902030302020204" pitchFamily="66" charset="0"/>
                <a:ea typeface="ＭＳ Ｐゴシック" panose="020B0600070205080204" pitchFamily="34" charset="-128"/>
              </a:defRPr>
            </a:lvl1pPr>
            <a:lvl2pPr marL="742950" indent="-285750" eaLnBrk="0" hangingPunct="0">
              <a:defRPr sz="2400">
                <a:solidFill>
                  <a:schemeClr val="tx1"/>
                </a:solidFill>
                <a:latin typeface="Comic Sans MS" panose="030F0902030302020204" pitchFamily="66" charset="0"/>
                <a:ea typeface="ＭＳ Ｐゴシック" panose="020B0600070205080204" pitchFamily="34" charset="-128"/>
              </a:defRPr>
            </a:lvl2pPr>
            <a:lvl3pPr marL="1143000" indent="-228600" eaLnBrk="0" hangingPunct="0">
              <a:defRPr sz="2400">
                <a:solidFill>
                  <a:schemeClr val="tx1"/>
                </a:solidFill>
                <a:latin typeface="Comic Sans MS" panose="030F0902030302020204" pitchFamily="66" charset="0"/>
                <a:ea typeface="ＭＳ Ｐゴシック" panose="020B0600070205080204" pitchFamily="34" charset="-128"/>
              </a:defRPr>
            </a:lvl3pPr>
            <a:lvl4pPr marL="1600200" indent="-228600" eaLnBrk="0" hangingPunct="0">
              <a:defRPr sz="2400">
                <a:solidFill>
                  <a:schemeClr val="tx1"/>
                </a:solidFill>
                <a:latin typeface="Comic Sans MS" panose="030F0902030302020204" pitchFamily="66" charset="0"/>
                <a:ea typeface="ＭＳ Ｐゴシック" panose="020B0600070205080204" pitchFamily="34" charset="-128"/>
              </a:defRPr>
            </a:lvl4pPr>
            <a:lvl5pPr marL="2057400" indent="-228600" eaLnBrk="0" hangingPunct="0">
              <a:defRPr sz="2400">
                <a:solidFill>
                  <a:schemeClr val="tx1"/>
                </a:solidFill>
                <a:latin typeface="Comic Sans MS" panose="030F0902030302020204" pitchFamily="66"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Comic Sans MS" panose="030F0902030302020204" pitchFamily="66"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Comic Sans MS" panose="030F0902030302020204" pitchFamily="66"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Comic Sans MS" panose="030F0902030302020204" pitchFamily="66"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Comic Sans MS" panose="030F0902030302020204" pitchFamily="66" charset="0"/>
                <a:ea typeface="ＭＳ Ｐゴシック" panose="020B0600070205080204" pitchFamily="34" charset="-128"/>
              </a:defRPr>
            </a:lvl9pPr>
          </a:lstStyle>
          <a:p>
            <a:pPr eaLnBrk="1" hangingPunct="1"/>
            <a:r>
              <a:rPr lang="en-US" altLang="en-US" sz="1400"/>
              <a:t> Part 2 </a:t>
            </a:r>
            <a:r>
              <a:rPr lang="en-US" altLang="en-US" sz="1400">
                <a:sym typeface="Symbol" pitchFamily="2" charset="2"/>
              </a:rPr>
              <a:t></a:t>
            </a:r>
            <a:r>
              <a:rPr lang="en-US" altLang="en-US" sz="1400"/>
              <a:t> Access Control                                                                                                  </a:t>
            </a:r>
            <a:fld id="{8CE449CC-C33B-0342-92FA-77AB5B0631E4}" type="slidenum">
              <a:rPr lang="en-US" altLang="en-US" sz="1400">
                <a:latin typeface="Times New Roman" panose="02020603050405020304" pitchFamily="18" charset="0"/>
              </a:rPr>
              <a:pPr eaLnBrk="1" hangingPunct="1"/>
              <a:t>36</a:t>
            </a:fld>
            <a:endParaRPr lang="en-US" altLang="en-US" sz="1400">
              <a:latin typeface="Times New Roman" panose="02020603050405020304" pitchFamily="18" charset="0"/>
            </a:endParaRPr>
          </a:p>
        </p:txBody>
      </p:sp>
    </p:spTree>
    <p:extLst>
      <p:ext uri="{BB962C8B-B14F-4D97-AF65-F5344CB8AC3E}">
        <p14:creationId xmlns:p14="http://schemas.microsoft.com/office/powerpoint/2010/main" val="7062087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5910B3BC-C6D8-6E49-B2D5-A5E9C1BEBE90}"/>
              </a:ext>
            </a:extLst>
          </p:cNvPr>
          <p:cNvSpPr>
            <a:spLocks noGrp="1"/>
          </p:cNvSpPr>
          <p:nvPr>
            <p:ph type="ftr" sz="quarter" idx="10"/>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eaLnBrk="0" hangingPunct="0">
              <a:defRPr sz="2400">
                <a:solidFill>
                  <a:schemeClr val="tx1"/>
                </a:solidFill>
                <a:latin typeface="Comic Sans MS" panose="030F0902030302020204" pitchFamily="66" charset="0"/>
                <a:ea typeface="ＭＳ Ｐゴシック" panose="020B0600070205080204" pitchFamily="34" charset="-128"/>
              </a:defRPr>
            </a:lvl1pPr>
            <a:lvl2pPr marL="742950" indent="-285750" eaLnBrk="0" hangingPunct="0">
              <a:defRPr sz="2400">
                <a:solidFill>
                  <a:schemeClr val="tx1"/>
                </a:solidFill>
                <a:latin typeface="Comic Sans MS" panose="030F0902030302020204" pitchFamily="66" charset="0"/>
                <a:ea typeface="ＭＳ Ｐゴシック" panose="020B0600070205080204" pitchFamily="34" charset="-128"/>
              </a:defRPr>
            </a:lvl2pPr>
            <a:lvl3pPr marL="1143000" indent="-228600" eaLnBrk="0" hangingPunct="0">
              <a:defRPr sz="2400">
                <a:solidFill>
                  <a:schemeClr val="tx1"/>
                </a:solidFill>
                <a:latin typeface="Comic Sans MS" panose="030F0902030302020204" pitchFamily="66" charset="0"/>
                <a:ea typeface="ＭＳ Ｐゴシック" panose="020B0600070205080204" pitchFamily="34" charset="-128"/>
              </a:defRPr>
            </a:lvl3pPr>
            <a:lvl4pPr marL="1600200" indent="-228600" eaLnBrk="0" hangingPunct="0">
              <a:defRPr sz="2400">
                <a:solidFill>
                  <a:schemeClr val="tx1"/>
                </a:solidFill>
                <a:latin typeface="Comic Sans MS" panose="030F0902030302020204" pitchFamily="66" charset="0"/>
                <a:ea typeface="ＭＳ Ｐゴシック" panose="020B0600070205080204" pitchFamily="34" charset="-128"/>
              </a:defRPr>
            </a:lvl4pPr>
            <a:lvl5pPr marL="2057400" indent="-228600" eaLnBrk="0" hangingPunct="0">
              <a:defRPr sz="2400">
                <a:solidFill>
                  <a:schemeClr val="tx1"/>
                </a:solidFill>
                <a:latin typeface="Comic Sans MS" panose="030F0902030302020204" pitchFamily="66"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Comic Sans MS" panose="030F0902030302020204" pitchFamily="66"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Comic Sans MS" panose="030F0902030302020204" pitchFamily="66"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Comic Sans MS" panose="030F0902030302020204" pitchFamily="66"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Comic Sans MS" panose="030F0902030302020204" pitchFamily="66" charset="0"/>
                <a:ea typeface="ＭＳ Ｐゴシック" panose="020B0600070205080204" pitchFamily="34" charset="-128"/>
              </a:defRPr>
            </a:lvl9pPr>
          </a:lstStyle>
          <a:p>
            <a:pPr eaLnBrk="1" hangingPunct="1"/>
            <a:r>
              <a:rPr lang="en-US" altLang="en-US" sz="1400"/>
              <a:t> Part 2 </a:t>
            </a:r>
            <a:r>
              <a:rPr lang="en-US" altLang="en-US" sz="1400">
                <a:sym typeface="Symbol" pitchFamily="2" charset="2"/>
              </a:rPr>
              <a:t></a:t>
            </a:r>
            <a:r>
              <a:rPr lang="en-US" altLang="en-US" sz="1400"/>
              <a:t> Access Control                                                                                                  </a:t>
            </a:r>
            <a:fld id="{0D48245B-C775-F845-B747-49DC7F0ED8E3}" type="slidenum">
              <a:rPr lang="en-US" altLang="en-US" sz="1400">
                <a:latin typeface="Times New Roman" panose="02020603050405020304" pitchFamily="18" charset="0"/>
              </a:rPr>
              <a:pPr eaLnBrk="1" hangingPunct="1"/>
              <a:t>37</a:t>
            </a:fld>
            <a:endParaRPr lang="en-US" altLang="en-US" sz="1400">
              <a:latin typeface="Times New Roman" panose="02020603050405020304" pitchFamily="18" charset="0"/>
            </a:endParaRPr>
          </a:p>
        </p:txBody>
      </p:sp>
      <p:sp>
        <p:nvSpPr>
          <p:cNvPr id="181250" name="Rectangle 2">
            <a:extLst>
              <a:ext uri="{FF2B5EF4-FFF2-40B4-BE49-F238E27FC236}">
                <a16:creationId xmlns:a16="http://schemas.microsoft.com/office/drawing/2014/main" id="{D346D59E-F026-044E-B29E-8F4A4EE005E3}"/>
              </a:ext>
            </a:extLst>
          </p:cNvPr>
          <p:cNvSpPr>
            <a:spLocks noGrp="1" noChangeArrowheads="1"/>
          </p:cNvSpPr>
          <p:nvPr>
            <p:ph type="title"/>
          </p:nvPr>
        </p:nvSpPr>
        <p:spPr>
          <a:xfrm>
            <a:off x="533400" y="381000"/>
            <a:ext cx="8077200" cy="1371600"/>
          </a:xfrm>
        </p:spPr>
        <p:txBody>
          <a:bodyPr/>
          <a:lstStyle/>
          <a:p>
            <a:pPr eaLnBrk="1" hangingPunct="1">
              <a:defRPr/>
            </a:pPr>
            <a:r>
              <a:rPr lang="en-US">
                <a:cs typeface="+mj-cs"/>
              </a:rPr>
              <a:t>Classifications and Clearances</a:t>
            </a:r>
          </a:p>
        </p:txBody>
      </p:sp>
      <p:sp>
        <p:nvSpPr>
          <p:cNvPr id="181251" name="Rectangle 3">
            <a:extLst>
              <a:ext uri="{FF2B5EF4-FFF2-40B4-BE49-F238E27FC236}">
                <a16:creationId xmlns:a16="http://schemas.microsoft.com/office/drawing/2014/main" id="{2881A4D2-7D23-5E4E-8019-9E9F35FD3DE8}"/>
              </a:ext>
            </a:extLst>
          </p:cNvPr>
          <p:cNvSpPr>
            <a:spLocks noGrp="1" noChangeArrowheads="1"/>
          </p:cNvSpPr>
          <p:nvPr>
            <p:ph type="body" idx="1"/>
          </p:nvPr>
        </p:nvSpPr>
        <p:spPr>
          <a:xfrm>
            <a:off x="685800" y="1676400"/>
            <a:ext cx="7772400" cy="4343400"/>
          </a:xfrm>
        </p:spPr>
        <p:txBody>
          <a:bodyPr/>
          <a:lstStyle/>
          <a:p>
            <a:pPr eaLnBrk="1" hangingPunct="1">
              <a:lnSpc>
                <a:spcPct val="90000"/>
              </a:lnSpc>
              <a:buFont typeface="Wingdings" charset="0"/>
              <a:buChar char="q"/>
              <a:defRPr/>
            </a:pPr>
            <a:r>
              <a:rPr lang="en-US" b="1">
                <a:solidFill>
                  <a:schemeClr val="hlink"/>
                </a:solidFill>
                <a:cs typeface="+mn-cs"/>
              </a:rPr>
              <a:t>Classifications</a:t>
            </a:r>
            <a:r>
              <a:rPr lang="en-US">
                <a:cs typeface="+mn-cs"/>
              </a:rPr>
              <a:t> apply to </a:t>
            </a:r>
            <a:r>
              <a:rPr lang="en-US" b="1">
                <a:solidFill>
                  <a:schemeClr val="hlink"/>
                </a:solidFill>
                <a:cs typeface="+mn-cs"/>
              </a:rPr>
              <a:t>objects</a:t>
            </a:r>
            <a:endParaRPr lang="en-US">
              <a:solidFill>
                <a:schemeClr val="hlink"/>
              </a:solidFill>
              <a:cs typeface="+mn-cs"/>
            </a:endParaRPr>
          </a:p>
          <a:p>
            <a:pPr eaLnBrk="1" hangingPunct="1">
              <a:lnSpc>
                <a:spcPct val="90000"/>
              </a:lnSpc>
              <a:buFont typeface="Wingdings" charset="0"/>
              <a:buChar char="q"/>
              <a:defRPr/>
            </a:pPr>
            <a:r>
              <a:rPr lang="en-US" b="1">
                <a:solidFill>
                  <a:schemeClr val="hlink"/>
                </a:solidFill>
                <a:cs typeface="+mn-cs"/>
              </a:rPr>
              <a:t>Clearances</a:t>
            </a:r>
            <a:r>
              <a:rPr lang="en-US">
                <a:cs typeface="+mn-cs"/>
              </a:rPr>
              <a:t> apply to </a:t>
            </a:r>
            <a:r>
              <a:rPr lang="en-US" b="1">
                <a:solidFill>
                  <a:schemeClr val="hlink"/>
                </a:solidFill>
                <a:cs typeface="+mn-cs"/>
              </a:rPr>
              <a:t>subjects</a:t>
            </a:r>
            <a:endParaRPr lang="en-US">
              <a:solidFill>
                <a:schemeClr val="hlink"/>
              </a:solidFill>
              <a:cs typeface="+mn-cs"/>
            </a:endParaRPr>
          </a:p>
          <a:p>
            <a:pPr eaLnBrk="1" hangingPunct="1">
              <a:lnSpc>
                <a:spcPct val="90000"/>
              </a:lnSpc>
              <a:buFont typeface="Wingdings" charset="0"/>
              <a:buChar char="q"/>
              <a:defRPr/>
            </a:pPr>
            <a:r>
              <a:rPr lang="en-US">
                <a:cs typeface="+mn-cs"/>
              </a:rPr>
              <a:t>US Department of Defense uses 4 levels of classifications/clearances</a:t>
            </a:r>
          </a:p>
          <a:p>
            <a:pPr lvl="1" eaLnBrk="1" hangingPunct="1">
              <a:lnSpc>
                <a:spcPct val="90000"/>
              </a:lnSpc>
              <a:buFontTx/>
              <a:buNone/>
              <a:defRPr/>
            </a:pPr>
            <a:r>
              <a:rPr lang="en-US" b="1">
                <a:latin typeface="Times-Roman" charset="0"/>
              </a:rPr>
              <a:t>	TOP SECRET</a:t>
            </a:r>
          </a:p>
          <a:p>
            <a:pPr lvl="1" eaLnBrk="1" hangingPunct="1">
              <a:lnSpc>
                <a:spcPct val="90000"/>
              </a:lnSpc>
              <a:buFontTx/>
              <a:buNone/>
              <a:defRPr/>
            </a:pPr>
            <a:r>
              <a:rPr lang="en-US" b="1">
                <a:latin typeface="Times-Roman" charset="0"/>
              </a:rPr>
              <a:t>	SECRET</a:t>
            </a:r>
          </a:p>
          <a:p>
            <a:pPr lvl="1" eaLnBrk="1" hangingPunct="1">
              <a:lnSpc>
                <a:spcPct val="90000"/>
              </a:lnSpc>
              <a:buFontTx/>
              <a:buNone/>
              <a:defRPr/>
            </a:pPr>
            <a:r>
              <a:rPr lang="en-US" b="1">
                <a:latin typeface="Times-Roman" charset="0"/>
              </a:rPr>
              <a:t>	CONFIDENTIAL</a:t>
            </a:r>
          </a:p>
          <a:p>
            <a:pPr lvl="1" eaLnBrk="1" hangingPunct="1">
              <a:lnSpc>
                <a:spcPct val="90000"/>
              </a:lnSpc>
              <a:buFontTx/>
              <a:buNone/>
              <a:defRPr/>
            </a:pPr>
            <a:r>
              <a:rPr lang="en-US" b="1">
                <a:latin typeface="Times-Roman" charset="0"/>
              </a:rPr>
              <a:t>	UNCLASSIFIED</a:t>
            </a:r>
            <a:endParaRPr lang="en-US">
              <a:latin typeface="Times-Roman" charset="0"/>
            </a:endParaRPr>
          </a:p>
        </p:txBody>
      </p:sp>
    </p:spTree>
    <p:extLst>
      <p:ext uri="{BB962C8B-B14F-4D97-AF65-F5344CB8AC3E}">
        <p14:creationId xmlns:p14="http://schemas.microsoft.com/office/powerpoint/2010/main" val="8865034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FE174F6-7D04-1B4F-A47A-3DBBEAEBFC07}"/>
              </a:ext>
            </a:extLst>
          </p:cNvPr>
          <p:cNvSpPr>
            <a:spLocks noGrp="1"/>
          </p:cNvSpPr>
          <p:nvPr>
            <p:ph type="ftr" sz="quarter" idx="10"/>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eaLnBrk="0" hangingPunct="0">
              <a:defRPr sz="2400">
                <a:solidFill>
                  <a:schemeClr val="tx1"/>
                </a:solidFill>
                <a:latin typeface="Comic Sans MS" panose="030F0902030302020204" pitchFamily="66" charset="0"/>
                <a:ea typeface="ＭＳ Ｐゴシック" panose="020B0600070205080204" pitchFamily="34" charset="-128"/>
              </a:defRPr>
            </a:lvl1pPr>
            <a:lvl2pPr marL="742950" indent="-285750" eaLnBrk="0" hangingPunct="0">
              <a:defRPr sz="2400">
                <a:solidFill>
                  <a:schemeClr val="tx1"/>
                </a:solidFill>
                <a:latin typeface="Comic Sans MS" panose="030F0902030302020204" pitchFamily="66" charset="0"/>
                <a:ea typeface="ＭＳ Ｐゴシック" panose="020B0600070205080204" pitchFamily="34" charset="-128"/>
              </a:defRPr>
            </a:lvl2pPr>
            <a:lvl3pPr marL="1143000" indent="-228600" eaLnBrk="0" hangingPunct="0">
              <a:defRPr sz="2400">
                <a:solidFill>
                  <a:schemeClr val="tx1"/>
                </a:solidFill>
                <a:latin typeface="Comic Sans MS" panose="030F0902030302020204" pitchFamily="66" charset="0"/>
                <a:ea typeface="ＭＳ Ｐゴシック" panose="020B0600070205080204" pitchFamily="34" charset="-128"/>
              </a:defRPr>
            </a:lvl3pPr>
            <a:lvl4pPr marL="1600200" indent="-228600" eaLnBrk="0" hangingPunct="0">
              <a:defRPr sz="2400">
                <a:solidFill>
                  <a:schemeClr val="tx1"/>
                </a:solidFill>
                <a:latin typeface="Comic Sans MS" panose="030F0902030302020204" pitchFamily="66" charset="0"/>
                <a:ea typeface="ＭＳ Ｐゴシック" panose="020B0600070205080204" pitchFamily="34" charset="-128"/>
              </a:defRPr>
            </a:lvl4pPr>
            <a:lvl5pPr marL="2057400" indent="-228600" eaLnBrk="0" hangingPunct="0">
              <a:defRPr sz="2400">
                <a:solidFill>
                  <a:schemeClr val="tx1"/>
                </a:solidFill>
                <a:latin typeface="Comic Sans MS" panose="030F0902030302020204" pitchFamily="66"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Comic Sans MS" panose="030F0902030302020204" pitchFamily="66"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Comic Sans MS" panose="030F0902030302020204" pitchFamily="66"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Comic Sans MS" panose="030F0902030302020204" pitchFamily="66"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Comic Sans MS" panose="030F0902030302020204" pitchFamily="66" charset="0"/>
                <a:ea typeface="ＭＳ Ｐゴシック" panose="020B0600070205080204" pitchFamily="34" charset="-128"/>
              </a:defRPr>
            </a:lvl9pPr>
          </a:lstStyle>
          <a:p>
            <a:pPr eaLnBrk="1" hangingPunct="1"/>
            <a:r>
              <a:rPr lang="en-US" altLang="en-US" sz="1400"/>
              <a:t> Part 2 </a:t>
            </a:r>
            <a:r>
              <a:rPr lang="en-US" altLang="en-US" sz="1400">
                <a:sym typeface="Symbol" pitchFamily="2" charset="2"/>
              </a:rPr>
              <a:t></a:t>
            </a:r>
            <a:r>
              <a:rPr lang="en-US" altLang="en-US" sz="1400"/>
              <a:t> Access Control                                                                                                  </a:t>
            </a:r>
            <a:fld id="{0FA31429-DA49-AF42-999D-8DD9E7DC5337}" type="slidenum">
              <a:rPr lang="en-US" altLang="en-US" sz="1400">
                <a:latin typeface="Times New Roman" panose="02020603050405020304" pitchFamily="18" charset="0"/>
              </a:rPr>
              <a:pPr eaLnBrk="1" hangingPunct="1"/>
              <a:t>38</a:t>
            </a:fld>
            <a:endParaRPr lang="en-US" altLang="en-US" sz="1400">
              <a:latin typeface="Times New Roman" panose="02020603050405020304" pitchFamily="18" charset="0"/>
            </a:endParaRPr>
          </a:p>
        </p:txBody>
      </p:sp>
      <p:sp>
        <p:nvSpPr>
          <p:cNvPr id="185346" name="Rectangle 2">
            <a:extLst>
              <a:ext uri="{FF2B5EF4-FFF2-40B4-BE49-F238E27FC236}">
                <a16:creationId xmlns:a16="http://schemas.microsoft.com/office/drawing/2014/main" id="{0C50D8E9-1ABC-784A-BE96-C5E7C7061361}"/>
              </a:ext>
            </a:extLst>
          </p:cNvPr>
          <p:cNvSpPr>
            <a:spLocks noGrp="1" noChangeArrowheads="1"/>
          </p:cNvSpPr>
          <p:nvPr>
            <p:ph type="title"/>
          </p:nvPr>
        </p:nvSpPr>
        <p:spPr>
          <a:xfrm>
            <a:off x="685800" y="533400"/>
            <a:ext cx="7772400" cy="1143000"/>
          </a:xfrm>
        </p:spPr>
        <p:txBody>
          <a:bodyPr/>
          <a:lstStyle/>
          <a:p>
            <a:pPr eaLnBrk="1" hangingPunct="1">
              <a:defRPr/>
            </a:pPr>
            <a:r>
              <a:rPr lang="en-US">
                <a:cs typeface="+mj-cs"/>
              </a:rPr>
              <a:t>Clearances and Classification</a:t>
            </a:r>
          </a:p>
        </p:txBody>
      </p:sp>
      <p:sp>
        <p:nvSpPr>
          <p:cNvPr id="185347" name="Rectangle 3">
            <a:extLst>
              <a:ext uri="{FF2B5EF4-FFF2-40B4-BE49-F238E27FC236}">
                <a16:creationId xmlns:a16="http://schemas.microsoft.com/office/drawing/2014/main" id="{23FF488C-FF0C-7340-B7A4-15688CE99DA0}"/>
              </a:ext>
            </a:extLst>
          </p:cNvPr>
          <p:cNvSpPr>
            <a:spLocks noGrp="1" noChangeArrowheads="1"/>
          </p:cNvSpPr>
          <p:nvPr>
            <p:ph type="body" idx="1"/>
          </p:nvPr>
        </p:nvSpPr>
        <p:spPr>
          <a:xfrm>
            <a:off x="685800" y="1981200"/>
            <a:ext cx="7848600" cy="3962400"/>
          </a:xfrm>
        </p:spPr>
        <p:txBody>
          <a:bodyPr/>
          <a:lstStyle/>
          <a:p>
            <a:pPr eaLnBrk="1" hangingPunct="1">
              <a:lnSpc>
                <a:spcPct val="90000"/>
              </a:lnSpc>
              <a:buFont typeface="Wingdings" charset="0"/>
              <a:buChar char="q"/>
              <a:defRPr/>
            </a:pPr>
            <a:r>
              <a:rPr lang="en-US" sz="2800">
                <a:cs typeface="+mn-cs"/>
              </a:rPr>
              <a:t>To obtain a </a:t>
            </a:r>
            <a:r>
              <a:rPr lang="en-US" sz="2800" b="1">
                <a:latin typeface="Times-Roman" charset="0"/>
                <a:cs typeface="+mn-cs"/>
              </a:rPr>
              <a:t>SECRET</a:t>
            </a:r>
            <a:r>
              <a:rPr lang="en-US" sz="2800">
                <a:cs typeface="+mn-cs"/>
              </a:rPr>
              <a:t> clearance requires a routine background check</a:t>
            </a:r>
          </a:p>
          <a:p>
            <a:pPr eaLnBrk="1" hangingPunct="1">
              <a:lnSpc>
                <a:spcPct val="90000"/>
              </a:lnSpc>
              <a:buFont typeface="Wingdings" charset="0"/>
              <a:buChar char="q"/>
              <a:defRPr/>
            </a:pPr>
            <a:r>
              <a:rPr lang="en-US" sz="2800">
                <a:cs typeface="+mn-cs"/>
              </a:rPr>
              <a:t>A </a:t>
            </a:r>
            <a:r>
              <a:rPr lang="en-US" sz="2800" b="1">
                <a:latin typeface="Times-Roman" charset="0"/>
                <a:cs typeface="+mn-cs"/>
              </a:rPr>
              <a:t>TOP SECRET</a:t>
            </a:r>
            <a:r>
              <a:rPr lang="en-US" sz="2800">
                <a:cs typeface="+mn-cs"/>
              </a:rPr>
              <a:t> clearance requires extensive background check</a:t>
            </a:r>
          </a:p>
          <a:p>
            <a:pPr eaLnBrk="1" hangingPunct="1">
              <a:lnSpc>
                <a:spcPct val="90000"/>
              </a:lnSpc>
              <a:buFont typeface="Wingdings" charset="0"/>
              <a:buChar char="q"/>
              <a:defRPr/>
            </a:pPr>
            <a:r>
              <a:rPr lang="en-US" sz="2800">
                <a:cs typeface="+mn-cs"/>
              </a:rPr>
              <a:t>Practical classification problems</a:t>
            </a:r>
          </a:p>
          <a:p>
            <a:pPr lvl="1" eaLnBrk="1" hangingPunct="1">
              <a:lnSpc>
                <a:spcPct val="90000"/>
              </a:lnSpc>
              <a:defRPr/>
            </a:pPr>
            <a:r>
              <a:rPr lang="en-US" sz="2400"/>
              <a:t>Proper classification not always clear</a:t>
            </a:r>
          </a:p>
          <a:p>
            <a:pPr lvl="1" eaLnBrk="1" hangingPunct="1">
              <a:lnSpc>
                <a:spcPct val="90000"/>
              </a:lnSpc>
              <a:defRPr/>
            </a:pPr>
            <a:r>
              <a:rPr lang="en-US" sz="2400"/>
              <a:t>Level of granularity to apply classifications</a:t>
            </a:r>
          </a:p>
          <a:p>
            <a:pPr lvl="1" eaLnBrk="1" hangingPunct="1">
              <a:lnSpc>
                <a:spcPct val="90000"/>
              </a:lnSpc>
              <a:defRPr/>
            </a:pPr>
            <a:r>
              <a:rPr lang="en-US" sz="2400"/>
              <a:t>Aggregation --- flipside of granularity</a:t>
            </a:r>
          </a:p>
        </p:txBody>
      </p:sp>
    </p:spTree>
    <p:extLst>
      <p:ext uri="{BB962C8B-B14F-4D97-AF65-F5344CB8AC3E}">
        <p14:creationId xmlns:p14="http://schemas.microsoft.com/office/powerpoint/2010/main" val="25427789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5F3FDFD7-9895-474F-880D-1ACAB49CE629}"/>
              </a:ext>
            </a:extLst>
          </p:cNvPr>
          <p:cNvSpPr>
            <a:spLocks noGrp="1"/>
          </p:cNvSpPr>
          <p:nvPr>
            <p:ph type="ftr" sz="quarter" idx="10"/>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eaLnBrk="0" hangingPunct="0">
              <a:defRPr sz="2400">
                <a:solidFill>
                  <a:schemeClr val="tx1"/>
                </a:solidFill>
                <a:latin typeface="Comic Sans MS" panose="030F0902030302020204" pitchFamily="66" charset="0"/>
                <a:ea typeface="ＭＳ Ｐゴシック" panose="020B0600070205080204" pitchFamily="34" charset="-128"/>
              </a:defRPr>
            </a:lvl1pPr>
            <a:lvl2pPr marL="742950" indent="-285750" eaLnBrk="0" hangingPunct="0">
              <a:defRPr sz="2400">
                <a:solidFill>
                  <a:schemeClr val="tx1"/>
                </a:solidFill>
                <a:latin typeface="Comic Sans MS" panose="030F0902030302020204" pitchFamily="66" charset="0"/>
                <a:ea typeface="ＭＳ Ｐゴシック" panose="020B0600070205080204" pitchFamily="34" charset="-128"/>
              </a:defRPr>
            </a:lvl2pPr>
            <a:lvl3pPr marL="1143000" indent="-228600" eaLnBrk="0" hangingPunct="0">
              <a:defRPr sz="2400">
                <a:solidFill>
                  <a:schemeClr val="tx1"/>
                </a:solidFill>
                <a:latin typeface="Comic Sans MS" panose="030F0902030302020204" pitchFamily="66" charset="0"/>
                <a:ea typeface="ＭＳ Ｐゴシック" panose="020B0600070205080204" pitchFamily="34" charset="-128"/>
              </a:defRPr>
            </a:lvl3pPr>
            <a:lvl4pPr marL="1600200" indent="-228600" eaLnBrk="0" hangingPunct="0">
              <a:defRPr sz="2400">
                <a:solidFill>
                  <a:schemeClr val="tx1"/>
                </a:solidFill>
                <a:latin typeface="Comic Sans MS" panose="030F0902030302020204" pitchFamily="66" charset="0"/>
                <a:ea typeface="ＭＳ Ｐゴシック" panose="020B0600070205080204" pitchFamily="34" charset="-128"/>
              </a:defRPr>
            </a:lvl4pPr>
            <a:lvl5pPr marL="2057400" indent="-228600" eaLnBrk="0" hangingPunct="0">
              <a:defRPr sz="2400">
                <a:solidFill>
                  <a:schemeClr val="tx1"/>
                </a:solidFill>
                <a:latin typeface="Comic Sans MS" panose="030F0902030302020204" pitchFamily="66"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Comic Sans MS" panose="030F0902030302020204" pitchFamily="66"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Comic Sans MS" panose="030F0902030302020204" pitchFamily="66"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Comic Sans MS" panose="030F0902030302020204" pitchFamily="66"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Comic Sans MS" panose="030F0902030302020204" pitchFamily="66" charset="0"/>
                <a:ea typeface="ＭＳ Ｐゴシック" panose="020B0600070205080204" pitchFamily="34" charset="-128"/>
              </a:defRPr>
            </a:lvl9pPr>
          </a:lstStyle>
          <a:p>
            <a:pPr eaLnBrk="1" hangingPunct="1"/>
            <a:r>
              <a:rPr lang="en-US" altLang="en-US" sz="1400"/>
              <a:t> Part 2 </a:t>
            </a:r>
            <a:r>
              <a:rPr lang="en-US" altLang="en-US" sz="1400">
                <a:sym typeface="Symbol" pitchFamily="2" charset="2"/>
              </a:rPr>
              <a:t></a:t>
            </a:r>
            <a:r>
              <a:rPr lang="en-US" altLang="en-US" sz="1400"/>
              <a:t> Access Control                                                                                                  </a:t>
            </a:r>
            <a:fld id="{6ABF69BD-3033-FB49-A454-72234E99E381}" type="slidenum">
              <a:rPr lang="en-US" altLang="en-US" sz="1400">
                <a:latin typeface="Times New Roman" panose="02020603050405020304" pitchFamily="18" charset="0"/>
              </a:rPr>
              <a:pPr eaLnBrk="1" hangingPunct="1"/>
              <a:t>39</a:t>
            </a:fld>
            <a:endParaRPr lang="en-US" altLang="en-US" sz="1400">
              <a:latin typeface="Times New Roman" panose="02020603050405020304" pitchFamily="18" charset="0"/>
            </a:endParaRPr>
          </a:p>
        </p:txBody>
      </p:sp>
      <p:sp>
        <p:nvSpPr>
          <p:cNvPr id="153602" name="Rectangle 2">
            <a:extLst>
              <a:ext uri="{FF2B5EF4-FFF2-40B4-BE49-F238E27FC236}">
                <a16:creationId xmlns:a16="http://schemas.microsoft.com/office/drawing/2014/main" id="{5D22D564-31DA-4641-9CFE-128B30D67DBE}"/>
              </a:ext>
            </a:extLst>
          </p:cNvPr>
          <p:cNvSpPr>
            <a:spLocks noGrp="1" noChangeArrowheads="1"/>
          </p:cNvSpPr>
          <p:nvPr>
            <p:ph type="title"/>
          </p:nvPr>
        </p:nvSpPr>
        <p:spPr/>
        <p:txBody>
          <a:bodyPr/>
          <a:lstStyle/>
          <a:p>
            <a:pPr eaLnBrk="1" hangingPunct="1">
              <a:defRPr/>
            </a:pPr>
            <a:r>
              <a:rPr lang="en-US">
                <a:cs typeface="+mj-cs"/>
              </a:rPr>
              <a:t>Subjects and Objects</a:t>
            </a:r>
          </a:p>
        </p:txBody>
      </p:sp>
      <p:sp>
        <p:nvSpPr>
          <p:cNvPr id="153603" name="Rectangle 3">
            <a:extLst>
              <a:ext uri="{FF2B5EF4-FFF2-40B4-BE49-F238E27FC236}">
                <a16:creationId xmlns:a16="http://schemas.microsoft.com/office/drawing/2014/main" id="{02620990-DF15-7A4C-A5A6-C8565D1EE3D7}"/>
              </a:ext>
            </a:extLst>
          </p:cNvPr>
          <p:cNvSpPr>
            <a:spLocks noGrp="1" noChangeArrowheads="1"/>
          </p:cNvSpPr>
          <p:nvPr>
            <p:ph type="body" idx="1"/>
          </p:nvPr>
        </p:nvSpPr>
        <p:spPr>
          <a:xfrm>
            <a:off x="685800" y="1828800"/>
            <a:ext cx="8153400" cy="4191000"/>
          </a:xfrm>
        </p:spPr>
        <p:txBody>
          <a:bodyPr/>
          <a:lstStyle/>
          <a:p>
            <a:pPr eaLnBrk="1" hangingPunct="1">
              <a:buFont typeface="Wingdings" charset="0"/>
              <a:buChar char="q"/>
              <a:defRPr/>
            </a:pPr>
            <a:r>
              <a:rPr lang="en-US">
                <a:cs typeface="+mn-cs"/>
              </a:rPr>
              <a:t>Let </a:t>
            </a:r>
            <a:r>
              <a:rPr lang="en-US">
                <a:latin typeface="Times-Roman" charset="0"/>
                <a:cs typeface="+mn-cs"/>
              </a:rPr>
              <a:t>O</a:t>
            </a:r>
            <a:r>
              <a:rPr lang="en-US">
                <a:cs typeface="+mn-cs"/>
              </a:rPr>
              <a:t> be an </a:t>
            </a:r>
            <a:r>
              <a:rPr lang="en-US" b="1">
                <a:solidFill>
                  <a:schemeClr val="accent2"/>
                </a:solidFill>
                <a:cs typeface="+mn-cs"/>
              </a:rPr>
              <a:t>object</a:t>
            </a:r>
            <a:r>
              <a:rPr lang="en-US">
                <a:cs typeface="+mn-cs"/>
              </a:rPr>
              <a:t>, </a:t>
            </a:r>
            <a:r>
              <a:rPr lang="en-US">
                <a:latin typeface="Times-Roman" charset="0"/>
                <a:cs typeface="+mn-cs"/>
              </a:rPr>
              <a:t>S</a:t>
            </a:r>
            <a:r>
              <a:rPr lang="en-US">
                <a:cs typeface="+mn-cs"/>
              </a:rPr>
              <a:t> a </a:t>
            </a:r>
            <a:r>
              <a:rPr lang="en-US" b="1">
                <a:solidFill>
                  <a:schemeClr val="accent2"/>
                </a:solidFill>
                <a:cs typeface="+mn-cs"/>
              </a:rPr>
              <a:t>subject</a:t>
            </a:r>
          </a:p>
          <a:p>
            <a:pPr lvl="1" eaLnBrk="1" hangingPunct="1">
              <a:defRPr/>
            </a:pPr>
            <a:r>
              <a:rPr lang="en-US"/>
              <a:t> </a:t>
            </a:r>
            <a:r>
              <a:rPr lang="en-US">
                <a:latin typeface="Times-Roman" charset="0"/>
              </a:rPr>
              <a:t>O</a:t>
            </a:r>
            <a:r>
              <a:rPr lang="en-US"/>
              <a:t> has a classification</a:t>
            </a:r>
          </a:p>
          <a:p>
            <a:pPr lvl="1" eaLnBrk="1" hangingPunct="1">
              <a:defRPr/>
            </a:pPr>
            <a:r>
              <a:rPr lang="en-US"/>
              <a:t> </a:t>
            </a:r>
            <a:r>
              <a:rPr lang="en-US">
                <a:latin typeface="Times-Roman" charset="0"/>
              </a:rPr>
              <a:t>S</a:t>
            </a:r>
            <a:r>
              <a:rPr lang="en-US"/>
              <a:t> has a clearance</a:t>
            </a:r>
          </a:p>
          <a:p>
            <a:pPr lvl="1" eaLnBrk="1" hangingPunct="1">
              <a:defRPr/>
            </a:pPr>
            <a:r>
              <a:rPr lang="en-US" b="1">
                <a:solidFill>
                  <a:schemeClr val="accent2"/>
                </a:solidFill>
              </a:rPr>
              <a:t> </a:t>
            </a:r>
            <a:r>
              <a:rPr lang="en-US"/>
              <a:t>Security</a:t>
            </a:r>
            <a:r>
              <a:rPr lang="en-US" b="1">
                <a:solidFill>
                  <a:schemeClr val="accent2"/>
                </a:solidFill>
              </a:rPr>
              <a:t> level</a:t>
            </a:r>
            <a:r>
              <a:rPr lang="en-US"/>
              <a:t> denoted </a:t>
            </a:r>
            <a:r>
              <a:rPr lang="en-US">
                <a:latin typeface="Times-Roman" charset="0"/>
              </a:rPr>
              <a:t>L(O)</a:t>
            </a:r>
            <a:r>
              <a:rPr lang="en-US"/>
              <a:t> and </a:t>
            </a:r>
            <a:r>
              <a:rPr lang="en-US">
                <a:latin typeface="Times-Roman" charset="0"/>
              </a:rPr>
              <a:t>L(S)</a:t>
            </a:r>
          </a:p>
          <a:p>
            <a:pPr eaLnBrk="1" hangingPunct="1">
              <a:buFont typeface="Wingdings" charset="0"/>
              <a:buChar char="q"/>
              <a:defRPr/>
            </a:pPr>
            <a:r>
              <a:rPr lang="en-US">
                <a:cs typeface="+mn-cs"/>
              </a:rPr>
              <a:t>For DoD levels, we have</a:t>
            </a:r>
          </a:p>
          <a:p>
            <a:pPr lvl="1" eaLnBrk="1" hangingPunct="1">
              <a:buFontTx/>
              <a:buNone/>
              <a:defRPr/>
            </a:pPr>
            <a:r>
              <a:rPr lang="en-US" sz="2000" b="1">
                <a:latin typeface="Times-Roman" charset="0"/>
              </a:rPr>
              <a:t>TOP SECRET</a:t>
            </a:r>
            <a:r>
              <a:rPr lang="en-US" sz="2000">
                <a:latin typeface="Times-Roman" charset="0"/>
              </a:rPr>
              <a:t> &gt; </a:t>
            </a:r>
            <a:r>
              <a:rPr lang="en-US" sz="2000" b="1">
                <a:latin typeface="Times-Roman" charset="0"/>
              </a:rPr>
              <a:t>SECRET</a:t>
            </a:r>
            <a:r>
              <a:rPr lang="en-US" sz="2000">
                <a:latin typeface="Times-Roman" charset="0"/>
              </a:rPr>
              <a:t> &gt; </a:t>
            </a:r>
            <a:r>
              <a:rPr lang="en-US" sz="2000" b="1">
                <a:latin typeface="Times-Roman" charset="0"/>
              </a:rPr>
              <a:t>CONFIDENTIAL</a:t>
            </a:r>
            <a:r>
              <a:rPr lang="en-US" sz="2000">
                <a:latin typeface="Times-Roman" charset="0"/>
              </a:rPr>
              <a:t> &gt; </a:t>
            </a:r>
            <a:r>
              <a:rPr lang="en-US" sz="2000" b="1">
                <a:latin typeface="Times-Roman" charset="0"/>
              </a:rPr>
              <a:t>UNCLASSIFIED</a:t>
            </a:r>
            <a:endParaRPr lang="en-US" sz="2400"/>
          </a:p>
        </p:txBody>
      </p:sp>
    </p:spTree>
    <p:extLst>
      <p:ext uri="{BB962C8B-B14F-4D97-AF65-F5344CB8AC3E}">
        <p14:creationId xmlns:p14="http://schemas.microsoft.com/office/powerpoint/2010/main" val="32340894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5123942-2AFC-5E45-8EA0-B2FA0BA8D5B4}"/>
              </a:ext>
            </a:extLst>
          </p:cNvPr>
          <p:cNvSpPr>
            <a:spLocks noGrp="1"/>
          </p:cNvSpPr>
          <p:nvPr>
            <p:ph type="ftr" sz="quarter" idx="10"/>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eaLnBrk="0" hangingPunct="0">
              <a:defRPr sz="2400">
                <a:solidFill>
                  <a:schemeClr val="tx1"/>
                </a:solidFill>
                <a:latin typeface="Comic Sans MS" panose="030F0902030302020204" pitchFamily="66" charset="0"/>
                <a:ea typeface="ＭＳ Ｐゴシック" panose="020B0600070205080204" pitchFamily="34" charset="-128"/>
              </a:defRPr>
            </a:lvl1pPr>
            <a:lvl2pPr marL="742950" indent="-285750" eaLnBrk="0" hangingPunct="0">
              <a:defRPr sz="2400">
                <a:solidFill>
                  <a:schemeClr val="tx1"/>
                </a:solidFill>
                <a:latin typeface="Comic Sans MS" panose="030F0902030302020204" pitchFamily="66" charset="0"/>
                <a:ea typeface="ＭＳ Ｐゴシック" panose="020B0600070205080204" pitchFamily="34" charset="-128"/>
              </a:defRPr>
            </a:lvl2pPr>
            <a:lvl3pPr marL="1143000" indent="-228600" eaLnBrk="0" hangingPunct="0">
              <a:defRPr sz="2400">
                <a:solidFill>
                  <a:schemeClr val="tx1"/>
                </a:solidFill>
                <a:latin typeface="Comic Sans MS" panose="030F0902030302020204" pitchFamily="66" charset="0"/>
                <a:ea typeface="ＭＳ Ｐゴシック" panose="020B0600070205080204" pitchFamily="34" charset="-128"/>
              </a:defRPr>
            </a:lvl3pPr>
            <a:lvl4pPr marL="1600200" indent="-228600" eaLnBrk="0" hangingPunct="0">
              <a:defRPr sz="2400">
                <a:solidFill>
                  <a:schemeClr val="tx1"/>
                </a:solidFill>
                <a:latin typeface="Comic Sans MS" panose="030F0902030302020204" pitchFamily="66" charset="0"/>
                <a:ea typeface="ＭＳ Ｐゴシック" panose="020B0600070205080204" pitchFamily="34" charset="-128"/>
              </a:defRPr>
            </a:lvl4pPr>
            <a:lvl5pPr marL="2057400" indent="-228600" eaLnBrk="0" hangingPunct="0">
              <a:defRPr sz="2400">
                <a:solidFill>
                  <a:schemeClr val="tx1"/>
                </a:solidFill>
                <a:latin typeface="Comic Sans MS" panose="030F0902030302020204" pitchFamily="66"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Comic Sans MS" panose="030F0902030302020204" pitchFamily="66"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Comic Sans MS" panose="030F0902030302020204" pitchFamily="66"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Comic Sans MS" panose="030F0902030302020204" pitchFamily="66"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Comic Sans MS" panose="030F0902030302020204" pitchFamily="66" charset="0"/>
                <a:ea typeface="ＭＳ Ｐゴシック" panose="020B0600070205080204" pitchFamily="34" charset="-128"/>
              </a:defRPr>
            </a:lvl9pPr>
          </a:lstStyle>
          <a:p>
            <a:pPr eaLnBrk="1" hangingPunct="1"/>
            <a:r>
              <a:rPr lang="en-US" altLang="en-US" sz="1400"/>
              <a:t> Part 2 </a:t>
            </a:r>
            <a:r>
              <a:rPr lang="en-US" altLang="en-US" sz="1400">
                <a:sym typeface="Symbol" pitchFamily="2" charset="2"/>
              </a:rPr>
              <a:t></a:t>
            </a:r>
            <a:r>
              <a:rPr lang="en-US" altLang="en-US" sz="1400"/>
              <a:t> Access Control                                                                                                  </a:t>
            </a:r>
            <a:fld id="{E50AB6AF-B4A0-C147-85A4-EC4B793AA6F9}" type="slidenum">
              <a:rPr lang="en-US" altLang="en-US" sz="1400">
                <a:latin typeface="Times New Roman" panose="02020603050405020304" pitchFamily="18" charset="0"/>
              </a:rPr>
              <a:pPr eaLnBrk="1" hangingPunct="1"/>
              <a:t>40</a:t>
            </a:fld>
            <a:endParaRPr lang="en-US" altLang="en-US" sz="1400">
              <a:latin typeface="Times New Roman" panose="02020603050405020304" pitchFamily="18" charset="0"/>
            </a:endParaRPr>
          </a:p>
        </p:txBody>
      </p:sp>
      <p:sp>
        <p:nvSpPr>
          <p:cNvPr id="183298" name="Rectangle 2">
            <a:extLst>
              <a:ext uri="{FF2B5EF4-FFF2-40B4-BE49-F238E27FC236}">
                <a16:creationId xmlns:a16="http://schemas.microsoft.com/office/drawing/2014/main" id="{EBB08175-80E6-CA4D-B775-C5ECB53EABBB}"/>
              </a:ext>
            </a:extLst>
          </p:cNvPr>
          <p:cNvSpPr>
            <a:spLocks noGrp="1" noChangeArrowheads="1"/>
          </p:cNvSpPr>
          <p:nvPr>
            <p:ph type="title"/>
          </p:nvPr>
        </p:nvSpPr>
        <p:spPr>
          <a:xfrm>
            <a:off x="685800" y="381000"/>
            <a:ext cx="7772400" cy="1371600"/>
          </a:xfrm>
        </p:spPr>
        <p:txBody>
          <a:bodyPr/>
          <a:lstStyle/>
          <a:p>
            <a:pPr eaLnBrk="1" hangingPunct="1">
              <a:defRPr/>
            </a:pPr>
            <a:r>
              <a:rPr lang="en-US">
                <a:cs typeface="+mj-cs"/>
              </a:rPr>
              <a:t>Multilevel Security (MLS)</a:t>
            </a:r>
          </a:p>
        </p:txBody>
      </p:sp>
      <p:sp>
        <p:nvSpPr>
          <p:cNvPr id="183299" name="Rectangle 3">
            <a:extLst>
              <a:ext uri="{FF2B5EF4-FFF2-40B4-BE49-F238E27FC236}">
                <a16:creationId xmlns:a16="http://schemas.microsoft.com/office/drawing/2014/main" id="{4530C604-5AE0-4246-B307-6886995136F3}"/>
              </a:ext>
            </a:extLst>
          </p:cNvPr>
          <p:cNvSpPr>
            <a:spLocks noGrp="1" noChangeArrowheads="1"/>
          </p:cNvSpPr>
          <p:nvPr>
            <p:ph type="body" idx="1"/>
          </p:nvPr>
        </p:nvSpPr>
        <p:spPr>
          <a:xfrm>
            <a:off x="685800" y="1676400"/>
            <a:ext cx="7772400" cy="4343400"/>
          </a:xfrm>
        </p:spPr>
        <p:txBody>
          <a:bodyPr/>
          <a:lstStyle/>
          <a:p>
            <a:pPr eaLnBrk="1" hangingPunct="1">
              <a:lnSpc>
                <a:spcPct val="90000"/>
              </a:lnSpc>
              <a:buFont typeface="Wingdings" charset="0"/>
              <a:buChar char="q"/>
              <a:defRPr/>
            </a:pPr>
            <a:r>
              <a:rPr lang="en-US" sz="2800">
                <a:cs typeface="+mn-cs"/>
              </a:rPr>
              <a:t>MLS needed when subjects/objects at different levels use same system</a:t>
            </a:r>
          </a:p>
          <a:p>
            <a:pPr eaLnBrk="1" hangingPunct="1">
              <a:lnSpc>
                <a:spcPct val="90000"/>
              </a:lnSpc>
              <a:buFont typeface="Wingdings" charset="0"/>
              <a:buChar char="q"/>
              <a:defRPr/>
            </a:pPr>
            <a:r>
              <a:rPr lang="en-US" sz="2800">
                <a:cs typeface="+mn-cs"/>
              </a:rPr>
              <a:t>MLS is a form of </a:t>
            </a:r>
            <a:r>
              <a:rPr lang="en-US" sz="2800" b="1">
                <a:solidFill>
                  <a:schemeClr val="hlink"/>
                </a:solidFill>
                <a:cs typeface="+mn-cs"/>
              </a:rPr>
              <a:t>Access Control</a:t>
            </a:r>
          </a:p>
          <a:p>
            <a:pPr eaLnBrk="1" hangingPunct="1">
              <a:lnSpc>
                <a:spcPct val="90000"/>
              </a:lnSpc>
              <a:buFont typeface="Wingdings" charset="0"/>
              <a:buChar char="q"/>
              <a:defRPr/>
            </a:pPr>
            <a:r>
              <a:rPr lang="en-US" sz="2800">
                <a:cs typeface="+mn-cs"/>
              </a:rPr>
              <a:t>Military/government interest in MLS for many decades </a:t>
            </a:r>
          </a:p>
          <a:p>
            <a:pPr lvl="1" eaLnBrk="1" hangingPunct="1">
              <a:lnSpc>
                <a:spcPct val="90000"/>
              </a:lnSpc>
              <a:defRPr/>
            </a:pPr>
            <a:r>
              <a:rPr lang="en-US" sz="2400"/>
              <a:t>Lots of funded research into MLS</a:t>
            </a:r>
          </a:p>
          <a:p>
            <a:pPr lvl="1" eaLnBrk="1" hangingPunct="1">
              <a:lnSpc>
                <a:spcPct val="90000"/>
              </a:lnSpc>
              <a:defRPr/>
            </a:pPr>
            <a:r>
              <a:rPr lang="en-US" sz="2400"/>
              <a:t>Strengths and weaknesses of MLS relatively well understood (theoretical and practical)</a:t>
            </a:r>
          </a:p>
          <a:p>
            <a:pPr lvl="1" eaLnBrk="1" hangingPunct="1">
              <a:lnSpc>
                <a:spcPct val="90000"/>
              </a:lnSpc>
              <a:defRPr/>
            </a:pPr>
            <a:r>
              <a:rPr lang="en-US" sz="2400"/>
              <a:t>Many possible uses of MLS outside military</a:t>
            </a:r>
          </a:p>
        </p:txBody>
      </p:sp>
    </p:spTree>
    <p:extLst>
      <p:ext uri="{BB962C8B-B14F-4D97-AF65-F5344CB8AC3E}">
        <p14:creationId xmlns:p14="http://schemas.microsoft.com/office/powerpoint/2010/main" val="21316421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3299">
                                            <p:txEl>
                                              <p:pRg st="0" end="0"/>
                                            </p:txEl>
                                          </p:spTgt>
                                        </p:tgtEl>
                                        <p:attrNameLst>
                                          <p:attrName>style.visibility</p:attrName>
                                        </p:attrNameLst>
                                      </p:cBhvr>
                                      <p:to>
                                        <p:strVal val="visible"/>
                                      </p:to>
                                    </p:set>
                                    <p:anim calcmode="lin" valueType="num">
                                      <p:cBhvr additive="base">
                                        <p:cTn id="7" dur="500" fill="hold"/>
                                        <p:tgtEl>
                                          <p:spTgt spid="18329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8329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83299">
                                            <p:txEl>
                                              <p:pRg st="1" end="1"/>
                                            </p:txEl>
                                          </p:spTgt>
                                        </p:tgtEl>
                                        <p:attrNameLst>
                                          <p:attrName>style.visibility</p:attrName>
                                        </p:attrNameLst>
                                      </p:cBhvr>
                                      <p:to>
                                        <p:strVal val="visible"/>
                                      </p:to>
                                    </p:set>
                                    <p:anim calcmode="lin" valueType="num">
                                      <p:cBhvr additive="base">
                                        <p:cTn id="13" dur="500" fill="hold"/>
                                        <p:tgtEl>
                                          <p:spTgt spid="18329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8329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83299">
                                            <p:txEl>
                                              <p:pRg st="2" end="2"/>
                                            </p:txEl>
                                          </p:spTgt>
                                        </p:tgtEl>
                                        <p:attrNameLst>
                                          <p:attrName>style.visibility</p:attrName>
                                        </p:attrNameLst>
                                      </p:cBhvr>
                                      <p:to>
                                        <p:strVal val="visible"/>
                                      </p:to>
                                    </p:set>
                                    <p:anim calcmode="lin" valueType="num">
                                      <p:cBhvr additive="base">
                                        <p:cTn id="19" dur="500" fill="hold"/>
                                        <p:tgtEl>
                                          <p:spTgt spid="18329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8329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83299">
                                            <p:txEl>
                                              <p:pRg st="3" end="3"/>
                                            </p:txEl>
                                          </p:spTgt>
                                        </p:tgtEl>
                                        <p:attrNameLst>
                                          <p:attrName>style.visibility</p:attrName>
                                        </p:attrNameLst>
                                      </p:cBhvr>
                                      <p:to>
                                        <p:strVal val="visible"/>
                                      </p:to>
                                    </p:set>
                                    <p:anim calcmode="lin" valueType="num">
                                      <p:cBhvr additive="base">
                                        <p:cTn id="25" dur="500" fill="hold"/>
                                        <p:tgtEl>
                                          <p:spTgt spid="18329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8329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83299">
                                            <p:txEl>
                                              <p:pRg st="4" end="4"/>
                                            </p:txEl>
                                          </p:spTgt>
                                        </p:tgtEl>
                                        <p:attrNameLst>
                                          <p:attrName>style.visibility</p:attrName>
                                        </p:attrNameLst>
                                      </p:cBhvr>
                                      <p:to>
                                        <p:strVal val="visible"/>
                                      </p:to>
                                    </p:set>
                                    <p:anim calcmode="lin" valueType="num">
                                      <p:cBhvr additive="base">
                                        <p:cTn id="31" dur="500" fill="hold"/>
                                        <p:tgtEl>
                                          <p:spTgt spid="183299">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8329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83299">
                                            <p:txEl>
                                              <p:pRg st="5" end="5"/>
                                            </p:txEl>
                                          </p:spTgt>
                                        </p:tgtEl>
                                        <p:attrNameLst>
                                          <p:attrName>style.visibility</p:attrName>
                                        </p:attrNameLst>
                                      </p:cBhvr>
                                      <p:to>
                                        <p:strVal val="visible"/>
                                      </p:to>
                                    </p:set>
                                    <p:anim calcmode="lin" valueType="num">
                                      <p:cBhvr additive="base">
                                        <p:cTn id="37" dur="500" fill="hold"/>
                                        <p:tgtEl>
                                          <p:spTgt spid="183299">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83299">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299" grpId="0" build="p" bldLvl="2"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A39B414A-2854-2B44-BAB0-E0E31F270ED3}"/>
              </a:ext>
            </a:extLst>
          </p:cNvPr>
          <p:cNvSpPr>
            <a:spLocks noGrp="1"/>
          </p:cNvSpPr>
          <p:nvPr>
            <p:ph type="ftr" sz="quarter" idx="10"/>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eaLnBrk="0" hangingPunct="0">
              <a:defRPr sz="2400">
                <a:solidFill>
                  <a:schemeClr val="tx1"/>
                </a:solidFill>
                <a:latin typeface="Comic Sans MS" panose="030F0902030302020204" pitchFamily="66" charset="0"/>
                <a:ea typeface="ＭＳ Ｐゴシック" panose="020B0600070205080204" pitchFamily="34" charset="-128"/>
              </a:defRPr>
            </a:lvl1pPr>
            <a:lvl2pPr marL="742950" indent="-285750" eaLnBrk="0" hangingPunct="0">
              <a:defRPr sz="2400">
                <a:solidFill>
                  <a:schemeClr val="tx1"/>
                </a:solidFill>
                <a:latin typeface="Comic Sans MS" panose="030F0902030302020204" pitchFamily="66" charset="0"/>
                <a:ea typeface="ＭＳ Ｐゴシック" panose="020B0600070205080204" pitchFamily="34" charset="-128"/>
              </a:defRPr>
            </a:lvl2pPr>
            <a:lvl3pPr marL="1143000" indent="-228600" eaLnBrk="0" hangingPunct="0">
              <a:defRPr sz="2400">
                <a:solidFill>
                  <a:schemeClr val="tx1"/>
                </a:solidFill>
                <a:latin typeface="Comic Sans MS" panose="030F0902030302020204" pitchFamily="66" charset="0"/>
                <a:ea typeface="ＭＳ Ｐゴシック" panose="020B0600070205080204" pitchFamily="34" charset="-128"/>
              </a:defRPr>
            </a:lvl3pPr>
            <a:lvl4pPr marL="1600200" indent="-228600" eaLnBrk="0" hangingPunct="0">
              <a:defRPr sz="2400">
                <a:solidFill>
                  <a:schemeClr val="tx1"/>
                </a:solidFill>
                <a:latin typeface="Comic Sans MS" panose="030F0902030302020204" pitchFamily="66" charset="0"/>
                <a:ea typeface="ＭＳ Ｐゴシック" panose="020B0600070205080204" pitchFamily="34" charset="-128"/>
              </a:defRPr>
            </a:lvl4pPr>
            <a:lvl5pPr marL="2057400" indent="-228600" eaLnBrk="0" hangingPunct="0">
              <a:defRPr sz="2400">
                <a:solidFill>
                  <a:schemeClr val="tx1"/>
                </a:solidFill>
                <a:latin typeface="Comic Sans MS" panose="030F0902030302020204" pitchFamily="66"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Comic Sans MS" panose="030F0902030302020204" pitchFamily="66"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Comic Sans MS" panose="030F0902030302020204" pitchFamily="66"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Comic Sans MS" panose="030F0902030302020204" pitchFamily="66"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Comic Sans MS" panose="030F0902030302020204" pitchFamily="66" charset="0"/>
                <a:ea typeface="ＭＳ Ｐゴシック" panose="020B0600070205080204" pitchFamily="34" charset="-128"/>
              </a:defRPr>
            </a:lvl9pPr>
          </a:lstStyle>
          <a:p>
            <a:pPr eaLnBrk="1" hangingPunct="1"/>
            <a:r>
              <a:rPr lang="en-US" altLang="en-US" sz="1400"/>
              <a:t> Part 2 </a:t>
            </a:r>
            <a:r>
              <a:rPr lang="en-US" altLang="en-US" sz="1400">
                <a:sym typeface="Symbol" pitchFamily="2" charset="2"/>
              </a:rPr>
              <a:t></a:t>
            </a:r>
            <a:r>
              <a:rPr lang="en-US" altLang="en-US" sz="1400"/>
              <a:t> Access Control                                                                                                  </a:t>
            </a:r>
            <a:fld id="{66F3714C-67FB-F142-B610-25A2328918DC}" type="slidenum">
              <a:rPr lang="en-US" altLang="en-US" sz="1400">
                <a:latin typeface="Times New Roman" panose="02020603050405020304" pitchFamily="18" charset="0"/>
              </a:rPr>
              <a:pPr eaLnBrk="1" hangingPunct="1"/>
              <a:t>41</a:t>
            </a:fld>
            <a:endParaRPr lang="en-US" altLang="en-US" sz="1400">
              <a:latin typeface="Times New Roman" panose="02020603050405020304" pitchFamily="18" charset="0"/>
            </a:endParaRPr>
          </a:p>
        </p:txBody>
      </p:sp>
      <p:sp>
        <p:nvSpPr>
          <p:cNvPr id="182274" name="Rectangle 2">
            <a:extLst>
              <a:ext uri="{FF2B5EF4-FFF2-40B4-BE49-F238E27FC236}">
                <a16:creationId xmlns:a16="http://schemas.microsoft.com/office/drawing/2014/main" id="{10B7A889-7A3D-3843-B66B-38E56D30C4D7}"/>
              </a:ext>
            </a:extLst>
          </p:cNvPr>
          <p:cNvSpPr>
            <a:spLocks noGrp="1" noChangeArrowheads="1"/>
          </p:cNvSpPr>
          <p:nvPr>
            <p:ph type="title"/>
          </p:nvPr>
        </p:nvSpPr>
        <p:spPr>
          <a:xfrm>
            <a:off x="685800" y="457200"/>
            <a:ext cx="7772400" cy="1143000"/>
          </a:xfrm>
        </p:spPr>
        <p:txBody>
          <a:bodyPr/>
          <a:lstStyle/>
          <a:p>
            <a:pPr eaLnBrk="1" hangingPunct="1">
              <a:defRPr/>
            </a:pPr>
            <a:r>
              <a:rPr lang="en-US">
                <a:cs typeface="+mj-cs"/>
              </a:rPr>
              <a:t>MLS Applications</a:t>
            </a:r>
          </a:p>
        </p:txBody>
      </p:sp>
      <p:sp>
        <p:nvSpPr>
          <p:cNvPr id="182275" name="Rectangle 3">
            <a:extLst>
              <a:ext uri="{FF2B5EF4-FFF2-40B4-BE49-F238E27FC236}">
                <a16:creationId xmlns:a16="http://schemas.microsoft.com/office/drawing/2014/main" id="{B10186CF-8CFA-2842-9163-F38706CBEE6D}"/>
              </a:ext>
            </a:extLst>
          </p:cNvPr>
          <p:cNvSpPr>
            <a:spLocks noGrp="1" noChangeArrowheads="1"/>
          </p:cNvSpPr>
          <p:nvPr>
            <p:ph type="body" idx="1"/>
          </p:nvPr>
        </p:nvSpPr>
        <p:spPr>
          <a:xfrm>
            <a:off x="685800" y="1600200"/>
            <a:ext cx="7772400" cy="4419600"/>
          </a:xfrm>
        </p:spPr>
        <p:txBody>
          <a:bodyPr/>
          <a:lstStyle/>
          <a:p>
            <a:pPr eaLnBrk="1" hangingPunct="1">
              <a:lnSpc>
                <a:spcPct val="90000"/>
              </a:lnSpc>
              <a:buFont typeface="Wingdings" charset="0"/>
              <a:buChar char="q"/>
              <a:defRPr/>
            </a:pPr>
            <a:r>
              <a:rPr lang="en-US" sz="2800">
                <a:cs typeface="+mn-cs"/>
              </a:rPr>
              <a:t>Classified government/military information</a:t>
            </a:r>
          </a:p>
          <a:p>
            <a:pPr eaLnBrk="1" hangingPunct="1">
              <a:lnSpc>
                <a:spcPct val="90000"/>
              </a:lnSpc>
              <a:buFont typeface="Wingdings" charset="0"/>
              <a:buChar char="q"/>
              <a:defRPr/>
            </a:pPr>
            <a:r>
              <a:rPr lang="en-US" sz="2800" b="1">
                <a:solidFill>
                  <a:schemeClr val="hlink"/>
                </a:solidFill>
                <a:cs typeface="+mn-cs"/>
              </a:rPr>
              <a:t>Business example:</a:t>
            </a:r>
            <a:r>
              <a:rPr lang="en-US" sz="2800">
                <a:cs typeface="+mn-cs"/>
              </a:rPr>
              <a:t> info restricted to</a:t>
            </a:r>
          </a:p>
          <a:p>
            <a:pPr lvl="1" eaLnBrk="1" hangingPunct="1">
              <a:lnSpc>
                <a:spcPct val="90000"/>
              </a:lnSpc>
              <a:defRPr/>
            </a:pPr>
            <a:r>
              <a:rPr lang="en-US" sz="2400"/>
              <a:t>Senior management only</a:t>
            </a:r>
          </a:p>
          <a:p>
            <a:pPr lvl="1" eaLnBrk="1" hangingPunct="1">
              <a:lnSpc>
                <a:spcPct val="90000"/>
              </a:lnSpc>
              <a:defRPr/>
            </a:pPr>
            <a:r>
              <a:rPr lang="en-US" sz="2400"/>
              <a:t>All management</a:t>
            </a:r>
          </a:p>
          <a:p>
            <a:pPr lvl="1" eaLnBrk="1" hangingPunct="1">
              <a:lnSpc>
                <a:spcPct val="90000"/>
              </a:lnSpc>
              <a:defRPr/>
            </a:pPr>
            <a:r>
              <a:rPr lang="en-US" sz="2400"/>
              <a:t>Everyone in company</a:t>
            </a:r>
          </a:p>
          <a:p>
            <a:pPr lvl="1" eaLnBrk="1" hangingPunct="1">
              <a:lnSpc>
                <a:spcPct val="90000"/>
              </a:lnSpc>
              <a:defRPr/>
            </a:pPr>
            <a:r>
              <a:rPr lang="en-US" sz="2400"/>
              <a:t>General public</a:t>
            </a:r>
          </a:p>
          <a:p>
            <a:pPr eaLnBrk="1" hangingPunct="1">
              <a:lnSpc>
                <a:spcPct val="90000"/>
              </a:lnSpc>
              <a:buFont typeface="Wingdings" charset="0"/>
              <a:buChar char="q"/>
              <a:defRPr/>
            </a:pPr>
            <a:r>
              <a:rPr lang="en-US" sz="2800">
                <a:cs typeface="+mn-cs"/>
              </a:rPr>
              <a:t>Network firewall</a:t>
            </a:r>
          </a:p>
          <a:p>
            <a:pPr lvl="1" eaLnBrk="1" hangingPunct="1">
              <a:lnSpc>
                <a:spcPct val="90000"/>
              </a:lnSpc>
              <a:defRPr/>
            </a:pPr>
            <a:r>
              <a:rPr lang="en-US" sz="2400"/>
              <a:t>Keep intruders at low level to limit damage</a:t>
            </a:r>
          </a:p>
          <a:p>
            <a:pPr eaLnBrk="1" hangingPunct="1">
              <a:lnSpc>
                <a:spcPct val="90000"/>
              </a:lnSpc>
              <a:buFont typeface="Wingdings" charset="0"/>
              <a:buChar char="q"/>
              <a:defRPr/>
            </a:pPr>
            <a:r>
              <a:rPr lang="en-US" sz="2800">
                <a:cs typeface="+mn-cs"/>
              </a:rPr>
              <a:t>Confidential medical info, databases, etc.</a:t>
            </a:r>
          </a:p>
        </p:txBody>
      </p:sp>
    </p:spTree>
    <p:extLst>
      <p:ext uri="{BB962C8B-B14F-4D97-AF65-F5344CB8AC3E}">
        <p14:creationId xmlns:p14="http://schemas.microsoft.com/office/powerpoint/2010/main" val="381677621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82275">
                                            <p:txEl>
                                              <p:pRg st="0" end="0"/>
                                            </p:txEl>
                                          </p:spTgt>
                                        </p:tgtEl>
                                        <p:attrNameLst>
                                          <p:attrName>style.visibility</p:attrName>
                                        </p:attrNameLst>
                                      </p:cBhvr>
                                      <p:to>
                                        <p:strVal val="visible"/>
                                      </p:to>
                                    </p:set>
                                    <p:animEffect transition="in" filter="box(out)">
                                      <p:cBhvr>
                                        <p:cTn id="7" dur="500"/>
                                        <p:tgtEl>
                                          <p:spTgt spid="182275">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82275">
                                            <p:txEl>
                                              <p:pRg st="1" end="1"/>
                                            </p:txEl>
                                          </p:spTgt>
                                        </p:tgtEl>
                                        <p:attrNameLst>
                                          <p:attrName>style.visibility</p:attrName>
                                        </p:attrNameLst>
                                      </p:cBhvr>
                                      <p:to>
                                        <p:strVal val="visible"/>
                                      </p:to>
                                    </p:set>
                                    <p:animEffect transition="in" filter="box(out)">
                                      <p:cBhvr>
                                        <p:cTn id="12" dur="500"/>
                                        <p:tgtEl>
                                          <p:spTgt spid="182275">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
                                        </p:tgtEl>
                                      </p:cMediaNode>
                                    </p:audio>
                                  </p:subTnLst>
                                </p:cTn>
                              </p:par>
                              <p:par>
                                <p:cTn id="13" presetID="4" presetClass="entr" presetSubtype="32" fill="hold" grpId="0" nodeType="withEffect">
                                  <p:stCondLst>
                                    <p:cond delay="0"/>
                                  </p:stCondLst>
                                  <p:childTnLst>
                                    <p:set>
                                      <p:cBhvr>
                                        <p:cTn id="14" dur="1" fill="hold">
                                          <p:stCondLst>
                                            <p:cond delay="0"/>
                                          </p:stCondLst>
                                        </p:cTn>
                                        <p:tgtEl>
                                          <p:spTgt spid="182275">
                                            <p:txEl>
                                              <p:pRg st="2" end="2"/>
                                            </p:txEl>
                                          </p:spTgt>
                                        </p:tgtEl>
                                        <p:attrNameLst>
                                          <p:attrName>style.visibility</p:attrName>
                                        </p:attrNameLst>
                                      </p:cBhvr>
                                      <p:to>
                                        <p:strVal val="visible"/>
                                      </p:to>
                                    </p:set>
                                    <p:animEffect transition="in" filter="box(out)">
                                      <p:cBhvr>
                                        <p:cTn id="15" dur="500"/>
                                        <p:tgtEl>
                                          <p:spTgt spid="182275">
                                            <p:txEl>
                                              <p:pRg st="2" end="2"/>
                                            </p:txEl>
                                          </p:spTgt>
                                        </p:tgtEl>
                                      </p:cBhvr>
                                    </p:animEffect>
                                  </p:childTnLst>
                                  <p:subTnLst>
                                    <p:audio>
                                      <p:cMediaNode>
                                        <p:cTn display="0" masterRel="sameClick">
                                          <p:stCondLst>
                                            <p:cond evt="begin" delay="0">
                                              <p:tn val="13"/>
                                            </p:cond>
                                          </p:stCondLst>
                                          <p:endCondLst>
                                            <p:cond evt="onStopAudio" delay="0">
                                              <p:tgtEl>
                                                <p:sldTgt/>
                                              </p:tgtEl>
                                            </p:cond>
                                          </p:endCondLst>
                                        </p:cTn>
                                        <p:tgtEl>
                                          <p:sndTgt r:embed="rId2" name="Camera"/>
                                        </p:tgtEl>
                                      </p:cMediaNode>
                                    </p:audio>
                                  </p:subTnLst>
                                </p:cTn>
                              </p:par>
                              <p:par>
                                <p:cTn id="16" presetID="4" presetClass="entr" presetSubtype="32" fill="hold" grpId="0" nodeType="withEffect">
                                  <p:stCondLst>
                                    <p:cond delay="0"/>
                                  </p:stCondLst>
                                  <p:childTnLst>
                                    <p:set>
                                      <p:cBhvr>
                                        <p:cTn id="17" dur="1" fill="hold">
                                          <p:stCondLst>
                                            <p:cond delay="0"/>
                                          </p:stCondLst>
                                        </p:cTn>
                                        <p:tgtEl>
                                          <p:spTgt spid="182275">
                                            <p:txEl>
                                              <p:pRg st="3" end="3"/>
                                            </p:txEl>
                                          </p:spTgt>
                                        </p:tgtEl>
                                        <p:attrNameLst>
                                          <p:attrName>style.visibility</p:attrName>
                                        </p:attrNameLst>
                                      </p:cBhvr>
                                      <p:to>
                                        <p:strVal val="visible"/>
                                      </p:to>
                                    </p:set>
                                    <p:animEffect transition="in" filter="box(out)">
                                      <p:cBhvr>
                                        <p:cTn id="18" dur="500"/>
                                        <p:tgtEl>
                                          <p:spTgt spid="182275">
                                            <p:txEl>
                                              <p:pRg st="3" end="3"/>
                                            </p:txEl>
                                          </p:spTgt>
                                        </p:tgtEl>
                                      </p:cBhvr>
                                    </p:animEffect>
                                  </p:childTnLst>
                                  <p:subTnLst>
                                    <p:audio>
                                      <p:cMediaNode>
                                        <p:cTn display="0" masterRel="sameClick">
                                          <p:stCondLst>
                                            <p:cond evt="begin" delay="0">
                                              <p:tn val="16"/>
                                            </p:cond>
                                          </p:stCondLst>
                                          <p:endCondLst>
                                            <p:cond evt="onStopAudio" delay="0">
                                              <p:tgtEl>
                                                <p:sldTgt/>
                                              </p:tgtEl>
                                            </p:cond>
                                          </p:endCondLst>
                                        </p:cTn>
                                        <p:tgtEl>
                                          <p:sndTgt r:embed="rId2" name="Camera"/>
                                        </p:tgtEl>
                                      </p:cMediaNode>
                                    </p:audio>
                                  </p:subTnLst>
                                </p:cTn>
                              </p:par>
                              <p:par>
                                <p:cTn id="19" presetID="4" presetClass="entr" presetSubtype="32" fill="hold" grpId="0" nodeType="withEffect">
                                  <p:stCondLst>
                                    <p:cond delay="0"/>
                                  </p:stCondLst>
                                  <p:childTnLst>
                                    <p:set>
                                      <p:cBhvr>
                                        <p:cTn id="20" dur="1" fill="hold">
                                          <p:stCondLst>
                                            <p:cond delay="0"/>
                                          </p:stCondLst>
                                        </p:cTn>
                                        <p:tgtEl>
                                          <p:spTgt spid="182275">
                                            <p:txEl>
                                              <p:pRg st="4" end="4"/>
                                            </p:txEl>
                                          </p:spTgt>
                                        </p:tgtEl>
                                        <p:attrNameLst>
                                          <p:attrName>style.visibility</p:attrName>
                                        </p:attrNameLst>
                                      </p:cBhvr>
                                      <p:to>
                                        <p:strVal val="visible"/>
                                      </p:to>
                                    </p:set>
                                    <p:animEffect transition="in" filter="box(out)">
                                      <p:cBhvr>
                                        <p:cTn id="21" dur="500"/>
                                        <p:tgtEl>
                                          <p:spTgt spid="182275">
                                            <p:txEl>
                                              <p:pRg st="4" end="4"/>
                                            </p:txEl>
                                          </p:spTgt>
                                        </p:tgtEl>
                                      </p:cBhvr>
                                    </p:animEffect>
                                  </p:childTnLst>
                                  <p:subTnLst>
                                    <p:audio>
                                      <p:cMediaNode>
                                        <p:cTn display="0" masterRel="sameClick">
                                          <p:stCondLst>
                                            <p:cond evt="begin" delay="0">
                                              <p:tn val="19"/>
                                            </p:cond>
                                          </p:stCondLst>
                                          <p:endCondLst>
                                            <p:cond evt="onStopAudio" delay="0">
                                              <p:tgtEl>
                                                <p:sldTgt/>
                                              </p:tgtEl>
                                            </p:cond>
                                          </p:endCondLst>
                                        </p:cTn>
                                        <p:tgtEl>
                                          <p:sndTgt r:embed="rId2" name="Camera"/>
                                        </p:tgtEl>
                                      </p:cMediaNode>
                                    </p:audio>
                                  </p:subTnLst>
                                </p:cTn>
                              </p:par>
                              <p:par>
                                <p:cTn id="22" presetID="4" presetClass="entr" presetSubtype="32" fill="hold" grpId="0" nodeType="withEffect">
                                  <p:stCondLst>
                                    <p:cond delay="0"/>
                                  </p:stCondLst>
                                  <p:childTnLst>
                                    <p:set>
                                      <p:cBhvr>
                                        <p:cTn id="23" dur="1" fill="hold">
                                          <p:stCondLst>
                                            <p:cond delay="0"/>
                                          </p:stCondLst>
                                        </p:cTn>
                                        <p:tgtEl>
                                          <p:spTgt spid="182275">
                                            <p:txEl>
                                              <p:pRg st="5" end="5"/>
                                            </p:txEl>
                                          </p:spTgt>
                                        </p:tgtEl>
                                        <p:attrNameLst>
                                          <p:attrName>style.visibility</p:attrName>
                                        </p:attrNameLst>
                                      </p:cBhvr>
                                      <p:to>
                                        <p:strVal val="visible"/>
                                      </p:to>
                                    </p:set>
                                    <p:animEffect transition="in" filter="box(out)">
                                      <p:cBhvr>
                                        <p:cTn id="24" dur="500"/>
                                        <p:tgtEl>
                                          <p:spTgt spid="182275">
                                            <p:txEl>
                                              <p:pRg st="5" end="5"/>
                                            </p:txEl>
                                          </p:spTgt>
                                        </p:tgtEl>
                                      </p:cBhvr>
                                    </p:animEffect>
                                  </p:childTnLst>
                                  <p:subTnLst>
                                    <p:audio>
                                      <p:cMediaNode>
                                        <p:cTn display="0" masterRel="sameClick">
                                          <p:stCondLst>
                                            <p:cond evt="begin" delay="0">
                                              <p:tn val="22"/>
                                            </p:cond>
                                          </p:stCondLst>
                                          <p:endCondLst>
                                            <p:cond evt="onStopAudio" delay="0">
                                              <p:tgtEl>
                                                <p:sldTgt/>
                                              </p:tgtEl>
                                            </p:cond>
                                          </p:endCondLst>
                                        </p:cTn>
                                        <p:tgtEl>
                                          <p:sndTgt r:embed="rId2" name="Camera"/>
                                        </p:tgtEl>
                                      </p:cMediaNode>
                                    </p:audio>
                                  </p:subTnLst>
                                </p:cTn>
                              </p:par>
                            </p:childTnLst>
                          </p:cTn>
                        </p:par>
                      </p:childTnLst>
                    </p:cTn>
                  </p:par>
                  <p:par>
                    <p:cTn id="25" fill="hold" nodeType="clickPar">
                      <p:stCondLst>
                        <p:cond delay="indefinite"/>
                      </p:stCondLst>
                      <p:childTnLst>
                        <p:par>
                          <p:cTn id="26" fill="hold" nodeType="withGroup">
                            <p:stCondLst>
                              <p:cond delay="0"/>
                            </p:stCondLst>
                            <p:childTnLst>
                              <p:par>
                                <p:cTn id="27" presetID="4" presetClass="entr" presetSubtype="32" fill="hold" grpId="0" nodeType="clickEffect">
                                  <p:stCondLst>
                                    <p:cond delay="0"/>
                                  </p:stCondLst>
                                  <p:childTnLst>
                                    <p:set>
                                      <p:cBhvr>
                                        <p:cTn id="28" dur="1" fill="hold">
                                          <p:stCondLst>
                                            <p:cond delay="0"/>
                                          </p:stCondLst>
                                        </p:cTn>
                                        <p:tgtEl>
                                          <p:spTgt spid="182275">
                                            <p:txEl>
                                              <p:pRg st="6" end="6"/>
                                            </p:txEl>
                                          </p:spTgt>
                                        </p:tgtEl>
                                        <p:attrNameLst>
                                          <p:attrName>style.visibility</p:attrName>
                                        </p:attrNameLst>
                                      </p:cBhvr>
                                      <p:to>
                                        <p:strVal val="visible"/>
                                      </p:to>
                                    </p:set>
                                    <p:animEffect transition="in" filter="box(out)">
                                      <p:cBhvr>
                                        <p:cTn id="29" dur="500"/>
                                        <p:tgtEl>
                                          <p:spTgt spid="182275">
                                            <p:txEl>
                                              <p:pRg st="6" end="6"/>
                                            </p:txEl>
                                          </p:spTgt>
                                        </p:tgtEl>
                                      </p:cBhvr>
                                    </p:animEffect>
                                  </p:childTnLst>
                                  <p:subTnLst>
                                    <p:audio>
                                      <p:cMediaNode>
                                        <p:cTn display="0" masterRel="sameClick">
                                          <p:stCondLst>
                                            <p:cond evt="begin" delay="0">
                                              <p:tn val="27"/>
                                            </p:cond>
                                          </p:stCondLst>
                                          <p:endCondLst>
                                            <p:cond evt="onStopAudio" delay="0">
                                              <p:tgtEl>
                                                <p:sldTgt/>
                                              </p:tgtEl>
                                            </p:cond>
                                          </p:endCondLst>
                                        </p:cTn>
                                        <p:tgtEl>
                                          <p:sndTgt r:embed="rId2" name="Camera"/>
                                        </p:tgtEl>
                                      </p:cMediaNode>
                                    </p:audio>
                                  </p:subTnLst>
                                </p:cTn>
                              </p:par>
                              <p:par>
                                <p:cTn id="30" presetID="4" presetClass="entr" presetSubtype="32" fill="hold" grpId="0" nodeType="withEffect">
                                  <p:stCondLst>
                                    <p:cond delay="0"/>
                                  </p:stCondLst>
                                  <p:childTnLst>
                                    <p:set>
                                      <p:cBhvr>
                                        <p:cTn id="31" dur="1" fill="hold">
                                          <p:stCondLst>
                                            <p:cond delay="0"/>
                                          </p:stCondLst>
                                        </p:cTn>
                                        <p:tgtEl>
                                          <p:spTgt spid="182275">
                                            <p:txEl>
                                              <p:pRg st="7" end="7"/>
                                            </p:txEl>
                                          </p:spTgt>
                                        </p:tgtEl>
                                        <p:attrNameLst>
                                          <p:attrName>style.visibility</p:attrName>
                                        </p:attrNameLst>
                                      </p:cBhvr>
                                      <p:to>
                                        <p:strVal val="visible"/>
                                      </p:to>
                                    </p:set>
                                    <p:animEffect transition="in" filter="box(out)">
                                      <p:cBhvr>
                                        <p:cTn id="32" dur="500"/>
                                        <p:tgtEl>
                                          <p:spTgt spid="182275">
                                            <p:txEl>
                                              <p:pRg st="7" end="7"/>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182275">
                                            <p:txEl>
                                              <p:pRg st="8" end="8"/>
                                            </p:txEl>
                                          </p:spTgt>
                                        </p:tgtEl>
                                        <p:attrNameLst>
                                          <p:attrName>style.visibility</p:attrName>
                                        </p:attrNameLst>
                                      </p:cBhvr>
                                      <p:to>
                                        <p:strVal val="visible"/>
                                      </p:to>
                                    </p:set>
                                    <p:animEffect transition="in" filter="box(out)">
                                      <p:cBhvr>
                                        <p:cTn id="37" dur="500"/>
                                        <p:tgtEl>
                                          <p:spTgt spid="182275">
                                            <p:txEl>
                                              <p:pRg st="8" end="8"/>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2" name="Camera"/>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5" grpId="0" build="p"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5FBCBC9-0AB2-6F41-B036-0EFAE079411D}"/>
              </a:ext>
            </a:extLst>
          </p:cNvPr>
          <p:cNvSpPr>
            <a:spLocks noGrp="1"/>
          </p:cNvSpPr>
          <p:nvPr>
            <p:ph type="ftr" sz="quarter" idx="10"/>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eaLnBrk="0" hangingPunct="0">
              <a:defRPr sz="2400">
                <a:solidFill>
                  <a:schemeClr val="tx1"/>
                </a:solidFill>
                <a:latin typeface="Comic Sans MS" panose="030F0902030302020204" pitchFamily="66" charset="0"/>
                <a:ea typeface="ＭＳ Ｐゴシック" panose="020B0600070205080204" pitchFamily="34" charset="-128"/>
              </a:defRPr>
            </a:lvl1pPr>
            <a:lvl2pPr marL="742950" indent="-285750" eaLnBrk="0" hangingPunct="0">
              <a:defRPr sz="2400">
                <a:solidFill>
                  <a:schemeClr val="tx1"/>
                </a:solidFill>
                <a:latin typeface="Comic Sans MS" panose="030F0902030302020204" pitchFamily="66" charset="0"/>
                <a:ea typeface="ＭＳ Ｐゴシック" panose="020B0600070205080204" pitchFamily="34" charset="-128"/>
              </a:defRPr>
            </a:lvl2pPr>
            <a:lvl3pPr marL="1143000" indent="-228600" eaLnBrk="0" hangingPunct="0">
              <a:defRPr sz="2400">
                <a:solidFill>
                  <a:schemeClr val="tx1"/>
                </a:solidFill>
                <a:latin typeface="Comic Sans MS" panose="030F0902030302020204" pitchFamily="66" charset="0"/>
                <a:ea typeface="ＭＳ Ｐゴシック" panose="020B0600070205080204" pitchFamily="34" charset="-128"/>
              </a:defRPr>
            </a:lvl3pPr>
            <a:lvl4pPr marL="1600200" indent="-228600" eaLnBrk="0" hangingPunct="0">
              <a:defRPr sz="2400">
                <a:solidFill>
                  <a:schemeClr val="tx1"/>
                </a:solidFill>
                <a:latin typeface="Comic Sans MS" panose="030F0902030302020204" pitchFamily="66" charset="0"/>
                <a:ea typeface="ＭＳ Ｐゴシック" panose="020B0600070205080204" pitchFamily="34" charset="-128"/>
              </a:defRPr>
            </a:lvl4pPr>
            <a:lvl5pPr marL="2057400" indent="-228600" eaLnBrk="0" hangingPunct="0">
              <a:defRPr sz="2400">
                <a:solidFill>
                  <a:schemeClr val="tx1"/>
                </a:solidFill>
                <a:latin typeface="Comic Sans MS" panose="030F0902030302020204" pitchFamily="66"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Comic Sans MS" panose="030F0902030302020204" pitchFamily="66"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Comic Sans MS" panose="030F0902030302020204" pitchFamily="66"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Comic Sans MS" panose="030F0902030302020204" pitchFamily="66"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Comic Sans MS" panose="030F0902030302020204" pitchFamily="66" charset="0"/>
                <a:ea typeface="ＭＳ Ｐゴシック" panose="020B0600070205080204" pitchFamily="34" charset="-128"/>
              </a:defRPr>
            </a:lvl9pPr>
          </a:lstStyle>
          <a:p>
            <a:pPr eaLnBrk="1" hangingPunct="1"/>
            <a:r>
              <a:rPr lang="en-US" altLang="en-US" sz="1400"/>
              <a:t> Part 2 </a:t>
            </a:r>
            <a:r>
              <a:rPr lang="en-US" altLang="en-US" sz="1400">
                <a:sym typeface="Symbol" pitchFamily="2" charset="2"/>
              </a:rPr>
              <a:t></a:t>
            </a:r>
            <a:r>
              <a:rPr lang="en-US" altLang="en-US" sz="1400"/>
              <a:t> Access Control                                                                                                  </a:t>
            </a:r>
            <a:fld id="{DF8123AF-6B00-EF49-9FBE-1566DB1618CD}" type="slidenum">
              <a:rPr lang="en-US" altLang="en-US" sz="1400">
                <a:latin typeface="Times New Roman" panose="02020603050405020304" pitchFamily="18" charset="0"/>
              </a:rPr>
              <a:pPr eaLnBrk="1" hangingPunct="1"/>
              <a:t>42</a:t>
            </a:fld>
            <a:endParaRPr lang="en-US" altLang="en-US" sz="1400">
              <a:latin typeface="Times New Roman" panose="02020603050405020304" pitchFamily="18" charset="0"/>
            </a:endParaRPr>
          </a:p>
        </p:txBody>
      </p:sp>
      <p:sp>
        <p:nvSpPr>
          <p:cNvPr id="244738" name="Rectangle 2">
            <a:extLst>
              <a:ext uri="{FF2B5EF4-FFF2-40B4-BE49-F238E27FC236}">
                <a16:creationId xmlns:a16="http://schemas.microsoft.com/office/drawing/2014/main" id="{8790B84E-6D4C-BD40-AE19-E1FD04CBC6CA}"/>
              </a:ext>
            </a:extLst>
          </p:cNvPr>
          <p:cNvSpPr>
            <a:spLocks noGrp="1" noChangeArrowheads="1"/>
          </p:cNvSpPr>
          <p:nvPr>
            <p:ph type="title"/>
          </p:nvPr>
        </p:nvSpPr>
        <p:spPr>
          <a:xfrm>
            <a:off x="685800" y="381000"/>
            <a:ext cx="7772400" cy="1143000"/>
          </a:xfrm>
        </p:spPr>
        <p:txBody>
          <a:bodyPr/>
          <a:lstStyle/>
          <a:p>
            <a:pPr eaLnBrk="1" hangingPunct="1">
              <a:defRPr/>
            </a:pPr>
            <a:r>
              <a:rPr lang="en-US">
                <a:cs typeface="+mj-cs"/>
              </a:rPr>
              <a:t>MLS Security Models</a:t>
            </a:r>
          </a:p>
        </p:txBody>
      </p:sp>
      <p:sp>
        <p:nvSpPr>
          <p:cNvPr id="244739" name="Rectangle 3">
            <a:extLst>
              <a:ext uri="{FF2B5EF4-FFF2-40B4-BE49-F238E27FC236}">
                <a16:creationId xmlns:a16="http://schemas.microsoft.com/office/drawing/2014/main" id="{C9FD056A-0093-A144-B558-69F7A938D702}"/>
              </a:ext>
            </a:extLst>
          </p:cNvPr>
          <p:cNvSpPr>
            <a:spLocks noGrp="1" noChangeArrowheads="1"/>
          </p:cNvSpPr>
          <p:nvPr>
            <p:ph type="body" idx="1"/>
          </p:nvPr>
        </p:nvSpPr>
        <p:spPr>
          <a:xfrm>
            <a:off x="685800" y="1676400"/>
            <a:ext cx="7772400" cy="4495800"/>
          </a:xfrm>
        </p:spPr>
        <p:txBody>
          <a:bodyPr/>
          <a:lstStyle/>
          <a:p>
            <a:pPr eaLnBrk="1" hangingPunct="1">
              <a:lnSpc>
                <a:spcPct val="90000"/>
              </a:lnSpc>
            </a:pPr>
            <a:r>
              <a:rPr lang="en-US" altLang="en-US" sz="2800"/>
              <a:t>MLS models explain </a:t>
            </a:r>
            <a:r>
              <a:rPr lang="en-US" altLang="en-US" sz="2800" b="1">
                <a:solidFill>
                  <a:schemeClr val="accent2"/>
                </a:solidFill>
              </a:rPr>
              <a:t>what</a:t>
            </a:r>
            <a:r>
              <a:rPr lang="en-US" altLang="en-US" sz="2800"/>
              <a:t> needs to be done</a:t>
            </a:r>
          </a:p>
          <a:p>
            <a:pPr eaLnBrk="1" hangingPunct="1">
              <a:lnSpc>
                <a:spcPct val="90000"/>
              </a:lnSpc>
            </a:pPr>
            <a:r>
              <a:rPr lang="en-US" altLang="en-US" sz="2800"/>
              <a:t>Models do </a:t>
            </a:r>
            <a:r>
              <a:rPr lang="en-US" altLang="en-US" sz="2800" b="1">
                <a:solidFill>
                  <a:srgbClr val="FF0000"/>
                </a:solidFill>
              </a:rPr>
              <a:t>not</a:t>
            </a:r>
            <a:r>
              <a:rPr lang="en-US" altLang="en-US" sz="2800"/>
              <a:t> tell you </a:t>
            </a:r>
            <a:r>
              <a:rPr lang="en-US" altLang="en-US" sz="2800" b="1">
                <a:solidFill>
                  <a:schemeClr val="accent2"/>
                </a:solidFill>
              </a:rPr>
              <a:t>how</a:t>
            </a:r>
            <a:r>
              <a:rPr lang="en-US" altLang="en-US" sz="2800"/>
              <a:t> to implement</a:t>
            </a:r>
          </a:p>
          <a:p>
            <a:pPr eaLnBrk="1" hangingPunct="1">
              <a:lnSpc>
                <a:spcPct val="90000"/>
              </a:lnSpc>
            </a:pPr>
            <a:r>
              <a:rPr lang="en-US" altLang="en-US" sz="2800"/>
              <a:t>Models are descriptive, not prescriptive</a:t>
            </a:r>
          </a:p>
          <a:p>
            <a:pPr lvl="1" eaLnBrk="1" hangingPunct="1">
              <a:lnSpc>
                <a:spcPct val="90000"/>
              </a:lnSpc>
            </a:pPr>
            <a:r>
              <a:rPr lang="en-US" altLang="en-US" sz="2400"/>
              <a:t>High level description, not an algorithm</a:t>
            </a:r>
          </a:p>
          <a:p>
            <a:pPr eaLnBrk="1" hangingPunct="1">
              <a:lnSpc>
                <a:spcPct val="90000"/>
              </a:lnSpc>
            </a:pPr>
            <a:r>
              <a:rPr lang="en-US" altLang="en-US" sz="2800"/>
              <a:t>There are many MLS models </a:t>
            </a:r>
          </a:p>
          <a:p>
            <a:pPr eaLnBrk="1" hangingPunct="1">
              <a:lnSpc>
                <a:spcPct val="90000"/>
              </a:lnSpc>
            </a:pPr>
            <a:r>
              <a:rPr lang="en-US" altLang="en-US" sz="2800"/>
              <a:t>We</a:t>
            </a:r>
            <a:r>
              <a:rPr lang="en-US" altLang="en-US" sz="2800">
                <a:latin typeface="Arial" panose="020B0604020202020204" pitchFamily="34" charset="0"/>
              </a:rPr>
              <a:t>’</a:t>
            </a:r>
            <a:r>
              <a:rPr lang="en-US" altLang="ja-JP" sz="2800"/>
              <a:t>ll discuss simplest MLS model</a:t>
            </a:r>
          </a:p>
          <a:p>
            <a:pPr lvl="1" eaLnBrk="1" hangingPunct="1">
              <a:lnSpc>
                <a:spcPct val="90000"/>
              </a:lnSpc>
            </a:pPr>
            <a:r>
              <a:rPr lang="en-US" altLang="en-US" sz="2400"/>
              <a:t>Other models are more realistic</a:t>
            </a:r>
          </a:p>
          <a:p>
            <a:pPr lvl="1" eaLnBrk="1" hangingPunct="1">
              <a:lnSpc>
                <a:spcPct val="90000"/>
              </a:lnSpc>
            </a:pPr>
            <a:r>
              <a:rPr lang="en-US" altLang="en-US" sz="2400"/>
              <a:t>Other models also more complex, more difficult to enforce, harder to verify, etc.</a:t>
            </a:r>
          </a:p>
        </p:txBody>
      </p:sp>
    </p:spTree>
    <p:extLst>
      <p:ext uri="{BB962C8B-B14F-4D97-AF65-F5344CB8AC3E}">
        <p14:creationId xmlns:p14="http://schemas.microsoft.com/office/powerpoint/2010/main" val="29581456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0C98A83-E69A-464B-B67A-E5DDCB3E01A1}"/>
              </a:ext>
            </a:extLst>
          </p:cNvPr>
          <p:cNvSpPr>
            <a:spLocks noGrp="1"/>
          </p:cNvSpPr>
          <p:nvPr>
            <p:ph type="ftr" sz="quarter" idx="10"/>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eaLnBrk="0" hangingPunct="0">
              <a:defRPr sz="2400">
                <a:solidFill>
                  <a:schemeClr val="tx1"/>
                </a:solidFill>
                <a:latin typeface="Comic Sans MS" panose="030F0902030302020204" pitchFamily="66" charset="0"/>
                <a:ea typeface="ＭＳ Ｐゴシック" panose="020B0600070205080204" pitchFamily="34" charset="-128"/>
              </a:defRPr>
            </a:lvl1pPr>
            <a:lvl2pPr marL="742950" indent="-285750" eaLnBrk="0" hangingPunct="0">
              <a:defRPr sz="2400">
                <a:solidFill>
                  <a:schemeClr val="tx1"/>
                </a:solidFill>
                <a:latin typeface="Comic Sans MS" panose="030F0902030302020204" pitchFamily="66" charset="0"/>
                <a:ea typeface="ＭＳ Ｐゴシック" panose="020B0600070205080204" pitchFamily="34" charset="-128"/>
              </a:defRPr>
            </a:lvl2pPr>
            <a:lvl3pPr marL="1143000" indent="-228600" eaLnBrk="0" hangingPunct="0">
              <a:defRPr sz="2400">
                <a:solidFill>
                  <a:schemeClr val="tx1"/>
                </a:solidFill>
                <a:latin typeface="Comic Sans MS" panose="030F0902030302020204" pitchFamily="66" charset="0"/>
                <a:ea typeface="ＭＳ Ｐゴシック" panose="020B0600070205080204" pitchFamily="34" charset="-128"/>
              </a:defRPr>
            </a:lvl3pPr>
            <a:lvl4pPr marL="1600200" indent="-228600" eaLnBrk="0" hangingPunct="0">
              <a:defRPr sz="2400">
                <a:solidFill>
                  <a:schemeClr val="tx1"/>
                </a:solidFill>
                <a:latin typeface="Comic Sans MS" panose="030F0902030302020204" pitchFamily="66" charset="0"/>
                <a:ea typeface="ＭＳ Ｐゴシック" panose="020B0600070205080204" pitchFamily="34" charset="-128"/>
              </a:defRPr>
            </a:lvl4pPr>
            <a:lvl5pPr marL="2057400" indent="-228600" eaLnBrk="0" hangingPunct="0">
              <a:defRPr sz="2400">
                <a:solidFill>
                  <a:schemeClr val="tx1"/>
                </a:solidFill>
                <a:latin typeface="Comic Sans MS" panose="030F0902030302020204" pitchFamily="66"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Comic Sans MS" panose="030F0902030302020204" pitchFamily="66"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Comic Sans MS" panose="030F0902030302020204" pitchFamily="66"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Comic Sans MS" panose="030F0902030302020204" pitchFamily="66"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Comic Sans MS" panose="030F0902030302020204" pitchFamily="66" charset="0"/>
                <a:ea typeface="ＭＳ Ｐゴシック" panose="020B0600070205080204" pitchFamily="34" charset="-128"/>
              </a:defRPr>
            </a:lvl9pPr>
          </a:lstStyle>
          <a:p>
            <a:pPr eaLnBrk="1" hangingPunct="1"/>
            <a:r>
              <a:rPr lang="en-US" altLang="en-US" sz="1400"/>
              <a:t> Part 2 </a:t>
            </a:r>
            <a:r>
              <a:rPr lang="en-US" altLang="en-US" sz="1400">
                <a:sym typeface="Symbol" pitchFamily="2" charset="2"/>
              </a:rPr>
              <a:t></a:t>
            </a:r>
            <a:r>
              <a:rPr lang="en-US" altLang="en-US" sz="1400"/>
              <a:t> Access Control                                                                                                  </a:t>
            </a:r>
            <a:fld id="{8E1F137A-C506-2E4F-9CA4-11B188318F36}" type="slidenum">
              <a:rPr lang="en-US" altLang="en-US" sz="1400">
                <a:latin typeface="Times New Roman" panose="02020603050405020304" pitchFamily="18" charset="0"/>
              </a:rPr>
              <a:pPr eaLnBrk="1" hangingPunct="1"/>
              <a:t>43</a:t>
            </a:fld>
            <a:endParaRPr lang="en-US" altLang="en-US" sz="1400">
              <a:latin typeface="Times New Roman" panose="02020603050405020304" pitchFamily="18" charset="0"/>
            </a:endParaRPr>
          </a:p>
        </p:txBody>
      </p:sp>
      <p:sp>
        <p:nvSpPr>
          <p:cNvPr id="220162" name="Rectangle 2">
            <a:extLst>
              <a:ext uri="{FF2B5EF4-FFF2-40B4-BE49-F238E27FC236}">
                <a16:creationId xmlns:a16="http://schemas.microsoft.com/office/drawing/2014/main" id="{6242D325-D9C1-804C-B44B-C3211091AC74}"/>
              </a:ext>
            </a:extLst>
          </p:cNvPr>
          <p:cNvSpPr>
            <a:spLocks noGrp="1" noChangeArrowheads="1"/>
          </p:cNvSpPr>
          <p:nvPr>
            <p:ph type="title"/>
          </p:nvPr>
        </p:nvSpPr>
        <p:spPr/>
        <p:txBody>
          <a:bodyPr/>
          <a:lstStyle/>
          <a:p>
            <a:pPr eaLnBrk="1" hangingPunct="1">
              <a:defRPr/>
            </a:pPr>
            <a:r>
              <a:rPr lang="en-US">
                <a:cs typeface="+mj-cs"/>
              </a:rPr>
              <a:t>Bell-LaPadula</a:t>
            </a:r>
          </a:p>
        </p:txBody>
      </p:sp>
      <p:sp>
        <p:nvSpPr>
          <p:cNvPr id="220163" name="Rectangle 3">
            <a:extLst>
              <a:ext uri="{FF2B5EF4-FFF2-40B4-BE49-F238E27FC236}">
                <a16:creationId xmlns:a16="http://schemas.microsoft.com/office/drawing/2014/main" id="{F9B157F7-2220-C14F-9BD2-15ACCAEC18AD}"/>
              </a:ext>
            </a:extLst>
          </p:cNvPr>
          <p:cNvSpPr>
            <a:spLocks noGrp="1" noChangeArrowheads="1"/>
          </p:cNvSpPr>
          <p:nvPr>
            <p:ph type="body" idx="1"/>
          </p:nvPr>
        </p:nvSpPr>
        <p:spPr>
          <a:xfrm>
            <a:off x="685800" y="1828800"/>
            <a:ext cx="8153400" cy="4191000"/>
          </a:xfrm>
        </p:spPr>
        <p:txBody>
          <a:bodyPr/>
          <a:lstStyle/>
          <a:p>
            <a:pPr eaLnBrk="1" hangingPunct="1">
              <a:lnSpc>
                <a:spcPct val="90000"/>
              </a:lnSpc>
              <a:buFont typeface="Wingdings" charset="0"/>
              <a:buChar char="q"/>
              <a:defRPr/>
            </a:pPr>
            <a:r>
              <a:rPr lang="en-US" sz="2800">
                <a:cs typeface="+mn-cs"/>
              </a:rPr>
              <a:t>BLP security model designed to express essential requirements for MLS</a:t>
            </a:r>
          </a:p>
          <a:p>
            <a:pPr eaLnBrk="1" hangingPunct="1">
              <a:lnSpc>
                <a:spcPct val="90000"/>
              </a:lnSpc>
              <a:buFont typeface="Wingdings" charset="0"/>
              <a:buChar char="q"/>
              <a:defRPr/>
            </a:pPr>
            <a:r>
              <a:rPr lang="en-US" sz="2800">
                <a:cs typeface="+mn-cs"/>
              </a:rPr>
              <a:t>BLP deals with </a:t>
            </a:r>
            <a:r>
              <a:rPr lang="en-US" sz="2800" b="1">
                <a:solidFill>
                  <a:schemeClr val="hlink"/>
                </a:solidFill>
                <a:cs typeface="+mn-cs"/>
              </a:rPr>
              <a:t>confidentiality</a:t>
            </a:r>
          </a:p>
          <a:p>
            <a:pPr lvl="1" eaLnBrk="1" hangingPunct="1">
              <a:lnSpc>
                <a:spcPct val="90000"/>
              </a:lnSpc>
              <a:defRPr/>
            </a:pPr>
            <a:r>
              <a:rPr lang="en-US" sz="2400"/>
              <a:t>To prevent unauthorized reading</a:t>
            </a:r>
          </a:p>
          <a:p>
            <a:pPr eaLnBrk="1" hangingPunct="1">
              <a:lnSpc>
                <a:spcPct val="90000"/>
              </a:lnSpc>
              <a:buFont typeface="Wingdings" charset="0"/>
              <a:buChar char="q"/>
              <a:defRPr/>
            </a:pPr>
            <a:r>
              <a:rPr lang="en-US" sz="2800">
                <a:cs typeface="+mn-cs"/>
              </a:rPr>
              <a:t>Recall that </a:t>
            </a:r>
            <a:r>
              <a:rPr lang="en-US" sz="2800">
                <a:latin typeface="Times-Roman" charset="0"/>
                <a:cs typeface="+mn-cs"/>
              </a:rPr>
              <a:t>O</a:t>
            </a:r>
            <a:r>
              <a:rPr lang="en-US" sz="2800">
                <a:cs typeface="+mn-cs"/>
              </a:rPr>
              <a:t> is an object, </a:t>
            </a:r>
            <a:r>
              <a:rPr lang="en-US" sz="2800">
                <a:latin typeface="Times-Roman" charset="0"/>
                <a:cs typeface="+mn-cs"/>
              </a:rPr>
              <a:t>S</a:t>
            </a:r>
            <a:r>
              <a:rPr lang="en-US" sz="2800">
                <a:cs typeface="+mn-cs"/>
              </a:rPr>
              <a:t> a subject</a:t>
            </a:r>
            <a:endParaRPr lang="en-US" sz="2800" b="1">
              <a:solidFill>
                <a:schemeClr val="accent2"/>
              </a:solidFill>
              <a:cs typeface="+mn-cs"/>
            </a:endParaRPr>
          </a:p>
          <a:p>
            <a:pPr lvl="1" eaLnBrk="1" hangingPunct="1">
              <a:lnSpc>
                <a:spcPct val="90000"/>
              </a:lnSpc>
              <a:defRPr/>
            </a:pPr>
            <a:r>
              <a:rPr lang="en-US" sz="2400"/>
              <a:t>Object</a:t>
            </a:r>
            <a:r>
              <a:rPr lang="en-US" sz="2400">
                <a:latin typeface="Times-Roman" charset="0"/>
              </a:rPr>
              <a:t> O</a:t>
            </a:r>
            <a:r>
              <a:rPr lang="en-US" sz="2400"/>
              <a:t> has a classification</a:t>
            </a:r>
          </a:p>
          <a:p>
            <a:pPr lvl="1" eaLnBrk="1" hangingPunct="1">
              <a:lnSpc>
                <a:spcPct val="90000"/>
              </a:lnSpc>
              <a:defRPr/>
            </a:pPr>
            <a:r>
              <a:rPr lang="en-US" sz="2400"/>
              <a:t>Subject </a:t>
            </a:r>
            <a:r>
              <a:rPr lang="en-US" sz="2400">
                <a:latin typeface="Times-Roman" charset="0"/>
              </a:rPr>
              <a:t>S</a:t>
            </a:r>
            <a:r>
              <a:rPr lang="en-US" sz="2400"/>
              <a:t> has a clearance</a:t>
            </a:r>
          </a:p>
          <a:p>
            <a:pPr lvl="1" eaLnBrk="1" hangingPunct="1">
              <a:lnSpc>
                <a:spcPct val="90000"/>
              </a:lnSpc>
              <a:defRPr/>
            </a:pPr>
            <a:r>
              <a:rPr lang="en-US" sz="2400"/>
              <a:t>Security level denoted </a:t>
            </a:r>
            <a:r>
              <a:rPr lang="en-US" sz="2400">
                <a:latin typeface="Times-Roman" charset="0"/>
              </a:rPr>
              <a:t>L(O)</a:t>
            </a:r>
            <a:r>
              <a:rPr lang="en-US" sz="2400"/>
              <a:t> and </a:t>
            </a:r>
            <a:r>
              <a:rPr lang="en-US" sz="2400">
                <a:latin typeface="Times-Roman" charset="0"/>
              </a:rPr>
              <a:t>L(S)</a:t>
            </a:r>
            <a:endParaRPr lang="en-US" sz="2400"/>
          </a:p>
        </p:txBody>
      </p:sp>
    </p:spTree>
    <p:extLst>
      <p:ext uri="{BB962C8B-B14F-4D97-AF65-F5344CB8AC3E}">
        <p14:creationId xmlns:p14="http://schemas.microsoft.com/office/powerpoint/2010/main" val="40988623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37A98863-B117-D747-ACC0-A68E46F83E1B}"/>
              </a:ext>
            </a:extLst>
          </p:cNvPr>
          <p:cNvSpPr>
            <a:spLocks noGrp="1"/>
          </p:cNvSpPr>
          <p:nvPr>
            <p:ph type="ftr" sz="quarter" idx="10"/>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eaLnBrk="0" hangingPunct="0">
              <a:defRPr sz="2400">
                <a:solidFill>
                  <a:schemeClr val="tx1"/>
                </a:solidFill>
                <a:latin typeface="Comic Sans MS" panose="030F0902030302020204" pitchFamily="66" charset="0"/>
                <a:ea typeface="ＭＳ Ｐゴシック" panose="020B0600070205080204" pitchFamily="34" charset="-128"/>
              </a:defRPr>
            </a:lvl1pPr>
            <a:lvl2pPr marL="742950" indent="-285750" eaLnBrk="0" hangingPunct="0">
              <a:defRPr sz="2400">
                <a:solidFill>
                  <a:schemeClr val="tx1"/>
                </a:solidFill>
                <a:latin typeface="Comic Sans MS" panose="030F0902030302020204" pitchFamily="66" charset="0"/>
                <a:ea typeface="ＭＳ Ｐゴシック" panose="020B0600070205080204" pitchFamily="34" charset="-128"/>
              </a:defRPr>
            </a:lvl2pPr>
            <a:lvl3pPr marL="1143000" indent="-228600" eaLnBrk="0" hangingPunct="0">
              <a:defRPr sz="2400">
                <a:solidFill>
                  <a:schemeClr val="tx1"/>
                </a:solidFill>
                <a:latin typeface="Comic Sans MS" panose="030F0902030302020204" pitchFamily="66" charset="0"/>
                <a:ea typeface="ＭＳ Ｐゴシック" panose="020B0600070205080204" pitchFamily="34" charset="-128"/>
              </a:defRPr>
            </a:lvl3pPr>
            <a:lvl4pPr marL="1600200" indent="-228600" eaLnBrk="0" hangingPunct="0">
              <a:defRPr sz="2400">
                <a:solidFill>
                  <a:schemeClr val="tx1"/>
                </a:solidFill>
                <a:latin typeface="Comic Sans MS" panose="030F0902030302020204" pitchFamily="66" charset="0"/>
                <a:ea typeface="ＭＳ Ｐゴシック" panose="020B0600070205080204" pitchFamily="34" charset="-128"/>
              </a:defRPr>
            </a:lvl4pPr>
            <a:lvl5pPr marL="2057400" indent="-228600" eaLnBrk="0" hangingPunct="0">
              <a:defRPr sz="2400">
                <a:solidFill>
                  <a:schemeClr val="tx1"/>
                </a:solidFill>
                <a:latin typeface="Comic Sans MS" panose="030F0902030302020204" pitchFamily="66"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Comic Sans MS" panose="030F0902030302020204" pitchFamily="66"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Comic Sans MS" panose="030F0902030302020204" pitchFamily="66"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Comic Sans MS" panose="030F0902030302020204" pitchFamily="66"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Comic Sans MS" panose="030F0902030302020204" pitchFamily="66" charset="0"/>
                <a:ea typeface="ＭＳ Ｐゴシック" panose="020B0600070205080204" pitchFamily="34" charset="-128"/>
              </a:defRPr>
            </a:lvl9pPr>
          </a:lstStyle>
          <a:p>
            <a:pPr eaLnBrk="1" hangingPunct="1"/>
            <a:r>
              <a:rPr lang="en-US" altLang="en-US" sz="1400"/>
              <a:t> Part 2 </a:t>
            </a:r>
            <a:r>
              <a:rPr lang="en-US" altLang="en-US" sz="1400">
                <a:sym typeface="Symbol" pitchFamily="2" charset="2"/>
              </a:rPr>
              <a:t></a:t>
            </a:r>
            <a:r>
              <a:rPr lang="en-US" altLang="en-US" sz="1400"/>
              <a:t> Access Control                                                                                                  </a:t>
            </a:r>
            <a:fld id="{7F86DFE3-1AFE-124A-AC8E-7D06D18FDA67}" type="slidenum">
              <a:rPr lang="en-US" altLang="en-US" sz="1400">
                <a:latin typeface="Times New Roman" panose="02020603050405020304" pitchFamily="18" charset="0"/>
              </a:rPr>
              <a:pPr eaLnBrk="1" hangingPunct="1"/>
              <a:t>44</a:t>
            </a:fld>
            <a:endParaRPr lang="en-US" altLang="en-US" sz="1400">
              <a:latin typeface="Times New Roman" panose="02020603050405020304" pitchFamily="18" charset="0"/>
            </a:endParaRPr>
          </a:p>
        </p:txBody>
      </p:sp>
      <p:sp>
        <p:nvSpPr>
          <p:cNvPr id="186370" name="Rectangle 2">
            <a:extLst>
              <a:ext uri="{FF2B5EF4-FFF2-40B4-BE49-F238E27FC236}">
                <a16:creationId xmlns:a16="http://schemas.microsoft.com/office/drawing/2014/main" id="{8CC45FAA-85B9-AD48-B0D5-262161A311B0}"/>
              </a:ext>
            </a:extLst>
          </p:cNvPr>
          <p:cNvSpPr>
            <a:spLocks noGrp="1" noChangeArrowheads="1"/>
          </p:cNvSpPr>
          <p:nvPr>
            <p:ph type="title"/>
          </p:nvPr>
        </p:nvSpPr>
        <p:spPr/>
        <p:txBody>
          <a:bodyPr/>
          <a:lstStyle/>
          <a:p>
            <a:pPr eaLnBrk="1" hangingPunct="1">
              <a:defRPr/>
            </a:pPr>
            <a:r>
              <a:rPr lang="en-US">
                <a:cs typeface="+mj-cs"/>
              </a:rPr>
              <a:t>Bell-LaPadula</a:t>
            </a:r>
          </a:p>
        </p:txBody>
      </p:sp>
      <p:sp>
        <p:nvSpPr>
          <p:cNvPr id="186371" name="Rectangle 3">
            <a:extLst>
              <a:ext uri="{FF2B5EF4-FFF2-40B4-BE49-F238E27FC236}">
                <a16:creationId xmlns:a16="http://schemas.microsoft.com/office/drawing/2014/main" id="{A35B7B7D-D809-0545-838B-46A2746E94E8}"/>
              </a:ext>
            </a:extLst>
          </p:cNvPr>
          <p:cNvSpPr>
            <a:spLocks noGrp="1" noChangeArrowheads="1"/>
          </p:cNvSpPr>
          <p:nvPr>
            <p:ph type="body" idx="1"/>
          </p:nvPr>
        </p:nvSpPr>
        <p:spPr/>
        <p:txBody>
          <a:bodyPr/>
          <a:lstStyle/>
          <a:p>
            <a:pPr eaLnBrk="1" hangingPunct="1">
              <a:buFont typeface="Wingdings" charset="0"/>
              <a:buChar char="q"/>
              <a:defRPr/>
            </a:pPr>
            <a:r>
              <a:rPr lang="en-US">
                <a:cs typeface="+mn-cs"/>
              </a:rPr>
              <a:t>BLP consists of</a:t>
            </a:r>
          </a:p>
          <a:p>
            <a:pPr lvl="1" eaLnBrk="1" hangingPunct="1">
              <a:buFontTx/>
              <a:buNone/>
              <a:defRPr/>
            </a:pPr>
            <a:r>
              <a:rPr lang="en-US" b="1">
                <a:solidFill>
                  <a:schemeClr val="hlink"/>
                </a:solidFill>
              </a:rPr>
              <a:t>Simple Security Condition</a:t>
            </a:r>
            <a:r>
              <a:rPr lang="en-US"/>
              <a:t>: </a:t>
            </a:r>
            <a:r>
              <a:rPr lang="en-US">
                <a:latin typeface="Times-Roman" charset="0"/>
              </a:rPr>
              <a:t>S</a:t>
            </a:r>
            <a:r>
              <a:rPr lang="en-US"/>
              <a:t> can read </a:t>
            </a:r>
            <a:r>
              <a:rPr lang="en-US">
                <a:latin typeface="Times-Roman" charset="0"/>
              </a:rPr>
              <a:t>O</a:t>
            </a:r>
            <a:r>
              <a:rPr lang="en-US"/>
              <a:t> if and only if </a:t>
            </a:r>
            <a:r>
              <a:rPr lang="en-US">
                <a:latin typeface="Times-Roman" charset="0"/>
              </a:rPr>
              <a:t>L(O) </a:t>
            </a:r>
            <a:r>
              <a:rPr lang="en-US">
                <a:latin typeface="Times-Roman" charset="0"/>
                <a:sym typeface="Symbol" charset="0"/>
              </a:rPr>
              <a:t> L(S)</a:t>
            </a:r>
            <a:endParaRPr lang="en-US">
              <a:sym typeface="Symbol" charset="0"/>
            </a:endParaRPr>
          </a:p>
          <a:p>
            <a:pPr lvl="1" eaLnBrk="1" hangingPunct="1">
              <a:buFontTx/>
              <a:buNone/>
              <a:defRPr/>
            </a:pPr>
            <a:r>
              <a:rPr lang="en-US" b="1">
                <a:solidFill>
                  <a:schemeClr val="hlink"/>
                </a:solidFill>
                <a:sym typeface="Symbol" charset="0"/>
              </a:rPr>
              <a:t>*-Property</a:t>
            </a:r>
            <a:r>
              <a:rPr lang="en-US">
                <a:sym typeface="Symbol" charset="0"/>
              </a:rPr>
              <a:t> (</a:t>
            </a:r>
            <a:r>
              <a:rPr lang="en-US" b="1">
                <a:sym typeface="Symbol" charset="0"/>
              </a:rPr>
              <a:t>Star Property</a:t>
            </a:r>
            <a:r>
              <a:rPr lang="en-US">
                <a:sym typeface="Symbol" charset="0"/>
              </a:rPr>
              <a:t>): </a:t>
            </a:r>
            <a:r>
              <a:rPr lang="en-US">
                <a:latin typeface="Times-Roman" charset="0"/>
                <a:sym typeface="Symbol" charset="0"/>
              </a:rPr>
              <a:t>S</a:t>
            </a:r>
            <a:r>
              <a:rPr lang="en-US">
                <a:sym typeface="Symbol" charset="0"/>
              </a:rPr>
              <a:t> can write </a:t>
            </a:r>
            <a:r>
              <a:rPr lang="en-US">
                <a:latin typeface="Times-Roman" charset="0"/>
                <a:sym typeface="Symbol" charset="0"/>
              </a:rPr>
              <a:t>O</a:t>
            </a:r>
            <a:r>
              <a:rPr lang="en-US">
                <a:sym typeface="Symbol" charset="0"/>
              </a:rPr>
              <a:t> if and only if </a:t>
            </a:r>
            <a:r>
              <a:rPr lang="en-US">
                <a:latin typeface="Times-Roman" charset="0"/>
                <a:sym typeface="Symbol" charset="0"/>
              </a:rPr>
              <a:t>L(S)  L(O)</a:t>
            </a:r>
            <a:endParaRPr lang="en-US">
              <a:sym typeface="Symbol" charset="0"/>
            </a:endParaRPr>
          </a:p>
          <a:p>
            <a:pPr eaLnBrk="1" hangingPunct="1">
              <a:buFont typeface="Wingdings" charset="0"/>
              <a:buChar char="q"/>
              <a:defRPr/>
            </a:pPr>
            <a:r>
              <a:rPr lang="en-US" b="1">
                <a:solidFill>
                  <a:srgbClr val="FF0000"/>
                </a:solidFill>
                <a:cs typeface="+mn-cs"/>
              </a:rPr>
              <a:t>No read up, no write down</a:t>
            </a:r>
            <a:endParaRPr lang="en-US">
              <a:cs typeface="+mn-cs"/>
            </a:endParaRPr>
          </a:p>
        </p:txBody>
      </p:sp>
    </p:spTree>
    <p:extLst>
      <p:ext uri="{BB962C8B-B14F-4D97-AF65-F5344CB8AC3E}">
        <p14:creationId xmlns:p14="http://schemas.microsoft.com/office/powerpoint/2010/main" val="38112203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86371">
                                            <p:txEl>
                                              <p:pRg st="0" end="0"/>
                                            </p:txEl>
                                          </p:spTgt>
                                        </p:tgtEl>
                                        <p:attrNameLst>
                                          <p:attrName>style.visibility</p:attrName>
                                        </p:attrNameLst>
                                      </p:cBhvr>
                                      <p:to>
                                        <p:strVal val="visible"/>
                                      </p:to>
                                    </p:set>
                                    <p:animEffect transition="in" filter="box(out)">
                                      <p:cBhvr>
                                        <p:cTn id="7" dur="500"/>
                                        <p:tgtEl>
                                          <p:spTgt spid="186371">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
                                        </p:tgtEl>
                                      </p:cMediaNode>
                                    </p:audio>
                                  </p:subTnLst>
                                </p:cTn>
                              </p:par>
                              <p:par>
                                <p:cTn id="8" presetID="4" presetClass="entr" presetSubtype="32" fill="hold" grpId="0" nodeType="withEffect">
                                  <p:stCondLst>
                                    <p:cond delay="0"/>
                                  </p:stCondLst>
                                  <p:childTnLst>
                                    <p:set>
                                      <p:cBhvr>
                                        <p:cTn id="9" dur="1" fill="hold">
                                          <p:stCondLst>
                                            <p:cond delay="0"/>
                                          </p:stCondLst>
                                        </p:cTn>
                                        <p:tgtEl>
                                          <p:spTgt spid="186371">
                                            <p:txEl>
                                              <p:pRg st="1" end="1"/>
                                            </p:txEl>
                                          </p:spTgt>
                                        </p:tgtEl>
                                        <p:attrNameLst>
                                          <p:attrName>style.visibility</p:attrName>
                                        </p:attrNameLst>
                                      </p:cBhvr>
                                      <p:to>
                                        <p:strVal val="visible"/>
                                      </p:to>
                                    </p:set>
                                    <p:animEffect transition="in" filter="box(out)">
                                      <p:cBhvr>
                                        <p:cTn id="10" dur="500"/>
                                        <p:tgtEl>
                                          <p:spTgt spid="186371">
                                            <p:txEl>
                                              <p:pRg st="1" end="1"/>
                                            </p:txEl>
                                          </p:spTgt>
                                        </p:tgtEl>
                                      </p:cBhvr>
                                    </p:animEffect>
                                  </p:childTnLst>
                                  <p:subTnLst>
                                    <p:audio>
                                      <p:cMediaNode>
                                        <p:cTn display="0" masterRel="sameClick">
                                          <p:stCondLst>
                                            <p:cond evt="begin" delay="0">
                                              <p:tn val="8"/>
                                            </p:cond>
                                          </p:stCondLst>
                                          <p:endCondLst>
                                            <p:cond evt="onStopAudio" delay="0">
                                              <p:tgtEl>
                                                <p:sldTgt/>
                                              </p:tgtEl>
                                            </p:cond>
                                          </p:endCondLst>
                                        </p:cTn>
                                        <p:tgtEl>
                                          <p:sndTgt r:embed="rId2" name="Camera"/>
                                        </p:tgtEl>
                                      </p:cMediaNode>
                                    </p:audio>
                                  </p:subTnLst>
                                </p:cTn>
                              </p:par>
                              <p:par>
                                <p:cTn id="11" presetID="4" presetClass="entr" presetSubtype="32" fill="hold" grpId="0" nodeType="withEffect">
                                  <p:stCondLst>
                                    <p:cond delay="0"/>
                                  </p:stCondLst>
                                  <p:childTnLst>
                                    <p:set>
                                      <p:cBhvr>
                                        <p:cTn id="12" dur="1" fill="hold">
                                          <p:stCondLst>
                                            <p:cond delay="0"/>
                                          </p:stCondLst>
                                        </p:cTn>
                                        <p:tgtEl>
                                          <p:spTgt spid="186371">
                                            <p:txEl>
                                              <p:pRg st="2" end="2"/>
                                            </p:txEl>
                                          </p:spTgt>
                                        </p:tgtEl>
                                        <p:attrNameLst>
                                          <p:attrName>style.visibility</p:attrName>
                                        </p:attrNameLst>
                                      </p:cBhvr>
                                      <p:to>
                                        <p:strVal val="visible"/>
                                      </p:to>
                                    </p:set>
                                    <p:animEffect transition="in" filter="box(out)">
                                      <p:cBhvr>
                                        <p:cTn id="13" dur="500"/>
                                        <p:tgtEl>
                                          <p:spTgt spid="186371">
                                            <p:txEl>
                                              <p:pRg st="2" end="2"/>
                                            </p:txEl>
                                          </p:spTgt>
                                        </p:tgtEl>
                                      </p:cBhvr>
                                    </p:animEffect>
                                  </p:childTnLst>
                                  <p:subTnLst>
                                    <p:audio>
                                      <p:cMediaNode>
                                        <p:cTn display="0" masterRel="sameClick">
                                          <p:stCondLst>
                                            <p:cond evt="begin" delay="0">
                                              <p:tn val="11"/>
                                            </p:cond>
                                          </p:stCondLst>
                                          <p:endCondLst>
                                            <p:cond evt="onStopAudio" delay="0">
                                              <p:tgtEl>
                                                <p:sldTgt/>
                                              </p:tgtEl>
                                            </p:cond>
                                          </p:endCondLst>
                                        </p:cTn>
                                        <p:tgtEl>
                                          <p:sndTgt r:embed="rId2" name="Camera"/>
                                        </p:tgtEl>
                                      </p:cMediaNode>
                                    </p:audio>
                                  </p:subTnLst>
                                </p:cTn>
                              </p:par>
                            </p:childTnLst>
                          </p:cTn>
                        </p:par>
                      </p:childTnLst>
                    </p:cTn>
                  </p:par>
                  <p:par>
                    <p:cTn id="14" fill="hold" nodeType="clickPar">
                      <p:stCondLst>
                        <p:cond delay="indefinite"/>
                      </p:stCondLst>
                      <p:childTnLst>
                        <p:par>
                          <p:cTn id="15" fill="hold" nodeType="withGroup">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186371">
                                            <p:txEl>
                                              <p:pRg st="3" end="3"/>
                                            </p:txEl>
                                          </p:spTgt>
                                        </p:tgtEl>
                                        <p:attrNameLst>
                                          <p:attrName>style.visibility</p:attrName>
                                        </p:attrNameLst>
                                      </p:cBhvr>
                                      <p:to>
                                        <p:strVal val="visible"/>
                                      </p:to>
                                    </p:set>
                                    <p:animEffect transition="in" filter="box(out)">
                                      <p:cBhvr>
                                        <p:cTn id="18" dur="500"/>
                                        <p:tgtEl>
                                          <p:spTgt spid="186371">
                                            <p:txEl>
                                              <p:pRg st="3" end="3"/>
                                            </p:txEl>
                                          </p:spTgt>
                                        </p:tgtEl>
                                      </p:cBhvr>
                                    </p:animEffect>
                                  </p:childTnLst>
                                  <p:subTnLst>
                                    <p:audio>
                                      <p:cMediaNode>
                                        <p:cTn display="0" masterRel="sameClick">
                                          <p:stCondLst>
                                            <p:cond evt="begin" delay="0">
                                              <p:tn val="16"/>
                                            </p:cond>
                                          </p:stCondLst>
                                          <p:endCondLst>
                                            <p:cond evt="onStopAudio" delay="0">
                                              <p:tgtEl>
                                                <p:sldTgt/>
                                              </p:tgtEl>
                                            </p:cond>
                                          </p:endCondLst>
                                        </p:cTn>
                                        <p:tgtEl>
                                          <p:sndTgt r:embed="rId2" name="Camera"/>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371" grpId="0" build="p"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758E700-F600-8D49-901C-DD40DA02CE2E}"/>
              </a:ext>
            </a:extLst>
          </p:cNvPr>
          <p:cNvSpPr>
            <a:spLocks noGrp="1"/>
          </p:cNvSpPr>
          <p:nvPr>
            <p:ph type="ftr" sz="quarter" idx="10"/>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eaLnBrk="0" hangingPunct="0">
              <a:defRPr sz="2400">
                <a:solidFill>
                  <a:schemeClr val="tx1"/>
                </a:solidFill>
                <a:latin typeface="Comic Sans MS" panose="030F0902030302020204" pitchFamily="66" charset="0"/>
                <a:ea typeface="ＭＳ Ｐゴシック" panose="020B0600070205080204" pitchFamily="34" charset="-128"/>
              </a:defRPr>
            </a:lvl1pPr>
            <a:lvl2pPr marL="742950" indent="-285750" eaLnBrk="0" hangingPunct="0">
              <a:defRPr sz="2400">
                <a:solidFill>
                  <a:schemeClr val="tx1"/>
                </a:solidFill>
                <a:latin typeface="Comic Sans MS" panose="030F0902030302020204" pitchFamily="66" charset="0"/>
                <a:ea typeface="ＭＳ Ｐゴシック" panose="020B0600070205080204" pitchFamily="34" charset="-128"/>
              </a:defRPr>
            </a:lvl2pPr>
            <a:lvl3pPr marL="1143000" indent="-228600" eaLnBrk="0" hangingPunct="0">
              <a:defRPr sz="2400">
                <a:solidFill>
                  <a:schemeClr val="tx1"/>
                </a:solidFill>
                <a:latin typeface="Comic Sans MS" panose="030F0902030302020204" pitchFamily="66" charset="0"/>
                <a:ea typeface="ＭＳ Ｐゴシック" panose="020B0600070205080204" pitchFamily="34" charset="-128"/>
              </a:defRPr>
            </a:lvl3pPr>
            <a:lvl4pPr marL="1600200" indent="-228600" eaLnBrk="0" hangingPunct="0">
              <a:defRPr sz="2400">
                <a:solidFill>
                  <a:schemeClr val="tx1"/>
                </a:solidFill>
                <a:latin typeface="Comic Sans MS" panose="030F0902030302020204" pitchFamily="66" charset="0"/>
                <a:ea typeface="ＭＳ Ｐゴシック" panose="020B0600070205080204" pitchFamily="34" charset="-128"/>
              </a:defRPr>
            </a:lvl4pPr>
            <a:lvl5pPr marL="2057400" indent="-228600" eaLnBrk="0" hangingPunct="0">
              <a:defRPr sz="2400">
                <a:solidFill>
                  <a:schemeClr val="tx1"/>
                </a:solidFill>
                <a:latin typeface="Comic Sans MS" panose="030F0902030302020204" pitchFamily="66"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Comic Sans MS" panose="030F0902030302020204" pitchFamily="66"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Comic Sans MS" panose="030F0902030302020204" pitchFamily="66"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Comic Sans MS" panose="030F0902030302020204" pitchFamily="66"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Comic Sans MS" panose="030F0902030302020204" pitchFamily="66" charset="0"/>
                <a:ea typeface="ＭＳ Ｐゴシック" panose="020B0600070205080204" pitchFamily="34" charset="-128"/>
              </a:defRPr>
            </a:lvl9pPr>
          </a:lstStyle>
          <a:p>
            <a:pPr eaLnBrk="1" hangingPunct="1"/>
            <a:r>
              <a:rPr lang="en-US" altLang="en-US" sz="1400"/>
              <a:t> Part 2 </a:t>
            </a:r>
            <a:r>
              <a:rPr lang="en-US" altLang="en-US" sz="1400">
                <a:sym typeface="Symbol" pitchFamily="2" charset="2"/>
              </a:rPr>
              <a:t></a:t>
            </a:r>
            <a:r>
              <a:rPr lang="en-US" altLang="en-US" sz="1400"/>
              <a:t> Access Control                                                                                                  </a:t>
            </a:r>
            <a:fld id="{EFC0A6BE-7924-9D42-9865-43ED00630E02}" type="slidenum">
              <a:rPr lang="en-US" altLang="en-US" sz="1400">
                <a:latin typeface="Times New Roman" panose="02020603050405020304" pitchFamily="18" charset="0"/>
              </a:rPr>
              <a:pPr eaLnBrk="1" hangingPunct="1"/>
              <a:t>45</a:t>
            </a:fld>
            <a:endParaRPr lang="en-US" altLang="en-US" sz="1400">
              <a:latin typeface="Times New Roman" panose="02020603050405020304" pitchFamily="18" charset="0"/>
            </a:endParaRPr>
          </a:p>
        </p:txBody>
      </p:sp>
      <p:sp>
        <p:nvSpPr>
          <p:cNvPr id="154626" name="Rectangle 2">
            <a:extLst>
              <a:ext uri="{FF2B5EF4-FFF2-40B4-BE49-F238E27FC236}">
                <a16:creationId xmlns:a16="http://schemas.microsoft.com/office/drawing/2014/main" id="{72EE8E6C-9E4C-0B46-95BF-80D20D74FA78}"/>
              </a:ext>
            </a:extLst>
          </p:cNvPr>
          <p:cNvSpPr>
            <a:spLocks noGrp="1" noChangeArrowheads="1"/>
          </p:cNvSpPr>
          <p:nvPr>
            <p:ph type="title"/>
          </p:nvPr>
        </p:nvSpPr>
        <p:spPr>
          <a:xfrm>
            <a:off x="685800" y="304800"/>
            <a:ext cx="7772400" cy="1143000"/>
          </a:xfrm>
        </p:spPr>
        <p:txBody>
          <a:bodyPr/>
          <a:lstStyle/>
          <a:p>
            <a:pPr eaLnBrk="1" hangingPunct="1">
              <a:defRPr/>
            </a:pPr>
            <a:r>
              <a:rPr lang="en-US" dirty="0">
                <a:cs typeface="+mj-cs"/>
              </a:rPr>
              <a:t>Integrity Model</a:t>
            </a:r>
          </a:p>
        </p:txBody>
      </p:sp>
      <p:sp>
        <p:nvSpPr>
          <p:cNvPr id="154627" name="Rectangle 3">
            <a:extLst>
              <a:ext uri="{FF2B5EF4-FFF2-40B4-BE49-F238E27FC236}">
                <a16:creationId xmlns:a16="http://schemas.microsoft.com/office/drawing/2014/main" id="{3FE3829F-0AC1-F244-A4A2-2C3ED2FE8BF5}"/>
              </a:ext>
            </a:extLst>
          </p:cNvPr>
          <p:cNvSpPr>
            <a:spLocks noGrp="1" noChangeArrowheads="1"/>
          </p:cNvSpPr>
          <p:nvPr>
            <p:ph type="body" idx="1"/>
          </p:nvPr>
        </p:nvSpPr>
        <p:spPr>
          <a:xfrm>
            <a:off x="685800" y="1447800"/>
            <a:ext cx="7848600" cy="4724400"/>
          </a:xfrm>
        </p:spPr>
        <p:txBody>
          <a:bodyPr/>
          <a:lstStyle/>
          <a:p>
            <a:pPr eaLnBrk="1" hangingPunct="1">
              <a:lnSpc>
                <a:spcPct val="85000"/>
              </a:lnSpc>
              <a:buFont typeface="Wingdings" charset="0"/>
              <a:buChar char="q"/>
              <a:defRPr/>
            </a:pPr>
            <a:r>
              <a:rPr lang="en-US" sz="2800" dirty="0">
                <a:cs typeface="+mn-cs"/>
              </a:rPr>
              <a:t>BLP for confidentiality, </a:t>
            </a:r>
            <a:r>
              <a:rPr lang="en-US" sz="2800" dirty="0" err="1">
                <a:cs typeface="+mn-cs"/>
              </a:rPr>
              <a:t>Biba</a:t>
            </a:r>
            <a:r>
              <a:rPr lang="en-US" sz="2800" dirty="0">
                <a:cs typeface="+mn-cs"/>
              </a:rPr>
              <a:t> for </a:t>
            </a:r>
            <a:r>
              <a:rPr lang="en-US" sz="2800" b="1" dirty="0">
                <a:solidFill>
                  <a:schemeClr val="accent2"/>
                </a:solidFill>
                <a:cs typeface="+mn-cs"/>
              </a:rPr>
              <a:t>integrity</a:t>
            </a:r>
          </a:p>
          <a:p>
            <a:pPr lvl="1" eaLnBrk="1" hangingPunct="1">
              <a:lnSpc>
                <a:spcPct val="85000"/>
              </a:lnSpc>
              <a:defRPr/>
            </a:pPr>
            <a:r>
              <a:rPr lang="en-US" sz="2400" dirty="0" err="1"/>
              <a:t>Biba</a:t>
            </a:r>
            <a:r>
              <a:rPr lang="en-US" sz="2400" dirty="0"/>
              <a:t> is to prevent unauthorized writing</a:t>
            </a:r>
          </a:p>
          <a:p>
            <a:pPr eaLnBrk="1" hangingPunct="1">
              <a:lnSpc>
                <a:spcPct val="85000"/>
              </a:lnSpc>
              <a:buFont typeface="Wingdings" charset="0"/>
              <a:buChar char="q"/>
              <a:defRPr/>
            </a:pPr>
            <a:r>
              <a:rPr lang="en-US" sz="2800" dirty="0" err="1">
                <a:cs typeface="+mn-cs"/>
              </a:rPr>
              <a:t>Biba</a:t>
            </a:r>
            <a:r>
              <a:rPr lang="en-US" sz="2800" dirty="0">
                <a:cs typeface="+mn-cs"/>
              </a:rPr>
              <a:t> is (in a sense) the dual of BLP</a:t>
            </a:r>
          </a:p>
          <a:p>
            <a:pPr eaLnBrk="1" hangingPunct="1">
              <a:lnSpc>
                <a:spcPct val="85000"/>
              </a:lnSpc>
              <a:buFont typeface="Wingdings" charset="0"/>
              <a:buChar char="q"/>
              <a:defRPr/>
            </a:pPr>
            <a:r>
              <a:rPr lang="en-US" sz="2800" dirty="0">
                <a:cs typeface="+mn-cs"/>
              </a:rPr>
              <a:t>Integrity model</a:t>
            </a:r>
          </a:p>
          <a:p>
            <a:pPr lvl="1" eaLnBrk="1" hangingPunct="1">
              <a:lnSpc>
                <a:spcPct val="85000"/>
              </a:lnSpc>
              <a:defRPr/>
            </a:pPr>
            <a:r>
              <a:rPr lang="en-US" sz="2400" dirty="0" err="1"/>
              <a:t>Spse</a:t>
            </a:r>
            <a:r>
              <a:rPr lang="en-US" sz="2400" dirty="0"/>
              <a:t> you trust the integrity of </a:t>
            </a:r>
            <a:r>
              <a:rPr lang="en-US" b="1" dirty="0">
                <a:solidFill>
                  <a:srgbClr val="FF0000"/>
                </a:solidFill>
                <a:latin typeface="Times-Roman" charset="0"/>
              </a:rPr>
              <a:t>O</a:t>
            </a:r>
            <a:r>
              <a:rPr lang="en-US" sz="2400" dirty="0"/>
              <a:t> but not </a:t>
            </a:r>
            <a:r>
              <a:rPr lang="en-US" b="1" dirty="0">
                <a:solidFill>
                  <a:schemeClr val="hlink"/>
                </a:solidFill>
                <a:latin typeface="Times-Roman" charset="0"/>
              </a:rPr>
              <a:t>O</a:t>
            </a:r>
            <a:endParaRPr lang="en-US" sz="2400" dirty="0"/>
          </a:p>
          <a:p>
            <a:pPr lvl="1" eaLnBrk="1" hangingPunct="1">
              <a:lnSpc>
                <a:spcPct val="85000"/>
              </a:lnSpc>
              <a:defRPr/>
            </a:pPr>
            <a:r>
              <a:rPr lang="en-US" sz="2400" dirty="0"/>
              <a:t>If object </a:t>
            </a:r>
            <a:r>
              <a:rPr lang="en-US" b="1" dirty="0">
                <a:latin typeface="Times-Roman" charset="0"/>
              </a:rPr>
              <a:t>O</a:t>
            </a:r>
            <a:r>
              <a:rPr lang="en-US" sz="2400" dirty="0"/>
              <a:t> includes </a:t>
            </a:r>
            <a:r>
              <a:rPr lang="en-US" b="1" dirty="0">
                <a:solidFill>
                  <a:srgbClr val="FF0000"/>
                </a:solidFill>
                <a:latin typeface="Times-Roman" charset="0"/>
              </a:rPr>
              <a:t>O</a:t>
            </a:r>
            <a:r>
              <a:rPr lang="en-US" sz="2400" dirty="0"/>
              <a:t> and </a:t>
            </a:r>
            <a:r>
              <a:rPr lang="en-US" b="1" dirty="0">
                <a:solidFill>
                  <a:schemeClr val="hlink"/>
                </a:solidFill>
                <a:latin typeface="Times-Roman" charset="0"/>
              </a:rPr>
              <a:t>O</a:t>
            </a:r>
            <a:r>
              <a:rPr lang="en-US" sz="2400" dirty="0"/>
              <a:t> then you cannot trust the integrity of </a:t>
            </a:r>
            <a:r>
              <a:rPr lang="en-US" b="1" dirty="0">
                <a:latin typeface="Times-Roman" charset="0"/>
              </a:rPr>
              <a:t>O</a:t>
            </a:r>
            <a:endParaRPr lang="en-US" sz="2400" dirty="0"/>
          </a:p>
          <a:p>
            <a:pPr eaLnBrk="1" hangingPunct="1">
              <a:lnSpc>
                <a:spcPct val="85000"/>
              </a:lnSpc>
              <a:buFont typeface="Wingdings" charset="0"/>
              <a:buChar char="q"/>
              <a:defRPr/>
            </a:pPr>
            <a:r>
              <a:rPr lang="en-US" sz="2800" dirty="0">
                <a:cs typeface="+mn-cs"/>
              </a:rPr>
              <a:t>Integrity level of </a:t>
            </a:r>
            <a:r>
              <a:rPr lang="en-US" sz="2800" dirty="0">
                <a:latin typeface="Times-Roman" charset="0"/>
                <a:cs typeface="+mn-cs"/>
              </a:rPr>
              <a:t>O</a:t>
            </a:r>
            <a:r>
              <a:rPr lang="en-US" sz="2800" dirty="0">
                <a:cs typeface="+mn-cs"/>
              </a:rPr>
              <a:t> is minimum of the integrity of any object </a:t>
            </a:r>
            <a:r>
              <a:rPr lang="en-US" sz="2800">
                <a:cs typeface="+mn-cs"/>
              </a:rPr>
              <a:t>in </a:t>
            </a:r>
            <a:r>
              <a:rPr lang="en-US" sz="2800">
                <a:latin typeface="Times-Roman" charset="0"/>
                <a:cs typeface="+mn-cs"/>
              </a:rPr>
              <a:t>O</a:t>
            </a:r>
            <a:endParaRPr lang="en-US" sz="2800" dirty="0">
              <a:cs typeface="+mn-cs"/>
            </a:endParaRPr>
          </a:p>
        </p:txBody>
      </p:sp>
    </p:spTree>
    <p:extLst>
      <p:ext uri="{BB962C8B-B14F-4D97-AF65-F5344CB8AC3E}">
        <p14:creationId xmlns:p14="http://schemas.microsoft.com/office/powerpoint/2010/main" val="285766816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54627">
                                            <p:txEl>
                                              <p:pRg st="0" end="0"/>
                                            </p:txEl>
                                          </p:spTgt>
                                        </p:tgtEl>
                                        <p:attrNameLst>
                                          <p:attrName>style.visibility</p:attrName>
                                        </p:attrNameLst>
                                      </p:cBhvr>
                                      <p:to>
                                        <p:strVal val="visible"/>
                                      </p:to>
                                    </p:set>
                                    <p:animEffect transition="in" filter="box(out)">
                                      <p:cBhvr>
                                        <p:cTn id="7" dur="500"/>
                                        <p:tgtEl>
                                          <p:spTgt spid="154627">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
                                        </p:tgtEl>
                                      </p:cMediaNode>
                                    </p:audio>
                                  </p:subTnLst>
                                </p:cTn>
                              </p:par>
                              <p:par>
                                <p:cTn id="8" presetID="4" presetClass="entr" presetSubtype="32" fill="hold" grpId="0" nodeType="withEffect">
                                  <p:stCondLst>
                                    <p:cond delay="0"/>
                                  </p:stCondLst>
                                  <p:childTnLst>
                                    <p:set>
                                      <p:cBhvr>
                                        <p:cTn id="9" dur="1" fill="hold">
                                          <p:stCondLst>
                                            <p:cond delay="0"/>
                                          </p:stCondLst>
                                        </p:cTn>
                                        <p:tgtEl>
                                          <p:spTgt spid="154627">
                                            <p:txEl>
                                              <p:pRg st="1" end="1"/>
                                            </p:txEl>
                                          </p:spTgt>
                                        </p:tgtEl>
                                        <p:attrNameLst>
                                          <p:attrName>style.visibility</p:attrName>
                                        </p:attrNameLst>
                                      </p:cBhvr>
                                      <p:to>
                                        <p:strVal val="visible"/>
                                      </p:to>
                                    </p:set>
                                    <p:animEffect transition="in" filter="box(out)">
                                      <p:cBhvr>
                                        <p:cTn id="10" dur="500"/>
                                        <p:tgtEl>
                                          <p:spTgt spid="154627">
                                            <p:txEl>
                                              <p:pRg st="1" end="1"/>
                                            </p:txEl>
                                          </p:spTgt>
                                        </p:tgtEl>
                                      </p:cBhvr>
                                    </p:animEffect>
                                  </p:childTnLst>
                                  <p:subTnLst>
                                    <p:audio>
                                      <p:cMediaNode>
                                        <p:cTn display="0" masterRel="sameClick">
                                          <p:stCondLst>
                                            <p:cond evt="begin" delay="0">
                                              <p:tn val="8"/>
                                            </p:cond>
                                          </p:stCondLst>
                                          <p:endCondLst>
                                            <p:cond evt="onStopAudio" delay="0">
                                              <p:tgtEl>
                                                <p:sldTgt/>
                                              </p:tgtEl>
                                            </p:cond>
                                          </p:endCondLst>
                                        </p:cTn>
                                        <p:tgtEl>
                                          <p:sndTgt r:embed="rId2" name="Camera"/>
                                        </p:tgtEl>
                                      </p:cMediaNode>
                                    </p:audio>
                                  </p:subTnLst>
                                </p:cTn>
                              </p:par>
                            </p:childTnLst>
                          </p:cTn>
                        </p:par>
                      </p:childTnLst>
                    </p:cTn>
                  </p:par>
                  <p:par>
                    <p:cTn id="11" fill="hold" nodeType="clickPar">
                      <p:stCondLst>
                        <p:cond delay="indefinite"/>
                      </p:stCondLst>
                      <p:childTnLst>
                        <p:par>
                          <p:cTn id="12" fill="hold" nodeType="withGroup">
                            <p:stCondLst>
                              <p:cond delay="0"/>
                            </p:stCondLst>
                            <p:childTnLst>
                              <p:par>
                                <p:cTn id="13" presetID="4" presetClass="entr" presetSubtype="32" fill="hold" grpId="0" nodeType="clickEffect">
                                  <p:stCondLst>
                                    <p:cond delay="0"/>
                                  </p:stCondLst>
                                  <p:childTnLst>
                                    <p:set>
                                      <p:cBhvr>
                                        <p:cTn id="14" dur="1" fill="hold">
                                          <p:stCondLst>
                                            <p:cond delay="0"/>
                                          </p:stCondLst>
                                        </p:cTn>
                                        <p:tgtEl>
                                          <p:spTgt spid="154627">
                                            <p:txEl>
                                              <p:pRg st="2" end="2"/>
                                            </p:txEl>
                                          </p:spTgt>
                                        </p:tgtEl>
                                        <p:attrNameLst>
                                          <p:attrName>style.visibility</p:attrName>
                                        </p:attrNameLst>
                                      </p:cBhvr>
                                      <p:to>
                                        <p:strVal val="visible"/>
                                      </p:to>
                                    </p:set>
                                    <p:animEffect transition="in" filter="box(out)">
                                      <p:cBhvr>
                                        <p:cTn id="15" dur="500"/>
                                        <p:tgtEl>
                                          <p:spTgt spid="154627">
                                            <p:txEl>
                                              <p:pRg st="2" end="2"/>
                                            </p:txEl>
                                          </p:spTgt>
                                        </p:tgtEl>
                                      </p:cBhvr>
                                    </p:animEffect>
                                  </p:childTnLst>
                                  <p:subTnLst>
                                    <p:audio>
                                      <p:cMediaNode>
                                        <p:cTn display="0" masterRel="sameClick">
                                          <p:stCondLst>
                                            <p:cond evt="begin" delay="0">
                                              <p:tn val="13"/>
                                            </p:cond>
                                          </p:stCondLst>
                                          <p:endCondLst>
                                            <p:cond evt="onStopAudio" delay="0">
                                              <p:tgtEl>
                                                <p:sldTgt/>
                                              </p:tgtEl>
                                            </p:cond>
                                          </p:endCondLst>
                                        </p:cTn>
                                        <p:tgtEl>
                                          <p:sndTgt r:embed="rId2" name="Camera"/>
                                        </p:tgtEl>
                                      </p:cMediaNode>
                                    </p:audio>
                                  </p:subTnLst>
                                </p:cTn>
                              </p:par>
                            </p:childTnLst>
                          </p:cTn>
                        </p:par>
                      </p:childTnLst>
                    </p:cTn>
                  </p:par>
                  <p:par>
                    <p:cTn id="16" fill="hold" nodeType="clickPar">
                      <p:stCondLst>
                        <p:cond delay="indefinite"/>
                      </p:stCondLst>
                      <p:childTnLst>
                        <p:par>
                          <p:cTn id="17" fill="hold" nodeType="withGroup">
                            <p:stCondLst>
                              <p:cond delay="0"/>
                            </p:stCondLst>
                            <p:childTnLst>
                              <p:par>
                                <p:cTn id="18" presetID="4" presetClass="entr" presetSubtype="32" fill="hold" grpId="0" nodeType="clickEffect">
                                  <p:stCondLst>
                                    <p:cond delay="0"/>
                                  </p:stCondLst>
                                  <p:childTnLst>
                                    <p:set>
                                      <p:cBhvr>
                                        <p:cTn id="19" dur="1" fill="hold">
                                          <p:stCondLst>
                                            <p:cond delay="0"/>
                                          </p:stCondLst>
                                        </p:cTn>
                                        <p:tgtEl>
                                          <p:spTgt spid="154627">
                                            <p:txEl>
                                              <p:pRg st="3" end="3"/>
                                            </p:txEl>
                                          </p:spTgt>
                                        </p:tgtEl>
                                        <p:attrNameLst>
                                          <p:attrName>style.visibility</p:attrName>
                                        </p:attrNameLst>
                                      </p:cBhvr>
                                      <p:to>
                                        <p:strVal val="visible"/>
                                      </p:to>
                                    </p:set>
                                    <p:animEffect transition="in" filter="box(out)">
                                      <p:cBhvr>
                                        <p:cTn id="20" dur="500"/>
                                        <p:tgtEl>
                                          <p:spTgt spid="154627">
                                            <p:txEl>
                                              <p:pRg st="3" end="3"/>
                                            </p:txEl>
                                          </p:spTgt>
                                        </p:tgtEl>
                                      </p:cBhvr>
                                    </p:animEffect>
                                  </p:childTnLst>
                                  <p:subTnLst>
                                    <p:audio>
                                      <p:cMediaNode>
                                        <p:cTn display="0" masterRel="sameClick">
                                          <p:stCondLst>
                                            <p:cond evt="begin" delay="0">
                                              <p:tn val="18"/>
                                            </p:cond>
                                          </p:stCondLst>
                                          <p:endCondLst>
                                            <p:cond evt="onStopAudio" delay="0">
                                              <p:tgtEl>
                                                <p:sldTgt/>
                                              </p:tgtEl>
                                            </p:cond>
                                          </p:endCondLst>
                                        </p:cTn>
                                        <p:tgtEl>
                                          <p:sndTgt r:embed="rId2" name="Camera"/>
                                        </p:tgtEl>
                                      </p:cMediaNode>
                                    </p:audio>
                                  </p:subTnLst>
                                </p:cTn>
                              </p:par>
                              <p:par>
                                <p:cTn id="21" presetID="4" presetClass="entr" presetSubtype="32" fill="hold" grpId="0" nodeType="withEffect">
                                  <p:stCondLst>
                                    <p:cond delay="0"/>
                                  </p:stCondLst>
                                  <p:childTnLst>
                                    <p:set>
                                      <p:cBhvr>
                                        <p:cTn id="22" dur="1" fill="hold">
                                          <p:stCondLst>
                                            <p:cond delay="0"/>
                                          </p:stCondLst>
                                        </p:cTn>
                                        <p:tgtEl>
                                          <p:spTgt spid="154627">
                                            <p:txEl>
                                              <p:pRg st="4" end="4"/>
                                            </p:txEl>
                                          </p:spTgt>
                                        </p:tgtEl>
                                        <p:attrNameLst>
                                          <p:attrName>style.visibility</p:attrName>
                                        </p:attrNameLst>
                                      </p:cBhvr>
                                      <p:to>
                                        <p:strVal val="visible"/>
                                      </p:to>
                                    </p:set>
                                    <p:animEffect transition="in" filter="box(out)">
                                      <p:cBhvr>
                                        <p:cTn id="23" dur="500"/>
                                        <p:tgtEl>
                                          <p:spTgt spid="154627">
                                            <p:txEl>
                                              <p:pRg st="4" end="4"/>
                                            </p:txEl>
                                          </p:spTgt>
                                        </p:tgtEl>
                                      </p:cBhvr>
                                    </p:animEffect>
                                  </p:childTnLst>
                                  <p:subTnLst>
                                    <p:audio>
                                      <p:cMediaNode>
                                        <p:cTn display="0" masterRel="sameClick">
                                          <p:stCondLst>
                                            <p:cond evt="begin" delay="0">
                                              <p:tn val="21"/>
                                            </p:cond>
                                          </p:stCondLst>
                                          <p:endCondLst>
                                            <p:cond evt="onStopAudio" delay="0">
                                              <p:tgtEl>
                                                <p:sldTgt/>
                                              </p:tgtEl>
                                            </p:cond>
                                          </p:endCondLst>
                                        </p:cTn>
                                        <p:tgtEl>
                                          <p:sndTgt r:embed="rId2" name="Camera"/>
                                        </p:tgtEl>
                                      </p:cMediaNode>
                                    </p:audio>
                                  </p:subTnLst>
                                </p:cTn>
                              </p:par>
                              <p:par>
                                <p:cTn id="24" presetID="4" presetClass="entr" presetSubtype="32" fill="hold" grpId="0" nodeType="withEffect">
                                  <p:stCondLst>
                                    <p:cond delay="0"/>
                                  </p:stCondLst>
                                  <p:childTnLst>
                                    <p:set>
                                      <p:cBhvr>
                                        <p:cTn id="25" dur="1" fill="hold">
                                          <p:stCondLst>
                                            <p:cond delay="0"/>
                                          </p:stCondLst>
                                        </p:cTn>
                                        <p:tgtEl>
                                          <p:spTgt spid="154627">
                                            <p:txEl>
                                              <p:pRg st="5" end="5"/>
                                            </p:txEl>
                                          </p:spTgt>
                                        </p:tgtEl>
                                        <p:attrNameLst>
                                          <p:attrName>style.visibility</p:attrName>
                                        </p:attrNameLst>
                                      </p:cBhvr>
                                      <p:to>
                                        <p:strVal val="visible"/>
                                      </p:to>
                                    </p:set>
                                    <p:animEffect transition="in" filter="box(out)">
                                      <p:cBhvr>
                                        <p:cTn id="26" dur="500"/>
                                        <p:tgtEl>
                                          <p:spTgt spid="154627">
                                            <p:txEl>
                                              <p:pRg st="5" end="5"/>
                                            </p:txEl>
                                          </p:spTgt>
                                        </p:tgtEl>
                                      </p:cBhvr>
                                    </p:animEffect>
                                  </p:childTnLst>
                                  <p:subTnLst>
                                    <p:audio>
                                      <p:cMediaNode>
                                        <p:cTn display="0" masterRel="sameClick">
                                          <p:stCondLst>
                                            <p:cond evt="begin" delay="0">
                                              <p:tn val="24"/>
                                            </p:cond>
                                          </p:stCondLst>
                                          <p:endCondLst>
                                            <p:cond evt="onStopAudio" delay="0">
                                              <p:tgtEl>
                                                <p:sldTgt/>
                                              </p:tgtEl>
                                            </p:cond>
                                          </p:endCondLst>
                                        </p:cTn>
                                        <p:tgtEl>
                                          <p:sndTgt r:embed="rId2" name="Camera"/>
                                        </p:tgtEl>
                                      </p:cMediaNode>
                                    </p:audio>
                                  </p:subTnLst>
                                </p:cTn>
                              </p:par>
                            </p:childTnLst>
                          </p:cTn>
                        </p:par>
                      </p:childTnLst>
                    </p:cTn>
                  </p:par>
                  <p:par>
                    <p:cTn id="27" fill="hold" nodeType="clickPar">
                      <p:stCondLst>
                        <p:cond delay="indefinite"/>
                      </p:stCondLst>
                      <p:childTnLst>
                        <p:par>
                          <p:cTn id="28" fill="hold" nodeType="withGroup">
                            <p:stCondLst>
                              <p:cond delay="0"/>
                            </p:stCondLst>
                            <p:childTnLst>
                              <p:par>
                                <p:cTn id="29" presetID="4" presetClass="entr" presetSubtype="32" fill="hold" grpId="0" nodeType="clickEffect">
                                  <p:stCondLst>
                                    <p:cond delay="0"/>
                                  </p:stCondLst>
                                  <p:childTnLst>
                                    <p:set>
                                      <p:cBhvr>
                                        <p:cTn id="30" dur="1" fill="hold">
                                          <p:stCondLst>
                                            <p:cond delay="0"/>
                                          </p:stCondLst>
                                        </p:cTn>
                                        <p:tgtEl>
                                          <p:spTgt spid="154627">
                                            <p:txEl>
                                              <p:pRg st="6" end="6"/>
                                            </p:txEl>
                                          </p:spTgt>
                                        </p:tgtEl>
                                        <p:attrNameLst>
                                          <p:attrName>style.visibility</p:attrName>
                                        </p:attrNameLst>
                                      </p:cBhvr>
                                      <p:to>
                                        <p:strVal val="visible"/>
                                      </p:to>
                                    </p:set>
                                    <p:animEffect transition="in" filter="box(out)">
                                      <p:cBhvr>
                                        <p:cTn id="31" dur="500"/>
                                        <p:tgtEl>
                                          <p:spTgt spid="154627">
                                            <p:txEl>
                                              <p:pRg st="6" end="6"/>
                                            </p:txEl>
                                          </p:spTgt>
                                        </p:tgtEl>
                                      </p:cBhvr>
                                    </p:animEffect>
                                  </p:childTnLst>
                                  <p:subTnLst>
                                    <p:audio>
                                      <p:cMediaNode>
                                        <p:cTn display="0" masterRel="sameClick">
                                          <p:stCondLst>
                                            <p:cond evt="begin" delay="0">
                                              <p:tn val="29"/>
                                            </p:cond>
                                          </p:stCondLst>
                                          <p:endCondLst>
                                            <p:cond evt="onStopAudio" delay="0">
                                              <p:tgtEl>
                                                <p:sldTgt/>
                                              </p:tgtEl>
                                            </p:cond>
                                          </p:endCondLst>
                                        </p:cTn>
                                        <p:tgtEl>
                                          <p:sndTgt r:embed="rId2" name="Camera"/>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27" grpId="0" build="p"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D2D83-55AF-A846-AF6F-9F35DC79AC8C}"/>
              </a:ext>
            </a:extLst>
          </p:cNvPr>
          <p:cNvSpPr>
            <a:spLocks noGrp="1"/>
          </p:cNvSpPr>
          <p:nvPr>
            <p:ph type="title"/>
          </p:nvPr>
        </p:nvSpPr>
        <p:spPr/>
        <p:txBody>
          <a:bodyPr/>
          <a:lstStyle/>
          <a:p>
            <a:pPr eaLnBrk="1" hangingPunct="1"/>
            <a:r>
              <a:rPr lang="en-US" altLang="en-US" sz="4000"/>
              <a:t>Biba’s Model (Strict Integrity Policy)</a:t>
            </a:r>
          </a:p>
        </p:txBody>
      </p:sp>
      <p:sp>
        <p:nvSpPr>
          <p:cNvPr id="3" name="Content Placeholder 2">
            <a:extLst>
              <a:ext uri="{FF2B5EF4-FFF2-40B4-BE49-F238E27FC236}">
                <a16:creationId xmlns:a16="http://schemas.microsoft.com/office/drawing/2014/main" id="{3D31B6F3-FFD4-CD45-846E-406DF4424E3A}"/>
              </a:ext>
            </a:extLst>
          </p:cNvPr>
          <p:cNvSpPr>
            <a:spLocks noGrp="1"/>
          </p:cNvSpPr>
          <p:nvPr>
            <p:ph idx="1"/>
          </p:nvPr>
        </p:nvSpPr>
        <p:spPr/>
        <p:txBody>
          <a:bodyPr>
            <a:normAutofit lnSpcReduction="10000"/>
          </a:bodyPr>
          <a:lstStyle/>
          <a:p>
            <a:pPr eaLnBrk="1" hangingPunct="1">
              <a:lnSpc>
                <a:spcPct val="80000"/>
              </a:lnSpc>
            </a:pPr>
            <a:r>
              <a:rPr lang="en-US" altLang="en-US" sz="2800" dirty="0"/>
              <a:t>Let </a:t>
            </a:r>
            <a:r>
              <a:rPr lang="en-US" altLang="en-US" sz="2800" dirty="0">
                <a:latin typeface="Times-Roman" pitchFamily="2" charset="0"/>
              </a:rPr>
              <a:t>I(O)</a:t>
            </a:r>
            <a:r>
              <a:rPr lang="en-US" altLang="en-US" sz="2800" dirty="0"/>
              <a:t> denote the integrity of object </a:t>
            </a:r>
            <a:r>
              <a:rPr lang="en-US" altLang="en-US" sz="2800" dirty="0">
                <a:latin typeface="Times-Roman" pitchFamily="2" charset="0"/>
              </a:rPr>
              <a:t>O </a:t>
            </a:r>
            <a:r>
              <a:rPr lang="en-US" altLang="en-US" sz="2800" dirty="0"/>
              <a:t>and </a:t>
            </a:r>
            <a:r>
              <a:rPr lang="en-US" altLang="en-US" sz="2800" dirty="0">
                <a:latin typeface="Times-Roman" pitchFamily="2" charset="0"/>
              </a:rPr>
              <a:t>I(S)</a:t>
            </a:r>
            <a:r>
              <a:rPr lang="en-US" altLang="en-US" sz="2800" dirty="0"/>
              <a:t> denote the integrity of subject </a:t>
            </a:r>
            <a:r>
              <a:rPr lang="en-US" altLang="en-US" sz="2800" dirty="0">
                <a:latin typeface="Times-Roman" pitchFamily="2" charset="0"/>
              </a:rPr>
              <a:t>S</a:t>
            </a:r>
          </a:p>
          <a:p>
            <a:pPr eaLnBrk="1" hangingPunct="1">
              <a:lnSpc>
                <a:spcPct val="80000"/>
              </a:lnSpc>
            </a:pPr>
            <a:endParaRPr lang="en-US" altLang="en-US" sz="2800" dirty="0"/>
          </a:p>
          <a:p>
            <a:pPr eaLnBrk="1" hangingPunct="1">
              <a:lnSpc>
                <a:spcPct val="80000"/>
              </a:lnSpc>
            </a:pPr>
            <a:r>
              <a:rPr lang="en-US" altLang="en-US" sz="2800" b="1" dirty="0">
                <a:solidFill>
                  <a:schemeClr val="hlink"/>
                </a:solidFill>
              </a:rPr>
              <a:t>Biba</a:t>
            </a:r>
          </a:p>
          <a:p>
            <a:pPr lvl="1" eaLnBrk="1" hangingPunct="1">
              <a:lnSpc>
                <a:spcPct val="80000"/>
              </a:lnSpc>
            </a:pPr>
            <a:r>
              <a:rPr lang="en-US" altLang="en-US" sz="2400" dirty="0">
                <a:latin typeface="Times-Roman" pitchFamily="2" charset="0"/>
              </a:rPr>
              <a:t>S</a:t>
            </a:r>
            <a:r>
              <a:rPr lang="en-US" altLang="en-US" sz="2400" dirty="0"/>
              <a:t> can write </a:t>
            </a:r>
            <a:r>
              <a:rPr lang="en-US" altLang="en-US" sz="2400" dirty="0">
                <a:latin typeface="Times-Roman" pitchFamily="2" charset="0"/>
              </a:rPr>
              <a:t>O</a:t>
            </a:r>
            <a:r>
              <a:rPr lang="en-US" altLang="en-US" sz="2400" dirty="0"/>
              <a:t> if and only if </a:t>
            </a:r>
            <a:r>
              <a:rPr lang="en-US" altLang="en-US" sz="2400" dirty="0">
                <a:latin typeface="Times-Roman" pitchFamily="2" charset="0"/>
              </a:rPr>
              <a:t>I(O) </a:t>
            </a:r>
            <a:r>
              <a:rPr lang="en-US" altLang="en-US" sz="2400" dirty="0">
                <a:latin typeface="Times-Roman" pitchFamily="2" charset="0"/>
                <a:sym typeface="Symbol" pitchFamily="2" charset="2"/>
              </a:rPr>
              <a:t> I(S) </a:t>
            </a:r>
          </a:p>
          <a:p>
            <a:pPr lvl="2" eaLnBrk="1" hangingPunct="1">
              <a:lnSpc>
                <a:spcPct val="80000"/>
              </a:lnSpc>
            </a:pPr>
            <a:r>
              <a:rPr lang="en-US" altLang="en-US" sz="2000" dirty="0">
                <a:sym typeface="Symbol" pitchFamily="2" charset="2"/>
              </a:rPr>
              <a:t>(if </a:t>
            </a:r>
            <a:r>
              <a:rPr lang="en-US" altLang="en-US" sz="2000" dirty="0">
                <a:latin typeface="Times-Roman" pitchFamily="2" charset="0"/>
                <a:sym typeface="Symbol" pitchFamily="2" charset="2"/>
              </a:rPr>
              <a:t>S</a:t>
            </a:r>
            <a:r>
              <a:rPr lang="en-US" altLang="en-US" sz="2000" dirty="0">
                <a:sym typeface="Symbol" pitchFamily="2" charset="2"/>
              </a:rPr>
              <a:t> writes </a:t>
            </a:r>
            <a:r>
              <a:rPr lang="en-US" altLang="en-US" sz="2000" dirty="0">
                <a:latin typeface="Times-Roman" pitchFamily="2" charset="0"/>
                <a:sym typeface="Symbol" pitchFamily="2" charset="2"/>
              </a:rPr>
              <a:t>O</a:t>
            </a:r>
            <a:r>
              <a:rPr lang="en-US" altLang="en-US" sz="2000" dirty="0">
                <a:sym typeface="Symbol" pitchFamily="2" charset="2"/>
              </a:rPr>
              <a:t>, the integrity of </a:t>
            </a:r>
            <a:r>
              <a:rPr lang="en-US" altLang="en-US" sz="2000" dirty="0">
                <a:latin typeface="Times-Roman" pitchFamily="2" charset="0"/>
                <a:sym typeface="Symbol" pitchFamily="2" charset="2"/>
              </a:rPr>
              <a:t>O</a:t>
            </a:r>
            <a:r>
              <a:rPr lang="en-US" altLang="en-US" sz="2000" dirty="0">
                <a:sym typeface="Symbol" pitchFamily="2" charset="2"/>
              </a:rPr>
              <a:t> </a:t>
            </a:r>
            <a:r>
              <a:rPr lang="en-US" altLang="en-US" sz="2000" dirty="0">
                <a:latin typeface="Times-Roman" pitchFamily="2" charset="0"/>
                <a:sym typeface="Symbol" pitchFamily="2" charset="2"/>
              </a:rPr>
              <a:t></a:t>
            </a:r>
            <a:r>
              <a:rPr lang="en-US" altLang="en-US" sz="2000" dirty="0">
                <a:sym typeface="Symbol" pitchFamily="2" charset="2"/>
              </a:rPr>
              <a:t> that of </a:t>
            </a:r>
            <a:r>
              <a:rPr lang="en-US" altLang="en-US" sz="2000" dirty="0">
                <a:latin typeface="Times-Roman" pitchFamily="2" charset="0"/>
                <a:sym typeface="Symbol" pitchFamily="2" charset="2"/>
              </a:rPr>
              <a:t>S</a:t>
            </a:r>
            <a:r>
              <a:rPr lang="en-US" altLang="en-US" sz="2000" dirty="0">
                <a:sym typeface="Symbol" pitchFamily="2" charset="2"/>
              </a:rPr>
              <a:t>)</a:t>
            </a:r>
          </a:p>
          <a:p>
            <a:pPr lvl="1" eaLnBrk="1" hangingPunct="1">
              <a:lnSpc>
                <a:spcPct val="80000"/>
              </a:lnSpc>
            </a:pPr>
            <a:endParaRPr lang="en-US" altLang="en-US" sz="2400" dirty="0">
              <a:sym typeface="Symbol" pitchFamily="2" charset="2"/>
            </a:endParaRPr>
          </a:p>
          <a:p>
            <a:pPr lvl="1" eaLnBrk="1" hangingPunct="1">
              <a:lnSpc>
                <a:spcPct val="80000"/>
              </a:lnSpc>
            </a:pPr>
            <a:r>
              <a:rPr lang="en-US" altLang="en-US" sz="2400" dirty="0">
                <a:latin typeface="Times-Roman" pitchFamily="2" charset="0"/>
              </a:rPr>
              <a:t>S</a:t>
            </a:r>
            <a:r>
              <a:rPr lang="en-US" altLang="en-US" sz="2400" dirty="0"/>
              <a:t> reads </a:t>
            </a:r>
            <a:r>
              <a:rPr lang="en-US" altLang="en-US" sz="2400" dirty="0">
                <a:latin typeface="Times-Roman" pitchFamily="2" charset="0"/>
              </a:rPr>
              <a:t>O</a:t>
            </a:r>
            <a:r>
              <a:rPr lang="en-US" altLang="en-US" sz="2400" dirty="0"/>
              <a:t> if and only if </a:t>
            </a:r>
            <a:r>
              <a:rPr lang="en-US" altLang="en-US" sz="2400" dirty="0">
                <a:latin typeface="Times-Roman" pitchFamily="2" charset="0"/>
              </a:rPr>
              <a:t>I(O) ≥</a:t>
            </a:r>
            <a:r>
              <a:rPr lang="en-US" altLang="en-US" sz="2400" dirty="0">
                <a:latin typeface="Times-Roman" pitchFamily="2" charset="0"/>
                <a:sym typeface="Symbol" pitchFamily="2" charset="2"/>
              </a:rPr>
              <a:t> I(S)</a:t>
            </a:r>
          </a:p>
          <a:p>
            <a:pPr lvl="2" eaLnBrk="1" hangingPunct="1">
              <a:lnSpc>
                <a:spcPct val="80000"/>
              </a:lnSpc>
            </a:pPr>
            <a:r>
              <a:rPr lang="en-US" altLang="en-US" sz="2000" dirty="0">
                <a:sym typeface="Symbol" pitchFamily="2" charset="2"/>
              </a:rPr>
              <a:t>(if </a:t>
            </a:r>
            <a:r>
              <a:rPr lang="en-US" altLang="en-US" sz="2000" dirty="0">
                <a:latin typeface="Times-Roman" pitchFamily="2" charset="0"/>
                <a:sym typeface="Symbol" pitchFamily="2" charset="2"/>
              </a:rPr>
              <a:t>S</a:t>
            </a:r>
            <a:r>
              <a:rPr lang="en-US" altLang="en-US" sz="2000" dirty="0">
                <a:sym typeface="Symbol" pitchFamily="2" charset="2"/>
              </a:rPr>
              <a:t> reads </a:t>
            </a:r>
            <a:r>
              <a:rPr lang="en-US" altLang="en-US" sz="2000" dirty="0">
                <a:latin typeface="Times-Roman" pitchFamily="2" charset="0"/>
                <a:sym typeface="Symbol" pitchFamily="2" charset="2"/>
              </a:rPr>
              <a:t>O</a:t>
            </a:r>
            <a:r>
              <a:rPr lang="en-US" altLang="en-US" sz="2000" dirty="0">
                <a:sym typeface="Symbol" pitchFamily="2" charset="2"/>
              </a:rPr>
              <a:t>, the integrity of </a:t>
            </a:r>
            <a:r>
              <a:rPr lang="en-US" altLang="en-US" sz="2000" dirty="0">
                <a:latin typeface="Times-Roman" pitchFamily="2" charset="0"/>
                <a:sym typeface="Symbol" pitchFamily="2" charset="2"/>
              </a:rPr>
              <a:t>S</a:t>
            </a:r>
            <a:r>
              <a:rPr lang="en-US" altLang="en-US" sz="2000" dirty="0">
                <a:sym typeface="Symbol" pitchFamily="2" charset="2"/>
              </a:rPr>
              <a:t> must be lower than that of </a:t>
            </a:r>
            <a:r>
              <a:rPr lang="en-US" altLang="en-US" sz="2000" dirty="0">
                <a:latin typeface="Times-Roman" pitchFamily="2" charset="0"/>
                <a:sym typeface="Symbol" pitchFamily="2" charset="2"/>
              </a:rPr>
              <a:t>O</a:t>
            </a:r>
            <a:r>
              <a:rPr lang="en-US" altLang="en-US" sz="2000" dirty="0">
                <a:sym typeface="Symbol" pitchFamily="2" charset="2"/>
              </a:rPr>
              <a:t>)</a:t>
            </a:r>
          </a:p>
          <a:p>
            <a:pPr marL="914400" lvl="2" indent="0" eaLnBrk="1" hangingPunct="1">
              <a:lnSpc>
                <a:spcPct val="80000"/>
              </a:lnSpc>
              <a:buNone/>
            </a:pPr>
            <a:endParaRPr lang="en-US" altLang="en-US" sz="2000" dirty="0">
              <a:sym typeface="Symbol" pitchFamily="2" charset="2"/>
            </a:endParaRPr>
          </a:p>
          <a:p>
            <a:pPr>
              <a:lnSpc>
                <a:spcPct val="80000"/>
              </a:lnSpc>
              <a:spcAft>
                <a:spcPts val="600"/>
              </a:spcAft>
            </a:pPr>
            <a:r>
              <a:rPr lang="en-US" altLang="en-US" sz="2800" dirty="0"/>
              <a:t>Often, replace Biba’s Model with</a:t>
            </a:r>
          </a:p>
          <a:p>
            <a:pPr lvl="1">
              <a:lnSpc>
                <a:spcPct val="80000"/>
              </a:lnSpc>
              <a:spcAft>
                <a:spcPts val="600"/>
              </a:spcAft>
              <a:buNone/>
            </a:pPr>
            <a:r>
              <a:rPr lang="en-US" altLang="en-US" sz="2400" b="1" dirty="0">
                <a:solidFill>
                  <a:schemeClr val="accent2"/>
                </a:solidFill>
              </a:rPr>
              <a:t>Low Water Mark Policy:</a:t>
            </a:r>
            <a:r>
              <a:rPr lang="en-US" altLang="en-US" sz="2400" dirty="0">
                <a:solidFill>
                  <a:schemeClr val="accent2"/>
                </a:solidFill>
              </a:rPr>
              <a:t> </a:t>
            </a:r>
            <a:r>
              <a:rPr lang="en-US" altLang="en-US" sz="2400" dirty="0"/>
              <a:t>If </a:t>
            </a:r>
            <a:r>
              <a:rPr lang="en-US" altLang="en-US" sz="2400" dirty="0">
                <a:latin typeface="Times-Roman"/>
              </a:rPr>
              <a:t>S</a:t>
            </a:r>
            <a:r>
              <a:rPr lang="en-US" altLang="en-US" sz="2400" dirty="0"/>
              <a:t> reads </a:t>
            </a:r>
            <a:r>
              <a:rPr lang="en-US" altLang="en-US" sz="2400" dirty="0">
                <a:latin typeface="Times-Roman"/>
              </a:rPr>
              <a:t>O</a:t>
            </a:r>
            <a:r>
              <a:rPr lang="en-US" altLang="en-US" sz="2400" dirty="0"/>
              <a:t>, then  </a:t>
            </a:r>
            <a:r>
              <a:rPr lang="en-US" altLang="en-US" sz="2400" dirty="0">
                <a:latin typeface="Times-Roman"/>
              </a:rPr>
              <a:t>I(S) = min(I(S), I(O))</a:t>
            </a:r>
          </a:p>
          <a:p>
            <a:pPr marL="114300" indent="0">
              <a:lnSpc>
                <a:spcPct val="80000"/>
              </a:lnSpc>
              <a:buNone/>
            </a:pPr>
            <a:endParaRPr lang="en-US" altLang="en-US" dirty="0"/>
          </a:p>
        </p:txBody>
      </p:sp>
      <p:sp>
        <p:nvSpPr>
          <p:cNvPr id="4" name="Footer Placeholder 3">
            <a:extLst>
              <a:ext uri="{FF2B5EF4-FFF2-40B4-BE49-F238E27FC236}">
                <a16:creationId xmlns:a16="http://schemas.microsoft.com/office/drawing/2014/main" id="{7E2E4F82-06B1-9A4B-8152-5EF5CBAA34DF}"/>
              </a:ext>
            </a:extLst>
          </p:cNvPr>
          <p:cNvSpPr>
            <a:spLocks noGrp="1"/>
          </p:cNvSpPr>
          <p:nvPr>
            <p:ph type="ftr" sz="quarter" idx="10"/>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eaLnBrk="0" hangingPunct="0">
              <a:defRPr sz="2400">
                <a:solidFill>
                  <a:schemeClr val="tx1"/>
                </a:solidFill>
                <a:latin typeface="Comic Sans MS" panose="030F0902030302020204" pitchFamily="66" charset="0"/>
                <a:ea typeface="ＭＳ Ｐゴシック" panose="020B0600070205080204" pitchFamily="34" charset="-128"/>
              </a:defRPr>
            </a:lvl1pPr>
            <a:lvl2pPr marL="742950" indent="-285750" eaLnBrk="0" hangingPunct="0">
              <a:defRPr sz="2400">
                <a:solidFill>
                  <a:schemeClr val="tx1"/>
                </a:solidFill>
                <a:latin typeface="Comic Sans MS" panose="030F0902030302020204" pitchFamily="66" charset="0"/>
                <a:ea typeface="ＭＳ Ｐゴシック" panose="020B0600070205080204" pitchFamily="34" charset="-128"/>
              </a:defRPr>
            </a:lvl2pPr>
            <a:lvl3pPr marL="1143000" indent="-228600" eaLnBrk="0" hangingPunct="0">
              <a:defRPr sz="2400">
                <a:solidFill>
                  <a:schemeClr val="tx1"/>
                </a:solidFill>
                <a:latin typeface="Comic Sans MS" panose="030F0902030302020204" pitchFamily="66" charset="0"/>
                <a:ea typeface="ＭＳ Ｐゴシック" panose="020B0600070205080204" pitchFamily="34" charset="-128"/>
              </a:defRPr>
            </a:lvl3pPr>
            <a:lvl4pPr marL="1600200" indent="-228600" eaLnBrk="0" hangingPunct="0">
              <a:defRPr sz="2400">
                <a:solidFill>
                  <a:schemeClr val="tx1"/>
                </a:solidFill>
                <a:latin typeface="Comic Sans MS" panose="030F0902030302020204" pitchFamily="66" charset="0"/>
                <a:ea typeface="ＭＳ Ｐゴシック" panose="020B0600070205080204" pitchFamily="34" charset="-128"/>
              </a:defRPr>
            </a:lvl4pPr>
            <a:lvl5pPr marL="2057400" indent="-228600" eaLnBrk="0" hangingPunct="0">
              <a:defRPr sz="2400">
                <a:solidFill>
                  <a:schemeClr val="tx1"/>
                </a:solidFill>
                <a:latin typeface="Comic Sans MS" panose="030F0902030302020204" pitchFamily="66"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Comic Sans MS" panose="030F0902030302020204" pitchFamily="66"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Comic Sans MS" panose="030F0902030302020204" pitchFamily="66"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Comic Sans MS" panose="030F0902030302020204" pitchFamily="66"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Comic Sans MS" panose="030F0902030302020204" pitchFamily="66" charset="0"/>
                <a:ea typeface="ＭＳ Ｐゴシック" panose="020B0600070205080204" pitchFamily="34" charset="-128"/>
              </a:defRPr>
            </a:lvl9pPr>
          </a:lstStyle>
          <a:p>
            <a:pPr eaLnBrk="1" hangingPunct="1"/>
            <a:r>
              <a:rPr lang="en-US" altLang="en-US" sz="1400"/>
              <a:t> Part 2 </a:t>
            </a:r>
            <a:r>
              <a:rPr lang="en-US" altLang="en-US" sz="1400">
                <a:sym typeface="Symbol" pitchFamily="2" charset="2"/>
              </a:rPr>
              <a:t></a:t>
            </a:r>
            <a:r>
              <a:rPr lang="en-US" altLang="en-US" sz="1400"/>
              <a:t> Access Control                                                                                                  </a:t>
            </a:r>
            <a:fld id="{ED20D28F-0FE9-884F-B5DF-00DF45240F7E}" type="slidenum">
              <a:rPr lang="en-US" altLang="en-US" sz="1400">
                <a:latin typeface="Times New Roman" panose="02020603050405020304" pitchFamily="18" charset="0"/>
              </a:rPr>
              <a:pPr eaLnBrk="1" hangingPunct="1"/>
              <a:t>46</a:t>
            </a:fld>
            <a:endParaRPr lang="en-US" altLang="en-US" sz="1400">
              <a:latin typeface="Times New Roman" panose="02020603050405020304" pitchFamily="18" charset="0"/>
            </a:endParaRPr>
          </a:p>
        </p:txBody>
      </p:sp>
    </p:spTree>
    <p:extLst>
      <p:ext uri="{BB962C8B-B14F-4D97-AF65-F5344CB8AC3E}">
        <p14:creationId xmlns:p14="http://schemas.microsoft.com/office/powerpoint/2010/main" val="195173254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348AE-5926-ED42-9526-321B969E73E2}"/>
              </a:ext>
            </a:extLst>
          </p:cNvPr>
          <p:cNvSpPr>
            <a:spLocks noGrp="1"/>
          </p:cNvSpPr>
          <p:nvPr>
            <p:ph type="title"/>
          </p:nvPr>
        </p:nvSpPr>
        <p:spPr/>
        <p:txBody>
          <a:bodyPr/>
          <a:lstStyle/>
          <a:p>
            <a:pPr eaLnBrk="1" hangingPunct="1">
              <a:defRPr/>
            </a:pPr>
            <a:r>
              <a:rPr lang="en-US" dirty="0">
                <a:cs typeface="+mj-cs"/>
              </a:rPr>
              <a:t>Low-Water-Mark Policy</a:t>
            </a:r>
          </a:p>
        </p:txBody>
      </p:sp>
      <p:sp>
        <p:nvSpPr>
          <p:cNvPr id="3" name="Content Placeholder 2">
            <a:extLst>
              <a:ext uri="{FF2B5EF4-FFF2-40B4-BE49-F238E27FC236}">
                <a16:creationId xmlns:a16="http://schemas.microsoft.com/office/drawing/2014/main" id="{4409B2AA-E5AF-1144-96EB-D661DDBC7E8E}"/>
              </a:ext>
            </a:extLst>
          </p:cNvPr>
          <p:cNvSpPr>
            <a:spLocks noGrp="1"/>
          </p:cNvSpPr>
          <p:nvPr>
            <p:ph idx="1"/>
          </p:nvPr>
        </p:nvSpPr>
        <p:spPr/>
        <p:txBody>
          <a:bodyPr/>
          <a:lstStyle/>
          <a:p>
            <a:pPr eaLnBrk="1" hangingPunct="1">
              <a:lnSpc>
                <a:spcPct val="80000"/>
              </a:lnSpc>
              <a:buFont typeface="Wingdings" charset="0"/>
              <a:buChar char="q"/>
              <a:defRPr/>
            </a:pPr>
            <a:r>
              <a:rPr lang="en-US" sz="2800" dirty="0">
                <a:cs typeface="+mn-cs"/>
              </a:rPr>
              <a:t>Let </a:t>
            </a:r>
            <a:r>
              <a:rPr lang="en-US" sz="2800" dirty="0">
                <a:latin typeface="Times-Roman" charset="0"/>
                <a:cs typeface="+mn-cs"/>
              </a:rPr>
              <a:t>I(O)</a:t>
            </a:r>
            <a:r>
              <a:rPr lang="en-US" sz="2800" dirty="0">
                <a:cs typeface="+mn-cs"/>
              </a:rPr>
              <a:t> denote the integrity of object </a:t>
            </a:r>
            <a:r>
              <a:rPr lang="en-US" sz="2800" dirty="0">
                <a:latin typeface="Times-Roman" charset="0"/>
                <a:cs typeface="+mn-cs"/>
              </a:rPr>
              <a:t>O </a:t>
            </a:r>
            <a:r>
              <a:rPr lang="en-US" sz="2800" dirty="0">
                <a:cs typeface="+mn-cs"/>
              </a:rPr>
              <a:t>and </a:t>
            </a:r>
            <a:r>
              <a:rPr lang="en-US" sz="2800" dirty="0">
                <a:latin typeface="Times-Roman" charset="0"/>
                <a:cs typeface="+mn-cs"/>
              </a:rPr>
              <a:t>I(S)</a:t>
            </a:r>
            <a:r>
              <a:rPr lang="en-US" sz="2800" dirty="0">
                <a:cs typeface="+mn-cs"/>
              </a:rPr>
              <a:t> denote the integrity of subject </a:t>
            </a:r>
            <a:r>
              <a:rPr lang="en-US" sz="2800" dirty="0">
                <a:latin typeface="Times-Roman" charset="0"/>
                <a:cs typeface="+mn-cs"/>
              </a:rPr>
              <a:t>S</a:t>
            </a:r>
          </a:p>
          <a:p>
            <a:pPr eaLnBrk="1" hangingPunct="1">
              <a:lnSpc>
                <a:spcPct val="80000"/>
              </a:lnSpc>
              <a:buFont typeface="Wingdings" charset="0"/>
              <a:buChar char="q"/>
              <a:defRPr/>
            </a:pPr>
            <a:endParaRPr lang="en-US" sz="2800" dirty="0">
              <a:cs typeface="+mn-cs"/>
            </a:endParaRPr>
          </a:p>
          <a:p>
            <a:pPr eaLnBrk="1" hangingPunct="1">
              <a:lnSpc>
                <a:spcPct val="80000"/>
              </a:lnSpc>
              <a:buFont typeface="Wingdings" charset="0"/>
              <a:buChar char="q"/>
              <a:defRPr/>
            </a:pPr>
            <a:r>
              <a:rPr lang="en-US" sz="2800" b="1" dirty="0">
                <a:solidFill>
                  <a:schemeClr val="hlink"/>
                </a:solidFill>
                <a:cs typeface="+mn-cs"/>
              </a:rPr>
              <a:t>Low Water Mark Policy</a:t>
            </a:r>
          </a:p>
          <a:p>
            <a:pPr lvl="1" eaLnBrk="1" hangingPunct="1">
              <a:lnSpc>
                <a:spcPct val="80000"/>
              </a:lnSpc>
              <a:defRPr/>
            </a:pPr>
            <a:r>
              <a:rPr lang="en-US" sz="2400" dirty="0">
                <a:latin typeface="Times-Roman" charset="0"/>
              </a:rPr>
              <a:t>S</a:t>
            </a:r>
            <a:r>
              <a:rPr lang="en-US" sz="2400" dirty="0"/>
              <a:t> can write </a:t>
            </a:r>
            <a:r>
              <a:rPr lang="en-US" sz="2400" dirty="0">
                <a:latin typeface="Times-Roman" charset="0"/>
              </a:rPr>
              <a:t>O</a:t>
            </a:r>
            <a:r>
              <a:rPr lang="en-US" sz="2400" dirty="0"/>
              <a:t> if and only if </a:t>
            </a:r>
            <a:r>
              <a:rPr lang="en-US" sz="2400" dirty="0">
                <a:latin typeface="Times-Roman" charset="0"/>
              </a:rPr>
              <a:t>I(O) </a:t>
            </a:r>
            <a:r>
              <a:rPr lang="en-US" sz="2400" dirty="0">
                <a:latin typeface="Times-Roman" charset="0"/>
                <a:sym typeface="Symbol" charset="0"/>
              </a:rPr>
              <a:t> I(S) </a:t>
            </a:r>
          </a:p>
          <a:p>
            <a:pPr lvl="2" eaLnBrk="1" hangingPunct="1">
              <a:lnSpc>
                <a:spcPct val="80000"/>
              </a:lnSpc>
              <a:buFont typeface="Wingdings" charset="0"/>
              <a:buChar char="§"/>
              <a:defRPr/>
            </a:pPr>
            <a:r>
              <a:rPr lang="en-US" sz="2000" dirty="0">
                <a:sym typeface="Symbol" charset="0"/>
              </a:rPr>
              <a:t>(if </a:t>
            </a:r>
            <a:r>
              <a:rPr lang="en-US" sz="2000" dirty="0">
                <a:latin typeface="Times-Roman" charset="0"/>
                <a:sym typeface="Symbol" charset="0"/>
              </a:rPr>
              <a:t>S</a:t>
            </a:r>
            <a:r>
              <a:rPr lang="en-US" sz="2000" dirty="0">
                <a:sym typeface="Symbol" charset="0"/>
              </a:rPr>
              <a:t> writes </a:t>
            </a:r>
            <a:r>
              <a:rPr lang="en-US" sz="2000" dirty="0">
                <a:latin typeface="Times-Roman" charset="0"/>
                <a:sym typeface="Symbol" charset="0"/>
              </a:rPr>
              <a:t>O</a:t>
            </a:r>
            <a:r>
              <a:rPr lang="en-US" sz="2000" dirty="0">
                <a:sym typeface="Symbol" charset="0"/>
              </a:rPr>
              <a:t>, the integrity of </a:t>
            </a:r>
            <a:r>
              <a:rPr lang="en-US" sz="2000" dirty="0">
                <a:latin typeface="Times-Roman" charset="0"/>
                <a:sym typeface="Symbol" charset="0"/>
              </a:rPr>
              <a:t>O</a:t>
            </a:r>
            <a:r>
              <a:rPr lang="en-US" sz="2000" dirty="0">
                <a:sym typeface="Symbol" charset="0"/>
              </a:rPr>
              <a:t> </a:t>
            </a:r>
            <a:r>
              <a:rPr lang="en-US" sz="2000" dirty="0">
                <a:latin typeface="Times-Roman" charset="0"/>
                <a:sym typeface="Symbol" charset="0"/>
              </a:rPr>
              <a:t></a:t>
            </a:r>
            <a:r>
              <a:rPr lang="en-US" sz="2000" dirty="0">
                <a:sym typeface="Symbol" charset="0"/>
              </a:rPr>
              <a:t> that of </a:t>
            </a:r>
            <a:r>
              <a:rPr lang="en-US" sz="2000" dirty="0">
                <a:latin typeface="Times-Roman" charset="0"/>
                <a:sym typeface="Symbol" charset="0"/>
              </a:rPr>
              <a:t>S</a:t>
            </a:r>
            <a:r>
              <a:rPr lang="en-US" sz="2000" dirty="0">
                <a:sym typeface="Symbol" charset="0"/>
              </a:rPr>
              <a:t>)</a:t>
            </a:r>
          </a:p>
          <a:p>
            <a:pPr lvl="1" eaLnBrk="1" hangingPunct="1">
              <a:lnSpc>
                <a:spcPct val="80000"/>
              </a:lnSpc>
              <a:defRPr/>
            </a:pPr>
            <a:endParaRPr lang="en-US" sz="2400" dirty="0">
              <a:sym typeface="Symbol" charset="0"/>
            </a:endParaRPr>
          </a:p>
          <a:p>
            <a:pPr lvl="1" eaLnBrk="1" hangingPunct="1">
              <a:lnSpc>
                <a:spcPct val="80000"/>
              </a:lnSpc>
              <a:defRPr/>
            </a:pPr>
            <a:r>
              <a:rPr lang="en-US" sz="2400" dirty="0">
                <a:latin typeface="Times-Roman" charset="0"/>
              </a:rPr>
              <a:t>S</a:t>
            </a:r>
            <a:r>
              <a:rPr lang="en-US" sz="2400" dirty="0"/>
              <a:t> reads </a:t>
            </a:r>
            <a:r>
              <a:rPr lang="en-US" sz="2400" dirty="0">
                <a:latin typeface="Times-Roman" charset="0"/>
              </a:rPr>
              <a:t>O</a:t>
            </a:r>
            <a:r>
              <a:rPr lang="en-US" sz="2400" dirty="0"/>
              <a:t> then </a:t>
            </a:r>
            <a:r>
              <a:rPr lang="en-US" sz="2400" dirty="0">
                <a:latin typeface="Times-Roman" charset="0"/>
              </a:rPr>
              <a:t>I(S) = min(I(S), I(O))</a:t>
            </a:r>
            <a:r>
              <a:rPr lang="en-US" sz="2400" dirty="0">
                <a:latin typeface="Times-Roman" charset="0"/>
                <a:sym typeface="Symbol" charset="0"/>
              </a:rPr>
              <a:t> </a:t>
            </a:r>
          </a:p>
          <a:p>
            <a:pPr lvl="2" eaLnBrk="1" hangingPunct="1">
              <a:lnSpc>
                <a:spcPct val="80000"/>
              </a:lnSpc>
              <a:buFont typeface="Wingdings" charset="0"/>
              <a:buChar char="§"/>
              <a:defRPr/>
            </a:pPr>
            <a:r>
              <a:rPr lang="en-US" sz="2000" dirty="0">
                <a:sym typeface="Symbol" charset="0"/>
              </a:rPr>
              <a:t>(if </a:t>
            </a:r>
            <a:r>
              <a:rPr lang="en-US" sz="2000" dirty="0">
                <a:latin typeface="Times-Roman" charset="0"/>
                <a:sym typeface="Symbol" charset="0"/>
              </a:rPr>
              <a:t>S</a:t>
            </a:r>
            <a:r>
              <a:rPr lang="en-US" sz="2000" dirty="0">
                <a:sym typeface="Symbol" charset="0"/>
              </a:rPr>
              <a:t> reads </a:t>
            </a:r>
            <a:r>
              <a:rPr lang="en-US" sz="2000" dirty="0">
                <a:latin typeface="Times-Roman" charset="0"/>
                <a:sym typeface="Symbol" charset="0"/>
              </a:rPr>
              <a:t>O</a:t>
            </a:r>
            <a:r>
              <a:rPr lang="en-US" sz="2000" dirty="0">
                <a:sym typeface="Symbol" charset="0"/>
              </a:rPr>
              <a:t>, the integrity of </a:t>
            </a:r>
            <a:r>
              <a:rPr lang="en-US" sz="2000" dirty="0">
                <a:latin typeface="Times-Roman" charset="0"/>
                <a:sym typeface="Symbol" charset="0"/>
              </a:rPr>
              <a:t>S</a:t>
            </a:r>
            <a:r>
              <a:rPr lang="en-US" sz="2000" dirty="0">
                <a:sym typeface="Symbol" charset="0"/>
              </a:rPr>
              <a:t> is the minimum integrity of</a:t>
            </a:r>
            <a:r>
              <a:rPr lang="en-US" sz="2000" dirty="0">
                <a:latin typeface="Times-Roman" charset="0"/>
                <a:sym typeface="Symbol" charset="0"/>
              </a:rPr>
              <a:t> S</a:t>
            </a:r>
            <a:r>
              <a:rPr lang="en-US" sz="2000" dirty="0">
                <a:sym typeface="Symbol" charset="0"/>
              </a:rPr>
              <a:t> and </a:t>
            </a:r>
            <a:r>
              <a:rPr lang="en-US" sz="2000" dirty="0">
                <a:latin typeface="Times-Roman" charset="0"/>
                <a:sym typeface="Symbol" charset="0"/>
              </a:rPr>
              <a:t>O</a:t>
            </a:r>
            <a:r>
              <a:rPr lang="en-US" sz="2000" dirty="0">
                <a:sym typeface="Symbol" charset="0"/>
              </a:rPr>
              <a:t>)</a:t>
            </a:r>
          </a:p>
          <a:p>
            <a:pPr lvl="2" eaLnBrk="1" hangingPunct="1">
              <a:lnSpc>
                <a:spcPct val="80000"/>
              </a:lnSpc>
              <a:buFont typeface="Wingdings" charset="0"/>
              <a:buChar char="§"/>
              <a:defRPr/>
            </a:pPr>
            <a:r>
              <a:rPr lang="en-US" sz="2000" dirty="0">
                <a:latin typeface="Times-Roman" charset="0"/>
                <a:sym typeface="Symbol" charset="0"/>
              </a:rPr>
              <a:t>S</a:t>
            </a:r>
            <a:r>
              <a:rPr lang="en-US" sz="2000" dirty="0">
                <a:sym typeface="Symbol" charset="0"/>
              </a:rPr>
              <a:t> use less trusted data (</a:t>
            </a:r>
            <a:r>
              <a:rPr lang="en-US" sz="2000" dirty="0">
                <a:latin typeface="Times-Roman" charset="0"/>
              </a:rPr>
              <a:t>I(O) </a:t>
            </a:r>
            <a:r>
              <a:rPr lang="en-US" sz="2000" dirty="0">
                <a:latin typeface="Times-Roman" charset="0"/>
                <a:sym typeface="Symbol" charset="0"/>
              </a:rPr>
              <a:t> I(S)</a:t>
            </a:r>
            <a:r>
              <a:rPr lang="en-US" sz="2000" dirty="0">
                <a:sym typeface="Symbol" charset="0"/>
              </a:rPr>
              <a:t>) to operate, the integrity level of </a:t>
            </a:r>
            <a:r>
              <a:rPr lang="en-US" sz="2000" dirty="0">
                <a:latin typeface="Times-Roman" charset="0"/>
                <a:sym typeface="Symbol" charset="0"/>
              </a:rPr>
              <a:t>S</a:t>
            </a:r>
            <a:r>
              <a:rPr lang="en-US" sz="2000" dirty="0">
                <a:sym typeface="Symbol" charset="0"/>
              </a:rPr>
              <a:t> is will be decreased. </a:t>
            </a:r>
            <a:endParaRPr lang="en-US" sz="2000" dirty="0"/>
          </a:p>
        </p:txBody>
      </p:sp>
      <p:sp>
        <p:nvSpPr>
          <p:cNvPr id="4" name="Footer Placeholder 3">
            <a:extLst>
              <a:ext uri="{FF2B5EF4-FFF2-40B4-BE49-F238E27FC236}">
                <a16:creationId xmlns:a16="http://schemas.microsoft.com/office/drawing/2014/main" id="{9F25C6D5-75B9-184B-A7EF-5A4B43AFE497}"/>
              </a:ext>
            </a:extLst>
          </p:cNvPr>
          <p:cNvSpPr>
            <a:spLocks noGrp="1"/>
          </p:cNvSpPr>
          <p:nvPr>
            <p:ph type="ftr" sz="quarter" idx="10"/>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eaLnBrk="0" hangingPunct="0">
              <a:defRPr sz="2400">
                <a:solidFill>
                  <a:schemeClr val="tx1"/>
                </a:solidFill>
                <a:latin typeface="Comic Sans MS" panose="030F0902030302020204" pitchFamily="66" charset="0"/>
                <a:ea typeface="ＭＳ Ｐゴシック" panose="020B0600070205080204" pitchFamily="34" charset="-128"/>
              </a:defRPr>
            </a:lvl1pPr>
            <a:lvl2pPr marL="742950" indent="-285750" eaLnBrk="0" hangingPunct="0">
              <a:defRPr sz="2400">
                <a:solidFill>
                  <a:schemeClr val="tx1"/>
                </a:solidFill>
                <a:latin typeface="Comic Sans MS" panose="030F0902030302020204" pitchFamily="66" charset="0"/>
                <a:ea typeface="ＭＳ Ｐゴシック" panose="020B0600070205080204" pitchFamily="34" charset="-128"/>
              </a:defRPr>
            </a:lvl2pPr>
            <a:lvl3pPr marL="1143000" indent="-228600" eaLnBrk="0" hangingPunct="0">
              <a:defRPr sz="2400">
                <a:solidFill>
                  <a:schemeClr val="tx1"/>
                </a:solidFill>
                <a:latin typeface="Comic Sans MS" panose="030F0902030302020204" pitchFamily="66" charset="0"/>
                <a:ea typeface="ＭＳ Ｐゴシック" panose="020B0600070205080204" pitchFamily="34" charset="-128"/>
              </a:defRPr>
            </a:lvl3pPr>
            <a:lvl4pPr marL="1600200" indent="-228600" eaLnBrk="0" hangingPunct="0">
              <a:defRPr sz="2400">
                <a:solidFill>
                  <a:schemeClr val="tx1"/>
                </a:solidFill>
                <a:latin typeface="Comic Sans MS" panose="030F0902030302020204" pitchFamily="66" charset="0"/>
                <a:ea typeface="ＭＳ Ｐゴシック" panose="020B0600070205080204" pitchFamily="34" charset="-128"/>
              </a:defRPr>
            </a:lvl4pPr>
            <a:lvl5pPr marL="2057400" indent="-228600" eaLnBrk="0" hangingPunct="0">
              <a:defRPr sz="2400">
                <a:solidFill>
                  <a:schemeClr val="tx1"/>
                </a:solidFill>
                <a:latin typeface="Comic Sans MS" panose="030F0902030302020204" pitchFamily="66"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Comic Sans MS" panose="030F0902030302020204" pitchFamily="66"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Comic Sans MS" panose="030F0902030302020204" pitchFamily="66"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Comic Sans MS" panose="030F0902030302020204" pitchFamily="66"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Comic Sans MS" panose="030F0902030302020204" pitchFamily="66" charset="0"/>
                <a:ea typeface="ＭＳ Ｐゴシック" panose="020B0600070205080204" pitchFamily="34" charset="-128"/>
              </a:defRPr>
            </a:lvl9pPr>
          </a:lstStyle>
          <a:p>
            <a:pPr eaLnBrk="1" hangingPunct="1"/>
            <a:r>
              <a:rPr lang="en-US" altLang="en-US" sz="1400"/>
              <a:t> Part 2 </a:t>
            </a:r>
            <a:r>
              <a:rPr lang="en-US" altLang="en-US" sz="1400">
                <a:sym typeface="Symbol" pitchFamily="2" charset="2"/>
              </a:rPr>
              <a:t></a:t>
            </a:r>
            <a:r>
              <a:rPr lang="en-US" altLang="en-US" sz="1400"/>
              <a:t> Access Control                                                                                                  </a:t>
            </a:r>
            <a:fld id="{FDBC1EF3-C00B-5B4F-991B-FCEC658B571E}" type="slidenum">
              <a:rPr lang="en-US" altLang="en-US" sz="1400">
                <a:latin typeface="Times New Roman" panose="02020603050405020304" pitchFamily="18" charset="0"/>
              </a:rPr>
              <a:pPr eaLnBrk="1" hangingPunct="1"/>
              <a:t>47</a:t>
            </a:fld>
            <a:endParaRPr lang="en-US" altLang="en-US" sz="1400">
              <a:latin typeface="Times New Roman" panose="02020603050405020304" pitchFamily="18" charset="0"/>
            </a:endParaRPr>
          </a:p>
        </p:txBody>
      </p:sp>
    </p:spTree>
    <p:extLst>
      <p:ext uri="{BB962C8B-B14F-4D97-AF65-F5344CB8AC3E}">
        <p14:creationId xmlns:p14="http://schemas.microsoft.com/office/powerpoint/2010/main" val="176118294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Footer Placeholder 3">
            <a:extLst>
              <a:ext uri="{FF2B5EF4-FFF2-40B4-BE49-F238E27FC236}">
                <a16:creationId xmlns:a16="http://schemas.microsoft.com/office/drawing/2014/main" id="{B6CA8FDE-2C7D-A645-A123-5214E0A4C11D}"/>
              </a:ext>
            </a:extLst>
          </p:cNvPr>
          <p:cNvSpPr>
            <a:spLocks noGrp="1"/>
          </p:cNvSpPr>
          <p:nvPr>
            <p:ph type="ftr" sz="quarter" idx="10"/>
          </p:nvPr>
        </p:nvSpPr>
        <p:spPr>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eaLnBrk="0" hangingPunct="0">
              <a:defRPr sz="2400">
                <a:solidFill>
                  <a:schemeClr val="tx1"/>
                </a:solidFill>
                <a:latin typeface="Comic Sans MS" panose="030F0902030302020204" pitchFamily="66" charset="0"/>
                <a:ea typeface="ＭＳ Ｐゴシック" panose="020B0600070205080204" pitchFamily="34" charset="-128"/>
              </a:defRPr>
            </a:lvl1pPr>
            <a:lvl2pPr marL="742950" indent="-285750" eaLnBrk="0" hangingPunct="0">
              <a:defRPr sz="2400">
                <a:solidFill>
                  <a:schemeClr val="tx1"/>
                </a:solidFill>
                <a:latin typeface="Comic Sans MS" panose="030F0902030302020204" pitchFamily="66" charset="0"/>
                <a:ea typeface="ＭＳ Ｐゴシック" panose="020B0600070205080204" pitchFamily="34" charset="-128"/>
              </a:defRPr>
            </a:lvl2pPr>
            <a:lvl3pPr marL="1143000" indent="-228600" eaLnBrk="0" hangingPunct="0">
              <a:defRPr sz="2400">
                <a:solidFill>
                  <a:schemeClr val="tx1"/>
                </a:solidFill>
                <a:latin typeface="Comic Sans MS" panose="030F0902030302020204" pitchFamily="66" charset="0"/>
                <a:ea typeface="ＭＳ Ｐゴシック" panose="020B0600070205080204" pitchFamily="34" charset="-128"/>
              </a:defRPr>
            </a:lvl3pPr>
            <a:lvl4pPr marL="1600200" indent="-228600" eaLnBrk="0" hangingPunct="0">
              <a:defRPr sz="2400">
                <a:solidFill>
                  <a:schemeClr val="tx1"/>
                </a:solidFill>
                <a:latin typeface="Comic Sans MS" panose="030F0902030302020204" pitchFamily="66" charset="0"/>
                <a:ea typeface="ＭＳ Ｐゴシック" panose="020B0600070205080204" pitchFamily="34" charset="-128"/>
              </a:defRPr>
            </a:lvl4pPr>
            <a:lvl5pPr marL="2057400" indent="-228600" eaLnBrk="0" hangingPunct="0">
              <a:defRPr sz="2400">
                <a:solidFill>
                  <a:schemeClr val="tx1"/>
                </a:solidFill>
                <a:latin typeface="Comic Sans MS" panose="030F0902030302020204" pitchFamily="66"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Comic Sans MS" panose="030F0902030302020204" pitchFamily="66"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Comic Sans MS" panose="030F0902030302020204" pitchFamily="66"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Comic Sans MS" panose="030F0902030302020204" pitchFamily="66"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Comic Sans MS" panose="030F0902030302020204" pitchFamily="66" charset="0"/>
                <a:ea typeface="ＭＳ Ｐゴシック" panose="020B0600070205080204" pitchFamily="34" charset="-128"/>
              </a:defRPr>
            </a:lvl9pPr>
          </a:lstStyle>
          <a:p>
            <a:pPr eaLnBrk="1" hangingPunct="1"/>
            <a:r>
              <a:rPr lang="en-US" altLang="en-US" sz="1400"/>
              <a:t> Part 2 </a:t>
            </a:r>
            <a:r>
              <a:rPr lang="en-US" altLang="en-US" sz="1400">
                <a:sym typeface="Symbol" pitchFamily="2" charset="2"/>
              </a:rPr>
              <a:t></a:t>
            </a:r>
            <a:r>
              <a:rPr lang="en-US" altLang="en-US" sz="1400"/>
              <a:t> Access Control                                                                                                  </a:t>
            </a:r>
            <a:fld id="{78EBB1C9-EDB2-5D49-AAE9-2023C5FAE00C}" type="slidenum">
              <a:rPr lang="en-US" altLang="en-US" sz="1400">
                <a:latin typeface="Times New Roman" panose="02020603050405020304" pitchFamily="18" charset="0"/>
              </a:rPr>
              <a:pPr eaLnBrk="1" hangingPunct="1"/>
              <a:t>48</a:t>
            </a:fld>
            <a:endParaRPr lang="en-US" altLang="en-US" sz="1400">
              <a:latin typeface="Times New Roman" panose="02020603050405020304" pitchFamily="18" charset="0"/>
            </a:endParaRPr>
          </a:p>
        </p:txBody>
      </p:sp>
      <p:sp>
        <p:nvSpPr>
          <p:cNvPr id="191490" name="Rectangle 2">
            <a:extLst>
              <a:ext uri="{FF2B5EF4-FFF2-40B4-BE49-F238E27FC236}">
                <a16:creationId xmlns:a16="http://schemas.microsoft.com/office/drawing/2014/main" id="{1E7DC865-C28A-9F45-8C9D-E86FC85FDEBF}"/>
              </a:ext>
            </a:extLst>
          </p:cNvPr>
          <p:cNvSpPr>
            <a:spLocks noGrp="1" noChangeArrowheads="1"/>
          </p:cNvSpPr>
          <p:nvPr>
            <p:ph type="title"/>
          </p:nvPr>
        </p:nvSpPr>
        <p:spPr/>
        <p:txBody>
          <a:bodyPr/>
          <a:lstStyle/>
          <a:p>
            <a:pPr eaLnBrk="1" hangingPunct="1">
              <a:defRPr/>
            </a:pPr>
            <a:r>
              <a:rPr lang="en-US">
                <a:cs typeface="+mj-cs"/>
              </a:rPr>
              <a:t>BLP vs Biba</a:t>
            </a:r>
          </a:p>
        </p:txBody>
      </p:sp>
      <p:sp>
        <p:nvSpPr>
          <p:cNvPr id="191492" name="Rectangle 4">
            <a:extLst>
              <a:ext uri="{FF2B5EF4-FFF2-40B4-BE49-F238E27FC236}">
                <a16:creationId xmlns:a16="http://schemas.microsoft.com/office/drawing/2014/main" id="{15C37097-4B1F-5B4D-80B1-415DD9518117}"/>
              </a:ext>
            </a:extLst>
          </p:cNvPr>
          <p:cNvSpPr>
            <a:spLocks noChangeArrowheads="1"/>
          </p:cNvSpPr>
          <p:nvPr/>
        </p:nvSpPr>
        <p:spPr bwMode="auto">
          <a:xfrm>
            <a:off x="1295400" y="2895600"/>
            <a:ext cx="990600" cy="533400"/>
          </a:xfrm>
          <a:prstGeom prst="rect">
            <a:avLst/>
          </a:prstGeom>
          <a:solidFill>
            <a:schemeClr val="accent1">
              <a:alpha val="0"/>
            </a:schemeClr>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91493" name="Line 5">
            <a:extLst>
              <a:ext uri="{FF2B5EF4-FFF2-40B4-BE49-F238E27FC236}">
                <a16:creationId xmlns:a16="http://schemas.microsoft.com/office/drawing/2014/main" id="{CFAFED11-786F-8B45-85D5-47B881CD9DAD}"/>
              </a:ext>
            </a:extLst>
          </p:cNvPr>
          <p:cNvSpPr>
            <a:spLocks noChangeShapeType="1"/>
          </p:cNvSpPr>
          <p:nvPr/>
        </p:nvSpPr>
        <p:spPr bwMode="auto">
          <a:xfrm>
            <a:off x="609600" y="2590800"/>
            <a:ext cx="0" cy="2286000"/>
          </a:xfrm>
          <a:prstGeom prst="line">
            <a:avLst/>
          </a:prstGeom>
          <a:noFill/>
          <a:ln w="50800">
            <a:solidFill>
              <a:schemeClr val="tx1"/>
            </a:solidFill>
            <a:round/>
            <a:headEnd type="triangle" w="med" len="me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91494" name="Rectangle 6">
            <a:extLst>
              <a:ext uri="{FF2B5EF4-FFF2-40B4-BE49-F238E27FC236}">
                <a16:creationId xmlns:a16="http://schemas.microsoft.com/office/drawing/2014/main" id="{C602E1B6-1355-6A48-A458-355A03249B37}"/>
              </a:ext>
            </a:extLst>
          </p:cNvPr>
          <p:cNvSpPr>
            <a:spLocks noChangeArrowheads="1"/>
          </p:cNvSpPr>
          <p:nvPr/>
        </p:nvSpPr>
        <p:spPr bwMode="auto">
          <a:xfrm>
            <a:off x="182563" y="2884488"/>
            <a:ext cx="350837" cy="16875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lnSpc>
                <a:spcPct val="75000"/>
              </a:lnSpc>
              <a:defRPr/>
            </a:pPr>
            <a:r>
              <a:rPr lang="en-US">
                <a:latin typeface="Comic Sans MS" charset="0"/>
                <a:ea typeface="ＭＳ Ｐゴシック" charset="0"/>
              </a:rPr>
              <a:t>l</a:t>
            </a:r>
          </a:p>
          <a:p>
            <a:pPr algn="ctr">
              <a:lnSpc>
                <a:spcPct val="75000"/>
              </a:lnSpc>
              <a:defRPr/>
            </a:pPr>
            <a:r>
              <a:rPr lang="en-US">
                <a:latin typeface="Comic Sans MS" charset="0"/>
                <a:ea typeface="ＭＳ Ｐゴシック" charset="0"/>
              </a:rPr>
              <a:t>e</a:t>
            </a:r>
          </a:p>
          <a:p>
            <a:pPr algn="ctr">
              <a:lnSpc>
                <a:spcPct val="75000"/>
              </a:lnSpc>
              <a:defRPr/>
            </a:pPr>
            <a:r>
              <a:rPr lang="en-US">
                <a:latin typeface="Comic Sans MS" charset="0"/>
                <a:ea typeface="ＭＳ Ｐゴシック" charset="0"/>
              </a:rPr>
              <a:t>v</a:t>
            </a:r>
          </a:p>
          <a:p>
            <a:pPr algn="ctr">
              <a:lnSpc>
                <a:spcPct val="75000"/>
              </a:lnSpc>
              <a:defRPr/>
            </a:pPr>
            <a:r>
              <a:rPr lang="en-US">
                <a:latin typeface="Comic Sans MS" charset="0"/>
                <a:ea typeface="ＭＳ Ｐゴシック" charset="0"/>
              </a:rPr>
              <a:t>e</a:t>
            </a:r>
          </a:p>
          <a:p>
            <a:pPr algn="ctr">
              <a:lnSpc>
                <a:spcPct val="75000"/>
              </a:lnSpc>
              <a:defRPr/>
            </a:pPr>
            <a:r>
              <a:rPr lang="en-US">
                <a:latin typeface="Comic Sans MS" charset="0"/>
                <a:ea typeface="ＭＳ Ｐゴシック" charset="0"/>
              </a:rPr>
              <a:t>l</a:t>
            </a:r>
          </a:p>
        </p:txBody>
      </p:sp>
      <p:sp>
        <p:nvSpPr>
          <p:cNvPr id="191495" name="Rectangle 7">
            <a:extLst>
              <a:ext uri="{FF2B5EF4-FFF2-40B4-BE49-F238E27FC236}">
                <a16:creationId xmlns:a16="http://schemas.microsoft.com/office/drawing/2014/main" id="{A82543E7-A58C-074B-B0AA-8B104BD56551}"/>
              </a:ext>
            </a:extLst>
          </p:cNvPr>
          <p:cNvSpPr>
            <a:spLocks noChangeArrowheads="1"/>
          </p:cNvSpPr>
          <p:nvPr/>
        </p:nvSpPr>
        <p:spPr bwMode="auto">
          <a:xfrm>
            <a:off x="228600" y="1920875"/>
            <a:ext cx="784225" cy="5175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lang="en-US">
                <a:latin typeface="Comic Sans MS" charset="0"/>
                <a:ea typeface="ＭＳ Ｐゴシック" charset="0"/>
              </a:rPr>
              <a:t>high</a:t>
            </a:r>
          </a:p>
        </p:txBody>
      </p:sp>
      <p:sp>
        <p:nvSpPr>
          <p:cNvPr id="191496" name="Rectangle 8">
            <a:extLst>
              <a:ext uri="{FF2B5EF4-FFF2-40B4-BE49-F238E27FC236}">
                <a16:creationId xmlns:a16="http://schemas.microsoft.com/office/drawing/2014/main" id="{9485A031-85CB-374D-9250-79E7D9C5DABF}"/>
              </a:ext>
            </a:extLst>
          </p:cNvPr>
          <p:cNvSpPr>
            <a:spLocks noChangeArrowheads="1"/>
          </p:cNvSpPr>
          <p:nvPr/>
        </p:nvSpPr>
        <p:spPr bwMode="auto">
          <a:xfrm>
            <a:off x="304800" y="4816475"/>
            <a:ext cx="636588" cy="5175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lang="en-US">
                <a:latin typeface="Comic Sans MS" charset="0"/>
                <a:ea typeface="ＭＳ Ｐゴシック" charset="0"/>
              </a:rPr>
              <a:t>low</a:t>
            </a:r>
          </a:p>
        </p:txBody>
      </p:sp>
      <p:sp>
        <p:nvSpPr>
          <p:cNvPr id="191498" name="Rectangle 10">
            <a:extLst>
              <a:ext uri="{FF2B5EF4-FFF2-40B4-BE49-F238E27FC236}">
                <a16:creationId xmlns:a16="http://schemas.microsoft.com/office/drawing/2014/main" id="{F1F7DAD9-D114-8C48-A88F-DF34B2E18A0A}"/>
              </a:ext>
            </a:extLst>
          </p:cNvPr>
          <p:cNvSpPr>
            <a:spLocks noChangeArrowheads="1"/>
          </p:cNvSpPr>
          <p:nvPr/>
        </p:nvSpPr>
        <p:spPr bwMode="auto">
          <a:xfrm>
            <a:off x="1371600" y="3775075"/>
            <a:ext cx="79375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lang="en-US">
                <a:latin typeface="Times-Roman" charset="0"/>
                <a:ea typeface="ＭＳ Ｐゴシック" charset="0"/>
              </a:rPr>
              <a:t>L(</a:t>
            </a:r>
            <a:r>
              <a:rPr lang="en-US" b="1">
                <a:solidFill>
                  <a:srgbClr val="FF0000"/>
                </a:solidFill>
                <a:latin typeface="Times-Roman" charset="0"/>
                <a:ea typeface="ＭＳ Ｐゴシック" charset="0"/>
              </a:rPr>
              <a:t>O</a:t>
            </a:r>
            <a:r>
              <a:rPr lang="en-US">
                <a:latin typeface="Times-Roman" charset="0"/>
                <a:ea typeface="ＭＳ Ｐゴシック" charset="0"/>
              </a:rPr>
              <a:t>)</a:t>
            </a:r>
          </a:p>
        </p:txBody>
      </p:sp>
      <p:sp>
        <p:nvSpPr>
          <p:cNvPr id="191499" name="Rectangle 11">
            <a:extLst>
              <a:ext uri="{FF2B5EF4-FFF2-40B4-BE49-F238E27FC236}">
                <a16:creationId xmlns:a16="http://schemas.microsoft.com/office/drawing/2014/main" id="{574A5570-3EC3-A345-98F0-DC9A7C9263F5}"/>
              </a:ext>
            </a:extLst>
          </p:cNvPr>
          <p:cNvSpPr>
            <a:spLocks noChangeArrowheads="1"/>
          </p:cNvSpPr>
          <p:nvPr/>
        </p:nvSpPr>
        <p:spPr bwMode="auto">
          <a:xfrm>
            <a:off x="1295400" y="3733800"/>
            <a:ext cx="990600" cy="533400"/>
          </a:xfrm>
          <a:prstGeom prst="rect">
            <a:avLst/>
          </a:prstGeom>
          <a:solidFill>
            <a:schemeClr val="accent1">
              <a:alpha val="0"/>
            </a:schemeClr>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91500" name="Rectangle 12">
            <a:extLst>
              <a:ext uri="{FF2B5EF4-FFF2-40B4-BE49-F238E27FC236}">
                <a16:creationId xmlns:a16="http://schemas.microsoft.com/office/drawing/2014/main" id="{EB78A4A2-F357-E744-AF8A-34C04D263972}"/>
              </a:ext>
            </a:extLst>
          </p:cNvPr>
          <p:cNvSpPr>
            <a:spLocks noChangeArrowheads="1"/>
          </p:cNvSpPr>
          <p:nvPr/>
        </p:nvSpPr>
        <p:spPr bwMode="auto">
          <a:xfrm>
            <a:off x="1371600" y="2933700"/>
            <a:ext cx="79375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lang="en-US">
                <a:latin typeface="Times-Roman" charset="0"/>
                <a:ea typeface="ＭＳ Ｐゴシック" charset="0"/>
              </a:rPr>
              <a:t>L(</a:t>
            </a:r>
            <a:r>
              <a:rPr lang="en-US" b="1">
                <a:solidFill>
                  <a:srgbClr val="1320EE"/>
                </a:solidFill>
                <a:latin typeface="Times-Roman" charset="0"/>
                <a:ea typeface="ＭＳ Ｐゴシック" charset="0"/>
              </a:rPr>
              <a:t>O</a:t>
            </a:r>
            <a:r>
              <a:rPr lang="en-US">
                <a:latin typeface="Times-Roman" charset="0"/>
                <a:ea typeface="ＭＳ Ｐゴシック" charset="0"/>
              </a:rPr>
              <a:t>)</a:t>
            </a:r>
          </a:p>
        </p:txBody>
      </p:sp>
      <p:sp>
        <p:nvSpPr>
          <p:cNvPr id="191501" name="Rectangle 13">
            <a:extLst>
              <a:ext uri="{FF2B5EF4-FFF2-40B4-BE49-F238E27FC236}">
                <a16:creationId xmlns:a16="http://schemas.microsoft.com/office/drawing/2014/main" id="{7B6D025B-45D9-F249-B8B0-83EA173BE8CC}"/>
              </a:ext>
            </a:extLst>
          </p:cNvPr>
          <p:cNvSpPr>
            <a:spLocks noChangeArrowheads="1"/>
          </p:cNvSpPr>
          <p:nvPr/>
        </p:nvSpPr>
        <p:spPr bwMode="auto">
          <a:xfrm>
            <a:off x="2743200" y="2895600"/>
            <a:ext cx="990600" cy="533400"/>
          </a:xfrm>
          <a:prstGeom prst="rect">
            <a:avLst/>
          </a:prstGeom>
          <a:solidFill>
            <a:schemeClr val="accent1">
              <a:alpha val="0"/>
            </a:schemeClr>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91502" name="Rectangle 14">
            <a:extLst>
              <a:ext uri="{FF2B5EF4-FFF2-40B4-BE49-F238E27FC236}">
                <a16:creationId xmlns:a16="http://schemas.microsoft.com/office/drawing/2014/main" id="{182A6D14-5A3F-1440-B5BE-861A18B7590C}"/>
              </a:ext>
            </a:extLst>
          </p:cNvPr>
          <p:cNvSpPr>
            <a:spLocks noChangeArrowheads="1"/>
          </p:cNvSpPr>
          <p:nvPr/>
        </p:nvSpPr>
        <p:spPr bwMode="auto">
          <a:xfrm>
            <a:off x="2863850" y="2933700"/>
            <a:ext cx="79375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lang="en-US">
                <a:latin typeface="Times-Roman" charset="0"/>
                <a:ea typeface="ＭＳ Ｐゴシック" charset="0"/>
              </a:rPr>
              <a:t>L(</a:t>
            </a:r>
            <a:r>
              <a:rPr lang="en-US" b="1">
                <a:latin typeface="Times-Roman" charset="0"/>
                <a:ea typeface="ＭＳ Ｐゴシック" charset="0"/>
              </a:rPr>
              <a:t>O</a:t>
            </a:r>
            <a:r>
              <a:rPr lang="en-US">
                <a:latin typeface="Times-Roman" charset="0"/>
                <a:ea typeface="ＭＳ Ｐゴシック" charset="0"/>
              </a:rPr>
              <a:t>)</a:t>
            </a:r>
          </a:p>
        </p:txBody>
      </p:sp>
      <p:sp>
        <p:nvSpPr>
          <p:cNvPr id="191503" name="Line 15">
            <a:extLst>
              <a:ext uri="{FF2B5EF4-FFF2-40B4-BE49-F238E27FC236}">
                <a16:creationId xmlns:a16="http://schemas.microsoft.com/office/drawing/2014/main" id="{E044645A-C854-D247-99F6-C355991CF85A}"/>
              </a:ext>
            </a:extLst>
          </p:cNvPr>
          <p:cNvSpPr>
            <a:spLocks noChangeShapeType="1"/>
          </p:cNvSpPr>
          <p:nvPr/>
        </p:nvSpPr>
        <p:spPr bwMode="auto">
          <a:xfrm>
            <a:off x="2286000" y="3124200"/>
            <a:ext cx="457200" cy="0"/>
          </a:xfrm>
          <a:prstGeom prst="line">
            <a:avLst/>
          </a:prstGeom>
          <a:noFill/>
          <a:ln w="508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91504" name="Line 16">
            <a:extLst>
              <a:ext uri="{FF2B5EF4-FFF2-40B4-BE49-F238E27FC236}">
                <a16:creationId xmlns:a16="http://schemas.microsoft.com/office/drawing/2014/main" id="{B9552EA3-D111-6348-9A68-0DB0B998F355}"/>
              </a:ext>
            </a:extLst>
          </p:cNvPr>
          <p:cNvSpPr>
            <a:spLocks noChangeShapeType="1"/>
          </p:cNvSpPr>
          <p:nvPr/>
        </p:nvSpPr>
        <p:spPr bwMode="auto">
          <a:xfrm flipV="1">
            <a:off x="2286000" y="3352800"/>
            <a:ext cx="457200" cy="609600"/>
          </a:xfrm>
          <a:prstGeom prst="line">
            <a:avLst/>
          </a:prstGeom>
          <a:noFill/>
          <a:ln w="508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91505" name="Rectangle 17">
            <a:extLst>
              <a:ext uri="{FF2B5EF4-FFF2-40B4-BE49-F238E27FC236}">
                <a16:creationId xmlns:a16="http://schemas.microsoft.com/office/drawing/2014/main" id="{5725D58E-41CC-BC4C-9C13-787B35707FB3}"/>
              </a:ext>
            </a:extLst>
          </p:cNvPr>
          <p:cNvSpPr>
            <a:spLocks noChangeArrowheads="1"/>
          </p:cNvSpPr>
          <p:nvPr/>
        </p:nvSpPr>
        <p:spPr bwMode="auto">
          <a:xfrm>
            <a:off x="1444625" y="4816475"/>
            <a:ext cx="2320925" cy="5175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lang="en-US" b="1">
                <a:latin typeface="Comic Sans MS" charset="0"/>
                <a:ea typeface="ＭＳ Ｐゴシック" charset="0"/>
              </a:rPr>
              <a:t>Confidentiality</a:t>
            </a:r>
          </a:p>
        </p:txBody>
      </p:sp>
      <p:sp>
        <p:nvSpPr>
          <p:cNvPr id="191506" name="Rectangle 18">
            <a:extLst>
              <a:ext uri="{FF2B5EF4-FFF2-40B4-BE49-F238E27FC236}">
                <a16:creationId xmlns:a16="http://schemas.microsoft.com/office/drawing/2014/main" id="{5ADA26E6-39E3-F146-90DF-A673187A04E8}"/>
              </a:ext>
            </a:extLst>
          </p:cNvPr>
          <p:cNvSpPr>
            <a:spLocks noChangeArrowheads="1"/>
          </p:cNvSpPr>
          <p:nvPr/>
        </p:nvSpPr>
        <p:spPr bwMode="auto">
          <a:xfrm>
            <a:off x="1905000" y="1773238"/>
            <a:ext cx="793750" cy="5873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lang="en-US" sz="2800" b="1">
                <a:latin typeface="Comic Sans MS" charset="0"/>
                <a:ea typeface="ＭＳ Ｐゴシック" charset="0"/>
              </a:rPr>
              <a:t>BLP</a:t>
            </a:r>
            <a:endParaRPr lang="en-US" sz="2800" b="1">
              <a:solidFill>
                <a:srgbClr val="FF0000"/>
              </a:solidFill>
              <a:latin typeface="Comic Sans MS" charset="0"/>
              <a:ea typeface="ＭＳ Ｐゴシック" charset="0"/>
            </a:endParaRPr>
          </a:p>
        </p:txBody>
      </p:sp>
      <p:sp>
        <p:nvSpPr>
          <p:cNvPr id="191507" name="Rectangle 19">
            <a:extLst>
              <a:ext uri="{FF2B5EF4-FFF2-40B4-BE49-F238E27FC236}">
                <a16:creationId xmlns:a16="http://schemas.microsoft.com/office/drawing/2014/main" id="{4F03C581-1CCF-FC4D-88DD-5CB9D67E9B2E}"/>
              </a:ext>
            </a:extLst>
          </p:cNvPr>
          <p:cNvSpPr>
            <a:spLocks noChangeArrowheads="1"/>
          </p:cNvSpPr>
          <p:nvPr/>
        </p:nvSpPr>
        <p:spPr bwMode="auto">
          <a:xfrm>
            <a:off x="5257800" y="2895600"/>
            <a:ext cx="990600" cy="533400"/>
          </a:xfrm>
          <a:prstGeom prst="rect">
            <a:avLst/>
          </a:prstGeom>
          <a:solidFill>
            <a:schemeClr val="accent1">
              <a:alpha val="0"/>
            </a:schemeClr>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91508" name="Rectangle 20">
            <a:extLst>
              <a:ext uri="{FF2B5EF4-FFF2-40B4-BE49-F238E27FC236}">
                <a16:creationId xmlns:a16="http://schemas.microsoft.com/office/drawing/2014/main" id="{0EB9E03A-1502-6F4E-B0A0-B4C97ADDDC4A}"/>
              </a:ext>
            </a:extLst>
          </p:cNvPr>
          <p:cNvSpPr>
            <a:spLocks noChangeArrowheads="1"/>
          </p:cNvSpPr>
          <p:nvPr/>
        </p:nvSpPr>
        <p:spPr bwMode="auto">
          <a:xfrm>
            <a:off x="5349875" y="3775075"/>
            <a:ext cx="708025"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lang="en-US">
                <a:latin typeface="Times-Roman" charset="0"/>
                <a:ea typeface="ＭＳ Ｐゴシック" charset="0"/>
              </a:rPr>
              <a:t>I(</a:t>
            </a:r>
            <a:r>
              <a:rPr lang="en-US" b="1">
                <a:solidFill>
                  <a:srgbClr val="FF0000"/>
                </a:solidFill>
                <a:latin typeface="Times-Roman" charset="0"/>
                <a:ea typeface="ＭＳ Ｐゴシック" charset="0"/>
              </a:rPr>
              <a:t>O</a:t>
            </a:r>
            <a:r>
              <a:rPr lang="en-US">
                <a:latin typeface="Times-Roman" charset="0"/>
                <a:ea typeface="ＭＳ Ｐゴシック" charset="0"/>
              </a:rPr>
              <a:t>)</a:t>
            </a:r>
          </a:p>
        </p:txBody>
      </p:sp>
      <p:sp>
        <p:nvSpPr>
          <p:cNvPr id="191509" name="Rectangle 21">
            <a:extLst>
              <a:ext uri="{FF2B5EF4-FFF2-40B4-BE49-F238E27FC236}">
                <a16:creationId xmlns:a16="http://schemas.microsoft.com/office/drawing/2014/main" id="{88FB8490-F7C5-4248-A4A9-FF5A95107009}"/>
              </a:ext>
            </a:extLst>
          </p:cNvPr>
          <p:cNvSpPr>
            <a:spLocks noChangeArrowheads="1"/>
          </p:cNvSpPr>
          <p:nvPr/>
        </p:nvSpPr>
        <p:spPr bwMode="auto">
          <a:xfrm>
            <a:off x="5257800" y="3733800"/>
            <a:ext cx="990600" cy="533400"/>
          </a:xfrm>
          <a:prstGeom prst="rect">
            <a:avLst/>
          </a:prstGeom>
          <a:solidFill>
            <a:schemeClr val="accent1">
              <a:alpha val="0"/>
            </a:schemeClr>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91510" name="Rectangle 22">
            <a:extLst>
              <a:ext uri="{FF2B5EF4-FFF2-40B4-BE49-F238E27FC236}">
                <a16:creationId xmlns:a16="http://schemas.microsoft.com/office/drawing/2014/main" id="{6FB3B439-15B2-D645-931F-176114C883BF}"/>
              </a:ext>
            </a:extLst>
          </p:cNvPr>
          <p:cNvSpPr>
            <a:spLocks noChangeArrowheads="1"/>
          </p:cNvSpPr>
          <p:nvPr/>
        </p:nvSpPr>
        <p:spPr bwMode="auto">
          <a:xfrm>
            <a:off x="5410200" y="2933700"/>
            <a:ext cx="708025"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lang="en-US">
                <a:latin typeface="Times-Roman" charset="0"/>
                <a:ea typeface="ＭＳ Ｐゴシック" charset="0"/>
              </a:rPr>
              <a:t>I(</a:t>
            </a:r>
            <a:r>
              <a:rPr lang="en-US" b="1">
                <a:solidFill>
                  <a:srgbClr val="1320EE"/>
                </a:solidFill>
                <a:latin typeface="Times-Roman" charset="0"/>
                <a:ea typeface="ＭＳ Ｐゴシック" charset="0"/>
              </a:rPr>
              <a:t>O</a:t>
            </a:r>
            <a:r>
              <a:rPr lang="en-US">
                <a:latin typeface="Times-Roman" charset="0"/>
                <a:ea typeface="ＭＳ Ｐゴシック" charset="0"/>
              </a:rPr>
              <a:t>)</a:t>
            </a:r>
          </a:p>
        </p:txBody>
      </p:sp>
      <p:sp>
        <p:nvSpPr>
          <p:cNvPr id="191511" name="Rectangle 23">
            <a:extLst>
              <a:ext uri="{FF2B5EF4-FFF2-40B4-BE49-F238E27FC236}">
                <a16:creationId xmlns:a16="http://schemas.microsoft.com/office/drawing/2014/main" id="{39E63DA4-3875-E84D-85C7-4D8C9BE35F8A}"/>
              </a:ext>
            </a:extLst>
          </p:cNvPr>
          <p:cNvSpPr>
            <a:spLocks noChangeArrowheads="1"/>
          </p:cNvSpPr>
          <p:nvPr/>
        </p:nvSpPr>
        <p:spPr bwMode="auto">
          <a:xfrm>
            <a:off x="6705600" y="3733800"/>
            <a:ext cx="990600" cy="533400"/>
          </a:xfrm>
          <a:prstGeom prst="rect">
            <a:avLst/>
          </a:prstGeom>
          <a:solidFill>
            <a:schemeClr val="accent1">
              <a:alpha val="0"/>
            </a:schemeClr>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91512" name="Rectangle 24">
            <a:extLst>
              <a:ext uri="{FF2B5EF4-FFF2-40B4-BE49-F238E27FC236}">
                <a16:creationId xmlns:a16="http://schemas.microsoft.com/office/drawing/2014/main" id="{94ADB948-C8CF-724A-A644-E3EF7E69609A}"/>
              </a:ext>
            </a:extLst>
          </p:cNvPr>
          <p:cNvSpPr>
            <a:spLocks noChangeArrowheads="1"/>
          </p:cNvSpPr>
          <p:nvPr/>
        </p:nvSpPr>
        <p:spPr bwMode="auto">
          <a:xfrm>
            <a:off x="6910388" y="3775075"/>
            <a:ext cx="708025"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lang="en-US">
                <a:latin typeface="Times-Roman" charset="0"/>
                <a:ea typeface="ＭＳ Ｐゴシック" charset="0"/>
              </a:rPr>
              <a:t>I(</a:t>
            </a:r>
            <a:r>
              <a:rPr lang="en-US" b="1">
                <a:latin typeface="Times-Roman" charset="0"/>
                <a:ea typeface="ＭＳ Ｐゴシック" charset="0"/>
              </a:rPr>
              <a:t>O</a:t>
            </a:r>
            <a:r>
              <a:rPr lang="en-US">
                <a:latin typeface="Times-Roman" charset="0"/>
                <a:ea typeface="ＭＳ Ｐゴシック" charset="0"/>
              </a:rPr>
              <a:t>)</a:t>
            </a:r>
          </a:p>
        </p:txBody>
      </p:sp>
      <p:sp>
        <p:nvSpPr>
          <p:cNvPr id="191513" name="Line 25">
            <a:extLst>
              <a:ext uri="{FF2B5EF4-FFF2-40B4-BE49-F238E27FC236}">
                <a16:creationId xmlns:a16="http://schemas.microsoft.com/office/drawing/2014/main" id="{0211E3A2-3A1B-BB4B-9AF4-5E898D362F1A}"/>
              </a:ext>
            </a:extLst>
          </p:cNvPr>
          <p:cNvSpPr>
            <a:spLocks noChangeShapeType="1"/>
          </p:cNvSpPr>
          <p:nvPr/>
        </p:nvSpPr>
        <p:spPr bwMode="auto">
          <a:xfrm>
            <a:off x="6248400" y="3140075"/>
            <a:ext cx="457200" cy="593725"/>
          </a:xfrm>
          <a:prstGeom prst="line">
            <a:avLst/>
          </a:prstGeom>
          <a:noFill/>
          <a:ln w="508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91516" name="Rectangle 28">
            <a:extLst>
              <a:ext uri="{FF2B5EF4-FFF2-40B4-BE49-F238E27FC236}">
                <a16:creationId xmlns:a16="http://schemas.microsoft.com/office/drawing/2014/main" id="{6BE7E941-D895-FB41-A214-E2DC60758526}"/>
              </a:ext>
            </a:extLst>
          </p:cNvPr>
          <p:cNvSpPr>
            <a:spLocks noChangeArrowheads="1"/>
          </p:cNvSpPr>
          <p:nvPr/>
        </p:nvSpPr>
        <p:spPr bwMode="auto">
          <a:xfrm>
            <a:off x="5867400" y="1773238"/>
            <a:ext cx="915988" cy="5873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lang="en-US" sz="2800" b="1">
                <a:latin typeface="Comic Sans MS" charset="0"/>
                <a:ea typeface="ＭＳ Ｐゴシック" charset="0"/>
              </a:rPr>
              <a:t>Biba</a:t>
            </a:r>
            <a:endParaRPr lang="en-US">
              <a:latin typeface="Comic Sans MS" charset="0"/>
              <a:ea typeface="ＭＳ Ｐゴシック" charset="0"/>
            </a:endParaRPr>
          </a:p>
        </p:txBody>
      </p:sp>
      <p:sp>
        <p:nvSpPr>
          <p:cNvPr id="191517" name="Line 29">
            <a:extLst>
              <a:ext uri="{FF2B5EF4-FFF2-40B4-BE49-F238E27FC236}">
                <a16:creationId xmlns:a16="http://schemas.microsoft.com/office/drawing/2014/main" id="{1C5D5173-243F-CF4E-99CD-9C5463667DC5}"/>
              </a:ext>
            </a:extLst>
          </p:cNvPr>
          <p:cNvSpPr>
            <a:spLocks noChangeShapeType="1"/>
          </p:cNvSpPr>
          <p:nvPr/>
        </p:nvSpPr>
        <p:spPr bwMode="auto">
          <a:xfrm>
            <a:off x="6248400" y="3962400"/>
            <a:ext cx="457200" cy="0"/>
          </a:xfrm>
          <a:prstGeom prst="line">
            <a:avLst/>
          </a:prstGeom>
          <a:noFill/>
          <a:ln w="508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91518" name="Line 30">
            <a:extLst>
              <a:ext uri="{FF2B5EF4-FFF2-40B4-BE49-F238E27FC236}">
                <a16:creationId xmlns:a16="http://schemas.microsoft.com/office/drawing/2014/main" id="{D0951C68-DAF0-8C4C-9B74-EA23CD275EA3}"/>
              </a:ext>
            </a:extLst>
          </p:cNvPr>
          <p:cNvSpPr>
            <a:spLocks noChangeShapeType="1"/>
          </p:cNvSpPr>
          <p:nvPr/>
        </p:nvSpPr>
        <p:spPr bwMode="auto">
          <a:xfrm>
            <a:off x="8534400" y="2590800"/>
            <a:ext cx="0" cy="2286000"/>
          </a:xfrm>
          <a:prstGeom prst="line">
            <a:avLst/>
          </a:prstGeom>
          <a:noFill/>
          <a:ln w="50800">
            <a:solidFill>
              <a:schemeClr val="tx1"/>
            </a:solidFill>
            <a:round/>
            <a:headEnd type="triangle" w="med" len="me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
        <p:nvSpPr>
          <p:cNvPr id="191519" name="Rectangle 31">
            <a:extLst>
              <a:ext uri="{FF2B5EF4-FFF2-40B4-BE49-F238E27FC236}">
                <a16:creationId xmlns:a16="http://schemas.microsoft.com/office/drawing/2014/main" id="{D715EF91-3C7C-CB43-9DC8-45D1B75A3D4A}"/>
              </a:ext>
            </a:extLst>
          </p:cNvPr>
          <p:cNvSpPr>
            <a:spLocks noChangeArrowheads="1"/>
          </p:cNvSpPr>
          <p:nvPr/>
        </p:nvSpPr>
        <p:spPr bwMode="auto">
          <a:xfrm>
            <a:off x="8610600" y="2884488"/>
            <a:ext cx="350838" cy="16875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lnSpc>
                <a:spcPct val="75000"/>
              </a:lnSpc>
              <a:defRPr/>
            </a:pPr>
            <a:r>
              <a:rPr lang="en-US">
                <a:latin typeface="Comic Sans MS" charset="0"/>
                <a:ea typeface="ＭＳ Ｐゴシック" charset="0"/>
              </a:rPr>
              <a:t>l</a:t>
            </a:r>
          </a:p>
          <a:p>
            <a:pPr algn="ctr">
              <a:lnSpc>
                <a:spcPct val="75000"/>
              </a:lnSpc>
              <a:defRPr/>
            </a:pPr>
            <a:r>
              <a:rPr lang="en-US">
                <a:latin typeface="Comic Sans MS" charset="0"/>
                <a:ea typeface="ＭＳ Ｐゴシック" charset="0"/>
              </a:rPr>
              <a:t>e</a:t>
            </a:r>
          </a:p>
          <a:p>
            <a:pPr algn="ctr">
              <a:lnSpc>
                <a:spcPct val="75000"/>
              </a:lnSpc>
              <a:defRPr/>
            </a:pPr>
            <a:r>
              <a:rPr lang="en-US">
                <a:latin typeface="Comic Sans MS" charset="0"/>
                <a:ea typeface="ＭＳ Ｐゴシック" charset="0"/>
              </a:rPr>
              <a:t>v</a:t>
            </a:r>
          </a:p>
          <a:p>
            <a:pPr algn="ctr">
              <a:lnSpc>
                <a:spcPct val="75000"/>
              </a:lnSpc>
              <a:defRPr/>
            </a:pPr>
            <a:r>
              <a:rPr lang="en-US">
                <a:latin typeface="Comic Sans MS" charset="0"/>
                <a:ea typeface="ＭＳ Ｐゴシック" charset="0"/>
              </a:rPr>
              <a:t>e</a:t>
            </a:r>
          </a:p>
          <a:p>
            <a:pPr algn="ctr">
              <a:lnSpc>
                <a:spcPct val="75000"/>
              </a:lnSpc>
              <a:defRPr/>
            </a:pPr>
            <a:r>
              <a:rPr lang="en-US">
                <a:latin typeface="Comic Sans MS" charset="0"/>
                <a:ea typeface="ＭＳ Ｐゴシック" charset="0"/>
              </a:rPr>
              <a:t>l</a:t>
            </a:r>
          </a:p>
        </p:txBody>
      </p:sp>
      <p:sp>
        <p:nvSpPr>
          <p:cNvPr id="191520" name="Rectangle 32">
            <a:extLst>
              <a:ext uri="{FF2B5EF4-FFF2-40B4-BE49-F238E27FC236}">
                <a16:creationId xmlns:a16="http://schemas.microsoft.com/office/drawing/2014/main" id="{6D29C8C7-FDED-9A4D-9E43-576427827CC1}"/>
              </a:ext>
            </a:extLst>
          </p:cNvPr>
          <p:cNvSpPr>
            <a:spLocks noChangeArrowheads="1"/>
          </p:cNvSpPr>
          <p:nvPr/>
        </p:nvSpPr>
        <p:spPr bwMode="auto">
          <a:xfrm>
            <a:off x="8153400" y="1920875"/>
            <a:ext cx="784225" cy="5175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lang="en-US">
                <a:latin typeface="Comic Sans MS" charset="0"/>
                <a:ea typeface="ＭＳ Ｐゴシック" charset="0"/>
              </a:rPr>
              <a:t>high</a:t>
            </a:r>
          </a:p>
        </p:txBody>
      </p:sp>
      <p:sp>
        <p:nvSpPr>
          <p:cNvPr id="191521" name="Rectangle 33">
            <a:extLst>
              <a:ext uri="{FF2B5EF4-FFF2-40B4-BE49-F238E27FC236}">
                <a16:creationId xmlns:a16="http://schemas.microsoft.com/office/drawing/2014/main" id="{46B7336D-E789-884D-91A9-60E93636C0CD}"/>
              </a:ext>
            </a:extLst>
          </p:cNvPr>
          <p:cNvSpPr>
            <a:spLocks noChangeArrowheads="1"/>
          </p:cNvSpPr>
          <p:nvPr/>
        </p:nvSpPr>
        <p:spPr bwMode="auto">
          <a:xfrm>
            <a:off x="8229600" y="4816475"/>
            <a:ext cx="636588" cy="5175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lang="en-US">
                <a:latin typeface="Comic Sans MS" charset="0"/>
                <a:ea typeface="ＭＳ Ｐゴシック" charset="0"/>
              </a:rPr>
              <a:t>low</a:t>
            </a:r>
          </a:p>
        </p:txBody>
      </p:sp>
      <p:sp>
        <p:nvSpPr>
          <p:cNvPr id="191522" name="Rectangle 34">
            <a:extLst>
              <a:ext uri="{FF2B5EF4-FFF2-40B4-BE49-F238E27FC236}">
                <a16:creationId xmlns:a16="http://schemas.microsoft.com/office/drawing/2014/main" id="{726BF80F-4ED3-7D4F-9C19-41379CECC1C3}"/>
              </a:ext>
            </a:extLst>
          </p:cNvPr>
          <p:cNvSpPr>
            <a:spLocks noChangeArrowheads="1"/>
          </p:cNvSpPr>
          <p:nvPr/>
        </p:nvSpPr>
        <p:spPr bwMode="auto">
          <a:xfrm>
            <a:off x="5638800" y="4800600"/>
            <a:ext cx="1530350" cy="5175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defRPr/>
            </a:pPr>
            <a:r>
              <a:rPr lang="en-US" b="1">
                <a:latin typeface="Comic Sans MS" charset="0"/>
                <a:ea typeface="ＭＳ Ｐゴシック" charset="0"/>
              </a:rPr>
              <a:t>Integrity</a:t>
            </a:r>
            <a:endParaRPr lang="en-US">
              <a:latin typeface="Comic Sans MS" charset="0"/>
              <a:ea typeface="ＭＳ Ｐゴシック" charset="0"/>
            </a:endParaRPr>
          </a:p>
        </p:txBody>
      </p:sp>
      <p:sp>
        <p:nvSpPr>
          <p:cNvPr id="191523" name="Line 35">
            <a:extLst>
              <a:ext uri="{FF2B5EF4-FFF2-40B4-BE49-F238E27FC236}">
                <a16:creationId xmlns:a16="http://schemas.microsoft.com/office/drawing/2014/main" id="{6BE5BEE2-0D0F-3A41-B64E-D1AD4D5E1A92}"/>
              </a:ext>
            </a:extLst>
          </p:cNvPr>
          <p:cNvSpPr>
            <a:spLocks noChangeShapeType="1"/>
          </p:cNvSpPr>
          <p:nvPr/>
        </p:nvSpPr>
        <p:spPr bwMode="auto">
          <a:xfrm>
            <a:off x="4495800" y="1828800"/>
            <a:ext cx="0" cy="3429000"/>
          </a:xfrm>
          <a:prstGeom prst="line">
            <a:avLst/>
          </a:prstGeom>
          <a:noFill/>
          <a:ln w="50800">
            <a:solidFill>
              <a:schemeClr val="tx1"/>
            </a:solidFill>
            <a:prstDash val="sysDot"/>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charset="0"/>
              <a:ea typeface="ＭＳ Ｐゴシック" charset="0"/>
            </a:endParaRPr>
          </a:p>
        </p:txBody>
      </p:sp>
    </p:spTree>
    <p:extLst>
      <p:ext uri="{BB962C8B-B14F-4D97-AF65-F5344CB8AC3E}">
        <p14:creationId xmlns:p14="http://schemas.microsoft.com/office/powerpoint/2010/main" val="395413638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EE1C9-542A-1244-8BBA-69F6362A9DF5}"/>
              </a:ext>
            </a:extLst>
          </p:cNvPr>
          <p:cNvSpPr>
            <a:spLocks noGrp="1"/>
          </p:cNvSpPr>
          <p:nvPr>
            <p:ph type="title"/>
          </p:nvPr>
        </p:nvSpPr>
        <p:spPr/>
        <p:txBody>
          <a:bodyPr>
            <a:normAutofit fontScale="90000"/>
          </a:bodyPr>
          <a:lstStyle/>
          <a:p>
            <a:r>
              <a:rPr lang="en-US" dirty="0"/>
              <a:t>Secure Software Development Process</a:t>
            </a:r>
          </a:p>
        </p:txBody>
      </p:sp>
      <p:pic>
        <p:nvPicPr>
          <p:cNvPr id="4" name="Picture 3" descr="C:\Users\v-mabonv.REDMOND\Documents\SDL Documentation and Tools\Simplified SDL_Chevron.png">
            <a:extLst>
              <a:ext uri="{FF2B5EF4-FFF2-40B4-BE49-F238E27FC236}">
                <a16:creationId xmlns:a16="http://schemas.microsoft.com/office/drawing/2014/main" id="{D060B1AD-1B01-464C-BED8-2B0FB4FB7D21}"/>
              </a:ext>
            </a:extLst>
          </p:cNvPr>
          <p:cNvPicPr/>
          <p:nvPr/>
        </p:nvPicPr>
        <p:blipFill>
          <a:blip r:embed="rId3" cstate="print"/>
          <a:srcRect/>
          <a:stretch>
            <a:fillRect/>
          </a:stretch>
        </p:blipFill>
        <p:spPr bwMode="auto">
          <a:xfrm>
            <a:off x="904713" y="1712884"/>
            <a:ext cx="7334573" cy="2316351"/>
          </a:xfrm>
          <a:prstGeom prst="rect">
            <a:avLst/>
          </a:prstGeom>
          <a:noFill/>
          <a:ln w="9525">
            <a:noFill/>
            <a:miter lim="800000"/>
            <a:headEnd/>
            <a:tailEnd/>
          </a:ln>
        </p:spPr>
      </p:pic>
      <p:sp>
        <p:nvSpPr>
          <p:cNvPr id="5" name="Rectangle 4">
            <a:extLst>
              <a:ext uri="{FF2B5EF4-FFF2-40B4-BE49-F238E27FC236}">
                <a16:creationId xmlns:a16="http://schemas.microsoft.com/office/drawing/2014/main" id="{BE973631-1A42-7D4B-9819-5466C6B058FD}"/>
              </a:ext>
            </a:extLst>
          </p:cNvPr>
          <p:cNvSpPr/>
          <p:nvPr/>
        </p:nvSpPr>
        <p:spPr>
          <a:xfrm>
            <a:off x="1604075" y="4324481"/>
            <a:ext cx="6439546" cy="2369623"/>
          </a:xfrm>
          <a:prstGeom prst="rect">
            <a:avLst/>
          </a:prstGeom>
        </p:spPr>
        <p:txBody>
          <a:bodyPr wrap="square">
            <a:spAutoFit/>
          </a:bodyPr>
          <a:lstStyle/>
          <a:p>
            <a:pPr>
              <a:lnSpc>
                <a:spcPct val="115000"/>
              </a:lnSpc>
              <a:spcAft>
                <a:spcPts val="1000"/>
              </a:spcAft>
            </a:pPr>
            <a:r>
              <a:rPr lang="en-US" i="1" dirty="0">
                <a:latin typeface="Segoe UI"/>
                <a:ea typeface="Calibri" panose="020F0502020204030204" pitchFamily="34" charset="0"/>
                <a:cs typeface="Times New Roman" panose="02020603050405020304" pitchFamily="18" charset="0"/>
              </a:rPr>
              <a:t>Figure 1. Secure software development process model at Microsoft</a:t>
            </a:r>
          </a:p>
          <a:p>
            <a:pPr>
              <a:lnSpc>
                <a:spcPct val="115000"/>
              </a:lnSpc>
              <a:spcAft>
                <a:spcPts val="1000"/>
              </a:spcAft>
            </a:pPr>
            <a:r>
              <a:rPr lang="en-US" i="1" dirty="0">
                <a:latin typeface="Segoe UI"/>
                <a:ea typeface="Calibri" panose="020F0502020204030204" pitchFamily="34" charset="0"/>
                <a:cs typeface="Times New Roman" panose="02020603050405020304" pitchFamily="18" charset="0"/>
              </a:rPr>
              <a:t>Source: “Microsoft Security Development Lifecycle, SDL Process Guidance Version 5.2”</a:t>
            </a:r>
          </a:p>
          <a:p>
            <a:pPr>
              <a:lnSpc>
                <a:spcPct val="115000"/>
              </a:lnSpc>
              <a:spcAft>
                <a:spcPts val="1000"/>
              </a:spcAft>
            </a:pPr>
            <a:r>
              <a:rPr lang="en-US" i="1" dirty="0">
                <a:latin typeface="Segoe UI"/>
                <a:ea typeface="Calibri" panose="020F0502020204030204" pitchFamily="34" charset="0"/>
                <a:cs typeface="Times New Roman" panose="02020603050405020304" pitchFamily="18" charset="0"/>
              </a:rPr>
              <a:t>More readings: </a:t>
            </a:r>
            <a:r>
              <a:rPr lang="en-US" dirty="0">
                <a:hlinkClick r:id="rId4"/>
              </a:rPr>
              <a:t>Microsoft Security Development Lifecycle (SDL) Process Guidance - Version 5.2</a:t>
            </a:r>
            <a:endParaRPr lang="en-US" i="1" dirty="0">
              <a:latin typeface="Segoe UI"/>
              <a:ea typeface="Calibri" panose="020F0502020204030204" pitchFamily="34" charset="0"/>
              <a:cs typeface="Times New Roman" panose="02020603050405020304" pitchFamily="18" charset="0"/>
            </a:endParaRPr>
          </a:p>
          <a:p>
            <a:pPr>
              <a:lnSpc>
                <a:spcPct val="115000"/>
              </a:lnSpc>
              <a:spcAft>
                <a:spcPts val="1000"/>
              </a:spcAft>
            </a:pPr>
            <a:endParaRPr lang="en-US" dirty="0">
              <a:latin typeface="Berkeley Old ITC"/>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9446701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752</TotalTime>
  <Words>3670</Words>
  <Application>Microsoft Office PowerPoint</Application>
  <PresentationFormat>On-screen Show (4:3)</PresentationFormat>
  <Paragraphs>485</Paragraphs>
  <Slides>49</Slides>
  <Notes>19</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49</vt:i4>
      </vt:variant>
    </vt:vector>
  </HeadingPairs>
  <TitlesOfParts>
    <vt:vector size="60" baseType="lpstr">
      <vt:lpstr>Berkeley Old ITC</vt:lpstr>
      <vt:lpstr>Times-Roman</vt:lpstr>
      <vt:lpstr>Arial</vt:lpstr>
      <vt:lpstr>Calibri</vt:lpstr>
      <vt:lpstr>Comic Sans MS</vt:lpstr>
      <vt:lpstr>Courier New</vt:lpstr>
      <vt:lpstr>Lucida Sans Typewriter</vt:lpstr>
      <vt:lpstr>Segoe UI</vt:lpstr>
      <vt:lpstr>Times New Roman</vt:lpstr>
      <vt:lpstr>Wingdings</vt:lpstr>
      <vt:lpstr>Office Theme</vt:lpstr>
      <vt:lpstr>Designing and Engineering Secure Mechanisms</vt:lpstr>
      <vt:lpstr>Outlines</vt:lpstr>
      <vt:lpstr>Design Principles</vt:lpstr>
      <vt:lpstr>Principle of Economy of Mechanism</vt:lpstr>
      <vt:lpstr>Principle of Economy of Mechanism</vt:lpstr>
      <vt:lpstr>Principle of Economy of Mechanism</vt:lpstr>
      <vt:lpstr>Principle of Fail-Safe Defaults</vt:lpstr>
      <vt:lpstr>Principle of Fail-Safe Defaults</vt:lpstr>
      <vt:lpstr>Principle of Fail-Safe Defaults</vt:lpstr>
      <vt:lpstr>Principle of Fail-Safe Defaults</vt:lpstr>
      <vt:lpstr>Principle of Fail-Safe Defaults</vt:lpstr>
      <vt:lpstr>Principle of Complete Mediation</vt:lpstr>
      <vt:lpstr>Principle of Complete Mediation</vt:lpstr>
      <vt:lpstr>Principle of Complete Mediation</vt:lpstr>
      <vt:lpstr>Principle of Complete Mediation</vt:lpstr>
      <vt:lpstr>Principle of Complete Mediation</vt:lpstr>
      <vt:lpstr>Principle of Complete Mediation</vt:lpstr>
      <vt:lpstr>Principle of Complete Mediation</vt:lpstr>
      <vt:lpstr>Principle of Complete Mediation</vt:lpstr>
      <vt:lpstr>Principle of Separation of Privilege</vt:lpstr>
      <vt:lpstr>Principle of Least Privilege</vt:lpstr>
      <vt:lpstr>Principle of Least Privilege</vt:lpstr>
      <vt:lpstr>Principle of Least Privilege</vt:lpstr>
      <vt:lpstr>Principle of Least Privilege</vt:lpstr>
      <vt:lpstr>Principle of Least Common Mechanism</vt:lpstr>
      <vt:lpstr>Principle of Least Common Mechanism</vt:lpstr>
      <vt:lpstr>Principle of Least Common Mechanism</vt:lpstr>
      <vt:lpstr>Principle of Least Common Mechanism</vt:lpstr>
      <vt:lpstr>Principle of Least Common Mechanism</vt:lpstr>
      <vt:lpstr>Principle of Open Design</vt:lpstr>
      <vt:lpstr>Principle of Psychological Acceptability</vt:lpstr>
      <vt:lpstr>Other Principles</vt:lpstr>
      <vt:lpstr>Other Principles</vt:lpstr>
      <vt:lpstr>Other Principles</vt:lpstr>
      <vt:lpstr>Security Models</vt:lpstr>
      <vt:lpstr>Disclaimer</vt:lpstr>
      <vt:lpstr>Classifications and Clearances</vt:lpstr>
      <vt:lpstr>Clearances and Classification</vt:lpstr>
      <vt:lpstr>Subjects and Objects</vt:lpstr>
      <vt:lpstr>Multilevel Security (MLS)</vt:lpstr>
      <vt:lpstr>MLS Applications</vt:lpstr>
      <vt:lpstr>MLS Security Models</vt:lpstr>
      <vt:lpstr>Bell-LaPadula</vt:lpstr>
      <vt:lpstr>Bell-LaPadula</vt:lpstr>
      <vt:lpstr>Integrity Model</vt:lpstr>
      <vt:lpstr>Biba’s Model (Strict Integrity Policy)</vt:lpstr>
      <vt:lpstr>Low-Water-Mark Policy</vt:lpstr>
      <vt:lpstr>BLP vs Biba</vt:lpstr>
      <vt:lpstr>Secure Software Development Process</vt:lpstr>
    </vt:vector>
  </TitlesOfParts>
  <Company>Wright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Principles for Secure Mechanisms</dc:title>
  <dc:creator>Junjie Zhang</dc:creator>
  <cp:lastModifiedBy>Kate Liu</cp:lastModifiedBy>
  <cp:revision>158</cp:revision>
  <dcterms:created xsi:type="dcterms:W3CDTF">2015-09-09T01:00:48Z</dcterms:created>
  <dcterms:modified xsi:type="dcterms:W3CDTF">2023-09-08T02:30:35Z</dcterms:modified>
</cp:coreProperties>
</file>