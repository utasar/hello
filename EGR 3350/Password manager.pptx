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4E4E4E-0690-7EA5-52F6-DD90CD0FC8F9}" v="2" dt="2026-02-18T18:04:48.642"/>
    <p1510:client id="{6FD24483-ADBC-F8D2-8E40-3AA3BCA8CB2C}" v="6" dt="2026-02-18T18:07:27.922"/>
    <p1510:client id="{D665139B-5781-B4C7-276A-C975A2954D94}" v="29" dt="2026-02-19T16:28:43.645"/>
    <p1510:client id="{F975F386-273E-C572-BDA1-74DEEA9158A7}" v="140" dt="2026-02-18T04:59:22.5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a-laptop-with-a-lock-on-the-screen-RH3CEX8mQ4Q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bing.com/images/search?view=detailV2&amp;ccid=VISyH5NV&amp;id=6F9335AD616293D1CFC9DD76B9CB228652F3D104&amp;thid=OIP.VISyH5NVJ5u5ejdUj0kVHgHaHa&amp;mediaurl=https%3A%2F%2Fthumbs.dreamstime.com%2Fb%2Fhacker-hooded-sweatshirt-grabs-word-password-computer-screen-generative-ai-art-305993287.jpg&amp;q=+hacker%2fpassword+concept)&amp;ck=D6BD280DD9CC83206671775A5D739CAB&amp;expw=800&amp;exph=800&amp;form=rc2idp&amp;ajaxhist=0&amp;ajaxserp=0&amp;selectedindex=15&amp;cdnurl=https%3A%2F%2Fth.bing.com%2Fth%2Fid%2FR.5484b21f9355279bb97a37548f49151e%3Frik%3DBNHzUoYiy7l23Q%26pid%3DImgRaw%26r%3D0&amp;pivotparams=insightsToken%3Dccid_lNq3BAPb*cp_19EA11E54E74C00014972B1A16C258C8*mid_AE3485475BC021CB4418C87F952D4B61FED26127*thid_OIP.lNq3BAPbJscp6oaF5-yjLQHaEO&amp;vt=0&amp;sim=11&amp;iss=VSI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bing.com/images/search?view=detailV2&amp;ccid=wyx5vnGu&amp;id=D3C65512BB7EF07B059A7364FD59249B4B4190A4&amp;thid=OIP.wyx5vnGu1cR4L_zmvCt3hAHaEO&amp;mediaurl=https%3A%2F%2Fas2.ftcdn.net%2Fv2%2Fjpg%2F05%2F79%2F56%2F07%2F1000_F_579560758_KSQlqdxDq52Ku4Gxg4AGJ3lDRy7SERYY.jpg&amp;cdnurl=https%3A%2F%2Fth.bing.com%2Fth%2Fid%2FR.c32c79be71aed5c4782ffce6bc2b7784%3Frik%3DpJBBS5skWf1kcw%26pid%3DImgRaw%26r%3D0&amp;exph=571&amp;expw=1000&amp;q=image%3A+cybersecurity+shield&amp;form=IRPRST&amp;ck=421BF5F02414FDCDFFDBD17B7386627E&amp;selectedindex=30&amp;itb=0&amp;cw=1375&amp;ch=659&amp;ajaxhist=0&amp;ajaxserp=0&amp;vt=0&amp;sim=1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stpass.com/" TargetMode="External"/><Relationship Id="rId2" Type="http://schemas.openxmlformats.org/officeDocument/2006/relationships/hyperlink" Target="NUL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password.com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cmag.com/picks/the-best-password-managers" TargetMode="External"/><Relationship Id="rId3" Type="http://schemas.openxmlformats.org/officeDocument/2006/relationships/hyperlink" Target="https://cybersecuritynews.com/nist-rules-password-security/" TargetMode="External"/><Relationship Id="rId7" Type="http://schemas.openxmlformats.org/officeDocument/2006/relationships/hyperlink" Target="https://www.security.org/password-manager/best/" TargetMode="External"/><Relationship Id="rId2" Type="http://schemas.openxmlformats.org/officeDocument/2006/relationships/hyperlink" Target="https://academic.oup.com/cybersecurit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ytimes.com/wirecutter/reviews/best-password-managers/" TargetMode="External"/><Relationship Id="rId5" Type="http://schemas.openxmlformats.org/officeDocument/2006/relationships/hyperlink" Target="https://www.lastpass.com/" TargetMode="External"/><Relationship Id="rId10" Type="http://schemas.openxmlformats.org/officeDocument/2006/relationships/hyperlink" Target="https://www.consumerreports.org/electronics-computers/password-managers/?msockid=24558cda492269f32dd09a5148916879" TargetMode="External"/><Relationship Id="rId4" Type="http://schemas.openxmlformats.org/officeDocument/2006/relationships/hyperlink" Target="https://dl.acm.org/doi/10.1145/3711117" TargetMode="External"/><Relationship Id="rId9" Type="http://schemas.openxmlformats.org/officeDocument/2006/relationships/hyperlink" Target="https://www.techradar.com/best/password-manag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aptop with a lock on the screen">
            <a:extLst>
              <a:ext uri="{FF2B5EF4-FFF2-40B4-BE49-F238E27FC236}">
                <a16:creationId xmlns:a16="http://schemas.microsoft.com/office/drawing/2014/main" id="{30AE4426-8839-AAA5-B7CA-1D7A53C2CA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9"/>
          <a:stretch>
            <a:fillRect/>
          </a:stretch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125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/>
              <a:t>Best Password Manager for Students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Utsav Acharya</a:t>
            </a:r>
            <a:br>
              <a:rPr lang="en-US" sz="1700" dirty="0"/>
            </a:br>
            <a:r>
              <a:rPr lang="en-US" sz="1700" dirty="0"/>
              <a:t> Computer Science</a:t>
            </a:r>
            <a:br>
              <a:rPr lang="en-US" sz="1700" dirty="0"/>
            </a:br>
            <a:r>
              <a:rPr lang="en-US" sz="1700" dirty="0"/>
              <a:t> EGR 3350</a:t>
            </a:r>
            <a:br>
              <a:rPr lang="en-US" sz="1700" dirty="0"/>
            </a:br>
            <a:r>
              <a:rPr lang="en-US" sz="1700" dirty="0"/>
              <a:t> February 19, 2026</a:t>
            </a:r>
          </a:p>
          <a:p>
            <a:pPr algn="l"/>
            <a:r>
              <a:rPr lang="en-US" sz="1700" dirty="0">
                <a:ea typeface="+mn-lt"/>
                <a:cs typeface="+mn-lt"/>
              </a:rPr>
              <a:t>Source: </a:t>
            </a:r>
            <a:r>
              <a:rPr lang="en-US" sz="1700" dirty="0">
                <a:ea typeface="+mn-lt"/>
                <a:cs typeface="+mn-lt"/>
                <a:hlinkClick r:id="rId3"/>
              </a:rPr>
              <a:t>A laptop with a lock on the screen photo – Technology Image on Unsplash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9956FA-2549-B3BC-3607-2A6990E28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Problem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0F4A5-B47C-26D0-EA47-5FA5D6207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900" dirty="0">
                <a:ea typeface="+mn-lt"/>
                <a:cs typeface="+mn-lt"/>
              </a:rPr>
              <a:t>Many students and employees reuse weak passwords across multiple accounts, which increases the risk of security breaches and unauthorized access.</a:t>
            </a:r>
            <a:endParaRPr lang="en-US" sz="1900" dirty="0"/>
          </a:p>
          <a:p>
            <a:r>
              <a:rPr lang="en-US" sz="1900" dirty="0">
                <a:ea typeface="+mn-lt"/>
                <a:cs typeface="+mn-lt"/>
              </a:rPr>
              <a:t>Organizations need a secure and user-friendly password management solution that helps users store, generate, and protect passwords while maintaining accessibility across devices.</a:t>
            </a:r>
            <a:endParaRPr lang="en-US" sz="1900" dirty="0"/>
          </a:p>
          <a:p>
            <a:r>
              <a:rPr lang="en-US" sz="1900" dirty="0">
                <a:ea typeface="+mn-lt"/>
                <a:cs typeface="+mn-lt"/>
              </a:rPr>
              <a:t>Choosing the wrong solution can lead to security vulnerabilities, data loss, or increased costs.</a:t>
            </a:r>
            <a:endParaRPr lang="en-US" sz="1900" dirty="0"/>
          </a:p>
          <a:p>
            <a:pPr marL="0" indent="0">
              <a:buNone/>
            </a:pPr>
            <a:r>
              <a:rPr lang="en-US" sz="1900" dirty="0"/>
              <a:t>Source :</a:t>
            </a:r>
            <a:r>
              <a:rPr lang="en-US" sz="1900" dirty="0">
                <a:ea typeface="+mn-lt"/>
                <a:cs typeface="+mn-lt"/>
                <a:hlinkClick r:id="rId2"/>
              </a:rPr>
              <a:t>hacker/password concept) - Search</a:t>
            </a:r>
          </a:p>
        </p:txBody>
      </p:sp>
      <p:pic>
        <p:nvPicPr>
          <p:cNvPr id="4" name="Picture 3" descr="A Hacker in a Hooded Sweatshirt, Grabs the Word Password on a Computer ...">
            <a:extLst>
              <a:ext uri="{FF2B5EF4-FFF2-40B4-BE49-F238E27FC236}">
                <a16:creationId xmlns:a16="http://schemas.microsoft.com/office/drawing/2014/main" id="{4819204A-3AA2-2E09-536B-CC0CF1F8A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654693"/>
            <a:ext cx="5458968" cy="555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1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B67F6-5CDA-C906-FF1A-BB0E88C0B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Motivation</a:t>
            </a:r>
            <a:endParaRPr lang="en-US" sz="3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246FC-0CFB-2972-2832-580396D16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1800">
                <a:ea typeface="+mn-lt"/>
                <a:cs typeface="+mn-lt"/>
              </a:rPr>
              <a:t>This topic relates to Computer Science because cybersecurity and authentication systems are critical areas in modern computing.</a:t>
            </a:r>
            <a:endParaRPr lang="en-US" sz="1800"/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Organizations benefit from selecting the right password manager by: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Improving security protection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Reducing password-related support issues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Increasing user productivity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Protecting sensitive data</a:t>
            </a:r>
          </a:p>
          <a:p>
            <a:pPr marL="0" indent="0">
              <a:buNone/>
            </a:pPr>
            <a:r>
              <a:rPr lang="en-US" sz="1800" dirty="0"/>
              <a:t>Source:</a:t>
            </a:r>
            <a:r>
              <a:rPr lang="en-US" sz="1800" dirty="0">
                <a:ea typeface="+mn-lt"/>
                <a:cs typeface="+mn-lt"/>
                <a:hlinkClick r:id="rId2"/>
              </a:rPr>
              <a:t>image: cybersecurity shield - Search Images</a:t>
            </a:r>
            <a:endParaRPr lang="en-US" sz="1800" dirty="0"/>
          </a:p>
          <a:p>
            <a:pPr marL="0" indent="0">
              <a:buNone/>
            </a:pPr>
            <a:endParaRPr lang="en-US" sz="1800" b="1"/>
          </a:p>
          <a:p>
            <a:endParaRPr lang="en-US" sz="1800"/>
          </a:p>
        </p:txBody>
      </p:sp>
      <p:pic>
        <p:nvPicPr>
          <p:cNvPr id="4" name="Picture 3" descr="Computer cybersecurity shield lock technology background concept ...">
            <a:extLst>
              <a:ext uri="{FF2B5EF4-FFF2-40B4-BE49-F238E27FC236}">
                <a16:creationId xmlns:a16="http://schemas.microsoft.com/office/drawing/2014/main" id="{3EF66D2C-C3CA-6274-6A3F-8D2297CEDB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17" r="21967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3163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4578-7E94-47ED-0B86-84BEF6EF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Solutions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91FC2-7E47-1DCC-B9A0-AF1F5615E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Three possible password manager solutions include:</a:t>
            </a:r>
          </a:p>
          <a:p>
            <a:pPr>
              <a:buFont typeface="Arial"/>
            </a:pPr>
            <a:r>
              <a:rPr lang="en-US" dirty="0" err="1">
                <a:ea typeface="+mn-lt"/>
                <a:cs typeface="+mn-lt"/>
              </a:rPr>
              <a:t>Bitwarden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LastPass: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1Password</a:t>
            </a:r>
          </a:p>
          <a:p>
            <a:pPr indent="0">
              <a:buNone/>
            </a:pPr>
            <a:r>
              <a:rPr lang="en-US" dirty="0">
                <a:ea typeface="+mn-lt"/>
                <a:cs typeface="+mn-lt"/>
              </a:rPr>
              <a:t>These tools provide password storage, encryption, and multi-device synchronization.</a:t>
            </a:r>
            <a:endParaRPr lang="en-US" dirty="0"/>
          </a:p>
          <a:p>
            <a:pPr indent="0">
              <a:buNone/>
            </a:pPr>
            <a:r>
              <a:rPr lang="en-US" dirty="0"/>
              <a:t>Source::</a:t>
            </a:r>
            <a:r>
              <a:rPr lang="en-US" dirty="0">
                <a:hlinkClick r:id="rId2" invalidUrl="http://:https://vault.bitwarden.com/"/>
              </a:rPr>
              <a:t>https://vault.bitwarden.com/</a:t>
            </a:r>
            <a:endParaRPr lang="en-US" dirty="0"/>
          </a:p>
          <a:p>
            <a:pPr indent="0">
              <a:buNone/>
            </a:pPr>
            <a:r>
              <a:rPr lang="en-US" dirty="0">
                <a:hlinkClick r:id="rId3"/>
              </a:rPr>
              <a:t>#1 Password Manager &amp; Vault App with Single-Sign On &amp; MFA Solutions - LastPass</a:t>
            </a:r>
            <a:endParaRPr lang="en-US"/>
          </a:p>
          <a:p>
            <a:pPr indent="0">
              <a:buNone/>
            </a:pPr>
            <a:r>
              <a:rPr lang="en-US" dirty="0">
                <a:hlinkClick r:id="rId4"/>
              </a:rPr>
              <a:t>Password Manager &amp; Extended Access Management | 1Password | 1Password</a:t>
            </a:r>
            <a:endParaRPr lang="en-US"/>
          </a:p>
          <a:p>
            <a:pPr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38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277B-C39E-A021-B0D6-69D0D335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Criteria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F4DCE-0EC9-C142-3E77-BFA560792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The solutions will be compared using the following criteria: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Security features (encryption, zero-knowledge architecture)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Cost (student pricing or subscription cost)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Usability (ease of use and compatibility across devices)</a:t>
            </a:r>
          </a:p>
          <a:p>
            <a:pPr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12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2E586-9F2C-9D7D-710B-0F3388BF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Potential 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C0BCB-F9E3-1131-F267-C13D22E05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Background Information: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Cybersecurity research articles :</a:t>
            </a:r>
            <a:r>
              <a:rPr lang="en-US" dirty="0">
                <a:ea typeface="+mn-lt"/>
                <a:cs typeface="+mn-lt"/>
                <a:hlinkClick r:id="rId2"/>
              </a:rPr>
              <a:t>Journal of Cybersecurity | Oxford Academic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NIST security guidelines:</a:t>
            </a:r>
            <a:r>
              <a:rPr lang="en-US" dirty="0">
                <a:ea typeface="+mn-lt"/>
                <a:cs typeface="+mn-lt"/>
                <a:hlinkClick r:id="rId3"/>
              </a:rPr>
              <a:t>NIST Recommends New Rules for Password Security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Academic journals:</a:t>
            </a:r>
            <a:r>
              <a:rPr lang="en-US" dirty="0">
                <a:ea typeface="+mn-lt"/>
                <a:cs typeface="+mn-lt"/>
                <a:hlinkClick r:id="rId4"/>
              </a:rPr>
              <a:t>An In-Depth Analysis of Password Managers and Two-Factor Authentication Tools | ACM Computing Surveys</a:t>
            </a:r>
            <a:endParaRPr lang="en-US" dirty="0"/>
          </a:p>
          <a:p>
            <a:pPr indent="0">
              <a:buNone/>
            </a:pPr>
            <a:r>
              <a:rPr lang="en-US" dirty="0">
                <a:ea typeface="+mn-lt"/>
                <a:cs typeface="+mn-lt"/>
              </a:rPr>
              <a:t>Data Sources: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Official product websites :</a:t>
            </a:r>
            <a:r>
              <a:rPr lang="en-US" dirty="0">
                <a:ea typeface="+mn-lt"/>
                <a:cs typeface="+mn-lt"/>
                <a:hlinkClick r:id="rId5"/>
              </a:rPr>
              <a:t>#1 Password Manager &amp; Vault App with Single-Sign On &amp; MFA Solutions - LastPass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Security reviews and reports : </a:t>
            </a:r>
            <a:r>
              <a:rPr lang="en-US" dirty="0">
                <a:ea typeface="+mn-lt"/>
                <a:cs typeface="+mn-lt"/>
                <a:hlinkClick r:id="rId6"/>
              </a:rPr>
              <a:t>The 2 Best Password Managers of 2026 | Reviews by Wirecutter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Technology comparison websites:</a:t>
            </a:r>
            <a:r>
              <a:rPr lang="en-US" dirty="0">
                <a:ea typeface="+mn-lt"/>
                <a:cs typeface="+mn-lt"/>
                <a:hlinkClick r:id="rId7"/>
              </a:rPr>
              <a:t>The Best Password Managers of 2026: Based On Your Needs | Security.org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Consumer Reports / TechRadar / PCMag :</a:t>
            </a:r>
            <a:r>
              <a:rPr lang="en-US" dirty="0">
                <a:ea typeface="+mn-lt"/>
                <a:cs typeface="+mn-lt"/>
                <a:hlinkClick r:id="rId8"/>
              </a:rPr>
              <a:t>The Best Password Managers We've Tested for 2026 | PCMag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  <a:hlinkClick r:id="rId9"/>
              </a:rPr>
              <a:t>Best password manager of 2026: reviewed, rated, and ranked by the experts | TechRadar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  <a:hlinkClick r:id="rId10"/>
              </a:rPr>
              <a:t>Best Password Manager Reviews – Consumer Reports Reviews – Consumer Reports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497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Best Password Manager for Students</vt:lpstr>
      <vt:lpstr>Problem</vt:lpstr>
      <vt:lpstr>Motivation</vt:lpstr>
      <vt:lpstr>Solutions</vt:lpstr>
      <vt:lpstr>Criteria </vt:lpstr>
      <vt:lpstr>Potential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109</cp:revision>
  <dcterms:created xsi:type="dcterms:W3CDTF">2026-02-18T04:23:21Z</dcterms:created>
  <dcterms:modified xsi:type="dcterms:W3CDTF">2026-02-19T16:29:25Z</dcterms:modified>
</cp:coreProperties>
</file>