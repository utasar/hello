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4E4E4E-0690-7EA5-52F6-DD90CD0FC8F9}" v="2" dt="2026-02-18T18:04:48.642"/>
    <p1510:client id="{6FD24483-ADBC-F8D2-8E40-3AA3BCA8CB2C}" v="6" dt="2026-02-18T18:07:27.922"/>
    <p1510:client id="{F975F386-273E-C572-BDA1-74DEEA9158A7}" v="140" dt="2026-02-18T04:59:22.5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/photos/a-laptop-with-a-lock-on-the-screen-RH3CEX8mQ4Q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www.bing.com/images/search?view=detailV2&amp;ccid=VISyH5NV&amp;id=6F9335AD616293D1CFC9DD76B9CB228652F3D104&amp;thid=OIP.VISyH5NVJ5u5ejdUj0kVHgHaHa&amp;mediaurl=https%3A%2F%2Fthumbs.dreamstime.com%2Fb%2Fhacker-hooded-sweatshirt-grabs-word-password-computer-screen-generative-ai-art-305993287.jpg&amp;q=+hacker%2fpassword+concept)&amp;ck=D6BD280DD9CC83206671775A5D739CAB&amp;expw=800&amp;exph=800&amp;form=rc2idp&amp;ajaxhist=0&amp;ajaxserp=0&amp;selectedindex=15&amp;cdnurl=https%3A%2F%2Fth.bing.com%2Fth%2Fid%2FR.5484b21f9355279bb97a37548f49151e%3Frik%3DBNHzUoYiy7l23Q%26pid%3DImgRaw%26r%3D0&amp;pivotparams=insightsToken%3Dccid_lNq3BAPb*cp_19EA11E54E74C00014972B1A16C258C8*mid_AE3485475BC021CB4418C87F952D4B61FED26127*thid_OIP.lNq3BAPbJscp6oaF5-yjLQHaEO&amp;vt=0&amp;sim=11&amp;iss=VSI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s://www.bing.com/images/search?view=detailV2&amp;ccid=wyx5vnGu&amp;id=D3C65512BB7EF07B059A7364FD59249B4B4190A4&amp;thid=OIP.wyx5vnGu1cR4L_zmvCt3hAHaEO&amp;mediaurl=https%3A%2F%2Fas2.ftcdn.net%2Fv2%2Fjpg%2F05%2F79%2F56%2F07%2F1000_F_579560758_KSQlqdxDq52Ku4Gxg4AGJ3lDRy7SERYY.jpg&amp;cdnurl=https%3A%2F%2Fth.bing.com%2Fth%2Fid%2FR.c32c79be71aed5c4782ffce6bc2b7784%3Frik%3DpJBBS5skWf1kcw%26pid%3DImgRaw%26r%3D0&amp;exph=571&amp;expw=1000&amp;q=image%3A+cybersecurity+shield&amp;form=IRPRST&amp;ck=421BF5F02414FDCDFFDBD17B7386627E&amp;selectedindex=30&amp;itb=0&amp;cw=1375&amp;ch=659&amp;ajaxhist=0&amp;ajaxserp=0&amp;vt=0&amp;sim=1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stpass.com/" TargetMode="External"/><Relationship Id="rId2" Type="http://schemas.openxmlformats.org/officeDocument/2006/relationships/hyperlink" Target="NU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1password.com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6B5E2835-4E47-45B3-9CFE-732FF7B054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laptop with a lock on the screen">
            <a:extLst>
              <a:ext uri="{FF2B5EF4-FFF2-40B4-BE49-F238E27FC236}">
                <a16:creationId xmlns:a16="http://schemas.microsoft.com/office/drawing/2014/main" id="{30AE4426-8839-AAA5-B7CA-1D7A53C2CA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29"/>
          <a:stretch>
            <a:fillRect/>
          </a:stretch>
        </p:blipFill>
        <p:spPr>
          <a:xfrm>
            <a:off x="3242695" y="10"/>
            <a:ext cx="8949307" cy="6857990"/>
          </a:xfrm>
          <a:custGeom>
            <a:avLst/>
            <a:gdLst/>
            <a:ahLst/>
            <a:cxnLst/>
            <a:rect l="l" t="t" r="r" b="b"/>
            <a:pathLst>
              <a:path w="8949307" h="6858000">
                <a:moveTo>
                  <a:pt x="0" y="0"/>
                </a:moveTo>
                <a:lnTo>
                  <a:pt x="8949307" y="0"/>
                </a:lnTo>
                <a:lnTo>
                  <a:pt x="8949307" y="6858000"/>
                </a:lnTo>
                <a:lnTo>
                  <a:pt x="0" y="6858000"/>
                </a:lnTo>
                <a:lnTo>
                  <a:pt x="62983" y="6788730"/>
                </a:lnTo>
                <a:cubicBezTo>
                  <a:pt x="773509" y="5928900"/>
                  <a:pt x="1212979" y="4741056"/>
                  <a:pt x="1212979" y="3429000"/>
                </a:cubicBezTo>
                <a:cubicBezTo>
                  <a:pt x="1212979" y="2116944"/>
                  <a:pt x="773509" y="929100"/>
                  <a:pt x="62983" y="69271"/>
                </a:cubicBezTo>
                <a:close/>
              </a:path>
            </a:pathLst>
          </a:custGeom>
        </p:spPr>
      </p:pic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5B45AD5D-AA52-4F7B-9362-576A39AD9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D5D5D5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AEDD7960-4866-4399-BEF6-DD1431AB4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1094" y="1161288"/>
            <a:ext cx="3438144" cy="112572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2800"/>
              <a:t>Best Password Manager for Students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375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1094" y="2718054"/>
            <a:ext cx="3438906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700" dirty="0"/>
              <a:t>Utsav Acharya</a:t>
            </a:r>
            <a:br>
              <a:rPr lang="en-US" sz="1700" dirty="0"/>
            </a:br>
            <a:r>
              <a:rPr lang="en-US" sz="1700" dirty="0"/>
              <a:t> Computer Science</a:t>
            </a:r>
            <a:br>
              <a:rPr lang="en-US" sz="1700" dirty="0"/>
            </a:br>
            <a:r>
              <a:rPr lang="en-US" sz="1700" dirty="0"/>
              <a:t> EGR 3350</a:t>
            </a:r>
            <a:br>
              <a:rPr lang="en-US" sz="1700" dirty="0"/>
            </a:br>
            <a:r>
              <a:rPr lang="en-US" sz="1700" dirty="0"/>
              <a:t> February 19, 2026</a:t>
            </a:r>
          </a:p>
          <a:p>
            <a:pPr algn="l"/>
            <a:r>
              <a:rPr lang="en-US" sz="1700" dirty="0">
                <a:ea typeface="+mn-lt"/>
                <a:cs typeface="+mn-lt"/>
              </a:rPr>
              <a:t>Source: </a:t>
            </a:r>
            <a:r>
              <a:rPr lang="en-US" sz="1700" dirty="0">
                <a:ea typeface="+mn-lt"/>
                <a:cs typeface="+mn-lt"/>
                <a:hlinkClick r:id="rId3"/>
              </a:rPr>
              <a:t>A laptop with a lock on the screen photo – Technology Image on Unsplash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9956FA-2549-B3BC-3607-2A6990E28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400">
                <a:ea typeface="+mj-lt"/>
                <a:cs typeface="+mj-lt"/>
              </a:rPr>
              <a:t>Problem</a:t>
            </a:r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0F4A5-B47C-26D0-EA47-5FA5D62071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sz="1900" dirty="0">
                <a:ea typeface="+mn-lt"/>
                <a:cs typeface="+mn-lt"/>
              </a:rPr>
              <a:t>Many students and employees reuse weak passwords across multiple accounts, which increases the risk of security breaches and unauthorized access.</a:t>
            </a:r>
            <a:endParaRPr lang="en-US" sz="1900" dirty="0"/>
          </a:p>
          <a:p>
            <a:r>
              <a:rPr lang="en-US" sz="1900" dirty="0">
                <a:ea typeface="+mn-lt"/>
                <a:cs typeface="+mn-lt"/>
              </a:rPr>
              <a:t>Organizations need a secure and user-friendly password management solution that helps users store, generate, and protect passwords while maintaining accessibility across devices.</a:t>
            </a:r>
            <a:endParaRPr lang="en-US" sz="1900" dirty="0"/>
          </a:p>
          <a:p>
            <a:r>
              <a:rPr lang="en-US" sz="1900" dirty="0">
                <a:ea typeface="+mn-lt"/>
                <a:cs typeface="+mn-lt"/>
              </a:rPr>
              <a:t>Choosing the wrong solution can lead to security vulnerabilities, data loss, or increased costs.</a:t>
            </a:r>
            <a:endParaRPr lang="en-US" sz="1900" dirty="0"/>
          </a:p>
          <a:p>
            <a:pPr marL="0" indent="0">
              <a:buNone/>
            </a:pPr>
            <a:r>
              <a:rPr lang="en-US" sz="1900" dirty="0"/>
              <a:t>Source :</a:t>
            </a:r>
            <a:r>
              <a:rPr lang="en-US" sz="1900" dirty="0">
                <a:ea typeface="+mn-lt"/>
                <a:cs typeface="+mn-lt"/>
                <a:hlinkClick r:id="rId2"/>
              </a:rPr>
              <a:t>hacker/password concept) - Search</a:t>
            </a:r>
          </a:p>
        </p:txBody>
      </p:sp>
      <p:pic>
        <p:nvPicPr>
          <p:cNvPr id="4" name="Picture 3" descr="A Hacker in a Hooded Sweatshirt, Grabs the Word Password on a Computer ...">
            <a:extLst>
              <a:ext uri="{FF2B5EF4-FFF2-40B4-BE49-F238E27FC236}">
                <a16:creationId xmlns:a16="http://schemas.microsoft.com/office/drawing/2014/main" id="{4819204A-3AA2-2E09-536B-CC0CF1F8A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48" y="654693"/>
            <a:ext cx="5458968" cy="5559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310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94AA2BD-2E3F-4B1D-8127-5744B81153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B67F6-5CDA-C906-FF1A-BB0E88C0B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87552"/>
            <a:ext cx="4485861" cy="1088136"/>
          </a:xfrm>
        </p:spPr>
        <p:txBody>
          <a:bodyPr anchor="b">
            <a:normAutofit/>
          </a:bodyPr>
          <a:lstStyle/>
          <a:p>
            <a:r>
              <a:rPr lang="en-US" sz="3400">
                <a:ea typeface="+mj-lt"/>
                <a:cs typeface="+mj-lt"/>
              </a:rPr>
              <a:t>Motivation</a:t>
            </a:r>
            <a:endParaRPr lang="en-US" sz="3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D02261-2DC8-4AA8-9E16-7751AE8924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752CF2-2291-40B5-B462-C17B174C1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6000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246FC-0CFB-2972-2832-580396D16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2688336"/>
            <a:ext cx="4498848" cy="358444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buNone/>
            </a:pPr>
            <a:r>
              <a:rPr lang="en-US" sz="1800">
                <a:ea typeface="+mn-lt"/>
                <a:cs typeface="+mn-lt"/>
              </a:rPr>
              <a:t>This topic relates to Computer Science because cybersecurity and authentication systems are critical areas in modern computing.</a:t>
            </a:r>
            <a:endParaRPr lang="en-US" sz="1800"/>
          </a:p>
          <a:p>
            <a:pPr>
              <a:buNone/>
            </a:pPr>
            <a:r>
              <a:rPr lang="en-US" sz="1800" dirty="0">
                <a:ea typeface="+mn-lt"/>
                <a:cs typeface="+mn-lt"/>
              </a:rPr>
              <a:t>Organizations benefit from selecting the right password manager by:</a:t>
            </a:r>
            <a:endParaRPr lang="en-US" sz="1800" dirty="0"/>
          </a:p>
          <a:p>
            <a:pPr>
              <a:buFont typeface="Arial"/>
            </a:pPr>
            <a:r>
              <a:rPr lang="en-US" sz="1800" dirty="0">
                <a:ea typeface="+mn-lt"/>
                <a:cs typeface="+mn-lt"/>
              </a:rPr>
              <a:t>Improving security protection</a:t>
            </a:r>
            <a:endParaRPr lang="en-US" sz="1800" dirty="0"/>
          </a:p>
          <a:p>
            <a:pPr>
              <a:buFont typeface="Arial"/>
            </a:pPr>
            <a:r>
              <a:rPr lang="en-US" sz="1800" dirty="0">
                <a:ea typeface="+mn-lt"/>
                <a:cs typeface="+mn-lt"/>
              </a:rPr>
              <a:t>Reducing password-related support issues</a:t>
            </a:r>
            <a:endParaRPr lang="en-US" sz="1800" dirty="0"/>
          </a:p>
          <a:p>
            <a:pPr>
              <a:buFont typeface="Arial"/>
            </a:pPr>
            <a:r>
              <a:rPr lang="en-US" sz="1800" dirty="0">
                <a:ea typeface="+mn-lt"/>
                <a:cs typeface="+mn-lt"/>
              </a:rPr>
              <a:t>Increasing user productivity</a:t>
            </a:r>
            <a:endParaRPr lang="en-US" sz="1800" dirty="0"/>
          </a:p>
          <a:p>
            <a:pPr>
              <a:buFont typeface="Arial"/>
            </a:pPr>
            <a:r>
              <a:rPr lang="en-US" sz="1800" dirty="0">
                <a:ea typeface="+mn-lt"/>
                <a:cs typeface="+mn-lt"/>
              </a:rPr>
              <a:t>Protecting sensitive data</a:t>
            </a:r>
          </a:p>
          <a:p>
            <a:pPr marL="0" indent="0">
              <a:buNone/>
            </a:pPr>
            <a:r>
              <a:rPr lang="en-US" sz="1800" dirty="0"/>
              <a:t>Source:</a:t>
            </a:r>
            <a:r>
              <a:rPr lang="en-US" sz="1800" dirty="0">
                <a:ea typeface="+mn-lt"/>
                <a:cs typeface="+mn-lt"/>
                <a:hlinkClick r:id="rId2"/>
              </a:rPr>
              <a:t>image: cybersecurity shield - Search Images</a:t>
            </a:r>
            <a:endParaRPr lang="en-US" sz="1800" dirty="0"/>
          </a:p>
          <a:p>
            <a:pPr marL="0" indent="0">
              <a:buNone/>
            </a:pPr>
            <a:endParaRPr lang="en-US" sz="1800" b="1"/>
          </a:p>
          <a:p>
            <a:endParaRPr lang="en-US" sz="1800"/>
          </a:p>
        </p:txBody>
      </p:sp>
      <p:pic>
        <p:nvPicPr>
          <p:cNvPr id="4" name="Picture 3" descr="Computer cybersecurity shield lock technology background concept ...">
            <a:extLst>
              <a:ext uri="{FF2B5EF4-FFF2-40B4-BE49-F238E27FC236}">
                <a16:creationId xmlns:a16="http://schemas.microsoft.com/office/drawing/2014/main" id="{3EF66D2C-C3CA-6274-6A3F-8D2297CEDB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17" r="21967"/>
          <a:stretch>
            <a:fillRect/>
          </a:stretch>
        </p:blipFill>
        <p:spPr>
          <a:xfrm>
            <a:off x="5308052" y="10"/>
            <a:ext cx="6883948" cy="6857990"/>
          </a:xfrm>
          <a:custGeom>
            <a:avLst/>
            <a:gdLst/>
            <a:ahLst/>
            <a:cxnLst/>
            <a:rect l="l" t="t" r="r" b="b"/>
            <a:pathLst>
              <a:path w="6883948" h="6858000">
                <a:moveTo>
                  <a:pt x="365648" y="0"/>
                </a:moveTo>
                <a:lnTo>
                  <a:pt x="6883948" y="0"/>
                </a:lnTo>
                <a:lnTo>
                  <a:pt x="6883948" y="6858000"/>
                </a:lnTo>
                <a:lnTo>
                  <a:pt x="365648" y="6858000"/>
                </a:lnTo>
                <a:lnTo>
                  <a:pt x="360213" y="6835050"/>
                </a:lnTo>
                <a:cubicBezTo>
                  <a:pt x="128263" y="5788167"/>
                  <a:pt x="0" y="4637179"/>
                  <a:pt x="0" y="3429001"/>
                </a:cubicBezTo>
                <a:cubicBezTo>
                  <a:pt x="0" y="2220824"/>
                  <a:pt x="128263" y="1069835"/>
                  <a:pt x="360213" y="22952"/>
                </a:cubicBezTo>
                <a:close/>
              </a:path>
            </a:pathLst>
          </a:custGeom>
          <a:effectLst>
            <a:outerShdw blurRad="50800" dist="38100" dir="10800000" algn="r" rotWithShape="0">
              <a:schemeClr val="bg1">
                <a:lumMod val="8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03163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24578-7E94-47ED-0B86-84BEF6EFC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Solutions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291FC2-7E47-1DCC-B9A0-AF1F5615E2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buNone/>
            </a:pPr>
            <a:r>
              <a:rPr lang="en-US" dirty="0">
                <a:ea typeface="+mn-lt"/>
                <a:cs typeface="+mn-lt"/>
              </a:rPr>
              <a:t>Three possible password manager solutions include:</a:t>
            </a:r>
          </a:p>
          <a:p>
            <a:pPr>
              <a:buFont typeface="Arial"/>
            </a:pPr>
            <a:r>
              <a:rPr lang="en-US" dirty="0" err="1">
                <a:ea typeface="+mn-lt"/>
                <a:cs typeface="+mn-lt"/>
              </a:rPr>
              <a:t>Bitwarden</a:t>
            </a:r>
            <a:r>
              <a:rPr lang="en-US" dirty="0">
                <a:ea typeface="+mn-lt"/>
                <a:cs typeface="+mn-lt"/>
              </a:rPr>
              <a:t> </a:t>
            </a:r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LastPass:</a:t>
            </a:r>
            <a:endParaRPr lang="en-US" dirty="0"/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1Password</a:t>
            </a:r>
          </a:p>
          <a:p>
            <a:pPr indent="0">
              <a:buNone/>
            </a:pPr>
            <a:r>
              <a:rPr lang="en-US" dirty="0">
                <a:ea typeface="+mn-lt"/>
                <a:cs typeface="+mn-lt"/>
              </a:rPr>
              <a:t>These tools provide password storage, encryption, and multi-device synchronization.</a:t>
            </a:r>
            <a:endParaRPr lang="en-US" dirty="0"/>
          </a:p>
          <a:p>
            <a:pPr indent="0">
              <a:buNone/>
            </a:pPr>
            <a:r>
              <a:rPr lang="en-US" dirty="0"/>
              <a:t>Source::</a:t>
            </a:r>
            <a:r>
              <a:rPr lang="en-US" dirty="0">
                <a:hlinkClick r:id="rId2" invalidUrl="http://:https://vault.bitwarden.com/"/>
              </a:rPr>
              <a:t>https://vault.bitwarden.com/</a:t>
            </a:r>
            <a:endParaRPr lang="en-US" dirty="0"/>
          </a:p>
          <a:p>
            <a:pPr indent="0">
              <a:buNone/>
            </a:pPr>
            <a:r>
              <a:rPr lang="en-US" dirty="0">
                <a:hlinkClick r:id="rId3"/>
              </a:rPr>
              <a:t>#1 Password Manager &amp; Vault App with Single-Sign On &amp; MFA Solutions - LastPass</a:t>
            </a:r>
            <a:endParaRPr lang="en-US"/>
          </a:p>
          <a:p>
            <a:pPr indent="0">
              <a:buNone/>
            </a:pPr>
            <a:r>
              <a:rPr lang="en-US" dirty="0">
                <a:hlinkClick r:id="rId4"/>
              </a:rPr>
              <a:t>Password Manager &amp; Extended Access Management | 1Password | 1Password</a:t>
            </a:r>
            <a:endParaRPr lang="en-US"/>
          </a:p>
          <a:p>
            <a:pPr indent="0">
              <a:buNone/>
            </a:pPr>
            <a:endParaRPr lang="en-US" dirty="0"/>
          </a:p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388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277B-C39E-A021-B0D6-69D0D335B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Criteria</a:t>
            </a: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F4DCE-0EC9-C142-3E77-BFA560792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>
                <a:ea typeface="+mn-lt"/>
                <a:cs typeface="+mn-lt"/>
              </a:rPr>
              <a:t>The solutions will be compared using the following criteria:</a:t>
            </a:r>
            <a:endParaRPr lang="en-US" dirty="0"/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Security features (encryption, zero-knowledge architecture)</a:t>
            </a:r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Cost (student pricing or subscription cost)</a:t>
            </a:r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Usability (ease of use and compatibility across devices)</a:t>
            </a:r>
          </a:p>
          <a:p>
            <a:pPr indent="0">
              <a:buNone/>
            </a:pPr>
            <a:endParaRPr lang="en-US" dirty="0"/>
          </a:p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8124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E586-9F2C-9D7D-710B-0F3388BFD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Potential Sources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C0BCB-F9E3-1131-F267-C13D22E05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>
              <a:buNone/>
            </a:pPr>
            <a:r>
              <a:rPr lang="en-US" dirty="0">
                <a:ea typeface="+mn-lt"/>
                <a:cs typeface="+mn-lt"/>
              </a:rPr>
              <a:t>Background Information:</a:t>
            </a:r>
            <a:endParaRPr lang="en-US" dirty="0"/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Cybersecurity research articles</a:t>
            </a:r>
            <a:endParaRPr lang="en-US" dirty="0"/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NIST security guidelines</a:t>
            </a:r>
            <a:endParaRPr lang="en-US" dirty="0"/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Academic journals</a:t>
            </a:r>
            <a:endParaRPr lang="en-US" dirty="0"/>
          </a:p>
          <a:p>
            <a:pPr indent="0">
              <a:buNone/>
            </a:pPr>
            <a:r>
              <a:rPr lang="en-US" dirty="0">
                <a:ea typeface="+mn-lt"/>
                <a:cs typeface="+mn-lt"/>
              </a:rPr>
              <a:t>Data Sources:</a:t>
            </a:r>
            <a:endParaRPr lang="en-US" dirty="0"/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Official product websites</a:t>
            </a:r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Security reviews and reports</a:t>
            </a:r>
            <a:endParaRPr lang="en-US" dirty="0"/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Technology comparison websites</a:t>
            </a:r>
            <a:endParaRPr lang="en-US" dirty="0"/>
          </a:p>
          <a:p>
            <a:pPr>
              <a:buFont typeface="Arial"/>
            </a:pPr>
            <a:r>
              <a:rPr lang="en-US" dirty="0">
                <a:ea typeface="+mn-lt"/>
                <a:cs typeface="+mn-lt"/>
              </a:rPr>
              <a:t>Consumer Reports / TechRadar / PCMag</a:t>
            </a:r>
          </a:p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4974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Best Password Manager for Students</vt:lpstr>
      <vt:lpstr>Problem</vt:lpstr>
      <vt:lpstr>Motivation</vt:lpstr>
      <vt:lpstr>Solutions</vt:lpstr>
      <vt:lpstr>Criteria </vt:lpstr>
      <vt:lpstr>Potential 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87</cp:revision>
  <dcterms:created xsi:type="dcterms:W3CDTF">2026-02-18T04:23:21Z</dcterms:created>
  <dcterms:modified xsi:type="dcterms:W3CDTF">2026-02-19T04:04:43Z</dcterms:modified>
</cp:coreProperties>
</file>