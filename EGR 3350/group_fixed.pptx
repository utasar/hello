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9" r:id="rId1"/>
  </p:sldMasterIdLst>
  <p:sldIdLst>
    <p:sldId id="256" r:id="rId2"/>
    <p:sldId id="257" r:id="rId3"/>
    <p:sldId id="258" r:id="rId4"/>
    <p:sldId id="260" r:id="rId5"/>
    <p:sldId id="261" r:id="rId6"/>
    <p:sldId id="269" r:id="rId7"/>
    <p:sldId id="271" r:id="rId8"/>
    <p:sldId id="267" r:id="rId9"/>
    <p:sldId id="262" r:id="rId10"/>
    <p:sldId id="272" r:id="rId11"/>
    <p:sldId id="264" r:id="rId12"/>
    <p:sldId id="273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B90277-73F9-DE42-87FE-DACBF3A646A4}" v="588" dt="2026-04-19T16:27:31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00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8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3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84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2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7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87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33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0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128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28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64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22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78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0782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  <p:sldLayoutId id="2147484001" r:id="rId12"/>
    <p:sldLayoutId id="2147484002" r:id="rId13"/>
    <p:sldLayoutId id="2147484003" r:id="rId14"/>
    <p:sldLayoutId id="2147484004" r:id="rId15"/>
    <p:sldLayoutId id="2147484005" r:id="rId16"/>
    <p:sldLayoutId id="214748400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hyperlink" Target="https://ratedpower.com/glossary/floating-solar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hyperlink" Target="https://www.worldbank.org/en/news/feature/2021/06/07/conserving-oceans-in-the-eastern-seas-of-an-indonesian-archipelago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hyperlink" Target="https://journals-ohiolink-edu.ezproxy.libraries.wright.edu/acprod/odb_ejc/r/ejc/search/99?p99_entity_id=305367581&amp;p99_entity_type=MAIN_FILE&amp;cs=3cZPIV-Lzhlv1iryKGV-u4EOTSkT3KXTQQ0mmyE08PeMleyfCRVQItHk9WPUzoJiB-wxlPZGakCDUumGgsxBPJQ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8" Type="http://schemas.openxmlformats.org/officeDocument/2006/relationships/hyperlink" Target="https://doi.org/10.1016/j.oceaneng.2025.120585" TargetMode="External"/><Relationship Id="rId3" Type="http://schemas.openxmlformats.org/officeDocument/2006/relationships/hyperlink" Target="https://doi.org/10.1109/ICOSEC61587.2024.10722191" TargetMode="External"/><Relationship Id="rId7" Type="http://schemas.openxmlformats.org/officeDocument/2006/relationships/hyperlink" Target="https://doi.org/10.1126/sciadv.adx5580" TargetMode="External"/><Relationship Id="rId2" Type="http://schemas.openxmlformats.org/officeDocument/2006/relationships/hyperlink" Target="https://doi.org/10.1016/j.oceaneng.2025.12052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09/ICCCNT61001.2024.10725904" TargetMode="External"/><Relationship Id="rId5" Type="http://schemas.openxmlformats.org/officeDocument/2006/relationships/hyperlink" Target="https://doi.org/10.3390/su18052588" TargetMode="External"/><Relationship Id="rId4" Type="http://schemas.openxmlformats.org/officeDocument/2006/relationships/hyperlink" Target="https://www.google.com/search?q=https://doi.org/10.1109/RISE.2017.8378210" TargetMode="External"/><Relationship Id="rId9" Type="http://schemas.openxmlformats.org/officeDocument/2006/relationships/hyperlink" Target="https://doi.org/10.1016/j.apenergy.2023.121618" TargetMode="Externa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Rows of solar panels">
            <a:extLst>
              <a:ext uri="{FF2B5EF4-FFF2-40B4-BE49-F238E27FC236}">
                <a16:creationId xmlns:a16="http://schemas.microsoft.com/office/drawing/2014/main" id="{CC0DA639-64CA-66EF-FD3C-F2292F9787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40" b="75957" l="10000" r="90000">
                        <a14:backgroundMark x1="45117" y1="47326" x2="41260" y2="54799"/>
                        <a14:backgroundMark x1="41260" y1="54799" x2="55176" y2="28132"/>
                        <a14:backgroundMark x1="55176" y1="28132" x2="39111" y2="65568"/>
                        <a14:backgroundMark x1="39111" y1="65568" x2="38574" y2="66520"/>
                        <a14:backgroundMark x1="22412" y1="52234" x2="17041" y2="59121"/>
                        <a14:backgroundMark x1="17041" y1="59121" x2="15674" y2="65568"/>
                        <a14:backgroundMark x1="15674" y1="65568" x2="17578" y2="73553"/>
                        <a14:backgroundMark x1="17578" y1="73553" x2="23633" y2="77070"/>
                        <a14:backgroundMark x1="23633" y1="77070" x2="33154" y2="77070"/>
                        <a14:backgroundMark x1="33154" y1="77070" x2="48926" y2="70330"/>
                        <a14:backgroundMark x1="48926" y1="70330" x2="63574" y2="56923"/>
                        <a14:backgroundMark x1="63574" y1="56923" x2="75684" y2="30549"/>
                        <a14:backgroundMark x1="75684" y1="30549" x2="76904" y2="23223"/>
                        <a14:backgroundMark x1="76904" y1="23223" x2="75830" y2="16337"/>
                        <a14:backgroundMark x1="75830" y1="16337" x2="71973" y2="10183"/>
                        <a14:backgroundMark x1="71973" y1="10183" x2="66455" y2="6300"/>
                        <a14:backgroundMark x1="66455" y1="6300" x2="59814" y2="6374"/>
                        <a14:backgroundMark x1="59814" y1="6374" x2="43164" y2="25201"/>
                        <a14:backgroundMark x1="43164" y1="25201" x2="18848" y2="59267"/>
                        <a14:backgroundMark x1="79736" y1="13260" x2="57373" y2="14945"/>
                        <a14:backgroundMark x1="57373" y1="14945" x2="42871" y2="29744"/>
                        <a14:backgroundMark x1="42871" y1="29744" x2="32422" y2="51136"/>
                        <a14:backgroundMark x1="32422" y1="51136" x2="31543" y2="64908"/>
                        <a14:backgroundMark x1="31543" y1="64908" x2="40479" y2="74139"/>
                        <a14:backgroundMark x1="40479" y1="74139" x2="54980" y2="77509"/>
                        <a14:backgroundMark x1="54980" y1="77509" x2="72021" y2="66374"/>
                        <a14:backgroundMark x1="72021" y1="66374" x2="84375" y2="39780"/>
                        <a14:backgroundMark x1="84375" y1="39780" x2="86816" y2="9744"/>
                        <a14:backgroundMark x1="86816" y1="9744" x2="70117" y2="3956"/>
                        <a14:backgroundMark x1="70117" y1="3956" x2="73535" y2="11282"/>
                        <a14:backgroundMark x1="69629" y1="15458" x2="45117" y2="47253"/>
                        <a14:backgroundMark x1="45117" y1="47253" x2="54639" y2="56630"/>
                        <a14:backgroundMark x1="54639" y1="56630" x2="62891" y2="55971"/>
                        <a14:backgroundMark x1="62891" y1="55971" x2="73389" y2="41978"/>
                        <a14:backgroundMark x1="73389" y1="41978" x2="83154" y2="17509"/>
                        <a14:backgroundMark x1="83154" y1="17509" x2="78857" y2="12894"/>
                        <a14:backgroundMark x1="78857" y1="12894" x2="70313" y2="12088"/>
                        <a14:backgroundMark x1="70313" y1="12088" x2="67676" y2="16703"/>
                        <a14:backgroundMark x1="67676" y1="16703" x2="67773" y2="16850"/>
                        <a14:backgroundMark x1="55078" y1="40952" x2="57031" y2="53700"/>
                        <a14:backgroundMark x1="57031" y1="53700" x2="64355" y2="42564"/>
                        <a14:backgroundMark x1="64355" y1="42564" x2="63623" y2="32234"/>
                        <a14:backgroundMark x1="63623" y1="32234" x2="57471" y2="37729"/>
                        <a14:backgroundMark x1="57471" y1="37729" x2="63672" y2="44396"/>
                        <a14:backgroundMark x1="63672" y1="44396" x2="72900" y2="36557"/>
                        <a14:backgroundMark x1="72900" y1="36557" x2="75000" y2="19560"/>
                        <a14:backgroundMark x1="75000" y1="19560" x2="67285" y2="17436"/>
                        <a14:backgroundMark x1="67285" y1="17436" x2="60156" y2="31575"/>
                        <a14:backgroundMark x1="60156" y1="31575" x2="60986" y2="43223"/>
                        <a14:backgroundMark x1="60986" y1="43223" x2="64941" y2="45275"/>
                        <a14:backgroundMark x1="64941" y1="45275" x2="65479" y2="44982"/>
                        <a14:backgroundMark x1="48535" y1="25934" x2="43506" y2="29524"/>
                        <a14:backgroundMark x1="43506" y1="29524" x2="35742" y2="41245"/>
                        <a14:backgroundMark x1="35742" y1="41245" x2="36523" y2="52821"/>
                        <a14:backgroundMark x1="36523" y1="52821" x2="49365" y2="62051"/>
                        <a14:backgroundMark x1="49365" y1="62051" x2="61230" y2="61978"/>
                        <a14:backgroundMark x1="61230" y1="61978" x2="67529" y2="54725"/>
                        <a14:backgroundMark x1="67529" y1="54725" x2="66553" y2="44982"/>
                        <a14:backgroundMark x1="66553" y1="44982" x2="57031" y2="37509"/>
                        <a14:backgroundMark x1="57031" y1="37509" x2="51758" y2="42125"/>
                        <a14:backgroundMark x1="51758" y1="42125" x2="52637" y2="57729"/>
                        <a14:backgroundMark x1="52637" y1="57729" x2="63135" y2="66447"/>
                        <a14:backgroundMark x1="63135" y1="66447" x2="68994" y2="61905"/>
                        <a14:backgroundMark x1="68994" y1="61905" x2="67920" y2="43883"/>
                        <a14:backgroundMark x1="67920" y1="43883" x2="55273" y2="29890"/>
                        <a14:backgroundMark x1="55273" y1="29890" x2="40723" y2="33700"/>
                        <a14:backgroundMark x1="40723" y1="33700" x2="36133" y2="48791"/>
                        <a14:backgroundMark x1="36133" y1="48791" x2="50049" y2="68938"/>
                        <a14:backgroundMark x1="50049" y1="68938" x2="69287" y2="70769"/>
                        <a14:backgroundMark x1="69287" y1="70769" x2="75586" y2="65861"/>
                        <a14:backgroundMark x1="75586" y1="65861" x2="76270" y2="64176"/>
                      </a14:backgroundRemoval>
                    </a14:imgEffect>
                  </a14:imgLayer>
                </a14:imgProps>
              </a:ext>
            </a:extLst>
          </a:blip>
          <a:srcRect r="-2" b="15603"/>
          <a:stretch>
            <a:fillRect/>
          </a:stretch>
        </p:blipFill>
        <p:spPr>
          <a:xfrm>
            <a:off x="20" y="30480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3C8C9F-9F8B-E08D-1383-E82FCF9E1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482"/>
            <a:ext cx="9144000" cy="2900518"/>
          </a:xfrm>
        </p:spPr>
        <p:txBody>
          <a:bodyPr>
            <a:normAutofit/>
          </a:bodyPr>
          <a:lstStyle/>
          <a:p>
            <a:r>
              <a:rPr lang="en-US" sz="5400" dirty="0"/>
              <a:t xml:space="preserve">Improving Floating Solar Farm design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97688-83B4-899F-7068-86A503EEE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09839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500" dirty="0"/>
              <a:t>Acharya, Utsav – Computer Science</a:t>
            </a:r>
          </a:p>
          <a:p>
            <a:r>
              <a:rPr lang="en-US" sz="1500" dirty="0"/>
              <a:t>Evans, Daniel – Mechanical Engineering</a:t>
            </a:r>
          </a:p>
          <a:p>
            <a:r>
              <a:rPr lang="en-US" sz="1500" dirty="0"/>
              <a:t>Gilliam, Erica – Industrial Engineering</a:t>
            </a:r>
          </a:p>
          <a:p>
            <a:r>
              <a:rPr lang="en-US" sz="1500" dirty="0"/>
              <a:t>Harmeyer, Reese – Computer Engineering</a:t>
            </a:r>
          </a:p>
          <a:p>
            <a:r>
              <a:rPr lang="en-US" sz="1500" dirty="0"/>
              <a:t>Rockenbaugh, Carter – Mechanical Engineering</a:t>
            </a:r>
            <a:r>
              <a:rPr lang="en-US" sz="1200" dirty="0"/>
              <a:t xml:space="preserve"> </a:t>
            </a:r>
          </a:p>
        </p:txBody>
      </p:sp>
    </p:spTree>
    <p:extLst>
      <p:ext uri="{BB962C8B-B14F-4D97-AF65-F5344CB8AC3E}">
        <p14:creationId xmlns:p14="http://schemas.microsoft.com/office/powerpoint/2010/main" val="173442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269C-431C-DA5B-E7B3-53E5945C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DF5DB-106F-A4ED-04FB-EF2B616F9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Background</a:t>
            </a:r>
          </a:p>
          <a:p>
            <a:r>
              <a:rPr lang="en-US" dirty="0"/>
              <a:t>Approach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Location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Materials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Mooring System</a:t>
            </a:r>
            <a:endParaRPr lang="en-US" sz="2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Detection System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Cleaning Robot</a:t>
            </a:r>
          </a:p>
          <a:p>
            <a:r>
              <a:rPr lang="en-US" dirty="0"/>
              <a:t>Review</a:t>
            </a:r>
          </a:p>
          <a:p>
            <a:r>
              <a:rPr lang="en-US" dirty="0"/>
              <a:t>Conclusion </a:t>
            </a:r>
          </a:p>
          <a:p>
            <a:r>
              <a:rPr lang="en-US" dirty="0"/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312610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CE0C-D31D-D86C-A326-CD7E25E5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3F25-1C8C-5B94-EDEA-3628F092E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Source of green energy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Land conservation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Efficiency improves</a:t>
            </a:r>
          </a:p>
          <a:p>
            <a:pPr>
              <a:lnSpc>
                <a:spcPct val="150000"/>
              </a:lnSpc>
            </a:pPr>
            <a:r>
              <a:rPr lang="en-US" dirty="0"/>
              <a:t>Floating solar farms must be designed to withstand harsh environmental conditions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floating-solar">
            <a:extLst>
              <a:ext uri="{FF2B5EF4-FFF2-40B4-BE49-F238E27FC236}">
                <a16:creationId xmlns:a16="http://schemas.microsoft.com/office/drawing/2014/main" id="{72A4EA38-5A29-04A8-8D48-ED1DF964F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69" y="2692143"/>
            <a:ext cx="4527331" cy="30289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81CBC5-FD70-8EE7-A821-2CFD1A5610D4}"/>
              </a:ext>
            </a:extLst>
          </p:cNvPr>
          <p:cNvSpPr txBox="1"/>
          <p:nvPr/>
        </p:nvSpPr>
        <p:spPr>
          <a:xfrm>
            <a:off x="6978869" y="5721101"/>
            <a:ext cx="436924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solidFill>
                  <a:schemeClr val="accent2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https://ratedpower.com/glossary/floating-solar/</a:t>
            </a:r>
            <a:endParaRPr lang="en-US" sz="1200" dirty="0">
              <a:solidFill>
                <a:schemeClr val="accent2"/>
              </a:solidFill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20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3D7B-B8DD-1CDB-C16E-0318E9D4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BC1D6-5FCD-C52A-61A3-BA8FA83DF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dirty="0"/>
              <a:t>No competition for land and larger areas </a:t>
            </a:r>
          </a:p>
          <a:p>
            <a:pPr lvl="1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dirty="0"/>
              <a:t>Areas with calm waters and close to shores for easier grid access</a:t>
            </a:r>
          </a:p>
          <a:p>
            <a:pPr lvl="1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dirty="0"/>
              <a:t>Areas with high sunlight, usually warmer climates, close to equator </a:t>
            </a:r>
          </a:p>
          <a:p>
            <a:pPr lvl="1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dirty="0"/>
              <a:t>Can integrate into existing marine infrastructure</a:t>
            </a:r>
          </a:p>
          <a:p>
            <a:pPr lvl="1">
              <a:lnSpc>
                <a:spcPct val="200000"/>
              </a:lnSpc>
              <a:buFont typeface="Wingdings" panose="020B0604020202020204" pitchFamily="34" charset="0"/>
              <a:buChar char="§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72BFBB46-5B22-FACB-C1DE-F47493F0C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39" y="2830246"/>
            <a:ext cx="4975161" cy="2755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BE3810-245C-4EF3-051B-60CFD77697B3}"/>
              </a:ext>
            </a:extLst>
          </p:cNvPr>
          <p:cNvSpPr txBox="1"/>
          <p:nvPr/>
        </p:nvSpPr>
        <p:spPr>
          <a:xfrm>
            <a:off x="6531039" y="5585851"/>
            <a:ext cx="497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sng" dirty="0">
                <a:solidFill>
                  <a:schemeClr val="accent2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https://www.worldbank.org/en/news/feature/2021/06/07/conserving-oceans-in-the-eastern-seas-of-an-indonesian-archipelago</a:t>
            </a:r>
            <a:endParaRPr lang="en-US" sz="1200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63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1898-7442-29A9-61D8-D7FA2CF2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17E1-B7A5-BCC2-2317-D3175A9E6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Materials need to withstand ocean conditions</a:t>
            </a:r>
          </a:p>
          <a:p>
            <a:pPr>
              <a:lnSpc>
                <a:spcPct val="150000"/>
              </a:lnSpc>
            </a:pPr>
            <a:r>
              <a:rPr lang="en-US" dirty="0"/>
              <a:t>Protective layer will consist of: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High-density polyethylene (HDPE)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Modified epoxy glass coating</a:t>
            </a:r>
          </a:p>
          <a:p>
            <a:pPr>
              <a:lnSpc>
                <a:spcPct val="150000"/>
              </a:lnSpc>
            </a:pPr>
            <a:r>
              <a:rPr lang="en-US" dirty="0"/>
              <a:t>Structure will consist of: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Stainless steel</a:t>
            </a:r>
          </a:p>
        </p:txBody>
      </p:sp>
      <p:pic>
        <p:nvPicPr>
          <p:cNvPr id="1026" name="Picture 2" descr="Protective Coating For Solar Panels – EnduroShield">
            <a:extLst>
              <a:ext uri="{FF2B5EF4-FFF2-40B4-BE49-F238E27FC236}">
                <a16:creationId xmlns:a16="http://schemas.microsoft.com/office/drawing/2014/main" id="{D8FE11F8-4F2C-1A24-BAAA-B8201BD9F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126" y="2649065"/>
            <a:ext cx="4806074" cy="3115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29AA3D-CF80-5C02-5819-603729A7BADC}"/>
              </a:ext>
            </a:extLst>
          </p:cNvPr>
          <p:cNvSpPr txBox="1"/>
          <p:nvPr/>
        </p:nvSpPr>
        <p:spPr>
          <a:xfrm>
            <a:off x="6700126" y="5764179"/>
            <a:ext cx="5097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https://</a:t>
            </a:r>
            <a:r>
              <a:rPr lang="en-US" sz="1400" dirty="0" err="1">
                <a:solidFill>
                  <a:schemeClr val="accent2"/>
                </a:solidFill>
              </a:rPr>
              <a:t>enduroshield.com</a:t>
            </a:r>
            <a:r>
              <a:rPr lang="en-US" sz="1400" dirty="0">
                <a:solidFill>
                  <a:schemeClr val="accent2"/>
                </a:solidFill>
              </a:rPr>
              <a:t>/pages/protective-coating-solar-panels</a:t>
            </a:r>
          </a:p>
        </p:txBody>
      </p:sp>
    </p:spTree>
    <p:extLst>
      <p:ext uri="{BB962C8B-B14F-4D97-AF65-F5344CB8AC3E}">
        <p14:creationId xmlns:p14="http://schemas.microsoft.com/office/powerpoint/2010/main" val="1280552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25A4-FAE0-94AE-9073-8B1815C2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09A6-9436-D106-66BB-F5C1379FF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0329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Purpose: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Keeps floating platforms secure and stable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Prevents drifting and reduces structural stress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Extends lifespan of the platforms and solar panels</a:t>
            </a:r>
          </a:p>
        </p:txBody>
      </p:sp>
    </p:spTree>
    <p:extLst>
      <p:ext uri="{BB962C8B-B14F-4D97-AF65-F5344CB8AC3E}">
        <p14:creationId xmlns:p14="http://schemas.microsoft.com/office/powerpoint/2010/main" val="302928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6795-7CD9-6CC6-EFE5-9A504AC3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Mooring System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79C37-1494-A23C-145F-1DDFBA4B6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9135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2000" b="1" dirty="0"/>
              <a:t>Anchor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Provides a fixed-point for the platforms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Holds the mooring lines in place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2000" b="1" dirty="0"/>
              <a:t>Mooring Line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Allows for controlled movement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Reduces stress compared to rigid steel chains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2000" b="1" dirty="0"/>
              <a:t>Wave Barrier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Reduces incoming wave energy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Protects platforms from strong impacts</a:t>
            </a:r>
            <a:endParaRPr lang="en-US" dirty="0"/>
          </a:p>
        </p:txBody>
      </p:sp>
      <p:pic>
        <p:nvPicPr>
          <p:cNvPr id="5" name="Picture 4" descr="Diagram of a diagram of a clump and a clump  AI-generated content may be incorrect.">
            <a:extLst>
              <a:ext uri="{FF2B5EF4-FFF2-40B4-BE49-F238E27FC236}">
                <a16:creationId xmlns:a16="http://schemas.microsoft.com/office/drawing/2014/main" id="{8EB278EE-6D1C-C48F-8328-572FF2C68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625" y="2601315"/>
            <a:ext cx="5345090" cy="2799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BCEAF-DCD9-C33F-191F-8E996A464C19}"/>
              </a:ext>
            </a:extLst>
          </p:cNvPr>
          <p:cNvSpPr txBox="1"/>
          <p:nvPr/>
        </p:nvSpPr>
        <p:spPr>
          <a:xfrm>
            <a:off x="247804" y="6336156"/>
            <a:ext cx="1213338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+mn-lt"/>
                <a:cs typeface="+mn-lt"/>
                <a:hlinkClick r:id="rId3"/>
              </a:rPr>
              <a:t>https://journals-ohiolink-edu.ezproxy.libraries.wright.edu/acprod/odb_ejc/r/ejc/search/99?p99_entity_id=305367581&amp;p99_entity_type=MAIN_FILE&amp;cs=3cZPIV-Lzhlv1iryKGV-u4EOTSkT3KXTQQ0mmyE08PeMleyfCRVQItHk9WPUzoJiB-wxlPZGakCDUumGgsxBPJQ</a:t>
            </a:r>
            <a:endParaRPr lang="en-US" sz="1200" dirty="0">
              <a:ea typeface="+mn-lt"/>
              <a:cs typeface="+mn-lt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4053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5186-7669-37F1-7BD0-35A7DC9A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3400" dirty="0"/>
              <a:t>Detection 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BCC2B-A56F-4549-A3B2-2861EC83C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ea typeface="+mn-lt"/>
                <a:cs typeface="+mn-lt"/>
              </a:rPr>
              <a:t>Sensor Tracking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ea typeface="+mn-lt"/>
                <a:cs typeface="+mn-lt"/>
              </a:rPr>
              <a:t xml:space="preserve">Monitors voltage, current, and power output 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ea typeface="+mn-lt"/>
                <a:cs typeface="+mn-lt"/>
              </a:rPr>
              <a:t>Efficiency Detection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ea typeface="+mn-lt"/>
                <a:cs typeface="+mn-lt"/>
              </a:rPr>
              <a:t xml:space="preserve">Detects drops caused by dirt, salt, or debris 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ea typeface="+mn-lt"/>
                <a:cs typeface="+mn-lt"/>
              </a:rPr>
              <a:t>Smart Alerts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ea typeface="+mn-lt"/>
                <a:cs typeface="+mn-lt"/>
              </a:rPr>
              <a:t>Sends alerts when panels need cleaning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Picture 3" descr="A diagram of a system  AI-generated content may be incorrect.">
            <a:extLst>
              <a:ext uri="{FF2B5EF4-FFF2-40B4-BE49-F238E27FC236}">
                <a16:creationId xmlns:a16="http://schemas.microsoft.com/office/drawing/2014/main" id="{6D93040F-B165-CC45-0D00-C18FDD8FE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997" y="2418829"/>
            <a:ext cx="5287203" cy="28412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C1F96F-45EA-F949-2A1C-DF44B3FCDB92}"/>
              </a:ext>
            </a:extLst>
          </p:cNvPr>
          <p:cNvSpPr txBox="1"/>
          <p:nvPr/>
        </p:nvSpPr>
        <p:spPr>
          <a:xfrm>
            <a:off x="6218996" y="5260036"/>
            <a:ext cx="5287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Image generated using Gemini.</a:t>
            </a:r>
          </a:p>
        </p:txBody>
      </p:sp>
    </p:spTree>
    <p:extLst>
      <p:ext uri="{BB962C8B-B14F-4D97-AF65-F5344CB8AC3E}">
        <p14:creationId xmlns:p14="http://schemas.microsoft.com/office/powerpoint/2010/main" val="369460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28D7-DDF8-42C8-B49D-7D610765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330E6-AE6B-A61A-04D4-C64E960D1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80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sz="1800" dirty="0"/>
              <a:t>Wheels or Track System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Further research will be done on if putting wheels on the robot or a track system will be more efficient.</a:t>
            </a:r>
          </a:p>
          <a:p>
            <a:pPr>
              <a:lnSpc>
                <a:spcPct val="160000"/>
              </a:lnSpc>
            </a:pPr>
            <a:r>
              <a:rPr lang="en-US" sz="1800" dirty="0"/>
              <a:t>Gentle cleaning process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This cleaning robot will use a combination of water and brushes to prolong their life cycle.</a:t>
            </a:r>
          </a:p>
          <a:p>
            <a:pPr>
              <a:lnSpc>
                <a:spcPct val="160000"/>
              </a:lnSpc>
            </a:pPr>
            <a:r>
              <a:rPr lang="en-US" sz="1800" dirty="0"/>
              <a:t>Interfaces with Detection System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It is communicated when and where to clean when the detection system sends an alert.</a:t>
            </a:r>
          </a:p>
          <a:p>
            <a:pPr>
              <a:lnSpc>
                <a:spcPct val="160000"/>
              </a:lnSpc>
            </a:pPr>
            <a:r>
              <a:rPr lang="en-US" sz="1800" dirty="0"/>
              <a:t>Charging / Refilling Dock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This robot will have a dock that it returns to when the it is not cleaning to refill water and keep the battery charged.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628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09D2-81CE-2B51-2909-8C38EB81E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robot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562782-05A9-FEB5-719A-64FB56631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752274" y="1872167"/>
            <a:ext cx="3561037" cy="4748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2A3F3D-FE95-A089-B97D-13E758BFD7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98" t="18573" r="12387" b="28228"/>
          <a:stretch>
            <a:fillRect/>
          </a:stretch>
        </p:blipFill>
        <p:spPr>
          <a:xfrm>
            <a:off x="6492709" y="3052750"/>
            <a:ext cx="4540524" cy="2386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0CF86A-32E2-1CE9-4D94-F4C964658B4B}"/>
              </a:ext>
            </a:extLst>
          </p:cNvPr>
          <p:cNvSpPr txBox="1"/>
          <p:nvPr/>
        </p:nvSpPr>
        <p:spPr>
          <a:xfrm>
            <a:off x="1158767" y="6026711"/>
            <a:ext cx="3626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Illustration by Reese Harmeyer.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06C61-3648-288A-A212-D5E7F48877BA}"/>
              </a:ext>
            </a:extLst>
          </p:cNvPr>
          <p:cNvSpPr txBox="1"/>
          <p:nvPr/>
        </p:nvSpPr>
        <p:spPr>
          <a:xfrm>
            <a:off x="6492709" y="5461171"/>
            <a:ext cx="3626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Illustration by Reese Harmeyer.</a:t>
            </a:r>
          </a:p>
        </p:txBody>
      </p:sp>
    </p:spTree>
    <p:extLst>
      <p:ext uri="{BB962C8B-B14F-4D97-AF65-F5344CB8AC3E}">
        <p14:creationId xmlns:p14="http://schemas.microsoft.com/office/powerpoint/2010/main" val="1880769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8A10-6712-354C-1E50-B06BA0E25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350CF-2677-5DD1-C15A-124527625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proposed floating solar farm design improves system efficiency</a:t>
            </a:r>
          </a:p>
          <a:p>
            <a:pPr>
              <a:lnSpc>
                <a:spcPct val="150000"/>
              </a:lnSpc>
            </a:pPr>
            <a:r>
              <a:rPr lang="en-US" dirty="0"/>
              <a:t>The improved design consists of: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Materials: HDPE, modified epoxy glass coating, and stainless steel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Mooring system: anchor, mooring line, and a wave barrier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Detection system: detects when solar panels need cleaned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Cleaning robot: automates solar panel cleaning</a:t>
            </a:r>
          </a:p>
        </p:txBody>
      </p:sp>
    </p:spTree>
    <p:extLst>
      <p:ext uri="{BB962C8B-B14F-4D97-AF65-F5344CB8AC3E}">
        <p14:creationId xmlns:p14="http://schemas.microsoft.com/office/powerpoint/2010/main" val="3458602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C2746-CD85-1DD2-E8DF-B2AA06E0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BFA4-E7BB-5E6E-F88A-E85A85986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Floating solar farms benefit the public by providing a cleaner energy source</a:t>
            </a:r>
          </a:p>
          <a:p>
            <a:pPr>
              <a:lnSpc>
                <a:spcPct val="150000"/>
              </a:lnSpc>
            </a:pPr>
            <a:r>
              <a:rPr lang="en-US" dirty="0"/>
              <a:t xml:space="preserve">The proposed floating solar farm design improves durability, efficiency and maintenance </a:t>
            </a:r>
          </a:p>
          <a:p>
            <a:pPr>
              <a:lnSpc>
                <a:spcPct val="150000"/>
              </a:lnSpc>
            </a:pPr>
            <a:r>
              <a:rPr lang="en-US" dirty="0"/>
              <a:t>Future work could include: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Improving material selection and mooring system efficiency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Improving the cleaning robot design, such as adding wheels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04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2BFD4-F84C-2CE8-B701-25BDF25E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545AB-68A9-9A20-E2E7-BD330C201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200" dirty="0"/>
              <a:t xml:space="preserve">Huang, L., Elzaabalawy, H., </a:t>
            </a:r>
            <a:r>
              <a:rPr lang="en-US" sz="1200" dirty="0" err="1"/>
              <a:t>Sarhaan</a:t>
            </a:r>
            <a:r>
              <a:rPr lang="en-US" sz="1200" dirty="0"/>
              <a:t xml:space="preserve">, M., Sherif, A., Ding, H., Ou, B., Yang, D., &amp; </a:t>
            </a:r>
            <a:r>
              <a:rPr lang="en-US" sz="1200" dirty="0" err="1"/>
              <a:t>Cerik</a:t>
            </a:r>
            <a:r>
              <a:rPr lang="en-US" sz="1200" dirty="0"/>
              <a:t xml:space="preserve">, B. C. (2025). Developing reliable floating solar systems on seas: A review. </a:t>
            </a:r>
            <a:r>
              <a:rPr lang="en-US" sz="1200" i="1" dirty="0"/>
              <a:t>Ocean Engineering</a:t>
            </a:r>
            <a:r>
              <a:rPr lang="en-US" sz="1200" dirty="0"/>
              <a:t xml:space="preserve">, 322, Article 120525. </a:t>
            </a:r>
            <a:r>
              <a:rPr lang="en-US" sz="1200" u="sng" dirty="0">
                <a:hlinkClick r:id="rId2"/>
              </a:rPr>
              <a:t>https://doi.org/10.1016/j.oceaneng.2025.120525</a:t>
            </a:r>
            <a:r>
              <a:rPr lang="en-US" sz="1200" dirty="0"/>
              <a:t>.</a:t>
            </a:r>
          </a:p>
          <a:p>
            <a:r>
              <a:rPr lang="en-US" sz="1200" dirty="0"/>
              <a:t xml:space="preserve">Jayaraman, T., Vijayakumar, M., Jayakumar, T., Murali, A., Karthikeyan, B., &amp; Suriya, T. (2024). A conceptual design of remote controlled solar panel cleaning robot. </a:t>
            </a:r>
            <a:r>
              <a:rPr lang="en-US" sz="1200" i="1" dirty="0"/>
              <a:t>2024 5th International Conference on Smart Electronics and Communication (ICOSEC)</a:t>
            </a:r>
            <a:r>
              <a:rPr lang="en-US" sz="1200" dirty="0"/>
              <a:t xml:space="preserve">, Trichy, India, 387–391. </a:t>
            </a:r>
            <a:r>
              <a:rPr lang="en-US" sz="1200" u="sng" dirty="0">
                <a:hlinkClick r:id="rId3"/>
              </a:rPr>
              <a:t>https://doi.org/10.1109/ICOSEC61587.2024.10722191</a:t>
            </a:r>
            <a:endParaRPr lang="en-US" sz="1200" u="sng" dirty="0"/>
          </a:p>
          <a:p>
            <a:r>
              <a:rPr lang="en-US" sz="1200" dirty="0" err="1"/>
              <a:t>Kekre</a:t>
            </a:r>
            <a:r>
              <a:rPr lang="en-US" sz="1200" dirty="0"/>
              <a:t xml:space="preserve">, A., &amp; </a:t>
            </a:r>
            <a:r>
              <a:rPr lang="en-US" sz="1200" dirty="0" err="1"/>
              <a:t>Gawre</a:t>
            </a:r>
            <a:r>
              <a:rPr lang="en-US" sz="1200" dirty="0"/>
              <a:t xml:space="preserve">, S. K. (2017). Solar photovoltaic remote monitoring system using IoT. </a:t>
            </a:r>
            <a:r>
              <a:rPr lang="en-US" sz="1200" i="1" dirty="0"/>
              <a:t>International Conference on Recent Innovations in Signal Processing and Embedded Systems (RISE)</a:t>
            </a:r>
            <a:r>
              <a:rPr lang="en-US" sz="1200" dirty="0"/>
              <a:t xml:space="preserve">, Bhopal, India, 508–512. </a:t>
            </a:r>
            <a:r>
              <a:rPr lang="en-US" sz="1200" u="sng" dirty="0">
                <a:hlinkClick r:id="rId4"/>
              </a:rPr>
              <a:t>https://doi.org/10.1109/RISE.2017.8378210</a:t>
            </a:r>
            <a:endParaRPr lang="en-US" sz="1200" dirty="0"/>
          </a:p>
          <a:p>
            <a:r>
              <a:rPr lang="en-US" sz="1200" dirty="0"/>
              <a:t xml:space="preserve">Nedelcu, A.-T., </a:t>
            </a:r>
            <a:r>
              <a:rPr lang="en-US" sz="1200" dirty="0" err="1"/>
              <a:t>Faităr</a:t>
            </a:r>
            <a:r>
              <a:rPr lang="en-US" sz="1200" dirty="0"/>
              <a:t xml:space="preserve">, C., Voicu, I., &amp; </a:t>
            </a:r>
            <a:r>
              <a:rPr lang="en-US" sz="1200" dirty="0" err="1"/>
              <a:t>Panaitescu</a:t>
            </a:r>
            <a:r>
              <a:rPr lang="en-US" sz="1200" dirty="0"/>
              <a:t xml:space="preserve">, M. (2026). Floating Photovoltaic Systems—Energy Performance and Environmental Challenges in Sustainable Development. Sustainability, 18(5), 2588. </a:t>
            </a:r>
            <a:r>
              <a:rPr lang="en-US" sz="1200" u="sng" dirty="0">
                <a:hlinkClick r:id="rId5"/>
              </a:rPr>
              <a:t>https://doi.org/10.3390/su18052588</a:t>
            </a:r>
            <a:endParaRPr lang="en-US" sz="1200" u="sng" dirty="0"/>
          </a:p>
          <a:p>
            <a:r>
              <a:rPr lang="en-US" sz="1200" dirty="0" err="1"/>
              <a:t>Thangarasu</a:t>
            </a:r>
            <a:r>
              <a:rPr lang="en-US" sz="1200" dirty="0"/>
              <a:t xml:space="preserve">, S. K., Gobinath, V. K., Shanmugam, A., Kumar, S. M., Shrinidhi, K. M., &amp; Sanjay, S. (2024). Innovative Arduino-based solar panel cleaning system for enhanced energy efficiency. </a:t>
            </a:r>
            <a:r>
              <a:rPr lang="en-US" sz="1200" i="1" dirty="0"/>
              <a:t>2024 15th International Conference on Computing Communication and Networking Technologies (ICCCNT)</a:t>
            </a:r>
            <a:r>
              <a:rPr lang="en-US" sz="1200" dirty="0"/>
              <a:t xml:space="preserve">, Kamand, India, 1–5. </a:t>
            </a:r>
            <a:r>
              <a:rPr lang="en-US" sz="1200" u="sng" dirty="0">
                <a:hlinkClick r:id="rId6"/>
              </a:rPr>
              <a:t>https://doi.org/10.1109/ICCCNT61001.2024.10725904</a:t>
            </a:r>
            <a:endParaRPr lang="en-US" sz="1200" u="sng" dirty="0"/>
          </a:p>
          <a:p>
            <a:r>
              <a:rPr lang="en-US" sz="1200" dirty="0"/>
              <a:t xml:space="preserve">Wen, Y., et al. (2025). The role of offshore wind and solar PV resources in global low-carbon transition. </a:t>
            </a:r>
            <a:r>
              <a:rPr lang="en-US" sz="1200" i="1" dirty="0"/>
              <a:t>Science Advances, 11</a:t>
            </a:r>
            <a:r>
              <a:rPr lang="en-US" sz="1200" dirty="0"/>
              <a:t xml:space="preserve">(11), Article eadx5580. </a:t>
            </a:r>
            <a:r>
              <a:rPr lang="en-US" sz="1200" u="sng" dirty="0">
                <a:hlinkClick r:id="rId7"/>
              </a:rPr>
              <a:t>https://doi.org/10.1126/sciadv.adx5580</a:t>
            </a:r>
            <a:endParaRPr lang="en-US" sz="1200" dirty="0"/>
          </a:p>
          <a:p>
            <a:r>
              <a:rPr lang="en-US" sz="1200" dirty="0"/>
              <a:t xml:space="preserve">Xiong, Y., Liu, H., Xu, J., &amp; Chen, H. (2025). Mechanical properties of offshore floating photovoltaic structural coating/carbon steel system in a marine environment. </a:t>
            </a:r>
            <a:r>
              <a:rPr lang="en-US" sz="1200" i="1" dirty="0"/>
              <a:t>Ocean Engineering</a:t>
            </a:r>
            <a:r>
              <a:rPr lang="en-US" sz="1200" dirty="0"/>
              <a:t xml:space="preserve">, 323, Article 120585. </a:t>
            </a:r>
            <a:r>
              <a:rPr lang="en-US" sz="1200" u="sng" dirty="0">
                <a:hlinkClick r:id="rId8"/>
              </a:rPr>
              <a:t>https://doi.org/10.1016/j.oceaneng.2025.120585</a:t>
            </a:r>
            <a:endParaRPr lang="en-US" sz="1200" dirty="0"/>
          </a:p>
          <a:p>
            <a:r>
              <a:rPr lang="en-US" sz="1200" dirty="0"/>
              <a:t xml:space="preserve">Zeng, F., Bi, C., Sree, D., Huang, G., Zhang, N., &amp; Law, A. W.-K. (2023). An adaptive barrier mooring system for coastal floating solar farms. </a:t>
            </a:r>
            <a:r>
              <a:rPr lang="en-US" sz="1200" i="1" dirty="0"/>
              <a:t>Applied Energy, 348</a:t>
            </a:r>
            <a:r>
              <a:rPr lang="en-US" sz="1200" dirty="0"/>
              <a:t xml:space="preserve">, Article 121618. </a:t>
            </a:r>
            <a:r>
              <a:rPr lang="en-US" sz="1200" u="sng" dirty="0">
                <a:hlinkClick r:id="rId9"/>
              </a:rPr>
              <a:t>https://doi.org/10.1016/j.apenergy.2023.121618</a:t>
            </a:r>
            <a:endParaRPr lang="en-US" sz="1200" u="sng" dirty="0"/>
          </a:p>
        </p:txBody>
      </p:sp>
    </p:spTree>
    <p:extLst>
      <p:ext uri="{BB962C8B-B14F-4D97-AF65-F5344CB8AC3E}">
        <p14:creationId xmlns:p14="http://schemas.microsoft.com/office/powerpoint/2010/main" val="2571669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A29D-2C49-F831-3C6F-2C4BAA38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70B95-7CCB-5AD4-12A3-3FEEE77ED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Acharya, Utsav – acharya.41@wright.edu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Evans, Daniel – evans.616@wright.edu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Gilliam, Erica – gilliam.55@wright.edu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Harmeyer, Reese – harmeyer.12@wright.edu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Rockenbaugh, Carter – rockenbaugh.3@wright.edu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13648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7236</TotalTime>
  <Words>1071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Vapor Trail</vt:lpstr>
      <vt:lpstr>Improving Floating Solar Farm design </vt:lpstr>
      <vt:lpstr>Overview</vt:lpstr>
      <vt:lpstr>Background</vt:lpstr>
      <vt:lpstr>Location</vt:lpstr>
      <vt:lpstr>Material</vt:lpstr>
      <vt:lpstr>Mooring System</vt:lpstr>
      <vt:lpstr>Mooring System Continued</vt:lpstr>
      <vt:lpstr>Detection System</vt:lpstr>
      <vt:lpstr>Cleaning Robot</vt:lpstr>
      <vt:lpstr>Cleaning robot Design</vt:lpstr>
      <vt:lpstr>Review</vt:lpstr>
      <vt:lpstr>Conclusion</vt:lpstr>
      <vt:lpstr>Sources</vt:lpstr>
      <vt:lpstr>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Evans, Daniel</dc:creator>
  <cp:lastModifiedBy>Evans, Daniel</cp:lastModifiedBy>
  <cp:revision>4</cp:revision>
  <dcterms:created xsi:type="dcterms:W3CDTF">2026-04-14T15:51:42Z</dcterms:created>
  <dcterms:modified xsi:type="dcterms:W3CDTF">2026-04-19T22:55:35Z</dcterms:modified>
</cp:coreProperties>
</file>